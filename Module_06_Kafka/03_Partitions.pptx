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of the Kafka 101 series: partitions - how Kafka lets a single topic grow beyond one machine, and what that means for the order of messages.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something learners probably know: Kafka is a distributed system. It is designed to run across a number of computers and still look, from the outside world, like one big computer.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topic had to live entirely on one node of the cluster, that would put a hard limit on how far Kafka could scale: a topic could never be bigger than the biggest node you could deploy, or than that node's storage. The other nodes would sit there with nothing to do for that topic. Partitioning is how Kafka gets around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Partitioning takes the single topic log from the last module and breaks it up into several logs. The topic is partitioned - split into pieces. Each partition is a log in its own right, and the partitions of one topic can sit on different nodes of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Partitioning changes what 'in order' means. There is no strict guarantee of global order across a partitioned topic - only within each partition. Here m1 to m6 were written in order and spread over three partitions; each partition keeps its own order, but a reader of the whole topic can see them interleaved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not limited to three partitions. A topic can have hundreds or thousands. The lesson quotes round numbers of about two million partitions for open-source Apache Kafka around version 4.0 - that is a cluster-wide figure, made practical by KRaft, Kafka's built-in metadata management. More partitions are not free, though: each one has a cost on the brokers, which later modules make clearer.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topic is split, something has to decide which partition each message goes to. The simplest case is a message with no key - remember that a message is, at its simplest, a key-value pair, and here the key is null. Then messages are spread round-robin: each one to the next partition, so the load is even. Trainer note: since Kafka 2.4 the Java producer, and librdkafka-based clients, send keyless messages in batches to one partition at a time (the sticky partitioner) because it batches better; the long-run effect is the same even spread.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Mostly a wonderful world - but look at thermostat 42. Its readings went to three different partitions. They are roughly in order, in the sense that older messages tend to be earlier in a partition, but there is no guarantee: reading them back, you cannot be sure you will get them in the order they were written.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ordering by something like the sensor id, make it the message key. The key is run through a hash function, and the result is taken modulo the number of partitions; the remainder is the partition number. Here key 42 comes out as partition 2, so that message goes to partition 2 - and so does the next message with key 42. The big number on the slide is illustrative; the Java client's default hash is murmur2.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strict ordering for all messages with the same key. Messages with different keys can go anywhere - whichever partition wins the hash lottery - so there is no order between them. That per-key guarantee is very useful in many use cases: one sensor's readings, one account's transactions. Trainer note: because the partition is hash mod partition-count, increasing the partition count changes where existing keys 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partitions are what make Kafka scalable, efficient and reliable. Dividing topics into partitions lets Kafka spread the workload across the cluster - massive amounts of data, of I/O, of publish-subscribe activity - while still keeping messages in order when you need it. Understanding how partitions are assigned and balanced helps you get the most out of Kafka.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ask which partition a message with no key goes to (the next one - spread for balance), and how to keep one customer's events in order (use the customer id as the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Partitions</a:t>
            </a:r>
          </a:p>
          <a:p>
            <a:pPr algn="l"/>
            <a:r>
              <a:rPr sz="1450" b="0">
                <a:solidFill>
                  <a:srgbClr val="D6D3D1"/>
                </a:solidFill>
                <a:latin typeface="Segoe UI"/>
              </a:rPr>
              <a:t>how one topic grows beyond one machine</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SCALE</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LOGS</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KEYS</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ORDER</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3  ·  Following the Kafka 101 Partitions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thermostat_readings  ·  3 partitions</a:t>
            </a:r>
          </a:p>
        </p:txBody>
      </p:sp>
      <p:sp>
        <p:nvSpPr>
          <p:cNvPr id="50" name="a0fd1100_pl49"/>
          <p:cNvSpPr txBox="1"/>
          <p:nvPr/>
        </p:nvSpPr>
        <p:spPr>
          <a:xfrm>
            <a:off x="5961888" y="1664208"/>
            <a:ext cx="365760" cy="256032"/>
          </a:xfrm>
          <a:prstGeom prst="rect">
            <a:avLst/>
          </a:prstGeom>
          <a:noFill/>
        </p:spPr>
        <p:txBody>
          <a:bodyPr wrap="square" lIns="0" tIns="0" rIns="0" bIns="0" anchor="ctr">
            <a:spAutoFit/>
          </a:bodyPr>
          <a:lstStyle/>
          <a:p>
            <a:pPr algn="l"/>
            <a:r>
              <a:rPr sz="950" b="1">
                <a:solidFill>
                  <a:srgbClr val="FDBA74"/>
                </a:solidFill>
                <a:latin typeface="Consolas"/>
              </a:rPr>
              <a:t>P0</a:t>
            </a:r>
          </a:p>
        </p:txBody>
      </p:sp>
      <p:sp>
        <p:nvSpPr>
          <p:cNvPr id="51" name="a0fd1100_pc50"/>
          <p:cNvSpPr/>
          <p:nvPr/>
        </p:nvSpPr>
        <p:spPr>
          <a:xfrm>
            <a:off x="6355080" y="1664208"/>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0fd1100_pct51"/>
          <p:cNvSpPr txBox="1"/>
          <p:nvPr/>
        </p:nvSpPr>
        <p:spPr>
          <a:xfrm>
            <a:off x="6355080" y="1664208"/>
            <a:ext cx="283464" cy="256032"/>
          </a:xfrm>
          <a:prstGeom prst="rect">
            <a:avLst/>
          </a:prstGeom>
          <a:noFill/>
        </p:spPr>
        <p:txBody>
          <a:bodyPr wrap="square" lIns="0" tIns="0" rIns="0" bIns="0" anchor="ctr">
            <a:spAutoFit/>
          </a:bodyPr>
          <a:lstStyle/>
          <a:p>
            <a:pPr algn="ctr"/>
            <a:r>
              <a:rPr sz="750" b="0">
                <a:solidFill>
                  <a:srgbClr val="D6D3D1"/>
                </a:solidFill>
                <a:latin typeface="Consolas"/>
              </a:rPr>
              <a:t>0</a:t>
            </a:r>
          </a:p>
        </p:txBody>
      </p:sp>
      <p:sp>
        <p:nvSpPr>
          <p:cNvPr id="53" name="a0fd1160_pc52"/>
          <p:cNvSpPr/>
          <p:nvPr/>
        </p:nvSpPr>
        <p:spPr>
          <a:xfrm>
            <a:off x="6684264" y="1664208"/>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0fd1160_pct53"/>
          <p:cNvSpPr txBox="1"/>
          <p:nvPr/>
        </p:nvSpPr>
        <p:spPr>
          <a:xfrm>
            <a:off x="6684264" y="1664208"/>
            <a:ext cx="283464" cy="256032"/>
          </a:xfrm>
          <a:prstGeom prst="rect">
            <a:avLst/>
          </a:prstGeom>
          <a:noFill/>
        </p:spPr>
        <p:txBody>
          <a:bodyPr wrap="square" lIns="0" tIns="0" rIns="0" bIns="0" anchor="ctr">
            <a:spAutoFit/>
          </a:bodyPr>
          <a:lstStyle/>
          <a:p>
            <a:pPr algn="ctr"/>
            <a:r>
              <a:rPr sz="750" b="0">
                <a:solidFill>
                  <a:srgbClr val="D6D3D1"/>
                </a:solidFill>
                <a:latin typeface="Consolas"/>
              </a:rPr>
              <a:t>1</a:t>
            </a:r>
          </a:p>
        </p:txBody>
      </p:sp>
      <p:sp>
        <p:nvSpPr>
          <p:cNvPr id="55" name="a0fd1220_pc54"/>
          <p:cNvSpPr/>
          <p:nvPr/>
        </p:nvSpPr>
        <p:spPr>
          <a:xfrm>
            <a:off x="7013448" y="1664208"/>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0fd1220_pct55"/>
          <p:cNvSpPr txBox="1"/>
          <p:nvPr/>
        </p:nvSpPr>
        <p:spPr>
          <a:xfrm>
            <a:off x="7013448" y="1664208"/>
            <a:ext cx="283464" cy="256032"/>
          </a:xfrm>
          <a:prstGeom prst="rect">
            <a:avLst/>
          </a:prstGeom>
          <a:noFill/>
        </p:spPr>
        <p:txBody>
          <a:bodyPr wrap="square" lIns="0" tIns="0" rIns="0" bIns="0" anchor="ctr">
            <a:spAutoFit/>
          </a:bodyPr>
          <a:lstStyle/>
          <a:p>
            <a:pPr algn="ctr"/>
            <a:r>
              <a:rPr sz="750" b="0">
                <a:solidFill>
                  <a:srgbClr val="D6D3D1"/>
                </a:solidFill>
                <a:latin typeface="Consolas"/>
              </a:rPr>
              <a:t>2</a:t>
            </a:r>
          </a:p>
        </p:txBody>
      </p:sp>
      <p:sp>
        <p:nvSpPr>
          <p:cNvPr id="57" name="a0fd1280_pc56"/>
          <p:cNvSpPr/>
          <p:nvPr/>
        </p:nvSpPr>
        <p:spPr>
          <a:xfrm>
            <a:off x="7342632" y="1664208"/>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0fd1280_pct57"/>
          <p:cNvSpPr txBox="1"/>
          <p:nvPr/>
        </p:nvSpPr>
        <p:spPr>
          <a:xfrm>
            <a:off x="7342632" y="1664208"/>
            <a:ext cx="283464" cy="256032"/>
          </a:xfrm>
          <a:prstGeom prst="rect">
            <a:avLst/>
          </a:prstGeom>
          <a:noFill/>
        </p:spPr>
        <p:txBody>
          <a:bodyPr wrap="square" lIns="0" tIns="0" rIns="0" bIns="0" anchor="ctr">
            <a:spAutoFit/>
          </a:bodyPr>
          <a:lstStyle/>
          <a:p>
            <a:pPr algn="ctr"/>
            <a:r>
              <a:rPr sz="750" b="0">
                <a:solidFill>
                  <a:srgbClr val="D6D3D1"/>
                </a:solidFill>
                <a:latin typeface="Consolas"/>
              </a:rPr>
              <a:t>3</a:t>
            </a:r>
          </a:p>
        </p:txBody>
      </p:sp>
      <p:sp>
        <p:nvSpPr>
          <p:cNvPr id="59" name="a0fd1340_pc58"/>
          <p:cNvSpPr/>
          <p:nvPr/>
        </p:nvSpPr>
        <p:spPr>
          <a:xfrm>
            <a:off x="7671816" y="1664208"/>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0fd1340_pct59"/>
          <p:cNvSpPr txBox="1"/>
          <p:nvPr/>
        </p:nvSpPr>
        <p:spPr>
          <a:xfrm>
            <a:off x="7671816" y="1664208"/>
            <a:ext cx="283464" cy="256032"/>
          </a:xfrm>
          <a:prstGeom prst="rect">
            <a:avLst/>
          </a:prstGeom>
          <a:noFill/>
        </p:spPr>
        <p:txBody>
          <a:bodyPr wrap="square" lIns="0" tIns="0" rIns="0" bIns="0" anchor="ctr">
            <a:spAutoFit/>
          </a:bodyPr>
          <a:lstStyle/>
          <a:p>
            <a:pPr algn="ctr"/>
            <a:r>
              <a:rPr sz="750" b="0">
                <a:solidFill>
                  <a:srgbClr val="D6D3D1"/>
                </a:solidFill>
                <a:latin typeface="Consolas"/>
              </a:rPr>
              <a:t>4</a:t>
            </a:r>
          </a:p>
        </p:txBody>
      </p:sp>
      <p:sp>
        <p:nvSpPr>
          <p:cNvPr id="61" name="a0fd1400_pc60"/>
          <p:cNvSpPr/>
          <p:nvPr/>
        </p:nvSpPr>
        <p:spPr>
          <a:xfrm>
            <a:off x="8001000" y="1664208"/>
            <a:ext cx="283464" cy="256032"/>
          </a:xfrm>
          <a:prstGeom prst="roundRect">
            <a:avLst>
              <a:gd name="adj" fmla="val 1071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0fd1400_pct61"/>
          <p:cNvSpPr txBox="1"/>
          <p:nvPr/>
        </p:nvSpPr>
        <p:spPr>
          <a:xfrm>
            <a:off x="8001000" y="1664208"/>
            <a:ext cx="283464" cy="256032"/>
          </a:xfrm>
          <a:prstGeom prst="rect">
            <a:avLst/>
          </a:prstGeom>
          <a:noFill/>
        </p:spPr>
        <p:txBody>
          <a:bodyPr wrap="square" lIns="0" tIns="0" rIns="0" bIns="0" anchor="ctr">
            <a:spAutoFit/>
          </a:bodyPr>
          <a:lstStyle/>
          <a:p>
            <a:pPr algn="ctr"/>
            <a:r>
              <a:rPr sz="750" b="0">
                <a:solidFill>
                  <a:srgbClr val="FFFFFF"/>
                </a:solidFill>
                <a:latin typeface="Consolas"/>
              </a:rPr>
              <a:t>5</a:t>
            </a:r>
          </a:p>
        </p:txBody>
      </p:sp>
      <p:sp>
        <p:nvSpPr>
          <p:cNvPr id="63" name="a0fd1350_pl62"/>
          <p:cNvSpPr txBox="1"/>
          <p:nvPr/>
        </p:nvSpPr>
        <p:spPr>
          <a:xfrm>
            <a:off x="5961888" y="2066544"/>
            <a:ext cx="365760" cy="256032"/>
          </a:xfrm>
          <a:prstGeom prst="rect">
            <a:avLst/>
          </a:prstGeom>
          <a:noFill/>
        </p:spPr>
        <p:txBody>
          <a:bodyPr wrap="square" lIns="0" tIns="0" rIns="0" bIns="0" anchor="ctr">
            <a:spAutoFit/>
          </a:bodyPr>
          <a:lstStyle/>
          <a:p>
            <a:pPr algn="l"/>
            <a:r>
              <a:rPr sz="950" b="1">
                <a:solidFill>
                  <a:srgbClr val="FDBA74"/>
                </a:solidFill>
                <a:latin typeface="Consolas"/>
              </a:rPr>
              <a:t>P1</a:t>
            </a:r>
          </a:p>
        </p:txBody>
      </p:sp>
      <p:sp>
        <p:nvSpPr>
          <p:cNvPr id="64" name="a0fd1350_pc63"/>
          <p:cNvSpPr/>
          <p:nvPr/>
        </p:nvSpPr>
        <p:spPr>
          <a:xfrm>
            <a:off x="6355080" y="2066544"/>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0fd1350_pct64"/>
          <p:cNvSpPr txBox="1"/>
          <p:nvPr/>
        </p:nvSpPr>
        <p:spPr>
          <a:xfrm>
            <a:off x="6355080" y="2066544"/>
            <a:ext cx="283464" cy="256032"/>
          </a:xfrm>
          <a:prstGeom prst="rect">
            <a:avLst/>
          </a:prstGeom>
          <a:noFill/>
        </p:spPr>
        <p:txBody>
          <a:bodyPr wrap="square" lIns="0" tIns="0" rIns="0" bIns="0" anchor="ctr">
            <a:spAutoFit/>
          </a:bodyPr>
          <a:lstStyle/>
          <a:p>
            <a:pPr algn="ctr"/>
            <a:r>
              <a:rPr sz="750" b="0">
                <a:solidFill>
                  <a:srgbClr val="D6D3D1"/>
                </a:solidFill>
                <a:latin typeface="Consolas"/>
              </a:rPr>
              <a:t>0</a:t>
            </a:r>
          </a:p>
        </p:txBody>
      </p:sp>
      <p:sp>
        <p:nvSpPr>
          <p:cNvPr id="66" name="a0fd1410_pc65"/>
          <p:cNvSpPr/>
          <p:nvPr/>
        </p:nvSpPr>
        <p:spPr>
          <a:xfrm>
            <a:off x="6684264" y="2066544"/>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0fd1410_pct66"/>
          <p:cNvSpPr txBox="1"/>
          <p:nvPr/>
        </p:nvSpPr>
        <p:spPr>
          <a:xfrm>
            <a:off x="6684264" y="2066544"/>
            <a:ext cx="283464" cy="256032"/>
          </a:xfrm>
          <a:prstGeom prst="rect">
            <a:avLst/>
          </a:prstGeom>
          <a:noFill/>
        </p:spPr>
        <p:txBody>
          <a:bodyPr wrap="square" lIns="0" tIns="0" rIns="0" bIns="0" anchor="ctr">
            <a:spAutoFit/>
          </a:bodyPr>
          <a:lstStyle/>
          <a:p>
            <a:pPr algn="ctr"/>
            <a:r>
              <a:rPr sz="750" b="0">
                <a:solidFill>
                  <a:srgbClr val="D6D3D1"/>
                </a:solidFill>
                <a:latin typeface="Consolas"/>
              </a:rPr>
              <a:t>1</a:t>
            </a:r>
          </a:p>
        </p:txBody>
      </p:sp>
      <p:sp>
        <p:nvSpPr>
          <p:cNvPr id="68" name="a0fd1470_pc67"/>
          <p:cNvSpPr/>
          <p:nvPr/>
        </p:nvSpPr>
        <p:spPr>
          <a:xfrm>
            <a:off x="7013448" y="2066544"/>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0fd1470_pct68"/>
          <p:cNvSpPr txBox="1"/>
          <p:nvPr/>
        </p:nvSpPr>
        <p:spPr>
          <a:xfrm>
            <a:off x="7013448" y="2066544"/>
            <a:ext cx="283464" cy="256032"/>
          </a:xfrm>
          <a:prstGeom prst="rect">
            <a:avLst/>
          </a:prstGeom>
          <a:noFill/>
        </p:spPr>
        <p:txBody>
          <a:bodyPr wrap="square" lIns="0" tIns="0" rIns="0" bIns="0" anchor="ctr">
            <a:spAutoFit/>
          </a:bodyPr>
          <a:lstStyle/>
          <a:p>
            <a:pPr algn="ctr"/>
            <a:r>
              <a:rPr sz="750" b="0">
                <a:solidFill>
                  <a:srgbClr val="D6D3D1"/>
                </a:solidFill>
                <a:latin typeface="Consolas"/>
              </a:rPr>
              <a:t>2</a:t>
            </a:r>
          </a:p>
        </p:txBody>
      </p:sp>
      <p:sp>
        <p:nvSpPr>
          <p:cNvPr id="70" name="a0fd1530_pc69"/>
          <p:cNvSpPr/>
          <p:nvPr/>
        </p:nvSpPr>
        <p:spPr>
          <a:xfrm>
            <a:off x="7342632" y="2066544"/>
            <a:ext cx="283464" cy="256032"/>
          </a:xfrm>
          <a:prstGeom prst="roundRect">
            <a:avLst>
              <a:gd name="adj" fmla="val 1071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0fd1530_pct70"/>
          <p:cNvSpPr txBox="1"/>
          <p:nvPr/>
        </p:nvSpPr>
        <p:spPr>
          <a:xfrm>
            <a:off x="7342632" y="2066544"/>
            <a:ext cx="283464" cy="256032"/>
          </a:xfrm>
          <a:prstGeom prst="rect">
            <a:avLst/>
          </a:prstGeom>
          <a:noFill/>
        </p:spPr>
        <p:txBody>
          <a:bodyPr wrap="square" lIns="0" tIns="0" rIns="0" bIns="0" anchor="ctr">
            <a:spAutoFit/>
          </a:bodyPr>
          <a:lstStyle/>
          <a:p>
            <a:pPr algn="ctr"/>
            <a:r>
              <a:rPr sz="750" b="0">
                <a:solidFill>
                  <a:srgbClr val="FFFFFF"/>
                </a:solidFill>
                <a:latin typeface="Consolas"/>
              </a:rPr>
              <a:t>3</a:t>
            </a:r>
          </a:p>
        </p:txBody>
      </p:sp>
      <p:sp>
        <p:nvSpPr>
          <p:cNvPr id="72" name="a0fd1600_pl71"/>
          <p:cNvSpPr txBox="1"/>
          <p:nvPr/>
        </p:nvSpPr>
        <p:spPr>
          <a:xfrm>
            <a:off x="5961888" y="2468880"/>
            <a:ext cx="365760" cy="256032"/>
          </a:xfrm>
          <a:prstGeom prst="rect">
            <a:avLst/>
          </a:prstGeom>
          <a:noFill/>
        </p:spPr>
        <p:txBody>
          <a:bodyPr wrap="square" lIns="0" tIns="0" rIns="0" bIns="0" anchor="ctr">
            <a:spAutoFit/>
          </a:bodyPr>
          <a:lstStyle/>
          <a:p>
            <a:pPr algn="l"/>
            <a:r>
              <a:rPr sz="950" b="1">
                <a:solidFill>
                  <a:srgbClr val="FDBA74"/>
                </a:solidFill>
                <a:latin typeface="Consolas"/>
              </a:rPr>
              <a:t>P2</a:t>
            </a:r>
          </a:p>
        </p:txBody>
      </p:sp>
      <p:sp>
        <p:nvSpPr>
          <p:cNvPr id="73" name="a0fd1600_pc72"/>
          <p:cNvSpPr/>
          <p:nvPr/>
        </p:nvSpPr>
        <p:spPr>
          <a:xfrm>
            <a:off x="6355080" y="2468880"/>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a0fd1600_pct73"/>
          <p:cNvSpPr txBox="1"/>
          <p:nvPr/>
        </p:nvSpPr>
        <p:spPr>
          <a:xfrm>
            <a:off x="6355080" y="2468880"/>
            <a:ext cx="283464" cy="256032"/>
          </a:xfrm>
          <a:prstGeom prst="rect">
            <a:avLst/>
          </a:prstGeom>
          <a:noFill/>
        </p:spPr>
        <p:txBody>
          <a:bodyPr wrap="square" lIns="0" tIns="0" rIns="0" bIns="0" anchor="ctr">
            <a:spAutoFit/>
          </a:bodyPr>
          <a:lstStyle/>
          <a:p>
            <a:pPr algn="ctr"/>
            <a:r>
              <a:rPr sz="750" b="0">
                <a:solidFill>
                  <a:srgbClr val="D6D3D1"/>
                </a:solidFill>
                <a:latin typeface="Consolas"/>
              </a:rPr>
              <a:t>0</a:t>
            </a:r>
          </a:p>
        </p:txBody>
      </p:sp>
      <p:sp>
        <p:nvSpPr>
          <p:cNvPr id="75" name="a0fd1660_pc74"/>
          <p:cNvSpPr/>
          <p:nvPr/>
        </p:nvSpPr>
        <p:spPr>
          <a:xfrm>
            <a:off x="6684264" y="2468880"/>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a0fd1660_pct75"/>
          <p:cNvSpPr txBox="1"/>
          <p:nvPr/>
        </p:nvSpPr>
        <p:spPr>
          <a:xfrm>
            <a:off x="6684264" y="2468880"/>
            <a:ext cx="283464" cy="256032"/>
          </a:xfrm>
          <a:prstGeom prst="rect">
            <a:avLst/>
          </a:prstGeom>
          <a:noFill/>
        </p:spPr>
        <p:txBody>
          <a:bodyPr wrap="square" lIns="0" tIns="0" rIns="0" bIns="0" anchor="ctr">
            <a:spAutoFit/>
          </a:bodyPr>
          <a:lstStyle/>
          <a:p>
            <a:pPr algn="ctr"/>
            <a:r>
              <a:rPr sz="750" b="0">
                <a:solidFill>
                  <a:srgbClr val="D6D3D1"/>
                </a:solidFill>
                <a:latin typeface="Consolas"/>
              </a:rPr>
              <a:t>1</a:t>
            </a:r>
          </a:p>
        </p:txBody>
      </p:sp>
      <p:sp>
        <p:nvSpPr>
          <p:cNvPr id="77" name="a0fd1720_pc76"/>
          <p:cNvSpPr/>
          <p:nvPr/>
        </p:nvSpPr>
        <p:spPr>
          <a:xfrm>
            <a:off x="7013448" y="2468880"/>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a0fd1720_pct77"/>
          <p:cNvSpPr txBox="1"/>
          <p:nvPr/>
        </p:nvSpPr>
        <p:spPr>
          <a:xfrm>
            <a:off x="7013448" y="2468880"/>
            <a:ext cx="283464" cy="256032"/>
          </a:xfrm>
          <a:prstGeom prst="rect">
            <a:avLst/>
          </a:prstGeom>
          <a:noFill/>
        </p:spPr>
        <p:txBody>
          <a:bodyPr wrap="square" lIns="0" tIns="0" rIns="0" bIns="0" anchor="ctr">
            <a:spAutoFit/>
          </a:bodyPr>
          <a:lstStyle/>
          <a:p>
            <a:pPr algn="ctr"/>
            <a:r>
              <a:rPr sz="750" b="0">
                <a:solidFill>
                  <a:srgbClr val="D6D3D1"/>
                </a:solidFill>
                <a:latin typeface="Consolas"/>
              </a:rPr>
              <a:t>2</a:t>
            </a:r>
          </a:p>
        </p:txBody>
      </p:sp>
      <p:sp>
        <p:nvSpPr>
          <p:cNvPr id="79" name="a0fd1780_pc78"/>
          <p:cNvSpPr/>
          <p:nvPr/>
        </p:nvSpPr>
        <p:spPr>
          <a:xfrm>
            <a:off x="7342632" y="2468880"/>
            <a:ext cx="283464" cy="256032"/>
          </a:xfrm>
          <a:prstGeom prst="roundRect">
            <a:avLst>
              <a:gd name="adj" fmla="val 1071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a0fd1780_pct79"/>
          <p:cNvSpPr txBox="1"/>
          <p:nvPr/>
        </p:nvSpPr>
        <p:spPr>
          <a:xfrm>
            <a:off x="7342632" y="2468880"/>
            <a:ext cx="283464" cy="256032"/>
          </a:xfrm>
          <a:prstGeom prst="rect">
            <a:avLst/>
          </a:prstGeom>
          <a:noFill/>
        </p:spPr>
        <p:txBody>
          <a:bodyPr wrap="square" lIns="0" tIns="0" rIns="0" bIns="0" anchor="ctr">
            <a:spAutoFit/>
          </a:bodyPr>
          <a:lstStyle/>
          <a:p>
            <a:pPr algn="ctr"/>
            <a:r>
              <a:rPr sz="750" b="0">
                <a:solidFill>
                  <a:srgbClr val="D6D3D1"/>
                </a:solidFill>
                <a:latin typeface="Consolas"/>
              </a:rPr>
              <a:t>3</a:t>
            </a:r>
          </a:p>
        </p:txBody>
      </p:sp>
      <p:sp>
        <p:nvSpPr>
          <p:cNvPr id="81" name="a0fd1840_pc80"/>
          <p:cNvSpPr/>
          <p:nvPr/>
        </p:nvSpPr>
        <p:spPr>
          <a:xfrm>
            <a:off x="7671816" y="2468880"/>
            <a:ext cx="283464" cy="256032"/>
          </a:xfrm>
          <a:prstGeom prst="roundRect">
            <a:avLst>
              <a:gd name="adj" fmla="val 1071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a0fd1840_pct81"/>
          <p:cNvSpPr txBox="1"/>
          <p:nvPr/>
        </p:nvSpPr>
        <p:spPr>
          <a:xfrm>
            <a:off x="7671816" y="2468880"/>
            <a:ext cx="283464" cy="256032"/>
          </a:xfrm>
          <a:prstGeom prst="rect">
            <a:avLst/>
          </a:prstGeom>
          <a:noFill/>
        </p:spPr>
        <p:txBody>
          <a:bodyPr wrap="square" lIns="0" tIns="0" rIns="0" bIns="0" anchor="ctr">
            <a:spAutoFit/>
          </a:bodyPr>
          <a:lstStyle/>
          <a:p>
            <a:pPr algn="ctr"/>
            <a:r>
              <a:rPr sz="750" b="0">
                <a:solidFill>
                  <a:srgbClr val="FFFFFF"/>
                </a:solidFill>
                <a:latin typeface="Consolas"/>
              </a:rPr>
              <a:t>4</a:t>
            </a:r>
          </a:p>
        </p:txBody>
      </p:sp>
      <p:sp>
        <p:nvSpPr>
          <p:cNvPr id="83" name="a0fd2300_cap82"/>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one topic, split into three logs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2" presetID="10" presetClass="entr" presetSubtype="0" fill="hold" grpId="0" nodeType="withEffect">
                                  <p:stCondLst>
                                    <p:cond delay="11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5" presetID="10" presetClass="entr" presetSubtype="0" fill="hold" grpId="0" nodeType="withEffect">
                                  <p:stCondLst>
                                    <p:cond delay="110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8" presetID="10" presetClass="entr" presetSubtype="0" fill="hold" grpId="0" nodeType="withEffect">
                                  <p:stCondLst>
                                    <p:cond delay="116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51" presetID="10" presetClass="entr" presetSubtype="0" fill="hold" grpId="0" nodeType="withEffect">
                                  <p:stCondLst>
                                    <p:cond delay="116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500"/>
                                        <p:tgtEl>
                                          <p:spTgt spid="54"/>
                                        </p:tgtEl>
                                      </p:cBhvr>
                                    </p:animEffect>
                                  </p:childTnLst>
                                </p:cTn>
                              </p:par>
                              <p:par>
                                <p:cTn id="54" presetID="10" presetClass="entr" presetSubtype="0" fill="hold" grpId="0" nodeType="withEffect">
                                  <p:stCondLst>
                                    <p:cond delay="1220"/>
                                  </p:stCondLst>
                                  <p:childTnLst>
                                    <p:set>
                                      <p:cBhvr>
                                        <p:cTn id="52" dur="1" fill="hold">
                                          <p:stCondLst>
                                            <p:cond delay="0"/>
                                          </p:stCondLst>
                                        </p:cTn>
                                        <p:tgtEl>
                                          <p:spTgt spid="55"/>
                                        </p:tgtEl>
                                        <p:attrNameLst>
                                          <p:attrName>style.visibility</p:attrName>
                                        </p:attrNameLst>
                                      </p:cBhvr>
                                      <p:to>
                                        <p:strVal val="visible"/>
                                      </p:to>
                                    </p:set>
                                    <p:animEffect transition="in" filter="fade">
                                      <p:cBhvr>
                                        <p:cTn id="53" dur="500"/>
                                        <p:tgtEl>
                                          <p:spTgt spid="55"/>
                                        </p:tgtEl>
                                      </p:cBhvr>
                                    </p:animEffect>
                                  </p:childTnLst>
                                </p:cTn>
                              </p:par>
                              <p:par>
                                <p:cTn id="57" presetID="10" presetClass="entr" presetSubtype="0" fill="hold" grpId="0" nodeType="withEffect">
                                  <p:stCondLst>
                                    <p:cond delay="1220"/>
                                  </p:stCondLst>
                                  <p:childTnLst>
                                    <p:set>
                                      <p:cBhvr>
                                        <p:cTn id="55" dur="1" fill="hold">
                                          <p:stCondLst>
                                            <p:cond delay="0"/>
                                          </p:stCondLst>
                                        </p:cTn>
                                        <p:tgtEl>
                                          <p:spTgt spid="56"/>
                                        </p:tgtEl>
                                        <p:attrNameLst>
                                          <p:attrName>style.visibility</p:attrName>
                                        </p:attrNameLst>
                                      </p:cBhvr>
                                      <p:to>
                                        <p:strVal val="visible"/>
                                      </p:to>
                                    </p:set>
                                    <p:animEffect transition="in" filter="fade">
                                      <p:cBhvr>
                                        <p:cTn id="56" dur="500"/>
                                        <p:tgtEl>
                                          <p:spTgt spid="56"/>
                                        </p:tgtEl>
                                      </p:cBhvr>
                                    </p:animEffect>
                                  </p:childTnLst>
                                </p:cTn>
                              </p:par>
                              <p:par>
                                <p:cTn id="62" presetID="2" presetClass="entr" presetSubtype="4" fill="hold" grpId="0" nodeType="withEffect">
                                  <p:stCondLst>
                                    <p:cond delay="125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ppt_y+0.1"/>
                                          </p:val>
                                        </p:tav>
                                        <p:tav tm="100000">
                                          <p:val>
                                            <p:strVal val="#ppt_y"/>
                                          </p:val>
                                        </p:tav>
                                      </p:tavLst>
                                    </p:anim>
                                    <p:animEffect transition="in" filter="fade">
                                      <p:cBhvr>
                                        <p:cTn id="61" dur="500"/>
                                        <p:tgtEl>
                                          <p:spTgt spid="9"/>
                                        </p:tgtEl>
                                      </p:cBhvr>
                                    </p:animEffect>
                                  </p:childTnLst>
                                </p:cTn>
                              </p:par>
                              <p:par>
                                <p:cTn id="65" presetID="10" presetClass="entr" presetSubtype="0" fill="hold" grpId="0" nodeType="withEffect">
                                  <p:stCondLst>
                                    <p:cond delay="1280"/>
                                  </p:stCondLst>
                                  <p:childTnLst>
                                    <p:set>
                                      <p:cBhvr>
                                        <p:cTn id="63" dur="1" fill="hold">
                                          <p:stCondLst>
                                            <p:cond delay="0"/>
                                          </p:stCondLst>
                                        </p:cTn>
                                        <p:tgtEl>
                                          <p:spTgt spid="57"/>
                                        </p:tgtEl>
                                        <p:attrNameLst>
                                          <p:attrName>style.visibility</p:attrName>
                                        </p:attrNameLst>
                                      </p:cBhvr>
                                      <p:to>
                                        <p:strVal val="visible"/>
                                      </p:to>
                                    </p:set>
                                    <p:animEffect transition="in" filter="fade">
                                      <p:cBhvr>
                                        <p:cTn id="64" dur="500"/>
                                        <p:tgtEl>
                                          <p:spTgt spid="57"/>
                                        </p:tgtEl>
                                      </p:cBhvr>
                                    </p:animEffect>
                                  </p:childTnLst>
                                </p:cTn>
                              </p:par>
                              <p:par>
                                <p:cTn id="68" presetID="10" presetClass="entr" presetSubtype="0" fill="hold" grpId="0" nodeType="withEffect">
                                  <p:stCondLst>
                                    <p:cond delay="128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par>
                                <p:cTn id="71" presetID="10" presetClass="entr" presetSubtype="0" fill="hold" grpId="0" nodeType="withEffect">
                                  <p:stCondLst>
                                    <p:cond delay="134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500"/>
                                        <p:tgtEl>
                                          <p:spTgt spid="59"/>
                                        </p:tgtEl>
                                      </p:cBhvr>
                                    </p:animEffect>
                                  </p:childTnLst>
                                </p:cTn>
                              </p:par>
                              <p:par>
                                <p:cTn id="74" presetID="10" presetClass="entr" presetSubtype="0" fill="hold" grpId="0" nodeType="withEffect">
                                  <p:stCondLst>
                                    <p:cond delay="134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500"/>
                                        <p:tgtEl>
                                          <p:spTgt spid="60"/>
                                        </p:tgtEl>
                                      </p:cBhvr>
                                    </p:animEffect>
                                  </p:childTnLst>
                                </p:cTn>
                              </p:par>
                              <p:par>
                                <p:cTn id="77" presetID="10" presetClass="entr" presetSubtype="0" fill="hold" grpId="0" nodeType="withEffect">
                                  <p:stCondLst>
                                    <p:cond delay="135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80" presetID="10" presetClass="entr" presetSubtype="0" fill="hold" grpId="0" nodeType="withEffect">
                                  <p:stCondLst>
                                    <p:cond delay="1350"/>
                                  </p:stCondLst>
                                  <p:childTnLst>
                                    <p:set>
                                      <p:cBhvr>
                                        <p:cTn id="78" dur="1" fill="hold">
                                          <p:stCondLst>
                                            <p:cond delay="0"/>
                                          </p:stCondLst>
                                        </p:cTn>
                                        <p:tgtEl>
                                          <p:spTgt spid="64"/>
                                        </p:tgtEl>
                                        <p:attrNameLst>
                                          <p:attrName>style.visibility</p:attrName>
                                        </p:attrNameLst>
                                      </p:cBhvr>
                                      <p:to>
                                        <p:strVal val="visible"/>
                                      </p:to>
                                    </p:set>
                                    <p:animEffect transition="in" filter="fade">
                                      <p:cBhvr>
                                        <p:cTn id="79" dur="500"/>
                                        <p:tgtEl>
                                          <p:spTgt spid="64"/>
                                        </p:tgtEl>
                                      </p:cBhvr>
                                    </p:animEffect>
                                  </p:childTnLst>
                                </p:cTn>
                              </p:par>
                              <p:par>
                                <p:cTn id="83" presetID="10" presetClass="entr" presetSubtype="0" fill="hold" grpId="0" nodeType="withEffect">
                                  <p:stCondLst>
                                    <p:cond delay="1350"/>
                                  </p:stCondLst>
                                  <p:childTnLst>
                                    <p:set>
                                      <p:cBhvr>
                                        <p:cTn id="81" dur="1" fill="hold">
                                          <p:stCondLst>
                                            <p:cond delay="0"/>
                                          </p:stCondLst>
                                        </p:cTn>
                                        <p:tgtEl>
                                          <p:spTgt spid="65"/>
                                        </p:tgtEl>
                                        <p:attrNameLst>
                                          <p:attrName>style.visibility</p:attrName>
                                        </p:attrNameLst>
                                      </p:cBhvr>
                                      <p:to>
                                        <p:strVal val="visible"/>
                                      </p:to>
                                    </p:set>
                                    <p:animEffect transition="in" filter="fade">
                                      <p:cBhvr>
                                        <p:cTn id="82" dur="500"/>
                                        <p:tgtEl>
                                          <p:spTgt spid="65"/>
                                        </p:tgtEl>
                                      </p:cBhvr>
                                    </p:animEffect>
                                  </p:childTnLst>
                                </p:cTn>
                              </p:par>
                              <p:par>
                                <p:cTn id="86" presetID="10" presetClass="entr" presetSubtype="0" fill="hold" grpId="0" nodeType="withEffect">
                                  <p:stCondLst>
                                    <p:cond delay="140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500"/>
                                        <p:tgtEl>
                                          <p:spTgt spid="10"/>
                                        </p:tgtEl>
                                      </p:cBhvr>
                                    </p:animEffect>
                                  </p:childTnLst>
                                </p:cTn>
                              </p:par>
                              <p:par>
                                <p:cTn id="89" presetID="10" presetClass="entr" presetSubtype="0" fill="hold" grpId="0" nodeType="withEffect">
                                  <p:stCondLst>
                                    <p:cond delay="140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500"/>
                                        <p:tgtEl>
                                          <p:spTgt spid="61"/>
                                        </p:tgtEl>
                                      </p:cBhvr>
                                    </p:animEffect>
                                  </p:childTnLst>
                                </p:cTn>
                              </p:par>
                              <p:par>
                                <p:cTn id="92" presetID="10" presetClass="entr" presetSubtype="0" fill="hold" grpId="0" nodeType="withEffect">
                                  <p:stCondLst>
                                    <p:cond delay="1400"/>
                                  </p:stCondLst>
                                  <p:childTnLst>
                                    <p:set>
                                      <p:cBhvr>
                                        <p:cTn id="90" dur="1" fill="hold">
                                          <p:stCondLst>
                                            <p:cond delay="0"/>
                                          </p:stCondLst>
                                        </p:cTn>
                                        <p:tgtEl>
                                          <p:spTgt spid="62"/>
                                        </p:tgtEl>
                                        <p:attrNameLst>
                                          <p:attrName>style.visibility</p:attrName>
                                        </p:attrNameLst>
                                      </p:cBhvr>
                                      <p:to>
                                        <p:strVal val="visible"/>
                                      </p:to>
                                    </p:set>
                                    <p:animEffect transition="in" filter="fade">
                                      <p:cBhvr>
                                        <p:cTn id="91" dur="500"/>
                                        <p:tgtEl>
                                          <p:spTgt spid="62"/>
                                        </p:tgtEl>
                                      </p:cBhvr>
                                    </p:animEffect>
                                  </p:childTnLst>
                                </p:cTn>
                              </p:par>
                              <p:par>
                                <p:cTn id="95" presetID="10" presetClass="entr" presetSubtype="0" fill="hold" grpId="0" nodeType="withEffect">
                                  <p:stCondLst>
                                    <p:cond delay="1410"/>
                                  </p:stCondLst>
                                  <p:childTnLst>
                                    <p:set>
                                      <p:cBhvr>
                                        <p:cTn id="93" dur="1" fill="hold">
                                          <p:stCondLst>
                                            <p:cond delay="0"/>
                                          </p:stCondLst>
                                        </p:cTn>
                                        <p:tgtEl>
                                          <p:spTgt spid="66"/>
                                        </p:tgtEl>
                                        <p:attrNameLst>
                                          <p:attrName>style.visibility</p:attrName>
                                        </p:attrNameLst>
                                      </p:cBhvr>
                                      <p:to>
                                        <p:strVal val="visible"/>
                                      </p:to>
                                    </p:set>
                                    <p:animEffect transition="in" filter="fade">
                                      <p:cBhvr>
                                        <p:cTn id="94" dur="500"/>
                                        <p:tgtEl>
                                          <p:spTgt spid="66"/>
                                        </p:tgtEl>
                                      </p:cBhvr>
                                    </p:animEffect>
                                  </p:childTnLst>
                                </p:cTn>
                              </p:par>
                              <p:par>
                                <p:cTn id="98" presetID="10" presetClass="entr" presetSubtype="0" fill="hold" grpId="0" nodeType="withEffect">
                                  <p:stCondLst>
                                    <p:cond delay="1410"/>
                                  </p:stCondLst>
                                  <p:childTnLst>
                                    <p:set>
                                      <p:cBhvr>
                                        <p:cTn id="96" dur="1" fill="hold">
                                          <p:stCondLst>
                                            <p:cond delay="0"/>
                                          </p:stCondLst>
                                        </p:cTn>
                                        <p:tgtEl>
                                          <p:spTgt spid="67"/>
                                        </p:tgtEl>
                                        <p:attrNameLst>
                                          <p:attrName>style.visibility</p:attrName>
                                        </p:attrNameLst>
                                      </p:cBhvr>
                                      <p:to>
                                        <p:strVal val="visible"/>
                                      </p:to>
                                    </p:set>
                                    <p:animEffect transition="in" filter="fade">
                                      <p:cBhvr>
                                        <p:cTn id="97" dur="500"/>
                                        <p:tgtEl>
                                          <p:spTgt spid="67"/>
                                        </p:tgtEl>
                                      </p:cBhvr>
                                    </p:animEffect>
                                  </p:childTnLst>
                                </p:cTn>
                              </p:par>
                              <p:par>
                                <p:cTn id="101" presetID="10" presetClass="entr" presetSubtype="0" fill="hold" grpId="0" nodeType="withEffect">
                                  <p:stCondLst>
                                    <p:cond delay="1470"/>
                                  </p:stCondLst>
                                  <p:childTnLst>
                                    <p:set>
                                      <p:cBhvr>
                                        <p:cTn id="99" dur="1" fill="hold">
                                          <p:stCondLst>
                                            <p:cond delay="0"/>
                                          </p:stCondLst>
                                        </p:cTn>
                                        <p:tgtEl>
                                          <p:spTgt spid="68"/>
                                        </p:tgtEl>
                                        <p:attrNameLst>
                                          <p:attrName>style.visibility</p:attrName>
                                        </p:attrNameLst>
                                      </p:cBhvr>
                                      <p:to>
                                        <p:strVal val="visible"/>
                                      </p:to>
                                    </p:set>
                                    <p:animEffect transition="in" filter="fade">
                                      <p:cBhvr>
                                        <p:cTn id="100" dur="500"/>
                                        <p:tgtEl>
                                          <p:spTgt spid="68"/>
                                        </p:tgtEl>
                                      </p:cBhvr>
                                    </p:animEffect>
                                  </p:childTnLst>
                                </p:cTn>
                              </p:par>
                              <p:par>
                                <p:cTn id="104" presetID="10" presetClass="entr" presetSubtype="0" fill="hold" grpId="0" nodeType="withEffect">
                                  <p:stCondLst>
                                    <p:cond delay="1470"/>
                                  </p:stCondLst>
                                  <p:childTnLst>
                                    <p:set>
                                      <p:cBhvr>
                                        <p:cTn id="102" dur="1" fill="hold">
                                          <p:stCondLst>
                                            <p:cond delay="0"/>
                                          </p:stCondLst>
                                        </p:cTn>
                                        <p:tgtEl>
                                          <p:spTgt spid="69"/>
                                        </p:tgtEl>
                                        <p:attrNameLst>
                                          <p:attrName>style.visibility</p:attrName>
                                        </p:attrNameLst>
                                      </p:cBhvr>
                                      <p:to>
                                        <p:strVal val="visible"/>
                                      </p:to>
                                    </p:set>
                                    <p:animEffect transition="in" filter="fade">
                                      <p:cBhvr>
                                        <p:cTn id="103" dur="500"/>
                                        <p:tgtEl>
                                          <p:spTgt spid="69"/>
                                        </p:tgtEl>
                                      </p:cBhvr>
                                    </p:animEffect>
                                  </p:childTnLst>
                                </p:cTn>
                              </p:par>
                              <p:par>
                                <p:cTn id="107" presetID="10" presetClass="entr" presetSubtype="0" fill="hold" grpId="0" nodeType="withEffect">
                                  <p:stCondLst>
                                    <p:cond delay="1530"/>
                                  </p:stCondLst>
                                  <p:childTnLst>
                                    <p:set>
                                      <p:cBhvr>
                                        <p:cTn id="105" dur="1" fill="hold">
                                          <p:stCondLst>
                                            <p:cond delay="0"/>
                                          </p:stCondLst>
                                        </p:cTn>
                                        <p:tgtEl>
                                          <p:spTgt spid="70"/>
                                        </p:tgtEl>
                                        <p:attrNameLst>
                                          <p:attrName>style.visibility</p:attrName>
                                        </p:attrNameLst>
                                      </p:cBhvr>
                                      <p:to>
                                        <p:strVal val="visible"/>
                                      </p:to>
                                    </p:set>
                                    <p:animEffect transition="in" filter="fade">
                                      <p:cBhvr>
                                        <p:cTn id="106" dur="500"/>
                                        <p:tgtEl>
                                          <p:spTgt spid="70"/>
                                        </p:tgtEl>
                                      </p:cBhvr>
                                    </p:animEffect>
                                  </p:childTnLst>
                                </p:cTn>
                              </p:par>
                              <p:par>
                                <p:cTn id="110" presetID="10" presetClass="entr" presetSubtype="0" fill="hold" grpId="0" nodeType="withEffect">
                                  <p:stCondLst>
                                    <p:cond delay="1530"/>
                                  </p:stCondLst>
                                  <p:childTnLst>
                                    <p:set>
                                      <p:cBhvr>
                                        <p:cTn id="108" dur="1" fill="hold">
                                          <p:stCondLst>
                                            <p:cond delay="0"/>
                                          </p:stCondLst>
                                        </p:cTn>
                                        <p:tgtEl>
                                          <p:spTgt spid="71"/>
                                        </p:tgtEl>
                                        <p:attrNameLst>
                                          <p:attrName>style.visibility</p:attrName>
                                        </p:attrNameLst>
                                      </p:cBhvr>
                                      <p:to>
                                        <p:strVal val="visible"/>
                                      </p:to>
                                    </p:set>
                                    <p:animEffect transition="in" filter="fade">
                                      <p:cBhvr>
                                        <p:cTn id="109" dur="500"/>
                                        <p:tgtEl>
                                          <p:spTgt spid="71"/>
                                        </p:tgtEl>
                                      </p:cBhvr>
                                    </p:animEffect>
                                  </p:childTnLst>
                                </p:cTn>
                              </p:par>
                              <p:par>
                                <p:cTn id="113" presetID="10" presetClass="entr" presetSubtype="0" fill="hold" grpId="0" nodeType="withEffect">
                                  <p:stCondLst>
                                    <p:cond delay="1600"/>
                                  </p:stCondLst>
                                  <p:childTnLst>
                                    <p:set>
                                      <p:cBhvr>
                                        <p:cTn id="111" dur="1" fill="hold">
                                          <p:stCondLst>
                                            <p:cond delay="0"/>
                                          </p:stCondLst>
                                        </p:cTn>
                                        <p:tgtEl>
                                          <p:spTgt spid="11"/>
                                        </p:tgtEl>
                                        <p:attrNameLst>
                                          <p:attrName>style.visibility</p:attrName>
                                        </p:attrNameLst>
                                      </p:cBhvr>
                                      <p:to>
                                        <p:strVal val="visible"/>
                                      </p:to>
                                    </p:set>
                                    <p:animEffect transition="in" filter="fade">
                                      <p:cBhvr>
                                        <p:cTn id="112" dur="500"/>
                                        <p:tgtEl>
                                          <p:spTgt spid="11"/>
                                        </p:tgtEl>
                                      </p:cBhvr>
                                    </p:animEffect>
                                  </p:childTnLst>
                                </p:cTn>
                              </p:par>
                              <p:par>
                                <p:cTn id="116" presetID="10" presetClass="entr" presetSubtype="0" fill="hold" grpId="0" nodeType="withEffect">
                                  <p:stCondLst>
                                    <p:cond delay="1600"/>
                                  </p:stCondLst>
                                  <p:childTnLst>
                                    <p:set>
                                      <p:cBhvr>
                                        <p:cTn id="114" dur="1" fill="hold">
                                          <p:stCondLst>
                                            <p:cond delay="0"/>
                                          </p:stCondLst>
                                        </p:cTn>
                                        <p:tgtEl>
                                          <p:spTgt spid="12"/>
                                        </p:tgtEl>
                                        <p:attrNameLst>
                                          <p:attrName>style.visibility</p:attrName>
                                        </p:attrNameLst>
                                      </p:cBhvr>
                                      <p:to>
                                        <p:strVal val="visible"/>
                                      </p:to>
                                    </p:set>
                                    <p:animEffect transition="in" filter="fade">
                                      <p:cBhvr>
                                        <p:cTn id="115" dur="500"/>
                                        <p:tgtEl>
                                          <p:spTgt spid="12"/>
                                        </p:tgtEl>
                                      </p:cBhvr>
                                    </p:animEffect>
                                  </p:childTnLst>
                                </p:cTn>
                              </p:par>
                              <p:par>
                                <p:cTn id="119" presetID="10" presetClass="entr" presetSubtype="0" fill="hold" grpId="0" nodeType="withEffect">
                                  <p:stCondLst>
                                    <p:cond delay="1600"/>
                                  </p:stCondLst>
                                  <p:childTnLst>
                                    <p:set>
                                      <p:cBhvr>
                                        <p:cTn id="117" dur="1" fill="hold">
                                          <p:stCondLst>
                                            <p:cond delay="0"/>
                                          </p:stCondLst>
                                        </p:cTn>
                                        <p:tgtEl>
                                          <p:spTgt spid="72"/>
                                        </p:tgtEl>
                                        <p:attrNameLst>
                                          <p:attrName>style.visibility</p:attrName>
                                        </p:attrNameLst>
                                      </p:cBhvr>
                                      <p:to>
                                        <p:strVal val="visible"/>
                                      </p:to>
                                    </p:set>
                                    <p:animEffect transition="in" filter="fade">
                                      <p:cBhvr>
                                        <p:cTn id="118" dur="500"/>
                                        <p:tgtEl>
                                          <p:spTgt spid="72"/>
                                        </p:tgtEl>
                                      </p:cBhvr>
                                    </p:animEffect>
                                  </p:childTnLst>
                                </p:cTn>
                              </p:par>
                              <p:par>
                                <p:cTn id="122" presetID="10" presetClass="entr" presetSubtype="0" fill="hold" grpId="0" nodeType="withEffect">
                                  <p:stCondLst>
                                    <p:cond delay="1600"/>
                                  </p:stCondLst>
                                  <p:childTnLst>
                                    <p:set>
                                      <p:cBhvr>
                                        <p:cTn id="120" dur="1" fill="hold">
                                          <p:stCondLst>
                                            <p:cond delay="0"/>
                                          </p:stCondLst>
                                        </p:cTn>
                                        <p:tgtEl>
                                          <p:spTgt spid="73"/>
                                        </p:tgtEl>
                                        <p:attrNameLst>
                                          <p:attrName>style.visibility</p:attrName>
                                        </p:attrNameLst>
                                      </p:cBhvr>
                                      <p:to>
                                        <p:strVal val="visible"/>
                                      </p:to>
                                    </p:set>
                                    <p:animEffect transition="in" filter="fade">
                                      <p:cBhvr>
                                        <p:cTn id="121" dur="500"/>
                                        <p:tgtEl>
                                          <p:spTgt spid="73"/>
                                        </p:tgtEl>
                                      </p:cBhvr>
                                    </p:animEffect>
                                  </p:childTnLst>
                                </p:cTn>
                              </p:par>
                              <p:par>
                                <p:cTn id="125" presetID="10" presetClass="entr" presetSubtype="0" fill="hold" grpId="0" nodeType="withEffect">
                                  <p:stCondLst>
                                    <p:cond delay="1600"/>
                                  </p:stCondLst>
                                  <p:childTnLst>
                                    <p:set>
                                      <p:cBhvr>
                                        <p:cTn id="123" dur="1" fill="hold">
                                          <p:stCondLst>
                                            <p:cond delay="0"/>
                                          </p:stCondLst>
                                        </p:cTn>
                                        <p:tgtEl>
                                          <p:spTgt spid="74"/>
                                        </p:tgtEl>
                                        <p:attrNameLst>
                                          <p:attrName>style.visibility</p:attrName>
                                        </p:attrNameLst>
                                      </p:cBhvr>
                                      <p:to>
                                        <p:strVal val="visible"/>
                                      </p:to>
                                    </p:set>
                                    <p:animEffect transition="in" filter="fade">
                                      <p:cBhvr>
                                        <p:cTn id="124" dur="500"/>
                                        <p:tgtEl>
                                          <p:spTgt spid="74"/>
                                        </p:tgtEl>
                                      </p:cBhvr>
                                    </p:animEffect>
                                  </p:childTnLst>
                                </p:cTn>
                              </p:par>
                              <p:par>
                                <p:cTn id="128" presetID="10" presetClass="entr" presetSubtype="0" fill="hold" grpId="0" nodeType="withEffect">
                                  <p:stCondLst>
                                    <p:cond delay="1645"/>
                                  </p:stCondLst>
                                  <p:childTnLst>
                                    <p:set>
                                      <p:cBhvr>
                                        <p:cTn id="126" dur="1" fill="hold">
                                          <p:stCondLst>
                                            <p:cond delay="0"/>
                                          </p:stCondLst>
                                        </p:cTn>
                                        <p:tgtEl>
                                          <p:spTgt spid="13"/>
                                        </p:tgtEl>
                                        <p:attrNameLst>
                                          <p:attrName>style.visibility</p:attrName>
                                        </p:attrNameLst>
                                      </p:cBhvr>
                                      <p:to>
                                        <p:strVal val="visible"/>
                                      </p:to>
                                    </p:set>
                                    <p:animEffect transition="in" filter="fade">
                                      <p:cBhvr>
                                        <p:cTn id="127" dur="500"/>
                                        <p:tgtEl>
                                          <p:spTgt spid="13"/>
                                        </p:tgtEl>
                                      </p:cBhvr>
                                    </p:animEffect>
                                  </p:childTnLst>
                                </p:cTn>
                              </p:par>
                              <p:par>
                                <p:cTn id="131" presetID="10" presetClass="entr" presetSubtype="0" fill="hold" grpId="0" nodeType="withEffect">
                                  <p:stCondLst>
                                    <p:cond delay="1645"/>
                                  </p:stCondLst>
                                  <p:childTnLst>
                                    <p:set>
                                      <p:cBhvr>
                                        <p:cTn id="129" dur="1" fill="hold">
                                          <p:stCondLst>
                                            <p:cond delay="0"/>
                                          </p:stCondLst>
                                        </p:cTn>
                                        <p:tgtEl>
                                          <p:spTgt spid="14"/>
                                        </p:tgtEl>
                                        <p:attrNameLst>
                                          <p:attrName>style.visibility</p:attrName>
                                        </p:attrNameLst>
                                      </p:cBhvr>
                                      <p:to>
                                        <p:strVal val="visible"/>
                                      </p:to>
                                    </p:set>
                                    <p:animEffect transition="in" filter="fade">
                                      <p:cBhvr>
                                        <p:cTn id="130" dur="500"/>
                                        <p:tgtEl>
                                          <p:spTgt spid="14"/>
                                        </p:tgtEl>
                                      </p:cBhvr>
                                    </p:animEffect>
                                  </p:childTnLst>
                                </p:cTn>
                              </p:par>
                              <p:par>
                                <p:cTn id="134" presetID="10" presetClass="entr" presetSubtype="0" fill="hold" grpId="0" nodeType="withEffect">
                                  <p:stCondLst>
                                    <p:cond delay="1660"/>
                                  </p:stCondLst>
                                  <p:childTnLst>
                                    <p:set>
                                      <p:cBhvr>
                                        <p:cTn id="132" dur="1" fill="hold">
                                          <p:stCondLst>
                                            <p:cond delay="0"/>
                                          </p:stCondLst>
                                        </p:cTn>
                                        <p:tgtEl>
                                          <p:spTgt spid="75"/>
                                        </p:tgtEl>
                                        <p:attrNameLst>
                                          <p:attrName>style.visibility</p:attrName>
                                        </p:attrNameLst>
                                      </p:cBhvr>
                                      <p:to>
                                        <p:strVal val="visible"/>
                                      </p:to>
                                    </p:set>
                                    <p:animEffect transition="in" filter="fade">
                                      <p:cBhvr>
                                        <p:cTn id="133" dur="500"/>
                                        <p:tgtEl>
                                          <p:spTgt spid="75"/>
                                        </p:tgtEl>
                                      </p:cBhvr>
                                    </p:animEffect>
                                  </p:childTnLst>
                                </p:cTn>
                              </p:par>
                              <p:par>
                                <p:cTn id="137" presetID="10" presetClass="entr" presetSubtype="0" fill="hold" grpId="0" nodeType="withEffect">
                                  <p:stCondLst>
                                    <p:cond delay="1660"/>
                                  </p:stCondLst>
                                  <p:childTnLst>
                                    <p:set>
                                      <p:cBhvr>
                                        <p:cTn id="135" dur="1" fill="hold">
                                          <p:stCondLst>
                                            <p:cond delay="0"/>
                                          </p:stCondLst>
                                        </p:cTn>
                                        <p:tgtEl>
                                          <p:spTgt spid="76"/>
                                        </p:tgtEl>
                                        <p:attrNameLst>
                                          <p:attrName>style.visibility</p:attrName>
                                        </p:attrNameLst>
                                      </p:cBhvr>
                                      <p:to>
                                        <p:strVal val="visible"/>
                                      </p:to>
                                    </p:set>
                                    <p:animEffect transition="in" filter="fade">
                                      <p:cBhvr>
                                        <p:cTn id="136" dur="500"/>
                                        <p:tgtEl>
                                          <p:spTgt spid="76"/>
                                        </p:tgtEl>
                                      </p:cBhvr>
                                    </p:animEffect>
                                  </p:childTnLst>
                                </p:cTn>
                              </p:par>
                              <p:par>
                                <p:cTn id="140" presetID="10" presetClass="entr" presetSubtype="0" fill="hold" grpId="0" nodeType="withEffect">
                                  <p:stCondLst>
                                    <p:cond delay="1690"/>
                                  </p:stCondLst>
                                  <p:childTnLst>
                                    <p:set>
                                      <p:cBhvr>
                                        <p:cTn id="138" dur="1" fill="hold">
                                          <p:stCondLst>
                                            <p:cond delay="0"/>
                                          </p:stCondLst>
                                        </p:cTn>
                                        <p:tgtEl>
                                          <p:spTgt spid="15"/>
                                        </p:tgtEl>
                                        <p:attrNameLst>
                                          <p:attrName>style.visibility</p:attrName>
                                        </p:attrNameLst>
                                      </p:cBhvr>
                                      <p:to>
                                        <p:strVal val="visible"/>
                                      </p:to>
                                    </p:set>
                                    <p:animEffect transition="in" filter="fade">
                                      <p:cBhvr>
                                        <p:cTn id="139" dur="500"/>
                                        <p:tgtEl>
                                          <p:spTgt spid="15"/>
                                        </p:tgtEl>
                                      </p:cBhvr>
                                    </p:animEffect>
                                  </p:childTnLst>
                                </p:cTn>
                              </p:par>
                              <p:par>
                                <p:cTn id="143" presetID="10" presetClass="entr" presetSubtype="0" fill="hold" grpId="0" nodeType="withEffect">
                                  <p:stCondLst>
                                    <p:cond delay="1690"/>
                                  </p:stCondLst>
                                  <p:childTnLst>
                                    <p:set>
                                      <p:cBhvr>
                                        <p:cTn id="141" dur="1" fill="hold">
                                          <p:stCondLst>
                                            <p:cond delay="0"/>
                                          </p:stCondLst>
                                        </p:cTn>
                                        <p:tgtEl>
                                          <p:spTgt spid="16"/>
                                        </p:tgtEl>
                                        <p:attrNameLst>
                                          <p:attrName>style.visibility</p:attrName>
                                        </p:attrNameLst>
                                      </p:cBhvr>
                                      <p:to>
                                        <p:strVal val="visible"/>
                                      </p:to>
                                    </p:set>
                                    <p:animEffect transition="in" filter="fade">
                                      <p:cBhvr>
                                        <p:cTn id="142" dur="500"/>
                                        <p:tgtEl>
                                          <p:spTgt spid="16"/>
                                        </p:tgtEl>
                                      </p:cBhvr>
                                    </p:animEffect>
                                  </p:childTnLst>
                                </p:cTn>
                              </p:par>
                              <p:par>
                                <p:cTn id="146" presetID="10" presetClass="entr" presetSubtype="0" fill="hold" grpId="0" nodeType="withEffect">
                                  <p:stCondLst>
                                    <p:cond delay="1720"/>
                                  </p:stCondLst>
                                  <p:childTnLst>
                                    <p:set>
                                      <p:cBhvr>
                                        <p:cTn id="144" dur="1" fill="hold">
                                          <p:stCondLst>
                                            <p:cond delay="0"/>
                                          </p:stCondLst>
                                        </p:cTn>
                                        <p:tgtEl>
                                          <p:spTgt spid="77"/>
                                        </p:tgtEl>
                                        <p:attrNameLst>
                                          <p:attrName>style.visibility</p:attrName>
                                        </p:attrNameLst>
                                      </p:cBhvr>
                                      <p:to>
                                        <p:strVal val="visible"/>
                                      </p:to>
                                    </p:set>
                                    <p:animEffect transition="in" filter="fade">
                                      <p:cBhvr>
                                        <p:cTn id="145" dur="500"/>
                                        <p:tgtEl>
                                          <p:spTgt spid="77"/>
                                        </p:tgtEl>
                                      </p:cBhvr>
                                    </p:animEffect>
                                  </p:childTnLst>
                                </p:cTn>
                              </p:par>
                              <p:par>
                                <p:cTn id="149" presetID="10" presetClass="entr" presetSubtype="0" fill="hold" grpId="0" nodeType="withEffect">
                                  <p:stCondLst>
                                    <p:cond delay="1720"/>
                                  </p:stCondLst>
                                  <p:childTnLst>
                                    <p:set>
                                      <p:cBhvr>
                                        <p:cTn id="147" dur="1" fill="hold">
                                          <p:stCondLst>
                                            <p:cond delay="0"/>
                                          </p:stCondLst>
                                        </p:cTn>
                                        <p:tgtEl>
                                          <p:spTgt spid="78"/>
                                        </p:tgtEl>
                                        <p:attrNameLst>
                                          <p:attrName>style.visibility</p:attrName>
                                        </p:attrNameLst>
                                      </p:cBhvr>
                                      <p:to>
                                        <p:strVal val="visible"/>
                                      </p:to>
                                    </p:set>
                                    <p:animEffect transition="in" filter="fade">
                                      <p:cBhvr>
                                        <p:cTn id="148" dur="500"/>
                                        <p:tgtEl>
                                          <p:spTgt spid="78"/>
                                        </p:tgtEl>
                                      </p:cBhvr>
                                    </p:animEffect>
                                  </p:childTnLst>
                                </p:cTn>
                              </p:par>
                              <p:par>
                                <p:cTn id="152" presetID="10" presetClass="entr" presetSubtype="0" fill="hold" grpId="0" nodeType="withEffect">
                                  <p:stCondLst>
                                    <p:cond delay="1735"/>
                                  </p:stCondLst>
                                  <p:childTnLst>
                                    <p:set>
                                      <p:cBhvr>
                                        <p:cTn id="150" dur="1" fill="hold">
                                          <p:stCondLst>
                                            <p:cond delay="0"/>
                                          </p:stCondLst>
                                        </p:cTn>
                                        <p:tgtEl>
                                          <p:spTgt spid="17"/>
                                        </p:tgtEl>
                                        <p:attrNameLst>
                                          <p:attrName>style.visibility</p:attrName>
                                        </p:attrNameLst>
                                      </p:cBhvr>
                                      <p:to>
                                        <p:strVal val="visible"/>
                                      </p:to>
                                    </p:set>
                                    <p:animEffect transition="in" filter="fade">
                                      <p:cBhvr>
                                        <p:cTn id="151" dur="500"/>
                                        <p:tgtEl>
                                          <p:spTgt spid="17"/>
                                        </p:tgtEl>
                                      </p:cBhvr>
                                    </p:animEffect>
                                  </p:childTnLst>
                                </p:cTn>
                              </p:par>
                              <p:par>
                                <p:cTn id="155" presetID="10" presetClass="entr" presetSubtype="0" fill="hold" grpId="0" nodeType="withEffect">
                                  <p:stCondLst>
                                    <p:cond delay="1735"/>
                                  </p:stCondLst>
                                  <p:childTnLst>
                                    <p:set>
                                      <p:cBhvr>
                                        <p:cTn id="153" dur="1" fill="hold">
                                          <p:stCondLst>
                                            <p:cond delay="0"/>
                                          </p:stCondLst>
                                        </p:cTn>
                                        <p:tgtEl>
                                          <p:spTgt spid="18"/>
                                        </p:tgtEl>
                                        <p:attrNameLst>
                                          <p:attrName>style.visibility</p:attrName>
                                        </p:attrNameLst>
                                      </p:cBhvr>
                                      <p:to>
                                        <p:strVal val="visible"/>
                                      </p:to>
                                    </p:set>
                                    <p:animEffect transition="in" filter="fade">
                                      <p:cBhvr>
                                        <p:cTn id="154" dur="500"/>
                                        <p:tgtEl>
                                          <p:spTgt spid="18"/>
                                        </p:tgtEl>
                                      </p:cBhvr>
                                    </p:animEffect>
                                  </p:childTnLst>
                                </p:cTn>
                              </p:par>
                              <p:par>
                                <p:cTn id="158" presetID="10" presetClass="entr" presetSubtype="0" fill="hold" grpId="0" nodeType="withEffect">
                                  <p:stCondLst>
                                    <p:cond delay="1780"/>
                                  </p:stCondLst>
                                  <p:childTnLst>
                                    <p:set>
                                      <p:cBhvr>
                                        <p:cTn id="156" dur="1" fill="hold">
                                          <p:stCondLst>
                                            <p:cond delay="0"/>
                                          </p:stCondLst>
                                        </p:cTn>
                                        <p:tgtEl>
                                          <p:spTgt spid="19"/>
                                        </p:tgtEl>
                                        <p:attrNameLst>
                                          <p:attrName>style.visibility</p:attrName>
                                        </p:attrNameLst>
                                      </p:cBhvr>
                                      <p:to>
                                        <p:strVal val="visible"/>
                                      </p:to>
                                    </p:set>
                                    <p:animEffect transition="in" filter="fade">
                                      <p:cBhvr>
                                        <p:cTn id="157" dur="500"/>
                                        <p:tgtEl>
                                          <p:spTgt spid="19"/>
                                        </p:tgtEl>
                                      </p:cBhvr>
                                    </p:animEffect>
                                  </p:childTnLst>
                                </p:cTn>
                              </p:par>
                              <p:par>
                                <p:cTn id="161" presetID="10" presetClass="entr" presetSubtype="0" fill="hold" grpId="0" nodeType="withEffect">
                                  <p:stCondLst>
                                    <p:cond delay="1780"/>
                                  </p:stCondLst>
                                  <p:childTnLst>
                                    <p:set>
                                      <p:cBhvr>
                                        <p:cTn id="159" dur="1" fill="hold">
                                          <p:stCondLst>
                                            <p:cond delay="0"/>
                                          </p:stCondLst>
                                        </p:cTn>
                                        <p:tgtEl>
                                          <p:spTgt spid="20"/>
                                        </p:tgtEl>
                                        <p:attrNameLst>
                                          <p:attrName>style.visibility</p:attrName>
                                        </p:attrNameLst>
                                      </p:cBhvr>
                                      <p:to>
                                        <p:strVal val="visible"/>
                                      </p:to>
                                    </p:set>
                                    <p:animEffect transition="in" filter="fade">
                                      <p:cBhvr>
                                        <p:cTn id="160" dur="500"/>
                                        <p:tgtEl>
                                          <p:spTgt spid="20"/>
                                        </p:tgtEl>
                                      </p:cBhvr>
                                    </p:animEffect>
                                  </p:childTnLst>
                                </p:cTn>
                              </p:par>
                              <p:par>
                                <p:cTn id="164" presetID="10" presetClass="entr" presetSubtype="0" fill="hold" grpId="0" nodeType="withEffect">
                                  <p:stCondLst>
                                    <p:cond delay="1780"/>
                                  </p:stCondLst>
                                  <p:childTnLst>
                                    <p:set>
                                      <p:cBhvr>
                                        <p:cTn id="162" dur="1" fill="hold">
                                          <p:stCondLst>
                                            <p:cond delay="0"/>
                                          </p:stCondLst>
                                        </p:cTn>
                                        <p:tgtEl>
                                          <p:spTgt spid="79"/>
                                        </p:tgtEl>
                                        <p:attrNameLst>
                                          <p:attrName>style.visibility</p:attrName>
                                        </p:attrNameLst>
                                      </p:cBhvr>
                                      <p:to>
                                        <p:strVal val="visible"/>
                                      </p:to>
                                    </p:set>
                                    <p:animEffect transition="in" filter="fade">
                                      <p:cBhvr>
                                        <p:cTn id="163" dur="500"/>
                                        <p:tgtEl>
                                          <p:spTgt spid="79"/>
                                        </p:tgtEl>
                                      </p:cBhvr>
                                    </p:animEffect>
                                  </p:childTnLst>
                                </p:cTn>
                              </p:par>
                              <p:par>
                                <p:cTn id="167" presetID="10" presetClass="entr" presetSubtype="0" fill="hold" grpId="0" nodeType="withEffect">
                                  <p:stCondLst>
                                    <p:cond delay="1780"/>
                                  </p:stCondLst>
                                  <p:childTnLst>
                                    <p:set>
                                      <p:cBhvr>
                                        <p:cTn id="165" dur="1" fill="hold">
                                          <p:stCondLst>
                                            <p:cond delay="0"/>
                                          </p:stCondLst>
                                        </p:cTn>
                                        <p:tgtEl>
                                          <p:spTgt spid="80"/>
                                        </p:tgtEl>
                                        <p:attrNameLst>
                                          <p:attrName>style.visibility</p:attrName>
                                        </p:attrNameLst>
                                      </p:cBhvr>
                                      <p:to>
                                        <p:strVal val="visible"/>
                                      </p:to>
                                    </p:set>
                                    <p:animEffect transition="in" filter="fade">
                                      <p:cBhvr>
                                        <p:cTn id="166" dur="500"/>
                                        <p:tgtEl>
                                          <p:spTgt spid="80"/>
                                        </p:tgtEl>
                                      </p:cBhvr>
                                    </p:animEffect>
                                  </p:childTnLst>
                                </p:cTn>
                              </p:par>
                              <p:par>
                                <p:cTn id="170" presetID="10" presetClass="entr" presetSubtype="0" fill="hold" grpId="0" nodeType="withEffect">
                                  <p:stCondLst>
                                    <p:cond delay="1825"/>
                                  </p:stCondLst>
                                  <p:childTnLst>
                                    <p:set>
                                      <p:cBhvr>
                                        <p:cTn id="168" dur="1" fill="hold">
                                          <p:stCondLst>
                                            <p:cond delay="0"/>
                                          </p:stCondLst>
                                        </p:cTn>
                                        <p:tgtEl>
                                          <p:spTgt spid="21"/>
                                        </p:tgtEl>
                                        <p:attrNameLst>
                                          <p:attrName>style.visibility</p:attrName>
                                        </p:attrNameLst>
                                      </p:cBhvr>
                                      <p:to>
                                        <p:strVal val="visible"/>
                                      </p:to>
                                    </p:set>
                                    <p:animEffect transition="in" filter="fade">
                                      <p:cBhvr>
                                        <p:cTn id="169" dur="500"/>
                                        <p:tgtEl>
                                          <p:spTgt spid="21"/>
                                        </p:tgtEl>
                                      </p:cBhvr>
                                    </p:animEffect>
                                  </p:childTnLst>
                                </p:cTn>
                              </p:par>
                              <p:par>
                                <p:cTn id="173" presetID="10" presetClass="entr" presetSubtype="0" fill="hold" grpId="0" nodeType="withEffect">
                                  <p:stCondLst>
                                    <p:cond delay="1825"/>
                                  </p:stCondLst>
                                  <p:childTnLst>
                                    <p:set>
                                      <p:cBhvr>
                                        <p:cTn id="171" dur="1" fill="hold">
                                          <p:stCondLst>
                                            <p:cond delay="0"/>
                                          </p:stCondLst>
                                        </p:cTn>
                                        <p:tgtEl>
                                          <p:spTgt spid="22"/>
                                        </p:tgtEl>
                                        <p:attrNameLst>
                                          <p:attrName>style.visibility</p:attrName>
                                        </p:attrNameLst>
                                      </p:cBhvr>
                                      <p:to>
                                        <p:strVal val="visible"/>
                                      </p:to>
                                    </p:set>
                                    <p:animEffect transition="in" filter="fade">
                                      <p:cBhvr>
                                        <p:cTn id="172" dur="500"/>
                                        <p:tgtEl>
                                          <p:spTgt spid="22"/>
                                        </p:tgtEl>
                                      </p:cBhvr>
                                    </p:animEffect>
                                  </p:childTnLst>
                                </p:cTn>
                              </p:par>
                              <p:par>
                                <p:cTn id="176" presetID="10" presetClass="entr" presetSubtype="0" fill="hold" grpId="0" nodeType="withEffect">
                                  <p:stCondLst>
                                    <p:cond delay="1840"/>
                                  </p:stCondLst>
                                  <p:childTnLst>
                                    <p:set>
                                      <p:cBhvr>
                                        <p:cTn id="174" dur="1" fill="hold">
                                          <p:stCondLst>
                                            <p:cond delay="0"/>
                                          </p:stCondLst>
                                        </p:cTn>
                                        <p:tgtEl>
                                          <p:spTgt spid="81"/>
                                        </p:tgtEl>
                                        <p:attrNameLst>
                                          <p:attrName>style.visibility</p:attrName>
                                        </p:attrNameLst>
                                      </p:cBhvr>
                                      <p:to>
                                        <p:strVal val="visible"/>
                                      </p:to>
                                    </p:set>
                                    <p:animEffect transition="in" filter="fade">
                                      <p:cBhvr>
                                        <p:cTn id="175" dur="500"/>
                                        <p:tgtEl>
                                          <p:spTgt spid="81"/>
                                        </p:tgtEl>
                                      </p:cBhvr>
                                    </p:animEffect>
                                  </p:childTnLst>
                                </p:cTn>
                              </p:par>
                              <p:par>
                                <p:cTn id="179" presetID="10" presetClass="entr" presetSubtype="0" fill="hold" grpId="0" nodeType="withEffect">
                                  <p:stCondLst>
                                    <p:cond delay="1840"/>
                                  </p:stCondLst>
                                  <p:childTnLst>
                                    <p:set>
                                      <p:cBhvr>
                                        <p:cTn id="177" dur="1" fill="hold">
                                          <p:stCondLst>
                                            <p:cond delay="0"/>
                                          </p:stCondLst>
                                        </p:cTn>
                                        <p:tgtEl>
                                          <p:spTgt spid="82"/>
                                        </p:tgtEl>
                                        <p:attrNameLst>
                                          <p:attrName>style.visibility</p:attrName>
                                        </p:attrNameLst>
                                      </p:cBhvr>
                                      <p:to>
                                        <p:strVal val="visible"/>
                                      </p:to>
                                    </p:set>
                                    <p:animEffect transition="in" filter="fade">
                                      <p:cBhvr>
                                        <p:cTn id="178" dur="500"/>
                                        <p:tgtEl>
                                          <p:spTgt spid="82"/>
                                        </p:tgtEl>
                                      </p:cBhvr>
                                    </p:animEffect>
                                  </p:childTnLst>
                                </p:cTn>
                              </p:par>
                              <p:par>
                                <p:cTn id="182" presetID="10" presetClass="entr" presetSubtype="0" fill="hold" grpId="0" nodeType="withEffect">
                                  <p:stCondLst>
                                    <p:cond delay="1870"/>
                                  </p:stCondLst>
                                  <p:childTnLst>
                                    <p:set>
                                      <p:cBhvr>
                                        <p:cTn id="180" dur="1" fill="hold">
                                          <p:stCondLst>
                                            <p:cond delay="0"/>
                                          </p:stCondLst>
                                        </p:cTn>
                                        <p:tgtEl>
                                          <p:spTgt spid="23"/>
                                        </p:tgtEl>
                                        <p:attrNameLst>
                                          <p:attrName>style.visibility</p:attrName>
                                        </p:attrNameLst>
                                      </p:cBhvr>
                                      <p:to>
                                        <p:strVal val="visible"/>
                                      </p:to>
                                    </p:set>
                                    <p:animEffect transition="in" filter="fade">
                                      <p:cBhvr>
                                        <p:cTn id="181" dur="500"/>
                                        <p:tgtEl>
                                          <p:spTgt spid="23"/>
                                        </p:tgtEl>
                                      </p:cBhvr>
                                    </p:animEffect>
                                  </p:childTnLst>
                                </p:cTn>
                              </p:par>
                              <p:par>
                                <p:cTn id="185" presetID="10" presetClass="entr" presetSubtype="0" fill="hold" grpId="0" nodeType="withEffect">
                                  <p:stCondLst>
                                    <p:cond delay="1870"/>
                                  </p:stCondLst>
                                  <p:childTnLst>
                                    <p:set>
                                      <p:cBhvr>
                                        <p:cTn id="183" dur="1" fill="hold">
                                          <p:stCondLst>
                                            <p:cond delay="0"/>
                                          </p:stCondLst>
                                        </p:cTn>
                                        <p:tgtEl>
                                          <p:spTgt spid="24"/>
                                        </p:tgtEl>
                                        <p:attrNameLst>
                                          <p:attrName>style.visibility</p:attrName>
                                        </p:attrNameLst>
                                      </p:cBhvr>
                                      <p:to>
                                        <p:strVal val="visible"/>
                                      </p:to>
                                    </p:set>
                                    <p:animEffect transition="in" filter="fade">
                                      <p:cBhvr>
                                        <p:cTn id="184" dur="500"/>
                                        <p:tgtEl>
                                          <p:spTgt spid="24"/>
                                        </p:tgtEl>
                                      </p:cBhvr>
                                    </p:animEffect>
                                  </p:childTnLst>
                                </p:cTn>
                              </p:par>
                              <p:par>
                                <p:cTn id="188" presetID="10" presetClass="entr" presetSubtype="0" fill="hold" grpId="0" nodeType="withEffect">
                                  <p:stCondLst>
                                    <p:cond delay="1915"/>
                                  </p:stCondLst>
                                  <p:childTnLst>
                                    <p:set>
                                      <p:cBhvr>
                                        <p:cTn id="186" dur="1" fill="hold">
                                          <p:stCondLst>
                                            <p:cond delay="0"/>
                                          </p:stCondLst>
                                        </p:cTn>
                                        <p:tgtEl>
                                          <p:spTgt spid="25"/>
                                        </p:tgtEl>
                                        <p:attrNameLst>
                                          <p:attrName>style.visibility</p:attrName>
                                        </p:attrNameLst>
                                      </p:cBhvr>
                                      <p:to>
                                        <p:strVal val="visible"/>
                                      </p:to>
                                    </p:set>
                                    <p:animEffect transition="in" filter="fade">
                                      <p:cBhvr>
                                        <p:cTn id="187" dur="500"/>
                                        <p:tgtEl>
                                          <p:spTgt spid="25"/>
                                        </p:tgtEl>
                                      </p:cBhvr>
                                    </p:animEffect>
                                  </p:childTnLst>
                                </p:cTn>
                              </p:par>
                              <p:par>
                                <p:cTn id="191" presetID="10" presetClass="entr" presetSubtype="0" fill="hold" grpId="0" nodeType="withEffect">
                                  <p:stCondLst>
                                    <p:cond delay="1915"/>
                                  </p:stCondLst>
                                  <p:childTnLst>
                                    <p:set>
                                      <p:cBhvr>
                                        <p:cTn id="189" dur="1" fill="hold">
                                          <p:stCondLst>
                                            <p:cond delay="0"/>
                                          </p:stCondLst>
                                        </p:cTn>
                                        <p:tgtEl>
                                          <p:spTgt spid="26"/>
                                        </p:tgtEl>
                                        <p:attrNameLst>
                                          <p:attrName>style.visibility</p:attrName>
                                        </p:attrNameLst>
                                      </p:cBhvr>
                                      <p:to>
                                        <p:strVal val="visible"/>
                                      </p:to>
                                    </p:set>
                                    <p:animEffect transition="in" filter="fade">
                                      <p:cBhvr>
                                        <p:cTn id="190" dur="500"/>
                                        <p:tgtEl>
                                          <p:spTgt spid="26"/>
                                        </p:tgtEl>
                                      </p:cBhvr>
                                    </p:animEffect>
                                  </p:childTnLst>
                                </p:cTn>
                              </p:par>
                              <p:par>
                                <p:cTn id="194" presetID="10" presetClass="entr" presetSubtype="0" fill="hold" grpId="0" nodeType="withEffect">
                                  <p:stCondLst>
                                    <p:cond delay="1960"/>
                                  </p:stCondLst>
                                  <p:childTnLst>
                                    <p:set>
                                      <p:cBhvr>
                                        <p:cTn id="192" dur="1" fill="hold">
                                          <p:stCondLst>
                                            <p:cond delay="0"/>
                                          </p:stCondLst>
                                        </p:cTn>
                                        <p:tgtEl>
                                          <p:spTgt spid="27"/>
                                        </p:tgtEl>
                                        <p:attrNameLst>
                                          <p:attrName>style.visibility</p:attrName>
                                        </p:attrNameLst>
                                      </p:cBhvr>
                                      <p:to>
                                        <p:strVal val="visible"/>
                                      </p:to>
                                    </p:set>
                                    <p:animEffect transition="in" filter="fade">
                                      <p:cBhvr>
                                        <p:cTn id="193" dur="500"/>
                                        <p:tgtEl>
                                          <p:spTgt spid="27"/>
                                        </p:tgtEl>
                                      </p:cBhvr>
                                    </p:animEffect>
                                  </p:childTnLst>
                                </p:cTn>
                              </p:par>
                              <p:par>
                                <p:cTn id="197" presetID="10" presetClass="entr" presetSubtype="0" fill="hold" grpId="0" nodeType="withEffect">
                                  <p:stCondLst>
                                    <p:cond delay="1960"/>
                                  </p:stCondLst>
                                  <p:childTnLst>
                                    <p:set>
                                      <p:cBhvr>
                                        <p:cTn id="195" dur="1" fill="hold">
                                          <p:stCondLst>
                                            <p:cond delay="0"/>
                                          </p:stCondLst>
                                        </p:cTn>
                                        <p:tgtEl>
                                          <p:spTgt spid="28"/>
                                        </p:tgtEl>
                                        <p:attrNameLst>
                                          <p:attrName>style.visibility</p:attrName>
                                        </p:attrNameLst>
                                      </p:cBhvr>
                                      <p:to>
                                        <p:strVal val="visible"/>
                                      </p:to>
                                    </p:set>
                                    <p:animEffect transition="in" filter="fade">
                                      <p:cBhvr>
                                        <p:cTn id="196" dur="500"/>
                                        <p:tgtEl>
                                          <p:spTgt spid="28"/>
                                        </p:tgtEl>
                                      </p:cBhvr>
                                    </p:animEffect>
                                  </p:childTnLst>
                                </p:cTn>
                              </p:par>
                              <p:par>
                                <p:cTn id="200" presetID="10" presetClass="entr" presetSubtype="0" fill="hold" grpId="0" nodeType="withEffect">
                                  <p:stCondLst>
                                    <p:cond delay="2005"/>
                                  </p:stCondLst>
                                  <p:childTnLst>
                                    <p:set>
                                      <p:cBhvr>
                                        <p:cTn id="198" dur="1" fill="hold">
                                          <p:stCondLst>
                                            <p:cond delay="0"/>
                                          </p:stCondLst>
                                        </p:cTn>
                                        <p:tgtEl>
                                          <p:spTgt spid="29"/>
                                        </p:tgtEl>
                                        <p:attrNameLst>
                                          <p:attrName>style.visibility</p:attrName>
                                        </p:attrNameLst>
                                      </p:cBhvr>
                                      <p:to>
                                        <p:strVal val="visible"/>
                                      </p:to>
                                    </p:set>
                                    <p:animEffect transition="in" filter="fade">
                                      <p:cBhvr>
                                        <p:cTn id="199" dur="500"/>
                                        <p:tgtEl>
                                          <p:spTgt spid="29"/>
                                        </p:tgtEl>
                                      </p:cBhvr>
                                    </p:animEffect>
                                  </p:childTnLst>
                                </p:cTn>
                              </p:par>
                              <p:par>
                                <p:cTn id="203" presetID="10" presetClass="entr" presetSubtype="0" fill="hold" grpId="0" nodeType="withEffect">
                                  <p:stCondLst>
                                    <p:cond delay="2005"/>
                                  </p:stCondLst>
                                  <p:childTnLst>
                                    <p:set>
                                      <p:cBhvr>
                                        <p:cTn id="201" dur="1" fill="hold">
                                          <p:stCondLst>
                                            <p:cond delay="0"/>
                                          </p:stCondLst>
                                        </p:cTn>
                                        <p:tgtEl>
                                          <p:spTgt spid="30"/>
                                        </p:tgtEl>
                                        <p:attrNameLst>
                                          <p:attrName>style.visibility</p:attrName>
                                        </p:attrNameLst>
                                      </p:cBhvr>
                                      <p:to>
                                        <p:strVal val="visible"/>
                                      </p:to>
                                    </p:set>
                                    <p:animEffect transition="in" filter="fade">
                                      <p:cBhvr>
                                        <p:cTn id="202" dur="500"/>
                                        <p:tgtEl>
                                          <p:spTgt spid="30"/>
                                        </p:tgtEl>
                                      </p:cBhvr>
                                    </p:animEffect>
                                  </p:childTnLst>
                                </p:cTn>
                              </p:par>
                              <p:par>
                                <p:cTn id="206" presetID="10" presetClass="entr" presetSubtype="0" fill="hold" grpId="0" nodeType="withEffect">
                                  <p:stCondLst>
                                    <p:cond delay="2050"/>
                                  </p:stCondLst>
                                  <p:childTnLst>
                                    <p:set>
                                      <p:cBhvr>
                                        <p:cTn id="204" dur="1" fill="hold">
                                          <p:stCondLst>
                                            <p:cond delay="0"/>
                                          </p:stCondLst>
                                        </p:cTn>
                                        <p:tgtEl>
                                          <p:spTgt spid="31"/>
                                        </p:tgtEl>
                                        <p:attrNameLst>
                                          <p:attrName>style.visibility</p:attrName>
                                        </p:attrNameLst>
                                      </p:cBhvr>
                                      <p:to>
                                        <p:strVal val="visible"/>
                                      </p:to>
                                    </p:set>
                                    <p:animEffect transition="in" filter="fade">
                                      <p:cBhvr>
                                        <p:cTn id="205" dur="500"/>
                                        <p:tgtEl>
                                          <p:spTgt spid="31"/>
                                        </p:tgtEl>
                                      </p:cBhvr>
                                    </p:animEffect>
                                  </p:childTnLst>
                                </p:cTn>
                              </p:par>
                              <p:par>
                                <p:cTn id="209" presetID="10" presetClass="entr" presetSubtype="0" fill="hold" grpId="0" nodeType="withEffect">
                                  <p:stCondLst>
                                    <p:cond delay="2050"/>
                                  </p:stCondLst>
                                  <p:childTnLst>
                                    <p:set>
                                      <p:cBhvr>
                                        <p:cTn id="207" dur="1" fill="hold">
                                          <p:stCondLst>
                                            <p:cond delay="0"/>
                                          </p:stCondLst>
                                        </p:cTn>
                                        <p:tgtEl>
                                          <p:spTgt spid="32"/>
                                        </p:tgtEl>
                                        <p:attrNameLst>
                                          <p:attrName>style.visibility</p:attrName>
                                        </p:attrNameLst>
                                      </p:cBhvr>
                                      <p:to>
                                        <p:strVal val="visible"/>
                                      </p:to>
                                    </p:set>
                                    <p:animEffect transition="in" filter="fade">
                                      <p:cBhvr>
                                        <p:cTn id="208" dur="500"/>
                                        <p:tgtEl>
                                          <p:spTgt spid="32"/>
                                        </p:tgtEl>
                                      </p:cBhvr>
                                    </p:animEffect>
                                  </p:childTnLst>
                                </p:cTn>
                              </p:par>
                              <p:par>
                                <p:cTn id="212" presetID="10" presetClass="entr" presetSubtype="0" fill="hold" grpId="0" nodeType="withEffect">
                                  <p:stCondLst>
                                    <p:cond delay="2095"/>
                                  </p:stCondLst>
                                  <p:childTnLst>
                                    <p:set>
                                      <p:cBhvr>
                                        <p:cTn id="210" dur="1" fill="hold">
                                          <p:stCondLst>
                                            <p:cond delay="0"/>
                                          </p:stCondLst>
                                        </p:cTn>
                                        <p:tgtEl>
                                          <p:spTgt spid="33"/>
                                        </p:tgtEl>
                                        <p:attrNameLst>
                                          <p:attrName>style.visibility</p:attrName>
                                        </p:attrNameLst>
                                      </p:cBhvr>
                                      <p:to>
                                        <p:strVal val="visible"/>
                                      </p:to>
                                    </p:set>
                                    <p:animEffect transition="in" filter="fade">
                                      <p:cBhvr>
                                        <p:cTn id="211" dur="500"/>
                                        <p:tgtEl>
                                          <p:spTgt spid="33"/>
                                        </p:tgtEl>
                                      </p:cBhvr>
                                    </p:animEffect>
                                  </p:childTnLst>
                                </p:cTn>
                              </p:par>
                              <p:par>
                                <p:cTn id="215" presetID="10" presetClass="entr" presetSubtype="0" fill="hold" grpId="0" nodeType="withEffect">
                                  <p:stCondLst>
                                    <p:cond delay="2095"/>
                                  </p:stCondLst>
                                  <p:childTnLst>
                                    <p:set>
                                      <p:cBhvr>
                                        <p:cTn id="213" dur="1" fill="hold">
                                          <p:stCondLst>
                                            <p:cond delay="0"/>
                                          </p:stCondLst>
                                        </p:cTn>
                                        <p:tgtEl>
                                          <p:spTgt spid="34"/>
                                        </p:tgtEl>
                                        <p:attrNameLst>
                                          <p:attrName>style.visibility</p:attrName>
                                        </p:attrNameLst>
                                      </p:cBhvr>
                                      <p:to>
                                        <p:strVal val="visible"/>
                                      </p:to>
                                    </p:set>
                                    <p:animEffect transition="in" filter="fade">
                                      <p:cBhvr>
                                        <p:cTn id="214" dur="500"/>
                                        <p:tgtEl>
                                          <p:spTgt spid="34"/>
                                        </p:tgtEl>
                                      </p:cBhvr>
                                    </p:animEffect>
                                  </p:childTnLst>
                                </p:cTn>
                              </p:par>
                              <p:par>
                                <p:cTn id="218" presetID="10" presetClass="entr" presetSubtype="0" fill="hold" grpId="0" nodeType="withEffect">
                                  <p:stCondLst>
                                    <p:cond delay="2140"/>
                                  </p:stCondLst>
                                  <p:childTnLst>
                                    <p:set>
                                      <p:cBhvr>
                                        <p:cTn id="216" dur="1" fill="hold">
                                          <p:stCondLst>
                                            <p:cond delay="0"/>
                                          </p:stCondLst>
                                        </p:cTn>
                                        <p:tgtEl>
                                          <p:spTgt spid="35"/>
                                        </p:tgtEl>
                                        <p:attrNameLst>
                                          <p:attrName>style.visibility</p:attrName>
                                        </p:attrNameLst>
                                      </p:cBhvr>
                                      <p:to>
                                        <p:strVal val="visible"/>
                                      </p:to>
                                    </p:set>
                                    <p:animEffect transition="in" filter="fade">
                                      <p:cBhvr>
                                        <p:cTn id="217" dur="500"/>
                                        <p:tgtEl>
                                          <p:spTgt spid="35"/>
                                        </p:tgtEl>
                                      </p:cBhvr>
                                    </p:animEffect>
                                  </p:childTnLst>
                                </p:cTn>
                              </p:par>
                              <p:par>
                                <p:cTn id="221" presetID="10" presetClass="entr" presetSubtype="0" fill="hold" grpId="0" nodeType="withEffect">
                                  <p:stCondLst>
                                    <p:cond delay="2140"/>
                                  </p:stCondLst>
                                  <p:childTnLst>
                                    <p:set>
                                      <p:cBhvr>
                                        <p:cTn id="219" dur="1" fill="hold">
                                          <p:stCondLst>
                                            <p:cond delay="0"/>
                                          </p:stCondLst>
                                        </p:cTn>
                                        <p:tgtEl>
                                          <p:spTgt spid="36"/>
                                        </p:tgtEl>
                                        <p:attrNameLst>
                                          <p:attrName>style.visibility</p:attrName>
                                        </p:attrNameLst>
                                      </p:cBhvr>
                                      <p:to>
                                        <p:strVal val="visible"/>
                                      </p:to>
                                    </p:set>
                                    <p:animEffect transition="in" filter="fade">
                                      <p:cBhvr>
                                        <p:cTn id="220" dur="500"/>
                                        <p:tgtEl>
                                          <p:spTgt spid="36"/>
                                        </p:tgtEl>
                                      </p:cBhvr>
                                    </p:animEffect>
                                  </p:childTnLst>
                                </p:cTn>
                              </p:par>
                              <p:par>
                                <p:cTn id="224" presetID="10" presetClass="entr" presetSubtype="0" fill="hold" grpId="0" nodeType="withEffect">
                                  <p:stCondLst>
                                    <p:cond delay="2185"/>
                                  </p:stCondLst>
                                  <p:childTnLst>
                                    <p:set>
                                      <p:cBhvr>
                                        <p:cTn id="222" dur="1" fill="hold">
                                          <p:stCondLst>
                                            <p:cond delay="0"/>
                                          </p:stCondLst>
                                        </p:cTn>
                                        <p:tgtEl>
                                          <p:spTgt spid="37"/>
                                        </p:tgtEl>
                                        <p:attrNameLst>
                                          <p:attrName>style.visibility</p:attrName>
                                        </p:attrNameLst>
                                      </p:cBhvr>
                                      <p:to>
                                        <p:strVal val="visible"/>
                                      </p:to>
                                    </p:set>
                                    <p:animEffect transition="in" filter="fade">
                                      <p:cBhvr>
                                        <p:cTn id="223" dur="500"/>
                                        <p:tgtEl>
                                          <p:spTgt spid="37"/>
                                        </p:tgtEl>
                                      </p:cBhvr>
                                    </p:animEffect>
                                  </p:childTnLst>
                                </p:cTn>
                              </p:par>
                              <p:par>
                                <p:cTn id="227" presetID="10" presetClass="entr" presetSubtype="0" fill="hold" grpId="0" nodeType="withEffect">
                                  <p:stCondLst>
                                    <p:cond delay="2185"/>
                                  </p:stCondLst>
                                  <p:childTnLst>
                                    <p:set>
                                      <p:cBhvr>
                                        <p:cTn id="225" dur="1" fill="hold">
                                          <p:stCondLst>
                                            <p:cond delay="0"/>
                                          </p:stCondLst>
                                        </p:cTn>
                                        <p:tgtEl>
                                          <p:spTgt spid="38"/>
                                        </p:tgtEl>
                                        <p:attrNameLst>
                                          <p:attrName>style.visibility</p:attrName>
                                        </p:attrNameLst>
                                      </p:cBhvr>
                                      <p:to>
                                        <p:strVal val="visible"/>
                                      </p:to>
                                    </p:set>
                                    <p:animEffect transition="in" filter="fade">
                                      <p:cBhvr>
                                        <p:cTn id="226" dur="500"/>
                                        <p:tgtEl>
                                          <p:spTgt spid="38"/>
                                        </p:tgtEl>
                                      </p:cBhvr>
                                    </p:animEffect>
                                  </p:childTnLst>
                                </p:cTn>
                              </p:par>
                              <p:par>
                                <p:cTn id="230" presetID="10" presetClass="entr" presetSubtype="0" fill="hold" grpId="0" nodeType="withEffect">
                                  <p:stCondLst>
                                    <p:cond delay="2230"/>
                                  </p:stCondLst>
                                  <p:childTnLst>
                                    <p:set>
                                      <p:cBhvr>
                                        <p:cTn id="228" dur="1" fill="hold">
                                          <p:stCondLst>
                                            <p:cond delay="0"/>
                                          </p:stCondLst>
                                        </p:cTn>
                                        <p:tgtEl>
                                          <p:spTgt spid="39"/>
                                        </p:tgtEl>
                                        <p:attrNameLst>
                                          <p:attrName>style.visibility</p:attrName>
                                        </p:attrNameLst>
                                      </p:cBhvr>
                                      <p:to>
                                        <p:strVal val="visible"/>
                                      </p:to>
                                    </p:set>
                                    <p:animEffect transition="in" filter="fade">
                                      <p:cBhvr>
                                        <p:cTn id="229" dur="500"/>
                                        <p:tgtEl>
                                          <p:spTgt spid="39"/>
                                        </p:tgtEl>
                                      </p:cBhvr>
                                    </p:animEffect>
                                  </p:childTnLst>
                                </p:cTn>
                              </p:par>
                              <p:par>
                                <p:cTn id="233" presetID="10" presetClass="entr" presetSubtype="0" fill="hold" grpId="0" nodeType="withEffect">
                                  <p:stCondLst>
                                    <p:cond delay="2230"/>
                                  </p:stCondLst>
                                  <p:childTnLst>
                                    <p:set>
                                      <p:cBhvr>
                                        <p:cTn id="231" dur="1" fill="hold">
                                          <p:stCondLst>
                                            <p:cond delay="0"/>
                                          </p:stCondLst>
                                        </p:cTn>
                                        <p:tgtEl>
                                          <p:spTgt spid="40"/>
                                        </p:tgtEl>
                                        <p:attrNameLst>
                                          <p:attrName>style.visibility</p:attrName>
                                        </p:attrNameLst>
                                      </p:cBhvr>
                                      <p:to>
                                        <p:strVal val="visible"/>
                                      </p:to>
                                    </p:set>
                                    <p:animEffect transition="in" filter="fade">
                                      <p:cBhvr>
                                        <p:cTn id="232" dur="500"/>
                                        <p:tgtEl>
                                          <p:spTgt spid="40"/>
                                        </p:tgtEl>
                                      </p:cBhvr>
                                    </p:animEffect>
                                  </p:childTnLst>
                                </p:cTn>
                              </p:par>
                              <p:par>
                                <p:cTn id="236" presetID="10" presetClass="entr" presetSubtype="0" fill="hold" grpId="0" nodeType="withEffect">
                                  <p:stCondLst>
                                    <p:cond delay="2275"/>
                                  </p:stCondLst>
                                  <p:childTnLst>
                                    <p:set>
                                      <p:cBhvr>
                                        <p:cTn id="234" dur="1" fill="hold">
                                          <p:stCondLst>
                                            <p:cond delay="0"/>
                                          </p:stCondLst>
                                        </p:cTn>
                                        <p:tgtEl>
                                          <p:spTgt spid="41"/>
                                        </p:tgtEl>
                                        <p:attrNameLst>
                                          <p:attrName>style.visibility</p:attrName>
                                        </p:attrNameLst>
                                      </p:cBhvr>
                                      <p:to>
                                        <p:strVal val="visible"/>
                                      </p:to>
                                    </p:set>
                                    <p:animEffect transition="in" filter="fade">
                                      <p:cBhvr>
                                        <p:cTn id="235" dur="500"/>
                                        <p:tgtEl>
                                          <p:spTgt spid="41"/>
                                        </p:tgtEl>
                                      </p:cBhvr>
                                    </p:animEffect>
                                  </p:childTnLst>
                                </p:cTn>
                              </p:par>
                              <p:par>
                                <p:cTn id="239" presetID="10" presetClass="entr" presetSubtype="0" fill="hold" grpId="0" nodeType="withEffect">
                                  <p:stCondLst>
                                    <p:cond delay="2275"/>
                                  </p:stCondLst>
                                  <p:childTnLst>
                                    <p:set>
                                      <p:cBhvr>
                                        <p:cTn id="237" dur="1" fill="hold">
                                          <p:stCondLst>
                                            <p:cond delay="0"/>
                                          </p:stCondLst>
                                        </p:cTn>
                                        <p:tgtEl>
                                          <p:spTgt spid="42"/>
                                        </p:tgtEl>
                                        <p:attrNameLst>
                                          <p:attrName>style.visibility</p:attrName>
                                        </p:attrNameLst>
                                      </p:cBhvr>
                                      <p:to>
                                        <p:strVal val="visible"/>
                                      </p:to>
                                    </p:set>
                                    <p:animEffect transition="in" filter="fade">
                                      <p:cBhvr>
                                        <p:cTn id="238" dur="500"/>
                                        <p:tgtEl>
                                          <p:spTgt spid="42"/>
                                        </p:tgtEl>
                                      </p:cBhvr>
                                    </p:animEffect>
                                  </p:childTnLst>
                                </p:cTn>
                              </p:par>
                              <p:par>
                                <p:cTn id="242" presetID="10" presetClass="entr" presetSubtype="0" fill="hold" grpId="0" nodeType="withEffect">
                                  <p:stCondLst>
                                    <p:cond delay="2300"/>
                                  </p:stCondLst>
                                  <p:childTnLst>
                                    <p:set>
                                      <p:cBhvr>
                                        <p:cTn id="240" dur="1" fill="hold">
                                          <p:stCondLst>
                                            <p:cond delay="0"/>
                                          </p:stCondLst>
                                        </p:cTn>
                                        <p:tgtEl>
                                          <p:spTgt spid="83"/>
                                        </p:tgtEl>
                                        <p:attrNameLst>
                                          <p:attrName>style.visibility</p:attrName>
                                        </p:attrNameLst>
                                      </p:cBhvr>
                                      <p:to>
                                        <p:strVal val="visible"/>
                                      </p:to>
                                    </p:set>
                                    <p:animEffect transition="in" filter="fade">
                                      <p:cBhvr>
                                        <p:cTn id="241" dur="500"/>
                                        <p:tgtEl>
                                          <p:spTgt spid="83"/>
                                        </p:tgtEl>
                                      </p:cBhvr>
                                    </p:animEffect>
                                  </p:childTnLst>
                                </p:cTn>
                              </p:par>
                              <p:par>
                                <p:cTn id="245" presetID="10" presetClass="entr" presetSubtype="0" fill="hold" grpId="0" nodeType="withEffect">
                                  <p:stCondLst>
                                    <p:cond delay="2320"/>
                                  </p:stCondLst>
                                  <p:childTnLst>
                                    <p:set>
                                      <p:cBhvr>
                                        <p:cTn id="243" dur="1" fill="hold">
                                          <p:stCondLst>
                                            <p:cond delay="0"/>
                                          </p:stCondLst>
                                        </p:cTn>
                                        <p:tgtEl>
                                          <p:spTgt spid="43"/>
                                        </p:tgtEl>
                                        <p:attrNameLst>
                                          <p:attrName>style.visibility</p:attrName>
                                        </p:attrNameLst>
                                      </p:cBhvr>
                                      <p:to>
                                        <p:strVal val="visible"/>
                                      </p:to>
                                    </p:set>
                                    <p:animEffect transition="in" filter="fade">
                                      <p:cBhvr>
                                        <p:cTn id="244" dur="500"/>
                                        <p:tgtEl>
                                          <p:spTgt spid="43"/>
                                        </p:tgtEl>
                                      </p:cBhvr>
                                    </p:animEffect>
                                  </p:childTnLst>
                                </p:cTn>
                              </p:par>
                              <p:par>
                                <p:cTn id="248" presetID="10" presetClass="entr" presetSubtype="0" fill="hold" grpId="0" nodeType="withEffect">
                                  <p:stCondLst>
                                    <p:cond delay="2320"/>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500"/>
                                        <p:tgtEl>
                                          <p:spTgt spid="44"/>
                                        </p:tgtEl>
                                      </p:cBhvr>
                                    </p:animEffect>
                                  </p:childTnLst>
                                </p:cTn>
                              </p:par>
                              <p:par>
                                <p:cTn id="251" presetID="10" presetClass="entr" presetSubtype="0" fill="hold" grpId="0" nodeType="withEffect">
                                  <p:stCondLst>
                                    <p:cond delay="2365"/>
                                  </p:stCondLst>
                                  <p:childTnLst>
                                    <p:set>
                                      <p:cBhvr>
                                        <p:cTn id="249" dur="1" fill="hold">
                                          <p:stCondLst>
                                            <p:cond delay="0"/>
                                          </p:stCondLst>
                                        </p:cTn>
                                        <p:tgtEl>
                                          <p:spTgt spid="45"/>
                                        </p:tgtEl>
                                        <p:attrNameLst>
                                          <p:attrName>style.visibility</p:attrName>
                                        </p:attrNameLst>
                                      </p:cBhvr>
                                      <p:to>
                                        <p:strVal val="visible"/>
                                      </p:to>
                                    </p:set>
                                    <p:animEffect transition="in" filter="fade">
                                      <p:cBhvr>
                                        <p:cTn id="250" dur="500"/>
                                        <p:tgtEl>
                                          <p:spTgt spid="45"/>
                                        </p:tgtEl>
                                      </p:cBhvr>
                                    </p:animEffect>
                                  </p:childTnLst>
                                </p:cTn>
                              </p:par>
                              <p:par>
                                <p:cTn id="254" presetID="10" presetClass="entr" presetSubtype="0" fill="hold" grpId="0" nodeType="withEffect">
                                  <p:stCondLst>
                                    <p:cond delay="2365"/>
                                  </p:stCondLst>
                                  <p:childTnLst>
                                    <p:set>
                                      <p:cBhvr>
                                        <p:cTn id="252" dur="1" fill="hold">
                                          <p:stCondLst>
                                            <p:cond delay="0"/>
                                          </p:stCondLst>
                                        </p:cTn>
                                        <p:tgtEl>
                                          <p:spTgt spid="46"/>
                                        </p:tgtEl>
                                        <p:attrNameLst>
                                          <p:attrName>style.visibility</p:attrName>
                                        </p:attrNameLst>
                                      </p:cBhvr>
                                      <p:to>
                                        <p:strVal val="visible"/>
                                      </p:to>
                                    </p:set>
                                    <p:animEffect transition="in" filter="fade">
                                      <p:cBhvr>
                                        <p:cTn id="253" dur="500"/>
                                        <p:tgtEl>
                                          <p:spTgt spid="46"/>
                                        </p:tgtEl>
                                      </p:cBhvr>
                                    </p:animEffect>
                                  </p:childTnLst>
                                </p:cTn>
                              </p:par>
                              <p:par>
                                <p:cTn id="257" presetID="10" presetClass="entr" presetSubtype="0" fill="hold" grpId="0" nodeType="withEffect">
                                  <p:stCondLst>
                                    <p:cond delay="2410"/>
                                  </p:stCondLst>
                                  <p:childTnLst>
                                    <p:set>
                                      <p:cBhvr>
                                        <p:cTn id="255" dur="1" fill="hold">
                                          <p:stCondLst>
                                            <p:cond delay="0"/>
                                          </p:stCondLst>
                                        </p:cTn>
                                        <p:tgtEl>
                                          <p:spTgt spid="47"/>
                                        </p:tgtEl>
                                        <p:attrNameLst>
                                          <p:attrName>style.visibility</p:attrName>
                                        </p:attrNameLst>
                                      </p:cBhvr>
                                      <p:to>
                                        <p:strVal val="visible"/>
                                      </p:to>
                                    </p:set>
                                    <p:animEffect transition="in" filter="fade">
                                      <p:cBhvr>
                                        <p:cTn id="25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Is a Distributed System</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Many computers working together - that look like one big computer from outside</a:t>
            </a:r>
          </a:p>
        </p:txBody>
      </p:sp>
      <p:sp>
        <p:nvSpPr>
          <p:cNvPr id="11" name="a2u_nd10"/>
          <p:cNvSpPr/>
          <p:nvPr/>
        </p:nvSpPr>
        <p:spPr>
          <a:xfrm>
            <a:off x="457200" y="1600200"/>
            <a:ext cx="146304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2u_ndt11"/>
          <p:cNvSpPr txBox="1"/>
          <p:nvPr/>
        </p:nvSpPr>
        <p:spPr>
          <a:xfrm>
            <a:off x="502920" y="1600200"/>
            <a:ext cx="1371600" cy="640080"/>
          </a:xfrm>
          <a:prstGeom prst="rect">
            <a:avLst/>
          </a:prstGeom>
          <a:noFill/>
        </p:spPr>
        <p:txBody>
          <a:bodyPr wrap="square" lIns="0" tIns="0" rIns="0" bIns="0" anchor="ctr">
            <a:spAutoFit/>
          </a:bodyPr>
          <a:lstStyle/>
          <a:p>
            <a:pPr algn="ctr"/>
            <a:r>
              <a:rPr sz="1000" b="1">
                <a:solidFill>
                  <a:srgbClr val="1C1917"/>
                </a:solidFill>
                <a:latin typeface="Segoe UI"/>
              </a:rPr>
              <a:t>Your app</a:t>
            </a:r>
          </a:p>
        </p:txBody>
      </p:sp>
      <p:cxnSp>
        <p:nvCxnSpPr>
          <p:cNvPr id="13" name="a2u_ar12"/>
          <p:cNvCxnSpPr/>
          <p:nvPr/>
        </p:nvCxnSpPr>
        <p:spPr>
          <a:xfrm>
            <a:off x="1947672" y="1920240"/>
            <a:ext cx="539496" cy="27432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a2ud100_nd13"/>
          <p:cNvSpPr/>
          <p:nvPr/>
        </p:nvSpPr>
        <p:spPr>
          <a:xfrm>
            <a:off x="457200" y="2560320"/>
            <a:ext cx="146304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d100_ndt14"/>
          <p:cNvSpPr txBox="1"/>
          <p:nvPr/>
        </p:nvSpPr>
        <p:spPr>
          <a:xfrm>
            <a:off x="502920" y="2560320"/>
            <a:ext cx="1371600" cy="640080"/>
          </a:xfrm>
          <a:prstGeom prst="rect">
            <a:avLst/>
          </a:prstGeom>
          <a:noFill/>
        </p:spPr>
        <p:txBody>
          <a:bodyPr wrap="square" lIns="0" tIns="0" rIns="0" bIns="0" anchor="ctr">
            <a:spAutoFit/>
          </a:bodyPr>
          <a:lstStyle/>
          <a:p>
            <a:pPr algn="ctr"/>
            <a:r>
              <a:rPr sz="1000" b="1">
                <a:solidFill>
                  <a:srgbClr val="1C1917"/>
                </a:solidFill>
                <a:latin typeface="Segoe UI"/>
              </a:rPr>
              <a:t>Another app</a:t>
            </a:r>
          </a:p>
        </p:txBody>
      </p:sp>
      <p:cxnSp>
        <p:nvCxnSpPr>
          <p:cNvPr id="16" name="a2ud100_ar15"/>
          <p:cNvCxnSpPr/>
          <p:nvPr/>
        </p:nvCxnSpPr>
        <p:spPr>
          <a:xfrm flipV="1">
            <a:off x="1947672" y="2606040"/>
            <a:ext cx="539496" cy="27432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_cl16"/>
          <p:cNvSpPr/>
          <p:nvPr/>
        </p:nvSpPr>
        <p:spPr>
          <a:xfrm>
            <a:off x="2514600" y="1280160"/>
            <a:ext cx="6172200" cy="2331720"/>
          </a:xfrm>
          <a:prstGeom prst="roundRect">
            <a:avLst>
              <a:gd name="adj" fmla="val 3921"/>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_clh17"/>
          <p:cNvSpPr txBox="1"/>
          <p:nvPr/>
        </p:nvSpPr>
        <p:spPr>
          <a:xfrm>
            <a:off x="2715768" y="1371600"/>
            <a:ext cx="57607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r>
              <a:rPr sz="850" b="0">
                <a:solidFill>
                  <a:srgbClr val="78716C"/>
                </a:solidFill>
                <a:latin typeface="Segoe UI"/>
              </a:rPr>
              <a:t>     from outside: one big computer</a:t>
            </a:r>
          </a:p>
        </p:txBody>
      </p:sp>
      <p:sp>
        <p:nvSpPr>
          <p:cNvPr id="19" name="a1ud150_nd18"/>
          <p:cNvSpPr/>
          <p:nvPr/>
        </p:nvSpPr>
        <p:spPr>
          <a:xfrm>
            <a:off x="2743200" y="1783080"/>
            <a:ext cx="1280160" cy="960120"/>
          </a:xfrm>
          <a:prstGeom prst="roundRect">
            <a:avLst>
              <a:gd name="adj" fmla="val 761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150_ndt19"/>
          <p:cNvSpPr txBox="1"/>
          <p:nvPr/>
        </p:nvSpPr>
        <p:spPr>
          <a:xfrm>
            <a:off x="2788920" y="1819656"/>
            <a:ext cx="1188719" cy="461772"/>
          </a:xfrm>
          <a:prstGeom prst="rect">
            <a:avLst/>
          </a:prstGeom>
          <a:noFill/>
        </p:spPr>
        <p:txBody>
          <a:bodyPr wrap="square" lIns="0" tIns="0" rIns="0" bIns="0" anchor="b">
            <a:spAutoFit/>
          </a:bodyPr>
          <a:lstStyle/>
          <a:p>
            <a:pPr algn="ctr"/>
            <a:r>
              <a:rPr sz="1100" b="1">
                <a:solidFill>
                  <a:srgbClr val="1C1917"/>
                </a:solidFill>
                <a:latin typeface="Segoe UI"/>
              </a:rPr>
              <a:t>node 1</a:t>
            </a:r>
          </a:p>
        </p:txBody>
      </p:sp>
      <p:sp>
        <p:nvSpPr>
          <p:cNvPr id="21" name="a1ud150_nds20"/>
          <p:cNvSpPr txBox="1"/>
          <p:nvPr/>
        </p:nvSpPr>
        <p:spPr>
          <a:xfrm>
            <a:off x="2788920" y="2290572"/>
            <a:ext cx="1188719" cy="416052"/>
          </a:xfrm>
          <a:prstGeom prst="rect">
            <a:avLst/>
          </a:prstGeom>
          <a:noFill/>
        </p:spPr>
        <p:txBody>
          <a:bodyPr wrap="square" lIns="0" tIns="0" rIns="0" bIns="0" anchor="t">
            <a:spAutoFit/>
          </a:bodyPr>
          <a:lstStyle/>
          <a:p>
            <a:pPr algn="ctr"/>
            <a:r>
              <a:rPr sz="850" b="0">
                <a:solidFill>
                  <a:srgbClr val="0E7490"/>
                </a:solidFill>
                <a:latin typeface="Segoe UI"/>
              </a:rPr>
              <a:t>one computer</a:t>
            </a:r>
          </a:p>
        </p:txBody>
      </p:sp>
      <p:sp>
        <p:nvSpPr>
          <p:cNvPr id="22" name="a1ud240_nd21"/>
          <p:cNvSpPr/>
          <p:nvPr/>
        </p:nvSpPr>
        <p:spPr>
          <a:xfrm>
            <a:off x="4206240" y="1783080"/>
            <a:ext cx="1280160" cy="960120"/>
          </a:xfrm>
          <a:prstGeom prst="roundRect">
            <a:avLst>
              <a:gd name="adj" fmla="val 761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240_ndt22"/>
          <p:cNvSpPr txBox="1"/>
          <p:nvPr/>
        </p:nvSpPr>
        <p:spPr>
          <a:xfrm>
            <a:off x="4251959" y="1819656"/>
            <a:ext cx="1188719" cy="461772"/>
          </a:xfrm>
          <a:prstGeom prst="rect">
            <a:avLst/>
          </a:prstGeom>
          <a:noFill/>
        </p:spPr>
        <p:txBody>
          <a:bodyPr wrap="square" lIns="0" tIns="0" rIns="0" bIns="0" anchor="b">
            <a:spAutoFit/>
          </a:bodyPr>
          <a:lstStyle/>
          <a:p>
            <a:pPr algn="ctr"/>
            <a:r>
              <a:rPr sz="1100" b="1">
                <a:solidFill>
                  <a:srgbClr val="1C1917"/>
                </a:solidFill>
                <a:latin typeface="Segoe UI"/>
              </a:rPr>
              <a:t>node 2</a:t>
            </a:r>
          </a:p>
        </p:txBody>
      </p:sp>
      <p:sp>
        <p:nvSpPr>
          <p:cNvPr id="24" name="a1ud240_nds23"/>
          <p:cNvSpPr txBox="1"/>
          <p:nvPr/>
        </p:nvSpPr>
        <p:spPr>
          <a:xfrm>
            <a:off x="4251959" y="2290572"/>
            <a:ext cx="1188719" cy="416052"/>
          </a:xfrm>
          <a:prstGeom prst="rect">
            <a:avLst/>
          </a:prstGeom>
          <a:noFill/>
        </p:spPr>
        <p:txBody>
          <a:bodyPr wrap="square" lIns="0" tIns="0" rIns="0" bIns="0" anchor="t">
            <a:spAutoFit/>
          </a:bodyPr>
          <a:lstStyle/>
          <a:p>
            <a:pPr algn="ctr"/>
            <a:r>
              <a:rPr sz="850" b="0">
                <a:solidFill>
                  <a:srgbClr val="0E7490"/>
                </a:solidFill>
                <a:latin typeface="Segoe UI"/>
              </a:rPr>
              <a:t>one computer</a:t>
            </a:r>
          </a:p>
        </p:txBody>
      </p:sp>
      <p:sp>
        <p:nvSpPr>
          <p:cNvPr id="25" name="a1ud330_nd24"/>
          <p:cNvSpPr/>
          <p:nvPr/>
        </p:nvSpPr>
        <p:spPr>
          <a:xfrm>
            <a:off x="5669280" y="1783080"/>
            <a:ext cx="1280160" cy="960120"/>
          </a:xfrm>
          <a:prstGeom prst="roundRect">
            <a:avLst>
              <a:gd name="adj" fmla="val 761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330_ndt25"/>
          <p:cNvSpPr txBox="1"/>
          <p:nvPr/>
        </p:nvSpPr>
        <p:spPr>
          <a:xfrm>
            <a:off x="5715000" y="1819656"/>
            <a:ext cx="1188719" cy="461772"/>
          </a:xfrm>
          <a:prstGeom prst="rect">
            <a:avLst/>
          </a:prstGeom>
          <a:noFill/>
        </p:spPr>
        <p:txBody>
          <a:bodyPr wrap="square" lIns="0" tIns="0" rIns="0" bIns="0" anchor="b">
            <a:spAutoFit/>
          </a:bodyPr>
          <a:lstStyle/>
          <a:p>
            <a:pPr algn="ctr"/>
            <a:r>
              <a:rPr sz="1100" b="1">
                <a:solidFill>
                  <a:srgbClr val="1C1917"/>
                </a:solidFill>
                <a:latin typeface="Segoe UI"/>
              </a:rPr>
              <a:t>node 3</a:t>
            </a:r>
          </a:p>
        </p:txBody>
      </p:sp>
      <p:sp>
        <p:nvSpPr>
          <p:cNvPr id="27" name="a1ud330_nds26"/>
          <p:cNvSpPr txBox="1"/>
          <p:nvPr/>
        </p:nvSpPr>
        <p:spPr>
          <a:xfrm>
            <a:off x="5715000" y="2290572"/>
            <a:ext cx="1188719" cy="416052"/>
          </a:xfrm>
          <a:prstGeom prst="rect">
            <a:avLst/>
          </a:prstGeom>
          <a:noFill/>
        </p:spPr>
        <p:txBody>
          <a:bodyPr wrap="square" lIns="0" tIns="0" rIns="0" bIns="0" anchor="t">
            <a:spAutoFit/>
          </a:bodyPr>
          <a:lstStyle/>
          <a:p>
            <a:pPr algn="ctr"/>
            <a:r>
              <a:rPr sz="850" b="0">
                <a:solidFill>
                  <a:srgbClr val="0E7490"/>
                </a:solidFill>
                <a:latin typeface="Segoe UI"/>
              </a:rPr>
              <a:t>one computer</a:t>
            </a:r>
          </a:p>
        </p:txBody>
      </p:sp>
      <p:sp>
        <p:nvSpPr>
          <p:cNvPr id="28" name="a1ud420_nd27"/>
          <p:cNvSpPr/>
          <p:nvPr/>
        </p:nvSpPr>
        <p:spPr>
          <a:xfrm>
            <a:off x="7132320" y="1783080"/>
            <a:ext cx="1280160" cy="960120"/>
          </a:xfrm>
          <a:prstGeom prst="roundRect">
            <a:avLst>
              <a:gd name="adj" fmla="val 761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420_ndt28"/>
          <p:cNvSpPr txBox="1"/>
          <p:nvPr/>
        </p:nvSpPr>
        <p:spPr>
          <a:xfrm>
            <a:off x="7178040" y="1819656"/>
            <a:ext cx="1188719" cy="461772"/>
          </a:xfrm>
          <a:prstGeom prst="rect">
            <a:avLst/>
          </a:prstGeom>
          <a:noFill/>
        </p:spPr>
        <p:txBody>
          <a:bodyPr wrap="square" lIns="0" tIns="0" rIns="0" bIns="0" anchor="b">
            <a:spAutoFit/>
          </a:bodyPr>
          <a:lstStyle/>
          <a:p>
            <a:pPr algn="ctr"/>
            <a:r>
              <a:rPr sz="1100" b="1">
                <a:solidFill>
                  <a:srgbClr val="1C1917"/>
                </a:solidFill>
                <a:latin typeface="Segoe UI"/>
              </a:rPr>
              <a:t>node 4</a:t>
            </a:r>
          </a:p>
        </p:txBody>
      </p:sp>
      <p:sp>
        <p:nvSpPr>
          <p:cNvPr id="30" name="a1ud420_nds29"/>
          <p:cNvSpPr txBox="1"/>
          <p:nvPr/>
        </p:nvSpPr>
        <p:spPr>
          <a:xfrm>
            <a:off x="7178040" y="2290572"/>
            <a:ext cx="1188719" cy="416052"/>
          </a:xfrm>
          <a:prstGeom prst="rect">
            <a:avLst/>
          </a:prstGeom>
          <a:noFill/>
        </p:spPr>
        <p:txBody>
          <a:bodyPr wrap="square" lIns="0" tIns="0" rIns="0" bIns="0" anchor="t">
            <a:spAutoFit/>
          </a:bodyPr>
          <a:lstStyle/>
          <a:p>
            <a:pPr algn="ctr"/>
            <a:r>
              <a:rPr sz="850" b="0">
                <a:solidFill>
                  <a:srgbClr val="0E7490"/>
                </a:solidFill>
                <a:latin typeface="Segoe UI"/>
              </a:rPr>
              <a:t>one computer</a:t>
            </a:r>
          </a:p>
        </p:txBody>
      </p:sp>
      <p:cxnSp>
        <p:nvCxnSpPr>
          <p:cNvPr id="31" name="a1ud500_net30"/>
          <p:cNvCxnSpPr/>
          <p:nvPr/>
        </p:nvCxnSpPr>
        <p:spPr>
          <a:xfrm>
            <a:off x="3383280" y="2971800"/>
            <a:ext cx="4389120" cy="0"/>
          </a:xfrm>
          <a:prstGeom prst="line">
            <a:avLst/>
          </a:prstGeom>
          <a:ln w="1905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2" name="a1ud500_wr31"/>
          <p:cNvCxnSpPr/>
          <p:nvPr/>
        </p:nvCxnSpPr>
        <p:spPr>
          <a:xfrm>
            <a:off x="3383280" y="2761488"/>
            <a:ext cx="0" cy="21031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3" name="a1ud500_wr32"/>
          <p:cNvCxnSpPr/>
          <p:nvPr/>
        </p:nvCxnSpPr>
        <p:spPr>
          <a:xfrm>
            <a:off x="4846320" y="2761488"/>
            <a:ext cx="0" cy="21031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4" name="a1ud500_wr33"/>
          <p:cNvCxnSpPr/>
          <p:nvPr/>
        </p:nvCxnSpPr>
        <p:spPr>
          <a:xfrm>
            <a:off x="6309360" y="2761488"/>
            <a:ext cx="0" cy="21031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5" name="a1ud500_wr34"/>
          <p:cNvCxnSpPr/>
          <p:nvPr/>
        </p:nvCxnSpPr>
        <p:spPr>
          <a:xfrm>
            <a:off x="7772400" y="2761488"/>
            <a:ext cx="0" cy="21031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sp>
        <p:nvSpPr>
          <p:cNvPr id="36" name="a1ud500_lb35"/>
          <p:cNvSpPr txBox="1"/>
          <p:nvPr/>
        </p:nvSpPr>
        <p:spPr>
          <a:xfrm>
            <a:off x="2743200" y="3108960"/>
            <a:ext cx="5715000" cy="201168"/>
          </a:xfrm>
          <a:prstGeom prst="rect">
            <a:avLst/>
          </a:prstGeom>
          <a:noFill/>
        </p:spPr>
        <p:txBody>
          <a:bodyPr wrap="square" lIns="0" tIns="0" rIns="0" bIns="0" anchor="ctr">
            <a:spAutoFit/>
          </a:bodyPr>
          <a:lstStyle/>
          <a:p>
            <a:pPr algn="ctr"/>
            <a:r>
              <a:rPr sz="850" b="0">
                <a:solidFill>
                  <a:srgbClr val="0E7490"/>
                </a:solidFill>
                <a:latin typeface="Segoe UI"/>
              </a:rPr>
              <a:t>connected by a network</a:t>
            </a:r>
          </a:p>
        </p:txBody>
      </p:sp>
      <p:sp>
        <p:nvSpPr>
          <p:cNvPr id="37" name="a3u_nb36"/>
          <p:cNvSpPr/>
          <p:nvPr/>
        </p:nvSpPr>
        <p:spPr>
          <a:xfrm>
            <a:off x="457200" y="3840480"/>
            <a:ext cx="8229600" cy="603504"/>
          </a:xfrm>
          <a:prstGeom prst="roundRect">
            <a:avLst>
              <a:gd name="adj" fmla="val 12121"/>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nacc37"/>
          <p:cNvSpPr/>
          <p:nvPr/>
        </p:nvSpPr>
        <p:spPr>
          <a:xfrm>
            <a:off x="457200" y="3840480"/>
            <a:ext cx="54864"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nt38"/>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Kafka is built to run across a number of computers - nodes - while the applications using it see a single system. The Brokers module looks at these nodes in detail.</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7"/>
                                        </p:tgtEl>
                                        <p:attrNameLst>
                                          <p:attrName>style.visibility</p:attrName>
                                        </p:attrNameLst>
                                      </p:cBhvr>
                                      <p:to>
                                        <p:strVal val="visible"/>
                                      </p:to>
                                    </p:set>
                                    <p:anim calcmode="lin" valueType="num">
                                      <p:cBhvr additive="base">
                                        <p:cTn id="6" dur="500" fill="hold"/>
                                        <p:tgtEl>
                                          <p:spTgt spid="17"/>
                                        </p:tgtEl>
                                        <p:attrNameLst>
                                          <p:attrName>ppt_x</p:attrName>
                                        </p:attrNameLst>
                                      </p:cBhvr>
                                      <p:tavLst>
                                        <p:tav tm="0">
                                          <p:val>
                                            <p:strVal val="#ppt_x"/>
                                          </p:val>
                                        </p:tav>
                                        <p:tav tm="100000">
                                          <p:val>
                                            <p:strVal val="#ppt_x"/>
                                          </p:val>
                                        </p:tav>
                                      </p:tavLst>
                                    </p:anim>
                                    <p:anim calcmode="lin" valueType="num">
                                      <p:cBhvr additive="base">
                                        <p:cTn id="7" dur="500" fill="hold"/>
                                        <p:tgtEl>
                                          <p:spTgt spid="17"/>
                                        </p:tgtEl>
                                        <p:attrNameLst>
                                          <p:attrName>ppt_y</p:attrName>
                                        </p:attrNameLst>
                                      </p:cBhvr>
                                      <p:tavLst>
                                        <p:tav tm="0">
                                          <p:val>
                                            <p:strVal val="#ppt_y+0.1"/>
                                          </p:val>
                                        </p:tav>
                                        <p:tav tm="100000">
                                          <p:val>
                                            <p:strVal val="#ppt_y"/>
                                          </p:val>
                                        </p:tav>
                                      </p:tavLst>
                                    </p:anim>
                                    <p:animEffect transition="in" filter="fade">
                                      <p:cBhvr>
                                        <p:cTn id="8" dur="500"/>
                                        <p:tgtEl>
                                          <p:spTgt spid="17"/>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ppt_y+0.1"/>
                                          </p:val>
                                        </p:tav>
                                        <p:tav tm="100000">
                                          <p:val>
                                            <p:strVal val="#ppt_y"/>
                                          </p:val>
                                        </p:tav>
                                      </p:tavLst>
                                    </p:anim>
                                    <p:animEffect transition="in" filter="fade">
                                      <p:cBhvr>
                                        <p:cTn id="13" dur="500"/>
                                        <p:tgtEl>
                                          <p:spTgt spid="18"/>
                                        </p:tgtEl>
                                      </p:cBhvr>
                                    </p:animEffect>
                                  </p:childTnLst>
                                </p:cTn>
                              </p:par>
                              <p:par>
                                <p:cTn id="19" presetID="2" presetClass="entr" presetSubtype="4" fill="hold" grpId="0" nodeType="withEffect">
                                  <p:stCondLst>
                                    <p:cond delay="15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ppt_y+0.1"/>
                                          </p:val>
                                        </p:tav>
                                        <p:tav tm="100000">
                                          <p:val>
                                            <p:strVal val="#ppt_y"/>
                                          </p:val>
                                        </p:tav>
                                      </p:tavLst>
                                    </p:anim>
                                    <p:animEffect transition="in" filter="fade">
                                      <p:cBhvr>
                                        <p:cTn id="18" dur="500"/>
                                        <p:tgtEl>
                                          <p:spTgt spid="19"/>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ppt_y+0.1"/>
                                          </p:val>
                                        </p:tav>
                                        <p:tav tm="100000">
                                          <p:val>
                                            <p:strVal val="#ppt_y"/>
                                          </p:val>
                                        </p:tav>
                                      </p:tavLst>
                                    </p:anim>
                                    <p:animEffect transition="in" filter="fade">
                                      <p:cBhvr>
                                        <p:cTn id="23" dur="500"/>
                                        <p:tgtEl>
                                          <p:spTgt spid="20"/>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fill="hold"/>
                                        <p:tgtEl>
                                          <p:spTgt spid="21"/>
                                        </p:tgtEl>
                                        <p:attrNameLst>
                                          <p:attrName>ppt_x</p:attrName>
                                        </p:attrNameLst>
                                      </p:cBhvr>
                                      <p:tavLst>
                                        <p:tav tm="0">
                                          <p:val>
                                            <p:strVal val="#ppt_x"/>
                                          </p:val>
                                        </p:tav>
                                        <p:tav tm="100000">
                                          <p:val>
                                            <p:strVal val="#ppt_x"/>
                                          </p:val>
                                        </p:tav>
                                      </p:tavLst>
                                    </p:anim>
                                    <p:anim calcmode="lin" valueType="num">
                                      <p:cBhvr additive="base">
                                        <p:cTn id="27" dur="500" fill="hold"/>
                                        <p:tgtEl>
                                          <p:spTgt spid="21"/>
                                        </p:tgtEl>
                                        <p:attrNameLst>
                                          <p:attrName>ppt_y</p:attrName>
                                        </p:attrNameLst>
                                      </p:cBhvr>
                                      <p:tavLst>
                                        <p:tav tm="0">
                                          <p:val>
                                            <p:strVal val="#ppt_y+0.1"/>
                                          </p:val>
                                        </p:tav>
                                        <p:tav tm="100000">
                                          <p:val>
                                            <p:strVal val="#ppt_y"/>
                                          </p:val>
                                        </p:tav>
                                      </p:tavLst>
                                    </p:anim>
                                    <p:animEffect transition="in" filter="fade">
                                      <p:cBhvr>
                                        <p:cTn id="28" dur="500"/>
                                        <p:tgtEl>
                                          <p:spTgt spid="21"/>
                                        </p:tgtEl>
                                      </p:cBhvr>
                                    </p:animEffect>
                                  </p:childTnLst>
                                </p:cTn>
                              </p:par>
                              <p:par>
                                <p:cTn id="34" presetID="2" presetClass="entr" presetSubtype="4" fill="hold" grpId="0" nodeType="withEffect">
                                  <p:stCondLst>
                                    <p:cond delay="24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ppt_y+0.1"/>
                                          </p:val>
                                        </p:tav>
                                        <p:tav tm="100000">
                                          <p:val>
                                            <p:strVal val="#ppt_y"/>
                                          </p:val>
                                        </p:tav>
                                      </p:tavLst>
                                    </p:anim>
                                    <p:animEffect transition="in" filter="fade">
                                      <p:cBhvr>
                                        <p:cTn id="33" dur="500"/>
                                        <p:tgtEl>
                                          <p:spTgt spid="22"/>
                                        </p:tgtEl>
                                      </p:cBhvr>
                                    </p:animEffect>
                                  </p:childTnLst>
                                </p:cTn>
                              </p:par>
                              <p:par>
                                <p:cTn id="39" presetID="2" presetClass="entr" presetSubtype="4" fill="hold" grpId="0" nodeType="withEffect">
                                  <p:stCondLst>
                                    <p:cond delay="24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ppt_y+0.1"/>
                                          </p:val>
                                        </p:tav>
                                        <p:tav tm="100000">
                                          <p:val>
                                            <p:strVal val="#ppt_y"/>
                                          </p:val>
                                        </p:tav>
                                      </p:tavLst>
                                    </p:anim>
                                    <p:animEffect transition="in" filter="fade">
                                      <p:cBhvr>
                                        <p:cTn id="38" dur="500"/>
                                        <p:tgtEl>
                                          <p:spTgt spid="23"/>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ppt_y+0.1"/>
                                          </p:val>
                                        </p:tav>
                                        <p:tav tm="100000">
                                          <p:val>
                                            <p:strVal val="#ppt_y"/>
                                          </p:val>
                                        </p:tav>
                                      </p:tavLst>
                                    </p:anim>
                                    <p:animEffect transition="in" filter="fade">
                                      <p:cBhvr>
                                        <p:cTn id="43" dur="500"/>
                                        <p:tgtEl>
                                          <p:spTgt spid="24"/>
                                        </p:tgtEl>
                                      </p:cBhvr>
                                    </p:animEffect>
                                  </p:childTnLst>
                                </p:cTn>
                              </p:par>
                              <p:par>
                                <p:cTn id="49" presetID="2" presetClass="entr" presetSubtype="4" fill="hold" grpId="0" nodeType="withEffect">
                                  <p:stCondLst>
                                    <p:cond delay="330"/>
                                  </p:stCondLst>
                                  <p:childTnLst>
                                    <p:set>
                                      <p:cBhvr>
                                        <p:cTn id="45" dur="1" fill="hold">
                                          <p:stCondLst>
                                            <p:cond delay="0"/>
                                          </p:stCondLst>
                                        </p:cTn>
                                        <p:tgtEl>
                                          <p:spTgt spid="25"/>
                                        </p:tgtEl>
                                        <p:attrNameLst>
                                          <p:attrName>style.visibility</p:attrName>
                                        </p:attrNameLst>
                                      </p:cBhvr>
                                      <p:to>
                                        <p:strVal val="visible"/>
                                      </p:to>
                                    </p:set>
                                    <p:anim calcmode="lin" valueType="num">
                                      <p:cBhvr additive="base">
                                        <p:cTn id="46" dur="500" fill="hold"/>
                                        <p:tgtEl>
                                          <p:spTgt spid="25"/>
                                        </p:tgtEl>
                                        <p:attrNameLst>
                                          <p:attrName>ppt_x</p:attrName>
                                        </p:attrNameLst>
                                      </p:cBhvr>
                                      <p:tavLst>
                                        <p:tav tm="0">
                                          <p:val>
                                            <p:strVal val="#ppt_x"/>
                                          </p:val>
                                        </p:tav>
                                        <p:tav tm="100000">
                                          <p:val>
                                            <p:strVal val="#ppt_x"/>
                                          </p:val>
                                        </p:tav>
                                      </p:tavLst>
                                    </p:anim>
                                    <p:anim calcmode="lin" valueType="num">
                                      <p:cBhvr additive="base">
                                        <p:cTn id="47" dur="500" fill="hold"/>
                                        <p:tgtEl>
                                          <p:spTgt spid="25"/>
                                        </p:tgtEl>
                                        <p:attrNameLst>
                                          <p:attrName>ppt_y</p:attrName>
                                        </p:attrNameLst>
                                      </p:cBhvr>
                                      <p:tavLst>
                                        <p:tav tm="0">
                                          <p:val>
                                            <p:strVal val="#ppt_y+0.1"/>
                                          </p:val>
                                        </p:tav>
                                        <p:tav tm="100000">
                                          <p:val>
                                            <p:strVal val="#ppt_y"/>
                                          </p:val>
                                        </p:tav>
                                      </p:tavLst>
                                    </p:anim>
                                    <p:animEffect transition="in" filter="fade">
                                      <p:cBhvr>
                                        <p:cTn id="48" dur="500"/>
                                        <p:tgtEl>
                                          <p:spTgt spid="25"/>
                                        </p:tgtEl>
                                      </p:cBhvr>
                                    </p:animEffect>
                                  </p:childTnLst>
                                </p:cTn>
                              </p:par>
                              <p:par>
                                <p:cTn id="54" presetID="2" presetClass="entr" presetSubtype="4" fill="hold" grpId="0" nodeType="withEffect">
                                  <p:stCondLst>
                                    <p:cond delay="33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ppt_y+0.1"/>
                                          </p:val>
                                        </p:tav>
                                        <p:tav tm="100000">
                                          <p:val>
                                            <p:strVal val="#ppt_y"/>
                                          </p:val>
                                        </p:tav>
                                      </p:tavLst>
                                    </p:anim>
                                    <p:animEffect transition="in" filter="fade">
                                      <p:cBhvr>
                                        <p:cTn id="53" dur="500"/>
                                        <p:tgtEl>
                                          <p:spTgt spid="26"/>
                                        </p:tgtEl>
                                      </p:cBhvr>
                                    </p:animEffect>
                                  </p:childTnLst>
                                </p:cTn>
                              </p:par>
                              <p:par>
                                <p:cTn id="59" presetID="2" presetClass="entr" presetSubtype="4" fill="hold" grpId="0" nodeType="withEffect">
                                  <p:stCondLst>
                                    <p:cond delay="33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ppt_x"/>
                                          </p:val>
                                        </p:tav>
                                        <p:tav tm="100000">
                                          <p:val>
                                            <p:strVal val="#ppt_x"/>
                                          </p:val>
                                        </p:tav>
                                      </p:tavLst>
                                    </p:anim>
                                    <p:anim calcmode="lin" valueType="num">
                                      <p:cBhvr additive="base">
                                        <p:cTn id="57" dur="500" fill="hold"/>
                                        <p:tgtEl>
                                          <p:spTgt spid="27"/>
                                        </p:tgtEl>
                                        <p:attrNameLst>
                                          <p:attrName>ppt_y</p:attrName>
                                        </p:attrNameLst>
                                      </p:cBhvr>
                                      <p:tavLst>
                                        <p:tav tm="0">
                                          <p:val>
                                            <p:strVal val="#ppt_y+0.1"/>
                                          </p:val>
                                        </p:tav>
                                        <p:tav tm="100000">
                                          <p:val>
                                            <p:strVal val="#ppt_y"/>
                                          </p:val>
                                        </p:tav>
                                      </p:tavLst>
                                    </p:anim>
                                    <p:animEffect transition="in" filter="fade">
                                      <p:cBhvr>
                                        <p:cTn id="58" dur="500"/>
                                        <p:tgtEl>
                                          <p:spTgt spid="27"/>
                                        </p:tgtEl>
                                      </p:cBhvr>
                                    </p:animEffect>
                                  </p:childTnLst>
                                </p:cTn>
                              </p:par>
                              <p:par>
                                <p:cTn id="64" presetID="2" presetClass="entr" presetSubtype="4" fill="hold" grpId="0" nodeType="withEffect">
                                  <p:stCondLst>
                                    <p:cond delay="42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ppt_y+0.1"/>
                                          </p:val>
                                        </p:tav>
                                        <p:tav tm="100000">
                                          <p:val>
                                            <p:strVal val="#ppt_y"/>
                                          </p:val>
                                        </p:tav>
                                      </p:tavLst>
                                    </p:anim>
                                    <p:animEffect transition="in" filter="fade">
                                      <p:cBhvr>
                                        <p:cTn id="63" dur="500"/>
                                        <p:tgtEl>
                                          <p:spTgt spid="28"/>
                                        </p:tgtEl>
                                      </p:cBhvr>
                                    </p:animEffect>
                                  </p:childTnLst>
                                </p:cTn>
                              </p:par>
                              <p:par>
                                <p:cTn id="69" presetID="2" presetClass="entr" presetSubtype="4" fill="hold" grpId="0" nodeType="withEffect">
                                  <p:stCondLst>
                                    <p:cond delay="420"/>
                                  </p:stCondLst>
                                  <p:childTnLst>
                                    <p:set>
                                      <p:cBhvr>
                                        <p:cTn id="65" dur="1" fill="hold">
                                          <p:stCondLst>
                                            <p:cond delay="0"/>
                                          </p:stCondLst>
                                        </p:cTn>
                                        <p:tgtEl>
                                          <p:spTgt spid="29"/>
                                        </p:tgtEl>
                                        <p:attrNameLst>
                                          <p:attrName>style.visibility</p:attrName>
                                        </p:attrNameLst>
                                      </p:cBhvr>
                                      <p:to>
                                        <p:strVal val="visible"/>
                                      </p:to>
                                    </p:set>
                                    <p:anim calcmode="lin" valueType="num">
                                      <p:cBhvr additive="base">
                                        <p:cTn id="66" dur="500" fill="hold"/>
                                        <p:tgtEl>
                                          <p:spTgt spid="29"/>
                                        </p:tgtEl>
                                        <p:attrNameLst>
                                          <p:attrName>ppt_x</p:attrName>
                                        </p:attrNameLst>
                                      </p:cBhvr>
                                      <p:tavLst>
                                        <p:tav tm="0">
                                          <p:val>
                                            <p:strVal val="#ppt_x"/>
                                          </p:val>
                                        </p:tav>
                                        <p:tav tm="100000">
                                          <p:val>
                                            <p:strVal val="#ppt_x"/>
                                          </p:val>
                                        </p:tav>
                                      </p:tavLst>
                                    </p:anim>
                                    <p:anim calcmode="lin" valueType="num">
                                      <p:cBhvr additive="base">
                                        <p:cTn id="67" dur="500" fill="hold"/>
                                        <p:tgtEl>
                                          <p:spTgt spid="29"/>
                                        </p:tgtEl>
                                        <p:attrNameLst>
                                          <p:attrName>ppt_y</p:attrName>
                                        </p:attrNameLst>
                                      </p:cBhvr>
                                      <p:tavLst>
                                        <p:tav tm="0">
                                          <p:val>
                                            <p:strVal val="#ppt_y+0.1"/>
                                          </p:val>
                                        </p:tav>
                                        <p:tav tm="100000">
                                          <p:val>
                                            <p:strVal val="#ppt_y"/>
                                          </p:val>
                                        </p:tav>
                                      </p:tavLst>
                                    </p:anim>
                                    <p:animEffect transition="in" filter="fade">
                                      <p:cBhvr>
                                        <p:cTn id="68" dur="500"/>
                                        <p:tgtEl>
                                          <p:spTgt spid="29"/>
                                        </p:tgtEl>
                                      </p:cBhvr>
                                    </p:animEffect>
                                  </p:childTnLst>
                                </p:cTn>
                              </p:par>
                              <p:par>
                                <p:cTn id="74" presetID="2" presetClass="entr" presetSubtype="4" fill="hold" grpId="0" nodeType="withEffect">
                                  <p:stCondLst>
                                    <p:cond delay="420"/>
                                  </p:stCondLst>
                                  <p:childTnLst>
                                    <p:set>
                                      <p:cBhvr>
                                        <p:cTn id="70" dur="1" fill="hold">
                                          <p:stCondLst>
                                            <p:cond delay="0"/>
                                          </p:stCondLst>
                                        </p:cTn>
                                        <p:tgtEl>
                                          <p:spTgt spid="30"/>
                                        </p:tgtEl>
                                        <p:attrNameLst>
                                          <p:attrName>style.visibility</p:attrName>
                                        </p:attrNameLst>
                                      </p:cBhvr>
                                      <p:to>
                                        <p:strVal val="visible"/>
                                      </p:to>
                                    </p:set>
                                    <p:anim calcmode="lin" valueType="num">
                                      <p:cBhvr additive="base">
                                        <p:cTn id="71" dur="500" fill="hold"/>
                                        <p:tgtEl>
                                          <p:spTgt spid="30"/>
                                        </p:tgtEl>
                                        <p:attrNameLst>
                                          <p:attrName>ppt_x</p:attrName>
                                        </p:attrNameLst>
                                      </p:cBhvr>
                                      <p:tavLst>
                                        <p:tav tm="0">
                                          <p:val>
                                            <p:strVal val="#ppt_x"/>
                                          </p:val>
                                        </p:tav>
                                        <p:tav tm="100000">
                                          <p:val>
                                            <p:strVal val="#ppt_x"/>
                                          </p:val>
                                        </p:tav>
                                      </p:tavLst>
                                    </p:anim>
                                    <p:anim calcmode="lin" valueType="num">
                                      <p:cBhvr additive="base">
                                        <p:cTn id="72" dur="500" fill="hold"/>
                                        <p:tgtEl>
                                          <p:spTgt spid="30"/>
                                        </p:tgtEl>
                                        <p:attrNameLst>
                                          <p:attrName>ppt_y</p:attrName>
                                        </p:attrNameLst>
                                      </p:cBhvr>
                                      <p:tavLst>
                                        <p:tav tm="0">
                                          <p:val>
                                            <p:strVal val="#ppt_y+0.1"/>
                                          </p:val>
                                        </p:tav>
                                        <p:tav tm="100000">
                                          <p:val>
                                            <p:strVal val="#ppt_y"/>
                                          </p:val>
                                        </p:tav>
                                      </p:tavLst>
                                    </p:anim>
                                    <p:animEffect transition="in" filter="fade">
                                      <p:cBhvr>
                                        <p:cTn id="73" dur="500"/>
                                        <p:tgtEl>
                                          <p:spTgt spid="30"/>
                                        </p:tgtEl>
                                      </p:cBhvr>
                                    </p:animEffect>
                                  </p:childTnLst>
                                </p:cTn>
                              </p:par>
                              <p:par>
                                <p:cTn id="79" presetID="2" presetClass="entr" presetSubtype="4" fill="hold" grpId="0" nodeType="withEffect">
                                  <p:stCondLst>
                                    <p:cond delay="500"/>
                                  </p:stCondLst>
                                  <p:childTnLst>
                                    <p:set>
                                      <p:cBhvr>
                                        <p:cTn id="75" dur="1" fill="hold">
                                          <p:stCondLst>
                                            <p:cond delay="0"/>
                                          </p:stCondLst>
                                        </p:cTn>
                                        <p:tgtEl>
                                          <p:spTgt spid="31"/>
                                        </p:tgtEl>
                                        <p:attrNameLst>
                                          <p:attrName>style.visibility</p:attrName>
                                        </p:attrNameLst>
                                      </p:cBhvr>
                                      <p:to>
                                        <p:strVal val="visible"/>
                                      </p:to>
                                    </p:set>
                                    <p:anim calcmode="lin" valueType="num">
                                      <p:cBhvr additive="base">
                                        <p:cTn id="76" dur="500" fill="hold"/>
                                        <p:tgtEl>
                                          <p:spTgt spid="31"/>
                                        </p:tgtEl>
                                        <p:attrNameLst>
                                          <p:attrName>ppt_x</p:attrName>
                                        </p:attrNameLst>
                                      </p:cBhvr>
                                      <p:tavLst>
                                        <p:tav tm="0">
                                          <p:val>
                                            <p:strVal val="#ppt_x"/>
                                          </p:val>
                                        </p:tav>
                                        <p:tav tm="100000">
                                          <p:val>
                                            <p:strVal val="#ppt_x"/>
                                          </p:val>
                                        </p:tav>
                                      </p:tavLst>
                                    </p:anim>
                                    <p:anim calcmode="lin" valueType="num">
                                      <p:cBhvr additive="base">
                                        <p:cTn id="77" dur="500" fill="hold"/>
                                        <p:tgtEl>
                                          <p:spTgt spid="31"/>
                                        </p:tgtEl>
                                        <p:attrNameLst>
                                          <p:attrName>ppt_y</p:attrName>
                                        </p:attrNameLst>
                                      </p:cBhvr>
                                      <p:tavLst>
                                        <p:tav tm="0">
                                          <p:val>
                                            <p:strVal val="#ppt_y+0.1"/>
                                          </p:val>
                                        </p:tav>
                                        <p:tav tm="100000">
                                          <p:val>
                                            <p:strVal val="#ppt_y"/>
                                          </p:val>
                                        </p:tav>
                                      </p:tavLst>
                                    </p:anim>
                                    <p:animEffect transition="in" filter="fade">
                                      <p:cBhvr>
                                        <p:cTn id="78" dur="500"/>
                                        <p:tgtEl>
                                          <p:spTgt spid="31"/>
                                        </p:tgtEl>
                                      </p:cBhvr>
                                    </p:animEffect>
                                  </p:childTnLst>
                                </p:cTn>
                              </p:par>
                              <p:par>
                                <p:cTn id="84" presetID="2" presetClass="entr" presetSubtype="4" fill="hold" grpId="0" nodeType="withEffect">
                                  <p:stCondLst>
                                    <p:cond delay="500"/>
                                  </p:stCondLst>
                                  <p:childTnLst>
                                    <p:set>
                                      <p:cBhvr>
                                        <p:cTn id="80" dur="1" fill="hold">
                                          <p:stCondLst>
                                            <p:cond delay="0"/>
                                          </p:stCondLst>
                                        </p:cTn>
                                        <p:tgtEl>
                                          <p:spTgt spid="32"/>
                                        </p:tgtEl>
                                        <p:attrNameLst>
                                          <p:attrName>style.visibility</p:attrName>
                                        </p:attrNameLst>
                                      </p:cBhvr>
                                      <p:to>
                                        <p:strVal val="visible"/>
                                      </p:to>
                                    </p:set>
                                    <p:anim calcmode="lin" valueType="num">
                                      <p:cBhvr additive="base">
                                        <p:cTn id="81" dur="500" fill="hold"/>
                                        <p:tgtEl>
                                          <p:spTgt spid="32"/>
                                        </p:tgtEl>
                                        <p:attrNameLst>
                                          <p:attrName>ppt_x</p:attrName>
                                        </p:attrNameLst>
                                      </p:cBhvr>
                                      <p:tavLst>
                                        <p:tav tm="0">
                                          <p:val>
                                            <p:strVal val="#ppt_x"/>
                                          </p:val>
                                        </p:tav>
                                        <p:tav tm="100000">
                                          <p:val>
                                            <p:strVal val="#ppt_x"/>
                                          </p:val>
                                        </p:tav>
                                      </p:tavLst>
                                    </p:anim>
                                    <p:anim calcmode="lin" valueType="num">
                                      <p:cBhvr additive="base">
                                        <p:cTn id="82" dur="500" fill="hold"/>
                                        <p:tgtEl>
                                          <p:spTgt spid="32"/>
                                        </p:tgtEl>
                                        <p:attrNameLst>
                                          <p:attrName>ppt_y</p:attrName>
                                        </p:attrNameLst>
                                      </p:cBhvr>
                                      <p:tavLst>
                                        <p:tav tm="0">
                                          <p:val>
                                            <p:strVal val="#ppt_y+0.1"/>
                                          </p:val>
                                        </p:tav>
                                        <p:tav tm="100000">
                                          <p:val>
                                            <p:strVal val="#ppt_y"/>
                                          </p:val>
                                        </p:tav>
                                      </p:tavLst>
                                    </p:anim>
                                    <p:animEffect transition="in" filter="fade">
                                      <p:cBhvr>
                                        <p:cTn id="83" dur="500"/>
                                        <p:tgtEl>
                                          <p:spTgt spid="32"/>
                                        </p:tgtEl>
                                      </p:cBhvr>
                                    </p:animEffect>
                                  </p:childTnLst>
                                </p:cTn>
                              </p:par>
                              <p:par>
                                <p:cTn id="89" presetID="2" presetClass="entr" presetSubtype="4" fill="hold" grpId="0" nodeType="withEffect">
                                  <p:stCondLst>
                                    <p:cond delay="500"/>
                                  </p:stCondLst>
                                  <p:childTnLst>
                                    <p:set>
                                      <p:cBhvr>
                                        <p:cTn id="85" dur="1" fill="hold">
                                          <p:stCondLst>
                                            <p:cond delay="0"/>
                                          </p:stCondLst>
                                        </p:cTn>
                                        <p:tgtEl>
                                          <p:spTgt spid="33"/>
                                        </p:tgtEl>
                                        <p:attrNameLst>
                                          <p:attrName>style.visibility</p:attrName>
                                        </p:attrNameLst>
                                      </p:cBhvr>
                                      <p:to>
                                        <p:strVal val="visible"/>
                                      </p:to>
                                    </p:set>
                                    <p:anim calcmode="lin" valueType="num">
                                      <p:cBhvr additive="base">
                                        <p:cTn id="86" dur="500" fill="hold"/>
                                        <p:tgtEl>
                                          <p:spTgt spid="33"/>
                                        </p:tgtEl>
                                        <p:attrNameLst>
                                          <p:attrName>ppt_x</p:attrName>
                                        </p:attrNameLst>
                                      </p:cBhvr>
                                      <p:tavLst>
                                        <p:tav tm="0">
                                          <p:val>
                                            <p:strVal val="#ppt_x"/>
                                          </p:val>
                                        </p:tav>
                                        <p:tav tm="100000">
                                          <p:val>
                                            <p:strVal val="#ppt_x"/>
                                          </p:val>
                                        </p:tav>
                                      </p:tavLst>
                                    </p:anim>
                                    <p:anim calcmode="lin" valueType="num">
                                      <p:cBhvr additive="base">
                                        <p:cTn id="87" dur="500" fill="hold"/>
                                        <p:tgtEl>
                                          <p:spTgt spid="33"/>
                                        </p:tgtEl>
                                        <p:attrNameLst>
                                          <p:attrName>ppt_y</p:attrName>
                                        </p:attrNameLst>
                                      </p:cBhvr>
                                      <p:tavLst>
                                        <p:tav tm="0">
                                          <p:val>
                                            <p:strVal val="#ppt_y+0.1"/>
                                          </p:val>
                                        </p:tav>
                                        <p:tav tm="100000">
                                          <p:val>
                                            <p:strVal val="#ppt_y"/>
                                          </p:val>
                                        </p:tav>
                                      </p:tavLst>
                                    </p:anim>
                                    <p:animEffect transition="in" filter="fade">
                                      <p:cBhvr>
                                        <p:cTn id="88" dur="500"/>
                                        <p:tgtEl>
                                          <p:spTgt spid="33"/>
                                        </p:tgtEl>
                                      </p:cBhvr>
                                    </p:animEffect>
                                  </p:childTnLst>
                                </p:cTn>
                              </p:par>
                              <p:par>
                                <p:cTn id="94" presetID="2" presetClass="entr" presetSubtype="4" fill="hold" grpId="0" nodeType="withEffect">
                                  <p:stCondLst>
                                    <p:cond delay="500"/>
                                  </p:stCondLst>
                                  <p:childTnLst>
                                    <p:set>
                                      <p:cBhvr>
                                        <p:cTn id="90" dur="1" fill="hold">
                                          <p:stCondLst>
                                            <p:cond delay="0"/>
                                          </p:stCondLst>
                                        </p:cTn>
                                        <p:tgtEl>
                                          <p:spTgt spid="34"/>
                                        </p:tgtEl>
                                        <p:attrNameLst>
                                          <p:attrName>style.visibility</p:attrName>
                                        </p:attrNameLst>
                                      </p:cBhvr>
                                      <p:to>
                                        <p:strVal val="visible"/>
                                      </p:to>
                                    </p:set>
                                    <p:anim calcmode="lin" valueType="num">
                                      <p:cBhvr additive="base">
                                        <p:cTn id="91" dur="500" fill="hold"/>
                                        <p:tgtEl>
                                          <p:spTgt spid="34"/>
                                        </p:tgtEl>
                                        <p:attrNameLst>
                                          <p:attrName>ppt_x</p:attrName>
                                        </p:attrNameLst>
                                      </p:cBhvr>
                                      <p:tavLst>
                                        <p:tav tm="0">
                                          <p:val>
                                            <p:strVal val="#ppt_x"/>
                                          </p:val>
                                        </p:tav>
                                        <p:tav tm="100000">
                                          <p:val>
                                            <p:strVal val="#ppt_x"/>
                                          </p:val>
                                        </p:tav>
                                      </p:tavLst>
                                    </p:anim>
                                    <p:anim calcmode="lin" valueType="num">
                                      <p:cBhvr additive="base">
                                        <p:cTn id="92" dur="500" fill="hold"/>
                                        <p:tgtEl>
                                          <p:spTgt spid="34"/>
                                        </p:tgtEl>
                                        <p:attrNameLst>
                                          <p:attrName>ppt_y</p:attrName>
                                        </p:attrNameLst>
                                      </p:cBhvr>
                                      <p:tavLst>
                                        <p:tav tm="0">
                                          <p:val>
                                            <p:strVal val="#ppt_y+0.1"/>
                                          </p:val>
                                        </p:tav>
                                        <p:tav tm="100000">
                                          <p:val>
                                            <p:strVal val="#ppt_y"/>
                                          </p:val>
                                        </p:tav>
                                      </p:tavLst>
                                    </p:anim>
                                    <p:animEffect transition="in" filter="fade">
                                      <p:cBhvr>
                                        <p:cTn id="93" dur="500"/>
                                        <p:tgtEl>
                                          <p:spTgt spid="34"/>
                                        </p:tgtEl>
                                      </p:cBhvr>
                                    </p:animEffect>
                                  </p:childTnLst>
                                </p:cTn>
                              </p:par>
                              <p:par>
                                <p:cTn id="99" presetID="2" presetClass="entr" presetSubtype="4" fill="hold" grpId="0" nodeType="withEffect">
                                  <p:stCondLst>
                                    <p:cond delay="500"/>
                                  </p:stCondLst>
                                  <p:childTnLst>
                                    <p:set>
                                      <p:cBhvr>
                                        <p:cTn id="95" dur="1" fill="hold">
                                          <p:stCondLst>
                                            <p:cond delay="0"/>
                                          </p:stCondLst>
                                        </p:cTn>
                                        <p:tgtEl>
                                          <p:spTgt spid="35"/>
                                        </p:tgtEl>
                                        <p:attrNameLst>
                                          <p:attrName>style.visibility</p:attrName>
                                        </p:attrNameLst>
                                      </p:cBhvr>
                                      <p:to>
                                        <p:strVal val="visible"/>
                                      </p:to>
                                    </p:set>
                                    <p:anim calcmode="lin" valueType="num">
                                      <p:cBhvr additive="base">
                                        <p:cTn id="96" dur="500" fill="hold"/>
                                        <p:tgtEl>
                                          <p:spTgt spid="35"/>
                                        </p:tgtEl>
                                        <p:attrNameLst>
                                          <p:attrName>ppt_x</p:attrName>
                                        </p:attrNameLst>
                                      </p:cBhvr>
                                      <p:tavLst>
                                        <p:tav tm="0">
                                          <p:val>
                                            <p:strVal val="#ppt_x"/>
                                          </p:val>
                                        </p:tav>
                                        <p:tav tm="100000">
                                          <p:val>
                                            <p:strVal val="#ppt_x"/>
                                          </p:val>
                                        </p:tav>
                                      </p:tavLst>
                                    </p:anim>
                                    <p:anim calcmode="lin" valueType="num">
                                      <p:cBhvr additive="base">
                                        <p:cTn id="97" dur="500" fill="hold"/>
                                        <p:tgtEl>
                                          <p:spTgt spid="35"/>
                                        </p:tgtEl>
                                        <p:attrNameLst>
                                          <p:attrName>ppt_y</p:attrName>
                                        </p:attrNameLst>
                                      </p:cBhvr>
                                      <p:tavLst>
                                        <p:tav tm="0">
                                          <p:val>
                                            <p:strVal val="#ppt_y+0.1"/>
                                          </p:val>
                                        </p:tav>
                                        <p:tav tm="100000">
                                          <p:val>
                                            <p:strVal val="#ppt_y"/>
                                          </p:val>
                                        </p:tav>
                                      </p:tavLst>
                                    </p:anim>
                                    <p:animEffect transition="in" filter="fade">
                                      <p:cBhvr>
                                        <p:cTn id="98" dur="500"/>
                                        <p:tgtEl>
                                          <p:spTgt spid="35"/>
                                        </p:tgtEl>
                                      </p:cBhvr>
                                    </p:animEffect>
                                  </p:childTnLst>
                                </p:cTn>
                              </p:par>
                              <p:par>
                                <p:cTn id="104" presetID="2" presetClass="entr" presetSubtype="4" fill="hold" grpId="0" nodeType="withEffect">
                                  <p:stCondLst>
                                    <p:cond delay="500"/>
                                  </p:stCondLst>
                                  <p:childTnLst>
                                    <p:set>
                                      <p:cBhvr>
                                        <p:cTn id="100" dur="1" fill="hold">
                                          <p:stCondLst>
                                            <p:cond delay="0"/>
                                          </p:stCondLst>
                                        </p:cTn>
                                        <p:tgtEl>
                                          <p:spTgt spid="36"/>
                                        </p:tgtEl>
                                        <p:attrNameLst>
                                          <p:attrName>style.visibility</p:attrName>
                                        </p:attrNameLst>
                                      </p:cBhvr>
                                      <p:to>
                                        <p:strVal val="visible"/>
                                      </p:to>
                                    </p:set>
                                    <p:anim calcmode="lin" valueType="num">
                                      <p:cBhvr additive="base">
                                        <p:cTn id="101" dur="500" fill="hold"/>
                                        <p:tgtEl>
                                          <p:spTgt spid="36"/>
                                        </p:tgtEl>
                                        <p:attrNameLst>
                                          <p:attrName>ppt_x</p:attrName>
                                        </p:attrNameLst>
                                      </p:cBhvr>
                                      <p:tavLst>
                                        <p:tav tm="0">
                                          <p:val>
                                            <p:strVal val="#ppt_x"/>
                                          </p:val>
                                        </p:tav>
                                        <p:tav tm="100000">
                                          <p:val>
                                            <p:strVal val="#ppt_x"/>
                                          </p:val>
                                        </p:tav>
                                      </p:tavLst>
                                    </p:anim>
                                    <p:anim calcmode="lin" valueType="num">
                                      <p:cBhvr additive="base">
                                        <p:cTn id="102" dur="500" fill="hold"/>
                                        <p:tgtEl>
                                          <p:spTgt spid="36"/>
                                        </p:tgtEl>
                                        <p:attrNameLst>
                                          <p:attrName>ppt_y</p:attrName>
                                        </p:attrNameLst>
                                      </p:cBhvr>
                                      <p:tavLst>
                                        <p:tav tm="0">
                                          <p:val>
                                            <p:strVal val="#ppt_y+0.1"/>
                                          </p:val>
                                        </p:tav>
                                        <p:tav tm="100000">
                                          <p:val>
                                            <p:strVal val="#ppt_y"/>
                                          </p:val>
                                        </p:tav>
                                      </p:tavLst>
                                    </p:anim>
                                    <p:animEffect transition="in" filter="fade">
                                      <p:cBhvr>
                                        <p:cTn id="103"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11" presetID="2" presetClass="entr" presetSubtype="4" fill="hold" grpId="0" nodeType="clickEffect">
                                  <p:stCondLst>
                                    <p:cond delay="0"/>
                                  </p:stCondLst>
                                  <p:childTnLst>
                                    <p:set>
                                      <p:cBhvr>
                                        <p:cTn id="107" dur="1" fill="hold">
                                          <p:stCondLst>
                                            <p:cond delay="0"/>
                                          </p:stCondLst>
                                        </p:cTn>
                                        <p:tgtEl>
                                          <p:spTgt spid="11"/>
                                        </p:tgtEl>
                                        <p:attrNameLst>
                                          <p:attrName>style.visibility</p:attrName>
                                        </p:attrNameLst>
                                      </p:cBhvr>
                                      <p:to>
                                        <p:strVal val="visible"/>
                                      </p:to>
                                    </p:set>
                                    <p:anim calcmode="lin" valueType="num">
                                      <p:cBhvr additive="base">
                                        <p:cTn id="108" dur="500" fill="hold"/>
                                        <p:tgtEl>
                                          <p:spTgt spid="11"/>
                                        </p:tgtEl>
                                        <p:attrNameLst>
                                          <p:attrName>ppt_x</p:attrName>
                                        </p:attrNameLst>
                                      </p:cBhvr>
                                      <p:tavLst>
                                        <p:tav tm="0">
                                          <p:val>
                                            <p:strVal val="#ppt_x"/>
                                          </p:val>
                                        </p:tav>
                                        <p:tav tm="100000">
                                          <p:val>
                                            <p:strVal val="#ppt_x"/>
                                          </p:val>
                                        </p:tav>
                                      </p:tavLst>
                                    </p:anim>
                                    <p:anim calcmode="lin" valueType="num">
                                      <p:cBhvr additive="base">
                                        <p:cTn id="109" dur="500" fill="hold"/>
                                        <p:tgtEl>
                                          <p:spTgt spid="11"/>
                                        </p:tgtEl>
                                        <p:attrNameLst>
                                          <p:attrName>ppt_y</p:attrName>
                                        </p:attrNameLst>
                                      </p:cBhvr>
                                      <p:tavLst>
                                        <p:tav tm="0">
                                          <p:val>
                                            <p:strVal val="#ppt_y+0.1"/>
                                          </p:val>
                                        </p:tav>
                                        <p:tav tm="100000">
                                          <p:val>
                                            <p:strVal val="#ppt_y"/>
                                          </p:val>
                                        </p:tav>
                                      </p:tavLst>
                                    </p:anim>
                                    <p:animEffect transition="in" filter="fade">
                                      <p:cBhvr>
                                        <p:cTn id="110" dur="500"/>
                                        <p:tgtEl>
                                          <p:spTgt spid="1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12"/>
                                        </p:tgtEl>
                                        <p:attrNameLst>
                                          <p:attrName>style.visibility</p:attrName>
                                        </p:attrNameLst>
                                      </p:cBhvr>
                                      <p:to>
                                        <p:strVal val="visible"/>
                                      </p:to>
                                    </p:set>
                                    <p:anim calcmode="lin" valueType="num">
                                      <p:cBhvr additive="base">
                                        <p:cTn id="113" dur="500" fill="hold"/>
                                        <p:tgtEl>
                                          <p:spTgt spid="12"/>
                                        </p:tgtEl>
                                        <p:attrNameLst>
                                          <p:attrName>ppt_x</p:attrName>
                                        </p:attrNameLst>
                                      </p:cBhvr>
                                      <p:tavLst>
                                        <p:tav tm="0">
                                          <p:val>
                                            <p:strVal val="#ppt_x"/>
                                          </p:val>
                                        </p:tav>
                                        <p:tav tm="100000">
                                          <p:val>
                                            <p:strVal val="#ppt_x"/>
                                          </p:val>
                                        </p:tav>
                                      </p:tavLst>
                                    </p:anim>
                                    <p:anim calcmode="lin" valueType="num">
                                      <p:cBhvr additive="base">
                                        <p:cTn id="114" dur="500" fill="hold"/>
                                        <p:tgtEl>
                                          <p:spTgt spid="12"/>
                                        </p:tgtEl>
                                        <p:attrNameLst>
                                          <p:attrName>ppt_y</p:attrName>
                                        </p:attrNameLst>
                                      </p:cBhvr>
                                      <p:tavLst>
                                        <p:tav tm="0">
                                          <p:val>
                                            <p:strVal val="#ppt_y+0.1"/>
                                          </p:val>
                                        </p:tav>
                                        <p:tav tm="100000">
                                          <p:val>
                                            <p:strVal val="#ppt_y"/>
                                          </p:val>
                                        </p:tav>
                                      </p:tavLst>
                                    </p:anim>
                                    <p:animEffect transition="in" filter="fade">
                                      <p:cBhvr>
                                        <p:cTn id="115" dur="500"/>
                                        <p:tgtEl>
                                          <p:spTgt spid="1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13"/>
                                        </p:tgtEl>
                                        <p:attrNameLst>
                                          <p:attrName>style.visibility</p:attrName>
                                        </p:attrNameLst>
                                      </p:cBhvr>
                                      <p:to>
                                        <p:strVal val="visible"/>
                                      </p:to>
                                    </p:set>
                                    <p:anim calcmode="lin" valueType="num">
                                      <p:cBhvr additive="base">
                                        <p:cTn id="118" dur="500" fill="hold"/>
                                        <p:tgtEl>
                                          <p:spTgt spid="13"/>
                                        </p:tgtEl>
                                        <p:attrNameLst>
                                          <p:attrName>ppt_x</p:attrName>
                                        </p:attrNameLst>
                                      </p:cBhvr>
                                      <p:tavLst>
                                        <p:tav tm="0">
                                          <p:val>
                                            <p:strVal val="#ppt_x"/>
                                          </p:val>
                                        </p:tav>
                                        <p:tav tm="100000">
                                          <p:val>
                                            <p:strVal val="#ppt_x"/>
                                          </p:val>
                                        </p:tav>
                                      </p:tavLst>
                                    </p:anim>
                                    <p:anim calcmode="lin" valueType="num">
                                      <p:cBhvr additive="base">
                                        <p:cTn id="119" dur="500" fill="hold"/>
                                        <p:tgtEl>
                                          <p:spTgt spid="13"/>
                                        </p:tgtEl>
                                        <p:attrNameLst>
                                          <p:attrName>ppt_y</p:attrName>
                                        </p:attrNameLst>
                                      </p:cBhvr>
                                      <p:tavLst>
                                        <p:tav tm="0">
                                          <p:val>
                                            <p:strVal val="#ppt_y+0.1"/>
                                          </p:val>
                                        </p:tav>
                                        <p:tav tm="100000">
                                          <p:val>
                                            <p:strVal val="#ppt_y"/>
                                          </p:val>
                                        </p:tav>
                                      </p:tavLst>
                                    </p:anim>
                                    <p:animEffect transition="in" filter="fade">
                                      <p:cBhvr>
                                        <p:cTn id="120" dur="500"/>
                                        <p:tgtEl>
                                          <p:spTgt spid="13"/>
                                        </p:tgtEl>
                                      </p:cBhvr>
                                    </p:animEffect>
                                  </p:childTnLst>
                                </p:cTn>
                              </p:par>
                              <p:par>
                                <p:cTn id="126" presetID="2" presetClass="entr" presetSubtype="4" fill="hold" grpId="0" nodeType="withEffect">
                                  <p:stCondLst>
                                    <p:cond delay="100"/>
                                  </p:stCondLst>
                                  <p:childTnLst>
                                    <p:set>
                                      <p:cBhvr>
                                        <p:cTn id="122" dur="1" fill="hold">
                                          <p:stCondLst>
                                            <p:cond delay="0"/>
                                          </p:stCondLst>
                                        </p:cTn>
                                        <p:tgtEl>
                                          <p:spTgt spid="14"/>
                                        </p:tgtEl>
                                        <p:attrNameLst>
                                          <p:attrName>style.visibility</p:attrName>
                                        </p:attrNameLst>
                                      </p:cBhvr>
                                      <p:to>
                                        <p:strVal val="visible"/>
                                      </p:to>
                                    </p:set>
                                    <p:anim calcmode="lin" valueType="num">
                                      <p:cBhvr additive="base">
                                        <p:cTn id="123" dur="500" fill="hold"/>
                                        <p:tgtEl>
                                          <p:spTgt spid="14"/>
                                        </p:tgtEl>
                                        <p:attrNameLst>
                                          <p:attrName>ppt_x</p:attrName>
                                        </p:attrNameLst>
                                      </p:cBhvr>
                                      <p:tavLst>
                                        <p:tav tm="0">
                                          <p:val>
                                            <p:strVal val="#ppt_x"/>
                                          </p:val>
                                        </p:tav>
                                        <p:tav tm="100000">
                                          <p:val>
                                            <p:strVal val="#ppt_x"/>
                                          </p:val>
                                        </p:tav>
                                      </p:tavLst>
                                    </p:anim>
                                    <p:anim calcmode="lin" valueType="num">
                                      <p:cBhvr additive="base">
                                        <p:cTn id="124" dur="500" fill="hold"/>
                                        <p:tgtEl>
                                          <p:spTgt spid="14"/>
                                        </p:tgtEl>
                                        <p:attrNameLst>
                                          <p:attrName>ppt_y</p:attrName>
                                        </p:attrNameLst>
                                      </p:cBhvr>
                                      <p:tavLst>
                                        <p:tav tm="0">
                                          <p:val>
                                            <p:strVal val="#ppt_y+0.1"/>
                                          </p:val>
                                        </p:tav>
                                        <p:tav tm="100000">
                                          <p:val>
                                            <p:strVal val="#ppt_y"/>
                                          </p:val>
                                        </p:tav>
                                      </p:tavLst>
                                    </p:anim>
                                    <p:animEffect transition="in" filter="fade">
                                      <p:cBhvr>
                                        <p:cTn id="125" dur="500"/>
                                        <p:tgtEl>
                                          <p:spTgt spid="14"/>
                                        </p:tgtEl>
                                      </p:cBhvr>
                                    </p:animEffect>
                                  </p:childTnLst>
                                </p:cTn>
                              </p:par>
                              <p:par>
                                <p:cTn id="131" presetID="2" presetClass="entr" presetSubtype="4" fill="hold" grpId="0" nodeType="withEffect">
                                  <p:stCondLst>
                                    <p:cond delay="100"/>
                                  </p:stCondLst>
                                  <p:childTnLst>
                                    <p:set>
                                      <p:cBhvr>
                                        <p:cTn id="127" dur="1" fill="hold">
                                          <p:stCondLst>
                                            <p:cond delay="0"/>
                                          </p:stCondLst>
                                        </p:cTn>
                                        <p:tgtEl>
                                          <p:spTgt spid="15"/>
                                        </p:tgtEl>
                                        <p:attrNameLst>
                                          <p:attrName>style.visibility</p:attrName>
                                        </p:attrNameLst>
                                      </p:cBhvr>
                                      <p:to>
                                        <p:strVal val="visible"/>
                                      </p:to>
                                    </p:set>
                                    <p:anim calcmode="lin" valueType="num">
                                      <p:cBhvr additive="base">
                                        <p:cTn id="128" dur="500" fill="hold"/>
                                        <p:tgtEl>
                                          <p:spTgt spid="15"/>
                                        </p:tgtEl>
                                        <p:attrNameLst>
                                          <p:attrName>ppt_x</p:attrName>
                                        </p:attrNameLst>
                                      </p:cBhvr>
                                      <p:tavLst>
                                        <p:tav tm="0">
                                          <p:val>
                                            <p:strVal val="#ppt_x"/>
                                          </p:val>
                                        </p:tav>
                                        <p:tav tm="100000">
                                          <p:val>
                                            <p:strVal val="#ppt_x"/>
                                          </p:val>
                                        </p:tav>
                                      </p:tavLst>
                                    </p:anim>
                                    <p:anim calcmode="lin" valueType="num">
                                      <p:cBhvr additive="base">
                                        <p:cTn id="129" dur="500" fill="hold"/>
                                        <p:tgtEl>
                                          <p:spTgt spid="15"/>
                                        </p:tgtEl>
                                        <p:attrNameLst>
                                          <p:attrName>ppt_y</p:attrName>
                                        </p:attrNameLst>
                                      </p:cBhvr>
                                      <p:tavLst>
                                        <p:tav tm="0">
                                          <p:val>
                                            <p:strVal val="#ppt_y+0.1"/>
                                          </p:val>
                                        </p:tav>
                                        <p:tav tm="100000">
                                          <p:val>
                                            <p:strVal val="#ppt_y"/>
                                          </p:val>
                                        </p:tav>
                                      </p:tavLst>
                                    </p:anim>
                                    <p:animEffect transition="in" filter="fade">
                                      <p:cBhvr>
                                        <p:cTn id="130" dur="500"/>
                                        <p:tgtEl>
                                          <p:spTgt spid="15"/>
                                        </p:tgtEl>
                                      </p:cBhvr>
                                    </p:animEffect>
                                  </p:childTnLst>
                                </p:cTn>
                              </p:par>
                              <p:par>
                                <p:cTn id="136" presetID="2" presetClass="entr" presetSubtype="4" fill="hold" grpId="0" nodeType="withEffect">
                                  <p:stCondLst>
                                    <p:cond delay="100"/>
                                  </p:stCondLst>
                                  <p:childTnLst>
                                    <p:set>
                                      <p:cBhvr>
                                        <p:cTn id="132" dur="1" fill="hold">
                                          <p:stCondLst>
                                            <p:cond delay="0"/>
                                          </p:stCondLst>
                                        </p:cTn>
                                        <p:tgtEl>
                                          <p:spTgt spid="16"/>
                                        </p:tgtEl>
                                        <p:attrNameLst>
                                          <p:attrName>style.visibility</p:attrName>
                                        </p:attrNameLst>
                                      </p:cBhvr>
                                      <p:to>
                                        <p:strVal val="visible"/>
                                      </p:to>
                                    </p:set>
                                    <p:anim calcmode="lin" valueType="num">
                                      <p:cBhvr additive="base">
                                        <p:cTn id="133" dur="500" fill="hold"/>
                                        <p:tgtEl>
                                          <p:spTgt spid="16"/>
                                        </p:tgtEl>
                                        <p:attrNameLst>
                                          <p:attrName>ppt_x</p:attrName>
                                        </p:attrNameLst>
                                      </p:cBhvr>
                                      <p:tavLst>
                                        <p:tav tm="0">
                                          <p:val>
                                            <p:strVal val="#ppt_x"/>
                                          </p:val>
                                        </p:tav>
                                        <p:tav tm="100000">
                                          <p:val>
                                            <p:strVal val="#ppt_x"/>
                                          </p:val>
                                        </p:tav>
                                      </p:tavLst>
                                    </p:anim>
                                    <p:anim calcmode="lin" valueType="num">
                                      <p:cBhvr additive="base">
                                        <p:cTn id="134" dur="500" fill="hold"/>
                                        <p:tgtEl>
                                          <p:spTgt spid="16"/>
                                        </p:tgtEl>
                                        <p:attrNameLst>
                                          <p:attrName>ppt_y</p:attrName>
                                        </p:attrNameLst>
                                      </p:cBhvr>
                                      <p:tavLst>
                                        <p:tav tm="0">
                                          <p:val>
                                            <p:strVal val="#ppt_y+0.1"/>
                                          </p:val>
                                        </p:tav>
                                        <p:tav tm="100000">
                                          <p:val>
                                            <p:strVal val="#ppt_y"/>
                                          </p:val>
                                        </p:tav>
                                      </p:tavLst>
                                    </p:anim>
                                    <p:animEffect transition="in" filter="fade">
                                      <p:cBhvr>
                                        <p:cTn id="135" dur="500"/>
                                        <p:tgtEl>
                                          <p:spTgt spid="16"/>
                                        </p:tgtEl>
                                      </p:cBhvr>
                                    </p:animEffect>
                                  </p:childTnLst>
                                </p:cTn>
                              </p:par>
                            </p:childTnLst>
                          </p:cTn>
                        </p:par>
                      </p:childTnLst>
                    </p:cTn>
                  </p:par>
                  <p:par>
                    <p:cTn id="137" fill="hold">
                      <p:stCondLst>
                        <p:cond delay="indefinite"/>
                      </p:stCondLst>
                      <p:childTnLst>
                        <p:par>
                          <p:cTn id="138" fill="hold">
                            <p:stCondLst>
                              <p:cond delay="0"/>
                            </p:stCondLst>
                            <p:childTnLst>
                              <p:par>
                                <p:cTn id="143" presetID="2" presetClass="entr" presetSubtype="4" fill="hold" grpId="0" nodeType="click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If a Topic Lived on One Node?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Then a topic could never grow bigger than that one machine</a:t>
            </a:r>
          </a:p>
        </p:txBody>
      </p:sp>
      <p:sp>
        <p:nvSpPr>
          <p:cNvPr id="11" name="a1u_card10"/>
          <p:cNvSpPr/>
          <p:nvPr/>
        </p:nvSpPr>
        <p:spPr>
          <a:xfrm>
            <a:off x="457200" y="1280160"/>
            <a:ext cx="1920240" cy="1417320"/>
          </a:xfrm>
          <a:prstGeom prst="roundRect">
            <a:avLst>
              <a:gd name="adj" fmla="val 7741"/>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n11"/>
          <p:cNvSpPr txBox="1"/>
          <p:nvPr/>
        </p:nvSpPr>
        <p:spPr>
          <a:xfrm>
            <a:off x="621792" y="1371600"/>
            <a:ext cx="1645920" cy="274320"/>
          </a:xfrm>
          <a:prstGeom prst="rect">
            <a:avLst/>
          </a:prstGeom>
          <a:noFill/>
        </p:spPr>
        <p:txBody>
          <a:bodyPr wrap="square" lIns="0" tIns="0" rIns="0" bIns="0" anchor="ctr">
            <a:spAutoFit/>
          </a:bodyPr>
          <a:lstStyle/>
          <a:p>
            <a:pPr algn="l"/>
            <a:r>
              <a:rPr sz="1100" b="1">
                <a:solidFill>
                  <a:srgbClr val="1C1917"/>
                </a:solidFill>
                <a:latin typeface="Segoe UI"/>
              </a:rPr>
              <a:t>node 1</a:t>
            </a:r>
          </a:p>
        </p:txBody>
      </p:sp>
      <p:sp>
        <p:nvSpPr>
          <p:cNvPr id="13" name="a1u_ns12"/>
          <p:cNvSpPr txBox="1"/>
          <p:nvPr/>
        </p:nvSpPr>
        <p:spPr>
          <a:xfrm>
            <a:off x="621792" y="1664208"/>
            <a:ext cx="1645920" cy="256032"/>
          </a:xfrm>
          <a:prstGeom prst="rect">
            <a:avLst/>
          </a:prstGeom>
          <a:noFill/>
        </p:spPr>
        <p:txBody>
          <a:bodyPr wrap="square" lIns="0" tIns="0" rIns="0" bIns="0" anchor="ctr">
            <a:spAutoFit/>
          </a:bodyPr>
          <a:lstStyle/>
          <a:p>
            <a:pPr algn="l"/>
            <a:r>
              <a:rPr sz="850" b="1">
                <a:solidFill>
                  <a:srgbClr val="9F1239"/>
                </a:solidFill>
                <a:latin typeface="Segoe UI"/>
              </a:rPr>
              <a:t>holds the WHOLE topic</a:t>
            </a:r>
          </a:p>
        </p:txBody>
      </p:sp>
      <p:sp>
        <p:nvSpPr>
          <p:cNvPr id="14" name="a1u_bl13"/>
          <p:cNvSpPr txBox="1"/>
          <p:nvPr/>
        </p:nvSpPr>
        <p:spPr>
          <a:xfrm>
            <a:off x="621792" y="2029968"/>
            <a:ext cx="566928" cy="201168"/>
          </a:xfrm>
          <a:prstGeom prst="rect">
            <a:avLst/>
          </a:prstGeom>
          <a:noFill/>
        </p:spPr>
        <p:txBody>
          <a:bodyPr wrap="square" lIns="0" tIns="0" rIns="0" bIns="0" anchor="ctr">
            <a:spAutoFit/>
          </a:bodyPr>
          <a:lstStyle/>
          <a:p>
            <a:pPr algn="l"/>
            <a:r>
              <a:rPr sz="800" b="0">
                <a:solidFill>
                  <a:srgbClr val="78716C"/>
                </a:solidFill>
                <a:latin typeface="Segoe UI"/>
              </a:rPr>
              <a:t>storage</a:t>
            </a:r>
          </a:p>
        </p:txBody>
      </p:sp>
      <p:sp>
        <p:nvSpPr>
          <p:cNvPr id="15" name="a1u_bb14"/>
          <p:cNvSpPr/>
          <p:nvPr/>
        </p:nvSpPr>
        <p:spPr>
          <a:xfrm>
            <a:off x="1207007" y="2057400"/>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w_bf15"/>
          <p:cNvSpPr/>
          <p:nvPr/>
        </p:nvSpPr>
        <p:spPr>
          <a:xfrm>
            <a:off x="1207007" y="2057400"/>
            <a:ext cx="1005840" cy="14630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bl16"/>
          <p:cNvSpPr txBox="1"/>
          <p:nvPr/>
        </p:nvSpPr>
        <p:spPr>
          <a:xfrm>
            <a:off x="621792" y="2340864"/>
            <a:ext cx="566928" cy="201168"/>
          </a:xfrm>
          <a:prstGeom prst="rect">
            <a:avLst/>
          </a:prstGeom>
          <a:noFill/>
        </p:spPr>
        <p:txBody>
          <a:bodyPr wrap="square" lIns="0" tIns="0" rIns="0" bIns="0" anchor="ctr">
            <a:spAutoFit/>
          </a:bodyPr>
          <a:lstStyle/>
          <a:p>
            <a:pPr algn="l"/>
            <a:r>
              <a:rPr sz="800" b="0">
                <a:solidFill>
                  <a:srgbClr val="78716C"/>
                </a:solidFill>
                <a:latin typeface="Segoe UI"/>
              </a:rPr>
              <a:t>I/O</a:t>
            </a:r>
          </a:p>
        </p:txBody>
      </p:sp>
      <p:sp>
        <p:nvSpPr>
          <p:cNvPr id="18" name="a1u_bb17"/>
          <p:cNvSpPr/>
          <p:nvPr/>
        </p:nvSpPr>
        <p:spPr>
          <a:xfrm>
            <a:off x="1207007" y="2368296"/>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wd150_bf18"/>
          <p:cNvSpPr/>
          <p:nvPr/>
        </p:nvSpPr>
        <p:spPr>
          <a:xfrm>
            <a:off x="1207007" y="2368296"/>
            <a:ext cx="1005840" cy="14630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100_card19"/>
          <p:cNvSpPr/>
          <p:nvPr/>
        </p:nvSpPr>
        <p:spPr>
          <a:xfrm>
            <a:off x="2560320" y="1280160"/>
            <a:ext cx="192024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100_nn20"/>
          <p:cNvSpPr txBox="1"/>
          <p:nvPr/>
        </p:nvSpPr>
        <p:spPr>
          <a:xfrm>
            <a:off x="2724912" y="1371600"/>
            <a:ext cx="1645920" cy="274320"/>
          </a:xfrm>
          <a:prstGeom prst="rect">
            <a:avLst/>
          </a:prstGeom>
          <a:noFill/>
        </p:spPr>
        <p:txBody>
          <a:bodyPr wrap="square" lIns="0" tIns="0" rIns="0" bIns="0" anchor="ctr">
            <a:spAutoFit/>
          </a:bodyPr>
          <a:lstStyle/>
          <a:p>
            <a:pPr algn="l"/>
            <a:r>
              <a:rPr sz="1100" b="1">
                <a:solidFill>
                  <a:srgbClr val="1C1917"/>
                </a:solidFill>
                <a:latin typeface="Segoe UI"/>
              </a:rPr>
              <a:t>node 2</a:t>
            </a:r>
          </a:p>
        </p:txBody>
      </p:sp>
      <p:sp>
        <p:nvSpPr>
          <p:cNvPr id="22" name="a1ud100_ns21"/>
          <p:cNvSpPr txBox="1"/>
          <p:nvPr/>
        </p:nvSpPr>
        <p:spPr>
          <a:xfrm>
            <a:off x="2724912" y="1664208"/>
            <a:ext cx="1645920" cy="256032"/>
          </a:xfrm>
          <a:prstGeom prst="rect">
            <a:avLst/>
          </a:prstGeom>
          <a:noFill/>
        </p:spPr>
        <p:txBody>
          <a:bodyPr wrap="square" lIns="0" tIns="0" rIns="0" bIns="0" anchor="ctr">
            <a:spAutoFit/>
          </a:bodyPr>
          <a:lstStyle/>
          <a:p>
            <a:pPr algn="l"/>
            <a:r>
              <a:rPr sz="850" b="0">
                <a:solidFill>
                  <a:srgbClr val="78716C"/>
                </a:solidFill>
                <a:latin typeface="Segoe UI"/>
              </a:rPr>
              <a:t>nothing to do</a:t>
            </a:r>
          </a:p>
        </p:txBody>
      </p:sp>
      <p:sp>
        <p:nvSpPr>
          <p:cNvPr id="23" name="a1ud100_bl22"/>
          <p:cNvSpPr txBox="1"/>
          <p:nvPr/>
        </p:nvSpPr>
        <p:spPr>
          <a:xfrm>
            <a:off x="2724912" y="2029968"/>
            <a:ext cx="566928" cy="201168"/>
          </a:xfrm>
          <a:prstGeom prst="rect">
            <a:avLst/>
          </a:prstGeom>
          <a:noFill/>
        </p:spPr>
        <p:txBody>
          <a:bodyPr wrap="square" lIns="0" tIns="0" rIns="0" bIns="0" anchor="ctr">
            <a:spAutoFit/>
          </a:bodyPr>
          <a:lstStyle/>
          <a:p>
            <a:pPr algn="l"/>
            <a:r>
              <a:rPr sz="800" b="0">
                <a:solidFill>
                  <a:srgbClr val="78716C"/>
                </a:solidFill>
                <a:latin typeface="Segoe UI"/>
              </a:rPr>
              <a:t>storage</a:t>
            </a:r>
          </a:p>
        </p:txBody>
      </p:sp>
      <p:sp>
        <p:nvSpPr>
          <p:cNvPr id="24" name="a1ud100_bb23"/>
          <p:cNvSpPr/>
          <p:nvPr/>
        </p:nvSpPr>
        <p:spPr>
          <a:xfrm>
            <a:off x="3310127" y="2057400"/>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w_bf24"/>
          <p:cNvSpPr/>
          <p:nvPr/>
        </p:nvSpPr>
        <p:spPr>
          <a:xfrm>
            <a:off x="3310127" y="2057400"/>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100_bl25"/>
          <p:cNvSpPr txBox="1"/>
          <p:nvPr/>
        </p:nvSpPr>
        <p:spPr>
          <a:xfrm>
            <a:off x="2724912" y="2340864"/>
            <a:ext cx="566928" cy="201168"/>
          </a:xfrm>
          <a:prstGeom prst="rect">
            <a:avLst/>
          </a:prstGeom>
          <a:noFill/>
        </p:spPr>
        <p:txBody>
          <a:bodyPr wrap="square" lIns="0" tIns="0" rIns="0" bIns="0" anchor="ctr">
            <a:spAutoFit/>
          </a:bodyPr>
          <a:lstStyle/>
          <a:p>
            <a:pPr algn="l"/>
            <a:r>
              <a:rPr sz="800" b="0">
                <a:solidFill>
                  <a:srgbClr val="78716C"/>
                </a:solidFill>
                <a:latin typeface="Segoe UI"/>
              </a:rPr>
              <a:t>I/O</a:t>
            </a:r>
          </a:p>
        </p:txBody>
      </p:sp>
      <p:sp>
        <p:nvSpPr>
          <p:cNvPr id="27" name="a1ud100_bb26"/>
          <p:cNvSpPr/>
          <p:nvPr/>
        </p:nvSpPr>
        <p:spPr>
          <a:xfrm>
            <a:off x="3310127" y="2368296"/>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wd150_bf27"/>
          <p:cNvSpPr/>
          <p:nvPr/>
        </p:nvSpPr>
        <p:spPr>
          <a:xfrm>
            <a:off x="3310127" y="2368296"/>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200_card28"/>
          <p:cNvSpPr/>
          <p:nvPr/>
        </p:nvSpPr>
        <p:spPr>
          <a:xfrm>
            <a:off x="4663440" y="1280160"/>
            <a:ext cx="192024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200_nn29"/>
          <p:cNvSpPr txBox="1"/>
          <p:nvPr/>
        </p:nvSpPr>
        <p:spPr>
          <a:xfrm>
            <a:off x="4828031" y="1371600"/>
            <a:ext cx="1645920" cy="274320"/>
          </a:xfrm>
          <a:prstGeom prst="rect">
            <a:avLst/>
          </a:prstGeom>
          <a:noFill/>
        </p:spPr>
        <p:txBody>
          <a:bodyPr wrap="square" lIns="0" tIns="0" rIns="0" bIns="0" anchor="ctr">
            <a:spAutoFit/>
          </a:bodyPr>
          <a:lstStyle/>
          <a:p>
            <a:pPr algn="l"/>
            <a:r>
              <a:rPr sz="1100" b="1">
                <a:solidFill>
                  <a:srgbClr val="1C1917"/>
                </a:solidFill>
                <a:latin typeface="Segoe UI"/>
              </a:rPr>
              <a:t>node 3</a:t>
            </a:r>
          </a:p>
        </p:txBody>
      </p:sp>
      <p:sp>
        <p:nvSpPr>
          <p:cNvPr id="31" name="a1ud200_ns30"/>
          <p:cNvSpPr txBox="1"/>
          <p:nvPr/>
        </p:nvSpPr>
        <p:spPr>
          <a:xfrm>
            <a:off x="4828031" y="1664208"/>
            <a:ext cx="1645920" cy="256032"/>
          </a:xfrm>
          <a:prstGeom prst="rect">
            <a:avLst/>
          </a:prstGeom>
          <a:noFill/>
        </p:spPr>
        <p:txBody>
          <a:bodyPr wrap="square" lIns="0" tIns="0" rIns="0" bIns="0" anchor="ctr">
            <a:spAutoFit/>
          </a:bodyPr>
          <a:lstStyle/>
          <a:p>
            <a:pPr algn="l"/>
            <a:r>
              <a:rPr sz="850" b="0">
                <a:solidFill>
                  <a:srgbClr val="78716C"/>
                </a:solidFill>
                <a:latin typeface="Segoe UI"/>
              </a:rPr>
              <a:t>nothing to do</a:t>
            </a:r>
          </a:p>
        </p:txBody>
      </p:sp>
      <p:sp>
        <p:nvSpPr>
          <p:cNvPr id="32" name="a1ud200_bl31"/>
          <p:cNvSpPr txBox="1"/>
          <p:nvPr/>
        </p:nvSpPr>
        <p:spPr>
          <a:xfrm>
            <a:off x="4828031" y="2029968"/>
            <a:ext cx="566928" cy="201168"/>
          </a:xfrm>
          <a:prstGeom prst="rect">
            <a:avLst/>
          </a:prstGeom>
          <a:noFill/>
        </p:spPr>
        <p:txBody>
          <a:bodyPr wrap="square" lIns="0" tIns="0" rIns="0" bIns="0" anchor="ctr">
            <a:spAutoFit/>
          </a:bodyPr>
          <a:lstStyle/>
          <a:p>
            <a:pPr algn="l"/>
            <a:r>
              <a:rPr sz="800" b="0">
                <a:solidFill>
                  <a:srgbClr val="78716C"/>
                </a:solidFill>
                <a:latin typeface="Segoe UI"/>
              </a:rPr>
              <a:t>storage</a:t>
            </a:r>
          </a:p>
        </p:txBody>
      </p:sp>
      <p:sp>
        <p:nvSpPr>
          <p:cNvPr id="33" name="a1ud200_bb32"/>
          <p:cNvSpPr/>
          <p:nvPr/>
        </p:nvSpPr>
        <p:spPr>
          <a:xfrm>
            <a:off x="5413248" y="2057400"/>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w_bf33"/>
          <p:cNvSpPr/>
          <p:nvPr/>
        </p:nvSpPr>
        <p:spPr>
          <a:xfrm>
            <a:off x="5413248" y="2057400"/>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ud200_bl34"/>
          <p:cNvSpPr txBox="1"/>
          <p:nvPr/>
        </p:nvSpPr>
        <p:spPr>
          <a:xfrm>
            <a:off x="4828031" y="2340864"/>
            <a:ext cx="566928" cy="201168"/>
          </a:xfrm>
          <a:prstGeom prst="rect">
            <a:avLst/>
          </a:prstGeom>
          <a:noFill/>
        </p:spPr>
        <p:txBody>
          <a:bodyPr wrap="square" lIns="0" tIns="0" rIns="0" bIns="0" anchor="ctr">
            <a:spAutoFit/>
          </a:bodyPr>
          <a:lstStyle/>
          <a:p>
            <a:pPr algn="l"/>
            <a:r>
              <a:rPr sz="800" b="0">
                <a:solidFill>
                  <a:srgbClr val="78716C"/>
                </a:solidFill>
                <a:latin typeface="Segoe UI"/>
              </a:rPr>
              <a:t>I/O</a:t>
            </a:r>
          </a:p>
        </p:txBody>
      </p:sp>
      <p:sp>
        <p:nvSpPr>
          <p:cNvPr id="36" name="a1ud200_bb35"/>
          <p:cNvSpPr/>
          <p:nvPr/>
        </p:nvSpPr>
        <p:spPr>
          <a:xfrm>
            <a:off x="5413248" y="2368296"/>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wd150_bf36"/>
          <p:cNvSpPr/>
          <p:nvPr/>
        </p:nvSpPr>
        <p:spPr>
          <a:xfrm>
            <a:off x="5413248" y="2368296"/>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ud300_card37"/>
          <p:cNvSpPr/>
          <p:nvPr/>
        </p:nvSpPr>
        <p:spPr>
          <a:xfrm>
            <a:off x="6766559" y="1280160"/>
            <a:ext cx="192024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1ud300_nn38"/>
          <p:cNvSpPr txBox="1"/>
          <p:nvPr/>
        </p:nvSpPr>
        <p:spPr>
          <a:xfrm>
            <a:off x="6931151" y="1371600"/>
            <a:ext cx="1645920" cy="274320"/>
          </a:xfrm>
          <a:prstGeom prst="rect">
            <a:avLst/>
          </a:prstGeom>
          <a:noFill/>
        </p:spPr>
        <p:txBody>
          <a:bodyPr wrap="square" lIns="0" tIns="0" rIns="0" bIns="0" anchor="ctr">
            <a:spAutoFit/>
          </a:bodyPr>
          <a:lstStyle/>
          <a:p>
            <a:pPr algn="l"/>
            <a:r>
              <a:rPr sz="1100" b="1">
                <a:solidFill>
                  <a:srgbClr val="1C1917"/>
                </a:solidFill>
                <a:latin typeface="Segoe UI"/>
              </a:rPr>
              <a:t>node 4</a:t>
            </a:r>
          </a:p>
        </p:txBody>
      </p:sp>
      <p:sp>
        <p:nvSpPr>
          <p:cNvPr id="40" name="a1ud300_ns39"/>
          <p:cNvSpPr txBox="1"/>
          <p:nvPr/>
        </p:nvSpPr>
        <p:spPr>
          <a:xfrm>
            <a:off x="6931151" y="1664208"/>
            <a:ext cx="1645920" cy="256032"/>
          </a:xfrm>
          <a:prstGeom prst="rect">
            <a:avLst/>
          </a:prstGeom>
          <a:noFill/>
        </p:spPr>
        <p:txBody>
          <a:bodyPr wrap="square" lIns="0" tIns="0" rIns="0" bIns="0" anchor="ctr">
            <a:spAutoFit/>
          </a:bodyPr>
          <a:lstStyle/>
          <a:p>
            <a:pPr algn="l"/>
            <a:r>
              <a:rPr sz="850" b="0">
                <a:solidFill>
                  <a:srgbClr val="78716C"/>
                </a:solidFill>
                <a:latin typeface="Segoe UI"/>
              </a:rPr>
              <a:t>nothing to do</a:t>
            </a:r>
          </a:p>
        </p:txBody>
      </p:sp>
      <p:sp>
        <p:nvSpPr>
          <p:cNvPr id="41" name="a1ud300_bl40"/>
          <p:cNvSpPr txBox="1"/>
          <p:nvPr/>
        </p:nvSpPr>
        <p:spPr>
          <a:xfrm>
            <a:off x="6931151" y="2029968"/>
            <a:ext cx="566928" cy="201168"/>
          </a:xfrm>
          <a:prstGeom prst="rect">
            <a:avLst/>
          </a:prstGeom>
          <a:noFill/>
        </p:spPr>
        <p:txBody>
          <a:bodyPr wrap="square" lIns="0" tIns="0" rIns="0" bIns="0" anchor="ctr">
            <a:spAutoFit/>
          </a:bodyPr>
          <a:lstStyle/>
          <a:p>
            <a:pPr algn="l"/>
            <a:r>
              <a:rPr sz="800" b="0">
                <a:solidFill>
                  <a:srgbClr val="78716C"/>
                </a:solidFill>
                <a:latin typeface="Segoe UI"/>
              </a:rPr>
              <a:t>storage</a:t>
            </a:r>
          </a:p>
        </p:txBody>
      </p:sp>
      <p:sp>
        <p:nvSpPr>
          <p:cNvPr id="42" name="a1ud300_bb41"/>
          <p:cNvSpPr/>
          <p:nvPr/>
        </p:nvSpPr>
        <p:spPr>
          <a:xfrm>
            <a:off x="7516367" y="2057400"/>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w_bf42"/>
          <p:cNvSpPr/>
          <p:nvPr/>
        </p:nvSpPr>
        <p:spPr>
          <a:xfrm>
            <a:off x="7516367" y="2057400"/>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ud300_bl43"/>
          <p:cNvSpPr txBox="1"/>
          <p:nvPr/>
        </p:nvSpPr>
        <p:spPr>
          <a:xfrm>
            <a:off x="6931151" y="2340864"/>
            <a:ext cx="566928" cy="201168"/>
          </a:xfrm>
          <a:prstGeom prst="rect">
            <a:avLst/>
          </a:prstGeom>
          <a:noFill/>
        </p:spPr>
        <p:txBody>
          <a:bodyPr wrap="square" lIns="0" tIns="0" rIns="0" bIns="0" anchor="ctr">
            <a:spAutoFit/>
          </a:bodyPr>
          <a:lstStyle/>
          <a:p>
            <a:pPr algn="l"/>
            <a:r>
              <a:rPr sz="800" b="0">
                <a:solidFill>
                  <a:srgbClr val="78716C"/>
                </a:solidFill>
                <a:latin typeface="Segoe UI"/>
              </a:rPr>
              <a:t>I/O</a:t>
            </a:r>
          </a:p>
        </p:txBody>
      </p:sp>
      <p:sp>
        <p:nvSpPr>
          <p:cNvPr id="45" name="a1ud300_bb44"/>
          <p:cNvSpPr/>
          <p:nvPr/>
        </p:nvSpPr>
        <p:spPr>
          <a:xfrm>
            <a:off x="7516367" y="2368296"/>
            <a:ext cx="1005840" cy="14630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wd150_bf45"/>
          <p:cNvSpPr/>
          <p:nvPr/>
        </p:nvSpPr>
        <p:spPr>
          <a:xfrm>
            <a:off x="7516367" y="2368296"/>
            <a:ext cx="54864" cy="146304"/>
          </a:xfrm>
          <a:prstGeom prst="rect">
            <a:avLst/>
          </a:prstGeom>
          <a:solidFill>
            <a:srgbClr val="A8A2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_dot46"/>
          <p:cNvSpPr/>
          <p:nvPr/>
        </p:nvSpPr>
        <p:spPr>
          <a:xfrm>
            <a:off x="457200" y="295808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3u_b47"/>
          <p:cNvSpPr txBox="1"/>
          <p:nvPr/>
        </p:nvSpPr>
        <p:spPr>
          <a:xfrm>
            <a:off x="676656" y="2862072"/>
            <a:ext cx="8010144" cy="274320"/>
          </a:xfrm>
          <a:prstGeom prst="rect">
            <a:avLst/>
          </a:prstGeom>
          <a:noFill/>
        </p:spPr>
        <p:txBody>
          <a:bodyPr wrap="square" lIns="0" tIns="0" rIns="0" bIns="0" anchor="t">
            <a:spAutoFit/>
          </a:bodyPr>
          <a:lstStyle/>
          <a:p>
            <a:pPr algn="l"/>
            <a:r>
              <a:rPr sz="1000" b="1">
                <a:solidFill>
                  <a:srgbClr val="1C1917"/>
                </a:solidFill>
                <a:latin typeface="Segoe UI"/>
              </a:rPr>
              <a:t>Size  </a:t>
            </a:r>
            <a:r>
              <a:rPr sz="1000" b="0">
                <a:solidFill>
                  <a:srgbClr val="44403C"/>
                </a:solidFill>
                <a:latin typeface="Segoe UI"/>
              </a:rPr>
              <a:t>the topic can hold no more than one node's storage</a:t>
            </a:r>
          </a:p>
        </p:txBody>
      </p:sp>
      <p:sp>
        <p:nvSpPr>
          <p:cNvPr id="49" name="a3ud120_dot48"/>
          <p:cNvSpPr/>
          <p:nvPr/>
        </p:nvSpPr>
        <p:spPr>
          <a:xfrm>
            <a:off x="457200" y="3268979"/>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3ud120_b49"/>
          <p:cNvSpPr txBox="1"/>
          <p:nvPr/>
        </p:nvSpPr>
        <p:spPr>
          <a:xfrm>
            <a:off x="676656" y="3172968"/>
            <a:ext cx="8010144" cy="274320"/>
          </a:xfrm>
          <a:prstGeom prst="rect">
            <a:avLst/>
          </a:prstGeom>
          <a:noFill/>
        </p:spPr>
        <p:txBody>
          <a:bodyPr wrap="square" lIns="0" tIns="0" rIns="0" bIns="0" anchor="t">
            <a:spAutoFit/>
          </a:bodyPr>
          <a:lstStyle/>
          <a:p>
            <a:pPr algn="l"/>
            <a:r>
              <a:rPr sz="1000" b="1">
                <a:solidFill>
                  <a:srgbClr val="1C1917"/>
                </a:solidFill>
                <a:latin typeface="Segoe UI"/>
              </a:rPr>
              <a:t>Speed  </a:t>
            </a:r>
            <a:r>
              <a:rPr sz="1000" b="0">
                <a:solidFill>
                  <a:srgbClr val="44403C"/>
                </a:solidFill>
                <a:latin typeface="Segoe UI"/>
              </a:rPr>
              <a:t>all reads and writes go through one node</a:t>
            </a:r>
          </a:p>
        </p:txBody>
      </p:sp>
      <p:sp>
        <p:nvSpPr>
          <p:cNvPr id="51" name="a3ud240_dot50"/>
          <p:cNvSpPr/>
          <p:nvPr/>
        </p:nvSpPr>
        <p:spPr>
          <a:xfrm>
            <a:off x="457200" y="3579875"/>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3ud240_b51"/>
          <p:cNvSpPr txBox="1"/>
          <p:nvPr/>
        </p:nvSpPr>
        <p:spPr>
          <a:xfrm>
            <a:off x="676656" y="3483863"/>
            <a:ext cx="8010144" cy="274320"/>
          </a:xfrm>
          <a:prstGeom prst="rect">
            <a:avLst/>
          </a:prstGeom>
          <a:noFill/>
        </p:spPr>
        <p:txBody>
          <a:bodyPr wrap="square" lIns="0" tIns="0" rIns="0" bIns="0" anchor="t">
            <a:spAutoFit/>
          </a:bodyPr>
          <a:lstStyle/>
          <a:p>
            <a:pPr algn="l"/>
            <a:r>
              <a:rPr sz="1000" b="1">
                <a:solidFill>
                  <a:srgbClr val="1C1917"/>
                </a:solidFill>
                <a:latin typeface="Segoe UI"/>
              </a:rPr>
              <a:t>Growth  </a:t>
            </a:r>
            <a:r>
              <a:rPr sz="1000" b="0">
                <a:solidFill>
                  <a:srgbClr val="44403C"/>
                </a:solidFill>
                <a:latin typeface="Segoe UI"/>
              </a:rPr>
              <a:t>only by buying an ever bigger machine</a:t>
            </a:r>
          </a:p>
        </p:txBody>
      </p:sp>
      <p:sp>
        <p:nvSpPr>
          <p:cNvPr id="53" name="a4u_band52"/>
          <p:cNvSpPr/>
          <p:nvPr/>
        </p:nvSpPr>
        <p:spPr>
          <a:xfrm>
            <a:off x="457200" y="3913632"/>
            <a:ext cx="8229600" cy="530352"/>
          </a:xfrm>
          <a:prstGeom prst="roundRect">
            <a:avLst>
              <a:gd name="adj" fmla="val 13793"/>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4u_bandt53"/>
          <p:cNvSpPr txBox="1"/>
          <p:nvPr/>
        </p:nvSpPr>
        <p:spPr>
          <a:xfrm>
            <a:off x="548640" y="3913632"/>
            <a:ext cx="8046720" cy="530352"/>
          </a:xfrm>
          <a:prstGeom prst="rect">
            <a:avLst/>
          </a:prstGeom>
          <a:noFill/>
        </p:spPr>
        <p:txBody>
          <a:bodyPr wrap="square" lIns="0" tIns="0" rIns="0" bIns="0" anchor="ctr">
            <a:spAutoFit/>
          </a:bodyPr>
          <a:lstStyle/>
          <a:p>
            <a:pPr algn="ctr"/>
            <a:r>
              <a:rPr sz="1400" b="1">
                <a:solidFill>
                  <a:srgbClr val="FFFFFF"/>
                </a:solidFill>
                <a:latin typeface="Segoe UI"/>
              </a:rPr>
              <a:t>Kafka's answer:  </a:t>
            </a:r>
            <a:r>
              <a:rPr sz="1400" b="1" spc="200">
                <a:solidFill>
                  <a:srgbClr val="FFFFFF"/>
                </a:solidFill>
                <a:latin typeface="Segoe UI"/>
              </a:rPr>
              <a:t>PARTITIONING</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10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ppt_y+0.1"/>
                                          </p:val>
                                        </p:tav>
                                        <p:tav tm="100000">
                                          <p:val>
                                            <p:strVal val="#ppt_y"/>
                                          </p:val>
                                        </p:tav>
                                      </p:tavLst>
                                    </p:anim>
                                    <p:animEffect transition="in" filter="fade">
                                      <p:cBhvr>
                                        <p:cTn id="53" dur="500"/>
                                        <p:tgtEl>
                                          <p:spTgt spid="22"/>
                                        </p:tgtEl>
                                      </p:cBhvr>
                                    </p:animEffect>
                                  </p:childTnLst>
                                </p:cTn>
                              </p:par>
                              <p:par>
                                <p:cTn id="59" presetID="2" presetClass="entr" presetSubtype="4" fill="hold" grpId="0" nodeType="withEffect">
                                  <p:stCondLst>
                                    <p:cond delay="100"/>
                                  </p:stCondLst>
                                  <p:childTnLst>
                                    <p:set>
                                      <p:cBhvr>
                                        <p:cTn id="55" dur="1" fill="hold">
                                          <p:stCondLst>
                                            <p:cond delay="0"/>
                                          </p:stCondLst>
                                        </p:cTn>
                                        <p:tgtEl>
                                          <p:spTgt spid="23"/>
                                        </p:tgtEl>
                                        <p:attrNameLst>
                                          <p:attrName>style.visibility</p:attrName>
                                        </p:attrNameLst>
                                      </p:cBhvr>
                                      <p:to>
                                        <p:strVal val="visible"/>
                                      </p:to>
                                    </p:set>
                                    <p:anim calcmode="lin" valueType="num">
                                      <p:cBhvr additive="base">
                                        <p:cTn id="56" dur="500" fill="hold"/>
                                        <p:tgtEl>
                                          <p:spTgt spid="23"/>
                                        </p:tgtEl>
                                        <p:attrNameLst>
                                          <p:attrName>ppt_x</p:attrName>
                                        </p:attrNameLst>
                                      </p:cBhvr>
                                      <p:tavLst>
                                        <p:tav tm="0">
                                          <p:val>
                                            <p:strVal val="#ppt_x"/>
                                          </p:val>
                                        </p:tav>
                                        <p:tav tm="100000">
                                          <p:val>
                                            <p:strVal val="#ppt_x"/>
                                          </p:val>
                                        </p:tav>
                                      </p:tavLst>
                                    </p:anim>
                                    <p:anim calcmode="lin" valueType="num">
                                      <p:cBhvr additive="base">
                                        <p:cTn id="57" dur="500" fill="hold"/>
                                        <p:tgtEl>
                                          <p:spTgt spid="23"/>
                                        </p:tgtEl>
                                        <p:attrNameLst>
                                          <p:attrName>ppt_y</p:attrName>
                                        </p:attrNameLst>
                                      </p:cBhvr>
                                      <p:tavLst>
                                        <p:tav tm="0">
                                          <p:val>
                                            <p:strVal val="#ppt_y+0.1"/>
                                          </p:val>
                                        </p:tav>
                                        <p:tav tm="100000">
                                          <p:val>
                                            <p:strVal val="#ppt_y"/>
                                          </p:val>
                                        </p:tav>
                                      </p:tavLst>
                                    </p:anim>
                                    <p:animEffect transition="in" filter="fade">
                                      <p:cBhvr>
                                        <p:cTn id="58" dur="500"/>
                                        <p:tgtEl>
                                          <p:spTgt spid="23"/>
                                        </p:tgtEl>
                                      </p:cBhvr>
                                    </p:animEffect>
                                  </p:childTnLst>
                                </p:cTn>
                              </p:par>
                              <p:par>
                                <p:cTn id="64" presetID="2" presetClass="entr" presetSubtype="4" fill="hold" grpId="0" nodeType="withEffect">
                                  <p:stCondLst>
                                    <p:cond delay="10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ppt_y+0.1"/>
                                          </p:val>
                                        </p:tav>
                                        <p:tav tm="100000">
                                          <p:val>
                                            <p:strVal val="#ppt_y"/>
                                          </p:val>
                                        </p:tav>
                                      </p:tavLst>
                                    </p:anim>
                                    <p:animEffect transition="in" filter="fade">
                                      <p:cBhvr>
                                        <p:cTn id="63" dur="500"/>
                                        <p:tgtEl>
                                          <p:spTgt spid="24"/>
                                        </p:tgtEl>
                                      </p:cBhvr>
                                    </p:animEffect>
                                  </p:childTnLst>
                                </p:cTn>
                              </p:par>
                              <p:par>
                                <p:cTn id="69" presetID="2" presetClass="entr" presetSubtype="4" fill="hold" grpId="0" nodeType="withEffect">
                                  <p:stCondLst>
                                    <p:cond delay="10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500" fill="hold"/>
                                        <p:tgtEl>
                                          <p:spTgt spid="26"/>
                                        </p:tgtEl>
                                        <p:attrNameLst>
                                          <p:attrName>ppt_x</p:attrName>
                                        </p:attrNameLst>
                                      </p:cBhvr>
                                      <p:tavLst>
                                        <p:tav tm="0">
                                          <p:val>
                                            <p:strVal val="#ppt_x"/>
                                          </p:val>
                                        </p:tav>
                                        <p:tav tm="100000">
                                          <p:val>
                                            <p:strVal val="#ppt_x"/>
                                          </p:val>
                                        </p:tav>
                                      </p:tavLst>
                                    </p:anim>
                                    <p:anim calcmode="lin" valueType="num">
                                      <p:cBhvr additive="base">
                                        <p:cTn id="67" dur="500" fill="hold"/>
                                        <p:tgtEl>
                                          <p:spTgt spid="26"/>
                                        </p:tgtEl>
                                        <p:attrNameLst>
                                          <p:attrName>ppt_y</p:attrName>
                                        </p:attrNameLst>
                                      </p:cBhvr>
                                      <p:tavLst>
                                        <p:tav tm="0">
                                          <p:val>
                                            <p:strVal val="#ppt_y+0.1"/>
                                          </p:val>
                                        </p:tav>
                                        <p:tav tm="100000">
                                          <p:val>
                                            <p:strVal val="#ppt_y"/>
                                          </p:val>
                                        </p:tav>
                                      </p:tavLst>
                                    </p:anim>
                                    <p:animEffect transition="in" filter="fade">
                                      <p:cBhvr>
                                        <p:cTn id="68" dur="500"/>
                                        <p:tgtEl>
                                          <p:spTgt spid="26"/>
                                        </p:tgtEl>
                                      </p:cBhvr>
                                    </p:animEffect>
                                  </p:childTnLst>
                                </p:cTn>
                              </p:par>
                              <p:par>
                                <p:cTn id="74" presetID="2" presetClass="entr" presetSubtype="4" fill="hold" grpId="0" nodeType="withEffect">
                                  <p:stCondLst>
                                    <p:cond delay="10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500" fill="hold"/>
                                        <p:tgtEl>
                                          <p:spTgt spid="27"/>
                                        </p:tgtEl>
                                        <p:attrNameLst>
                                          <p:attrName>ppt_x</p:attrName>
                                        </p:attrNameLst>
                                      </p:cBhvr>
                                      <p:tavLst>
                                        <p:tav tm="0">
                                          <p:val>
                                            <p:strVal val="#ppt_x"/>
                                          </p:val>
                                        </p:tav>
                                        <p:tav tm="100000">
                                          <p:val>
                                            <p:strVal val="#ppt_x"/>
                                          </p:val>
                                        </p:tav>
                                      </p:tavLst>
                                    </p:anim>
                                    <p:anim calcmode="lin" valueType="num">
                                      <p:cBhvr additive="base">
                                        <p:cTn id="72" dur="500" fill="hold"/>
                                        <p:tgtEl>
                                          <p:spTgt spid="27"/>
                                        </p:tgtEl>
                                        <p:attrNameLst>
                                          <p:attrName>ppt_y</p:attrName>
                                        </p:attrNameLst>
                                      </p:cBhvr>
                                      <p:tavLst>
                                        <p:tav tm="0">
                                          <p:val>
                                            <p:strVal val="#ppt_y+0.1"/>
                                          </p:val>
                                        </p:tav>
                                        <p:tav tm="100000">
                                          <p:val>
                                            <p:strVal val="#ppt_y"/>
                                          </p:val>
                                        </p:tav>
                                      </p:tavLst>
                                    </p:anim>
                                    <p:animEffect transition="in" filter="fade">
                                      <p:cBhvr>
                                        <p:cTn id="73" dur="500"/>
                                        <p:tgtEl>
                                          <p:spTgt spid="27"/>
                                        </p:tgtEl>
                                      </p:cBhvr>
                                    </p:animEffect>
                                  </p:childTnLst>
                                </p:cTn>
                              </p:par>
                              <p:par>
                                <p:cTn id="79" presetID="2" presetClass="entr" presetSubtype="4" fill="hold" grpId="0" nodeType="withEffect">
                                  <p:stCondLst>
                                    <p:cond delay="20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ppt_y+0.1"/>
                                          </p:val>
                                        </p:tav>
                                        <p:tav tm="100000">
                                          <p:val>
                                            <p:strVal val="#ppt_y"/>
                                          </p:val>
                                        </p:tav>
                                      </p:tavLst>
                                    </p:anim>
                                    <p:animEffect transition="in" filter="fade">
                                      <p:cBhvr>
                                        <p:cTn id="78" dur="500"/>
                                        <p:tgtEl>
                                          <p:spTgt spid="29"/>
                                        </p:tgtEl>
                                      </p:cBhvr>
                                    </p:animEffect>
                                  </p:childTnLst>
                                </p:cTn>
                              </p:par>
                              <p:par>
                                <p:cTn id="84" presetID="2" presetClass="entr" presetSubtype="4" fill="hold" grpId="0" nodeType="withEffect">
                                  <p:stCondLst>
                                    <p:cond delay="200"/>
                                  </p:stCondLst>
                                  <p:childTnLst>
                                    <p:set>
                                      <p:cBhvr>
                                        <p:cTn id="80" dur="1" fill="hold">
                                          <p:stCondLst>
                                            <p:cond delay="0"/>
                                          </p:stCondLst>
                                        </p:cTn>
                                        <p:tgtEl>
                                          <p:spTgt spid="30"/>
                                        </p:tgtEl>
                                        <p:attrNameLst>
                                          <p:attrName>style.visibility</p:attrName>
                                        </p:attrNameLst>
                                      </p:cBhvr>
                                      <p:to>
                                        <p:strVal val="visible"/>
                                      </p:to>
                                    </p:set>
                                    <p:anim calcmode="lin" valueType="num">
                                      <p:cBhvr additive="base">
                                        <p:cTn id="81" dur="500" fill="hold"/>
                                        <p:tgtEl>
                                          <p:spTgt spid="30"/>
                                        </p:tgtEl>
                                        <p:attrNameLst>
                                          <p:attrName>ppt_x</p:attrName>
                                        </p:attrNameLst>
                                      </p:cBhvr>
                                      <p:tavLst>
                                        <p:tav tm="0">
                                          <p:val>
                                            <p:strVal val="#ppt_x"/>
                                          </p:val>
                                        </p:tav>
                                        <p:tav tm="100000">
                                          <p:val>
                                            <p:strVal val="#ppt_x"/>
                                          </p:val>
                                        </p:tav>
                                      </p:tavLst>
                                    </p:anim>
                                    <p:anim calcmode="lin" valueType="num">
                                      <p:cBhvr additive="base">
                                        <p:cTn id="82" dur="500" fill="hold"/>
                                        <p:tgtEl>
                                          <p:spTgt spid="30"/>
                                        </p:tgtEl>
                                        <p:attrNameLst>
                                          <p:attrName>ppt_y</p:attrName>
                                        </p:attrNameLst>
                                      </p:cBhvr>
                                      <p:tavLst>
                                        <p:tav tm="0">
                                          <p:val>
                                            <p:strVal val="#ppt_y+0.1"/>
                                          </p:val>
                                        </p:tav>
                                        <p:tav tm="100000">
                                          <p:val>
                                            <p:strVal val="#ppt_y"/>
                                          </p:val>
                                        </p:tav>
                                      </p:tavLst>
                                    </p:anim>
                                    <p:animEffect transition="in" filter="fade">
                                      <p:cBhvr>
                                        <p:cTn id="83" dur="500"/>
                                        <p:tgtEl>
                                          <p:spTgt spid="30"/>
                                        </p:tgtEl>
                                      </p:cBhvr>
                                    </p:animEffect>
                                  </p:childTnLst>
                                </p:cTn>
                              </p:par>
                              <p:par>
                                <p:cTn id="89" presetID="2" presetClass="entr" presetSubtype="4" fill="hold" grpId="0" nodeType="withEffect">
                                  <p:stCondLst>
                                    <p:cond delay="200"/>
                                  </p:stCondLst>
                                  <p:childTnLst>
                                    <p:set>
                                      <p:cBhvr>
                                        <p:cTn id="85" dur="1" fill="hold">
                                          <p:stCondLst>
                                            <p:cond delay="0"/>
                                          </p:stCondLst>
                                        </p:cTn>
                                        <p:tgtEl>
                                          <p:spTgt spid="31"/>
                                        </p:tgtEl>
                                        <p:attrNameLst>
                                          <p:attrName>style.visibility</p:attrName>
                                        </p:attrNameLst>
                                      </p:cBhvr>
                                      <p:to>
                                        <p:strVal val="visible"/>
                                      </p:to>
                                    </p:set>
                                    <p:anim calcmode="lin" valueType="num">
                                      <p:cBhvr additive="base">
                                        <p:cTn id="86" dur="500" fill="hold"/>
                                        <p:tgtEl>
                                          <p:spTgt spid="31"/>
                                        </p:tgtEl>
                                        <p:attrNameLst>
                                          <p:attrName>ppt_x</p:attrName>
                                        </p:attrNameLst>
                                      </p:cBhvr>
                                      <p:tavLst>
                                        <p:tav tm="0">
                                          <p:val>
                                            <p:strVal val="#ppt_x"/>
                                          </p:val>
                                        </p:tav>
                                        <p:tav tm="100000">
                                          <p:val>
                                            <p:strVal val="#ppt_x"/>
                                          </p:val>
                                        </p:tav>
                                      </p:tavLst>
                                    </p:anim>
                                    <p:anim calcmode="lin" valueType="num">
                                      <p:cBhvr additive="base">
                                        <p:cTn id="87" dur="500" fill="hold"/>
                                        <p:tgtEl>
                                          <p:spTgt spid="31"/>
                                        </p:tgtEl>
                                        <p:attrNameLst>
                                          <p:attrName>ppt_y</p:attrName>
                                        </p:attrNameLst>
                                      </p:cBhvr>
                                      <p:tavLst>
                                        <p:tav tm="0">
                                          <p:val>
                                            <p:strVal val="#ppt_y+0.1"/>
                                          </p:val>
                                        </p:tav>
                                        <p:tav tm="100000">
                                          <p:val>
                                            <p:strVal val="#ppt_y"/>
                                          </p:val>
                                        </p:tav>
                                      </p:tavLst>
                                    </p:anim>
                                    <p:animEffect transition="in" filter="fade">
                                      <p:cBhvr>
                                        <p:cTn id="88" dur="500"/>
                                        <p:tgtEl>
                                          <p:spTgt spid="31"/>
                                        </p:tgtEl>
                                      </p:cBhvr>
                                    </p:animEffect>
                                  </p:childTnLst>
                                </p:cTn>
                              </p:par>
                              <p:par>
                                <p:cTn id="94" presetID="2" presetClass="entr" presetSubtype="4" fill="hold" grpId="0" nodeType="withEffect">
                                  <p:stCondLst>
                                    <p:cond delay="200"/>
                                  </p:stCondLst>
                                  <p:childTnLst>
                                    <p:set>
                                      <p:cBhvr>
                                        <p:cTn id="90" dur="1" fill="hold">
                                          <p:stCondLst>
                                            <p:cond delay="0"/>
                                          </p:stCondLst>
                                        </p:cTn>
                                        <p:tgtEl>
                                          <p:spTgt spid="32"/>
                                        </p:tgtEl>
                                        <p:attrNameLst>
                                          <p:attrName>style.visibility</p:attrName>
                                        </p:attrNameLst>
                                      </p:cBhvr>
                                      <p:to>
                                        <p:strVal val="visible"/>
                                      </p:to>
                                    </p:set>
                                    <p:anim calcmode="lin" valueType="num">
                                      <p:cBhvr additive="base">
                                        <p:cTn id="91" dur="500" fill="hold"/>
                                        <p:tgtEl>
                                          <p:spTgt spid="32"/>
                                        </p:tgtEl>
                                        <p:attrNameLst>
                                          <p:attrName>ppt_x</p:attrName>
                                        </p:attrNameLst>
                                      </p:cBhvr>
                                      <p:tavLst>
                                        <p:tav tm="0">
                                          <p:val>
                                            <p:strVal val="#ppt_x"/>
                                          </p:val>
                                        </p:tav>
                                        <p:tav tm="100000">
                                          <p:val>
                                            <p:strVal val="#ppt_x"/>
                                          </p:val>
                                        </p:tav>
                                      </p:tavLst>
                                    </p:anim>
                                    <p:anim calcmode="lin" valueType="num">
                                      <p:cBhvr additive="base">
                                        <p:cTn id="92" dur="500" fill="hold"/>
                                        <p:tgtEl>
                                          <p:spTgt spid="32"/>
                                        </p:tgtEl>
                                        <p:attrNameLst>
                                          <p:attrName>ppt_y</p:attrName>
                                        </p:attrNameLst>
                                      </p:cBhvr>
                                      <p:tavLst>
                                        <p:tav tm="0">
                                          <p:val>
                                            <p:strVal val="#ppt_y+0.1"/>
                                          </p:val>
                                        </p:tav>
                                        <p:tav tm="100000">
                                          <p:val>
                                            <p:strVal val="#ppt_y"/>
                                          </p:val>
                                        </p:tav>
                                      </p:tavLst>
                                    </p:anim>
                                    <p:animEffect transition="in" filter="fade">
                                      <p:cBhvr>
                                        <p:cTn id="93" dur="500"/>
                                        <p:tgtEl>
                                          <p:spTgt spid="32"/>
                                        </p:tgtEl>
                                      </p:cBhvr>
                                    </p:animEffect>
                                  </p:childTnLst>
                                </p:cTn>
                              </p:par>
                              <p:par>
                                <p:cTn id="99" presetID="2" presetClass="entr" presetSubtype="4" fill="hold" grpId="0" nodeType="withEffect">
                                  <p:stCondLst>
                                    <p:cond delay="200"/>
                                  </p:stCondLst>
                                  <p:childTnLst>
                                    <p:set>
                                      <p:cBhvr>
                                        <p:cTn id="95" dur="1" fill="hold">
                                          <p:stCondLst>
                                            <p:cond delay="0"/>
                                          </p:stCondLst>
                                        </p:cTn>
                                        <p:tgtEl>
                                          <p:spTgt spid="33"/>
                                        </p:tgtEl>
                                        <p:attrNameLst>
                                          <p:attrName>style.visibility</p:attrName>
                                        </p:attrNameLst>
                                      </p:cBhvr>
                                      <p:to>
                                        <p:strVal val="visible"/>
                                      </p:to>
                                    </p:set>
                                    <p:anim calcmode="lin" valueType="num">
                                      <p:cBhvr additive="base">
                                        <p:cTn id="96" dur="500" fill="hold"/>
                                        <p:tgtEl>
                                          <p:spTgt spid="33"/>
                                        </p:tgtEl>
                                        <p:attrNameLst>
                                          <p:attrName>ppt_x</p:attrName>
                                        </p:attrNameLst>
                                      </p:cBhvr>
                                      <p:tavLst>
                                        <p:tav tm="0">
                                          <p:val>
                                            <p:strVal val="#ppt_x"/>
                                          </p:val>
                                        </p:tav>
                                        <p:tav tm="100000">
                                          <p:val>
                                            <p:strVal val="#ppt_x"/>
                                          </p:val>
                                        </p:tav>
                                      </p:tavLst>
                                    </p:anim>
                                    <p:anim calcmode="lin" valueType="num">
                                      <p:cBhvr additive="base">
                                        <p:cTn id="97" dur="500" fill="hold"/>
                                        <p:tgtEl>
                                          <p:spTgt spid="33"/>
                                        </p:tgtEl>
                                        <p:attrNameLst>
                                          <p:attrName>ppt_y</p:attrName>
                                        </p:attrNameLst>
                                      </p:cBhvr>
                                      <p:tavLst>
                                        <p:tav tm="0">
                                          <p:val>
                                            <p:strVal val="#ppt_y+0.1"/>
                                          </p:val>
                                        </p:tav>
                                        <p:tav tm="100000">
                                          <p:val>
                                            <p:strVal val="#ppt_y"/>
                                          </p:val>
                                        </p:tav>
                                      </p:tavLst>
                                    </p:anim>
                                    <p:animEffect transition="in" filter="fade">
                                      <p:cBhvr>
                                        <p:cTn id="98" dur="500"/>
                                        <p:tgtEl>
                                          <p:spTgt spid="33"/>
                                        </p:tgtEl>
                                      </p:cBhvr>
                                    </p:animEffect>
                                  </p:childTnLst>
                                </p:cTn>
                              </p:par>
                              <p:par>
                                <p:cTn id="104" presetID="2" presetClass="entr" presetSubtype="4" fill="hold" grpId="0" nodeType="withEffect">
                                  <p:stCondLst>
                                    <p:cond delay="200"/>
                                  </p:stCondLst>
                                  <p:childTnLst>
                                    <p:set>
                                      <p:cBhvr>
                                        <p:cTn id="100" dur="1" fill="hold">
                                          <p:stCondLst>
                                            <p:cond delay="0"/>
                                          </p:stCondLst>
                                        </p:cTn>
                                        <p:tgtEl>
                                          <p:spTgt spid="35"/>
                                        </p:tgtEl>
                                        <p:attrNameLst>
                                          <p:attrName>style.visibility</p:attrName>
                                        </p:attrNameLst>
                                      </p:cBhvr>
                                      <p:to>
                                        <p:strVal val="visible"/>
                                      </p:to>
                                    </p:set>
                                    <p:anim calcmode="lin" valueType="num">
                                      <p:cBhvr additive="base">
                                        <p:cTn id="101" dur="500" fill="hold"/>
                                        <p:tgtEl>
                                          <p:spTgt spid="35"/>
                                        </p:tgtEl>
                                        <p:attrNameLst>
                                          <p:attrName>ppt_x</p:attrName>
                                        </p:attrNameLst>
                                      </p:cBhvr>
                                      <p:tavLst>
                                        <p:tav tm="0">
                                          <p:val>
                                            <p:strVal val="#ppt_x"/>
                                          </p:val>
                                        </p:tav>
                                        <p:tav tm="100000">
                                          <p:val>
                                            <p:strVal val="#ppt_x"/>
                                          </p:val>
                                        </p:tav>
                                      </p:tavLst>
                                    </p:anim>
                                    <p:anim calcmode="lin" valueType="num">
                                      <p:cBhvr additive="base">
                                        <p:cTn id="102" dur="500" fill="hold"/>
                                        <p:tgtEl>
                                          <p:spTgt spid="35"/>
                                        </p:tgtEl>
                                        <p:attrNameLst>
                                          <p:attrName>ppt_y</p:attrName>
                                        </p:attrNameLst>
                                      </p:cBhvr>
                                      <p:tavLst>
                                        <p:tav tm="0">
                                          <p:val>
                                            <p:strVal val="#ppt_y+0.1"/>
                                          </p:val>
                                        </p:tav>
                                        <p:tav tm="100000">
                                          <p:val>
                                            <p:strVal val="#ppt_y"/>
                                          </p:val>
                                        </p:tav>
                                      </p:tavLst>
                                    </p:anim>
                                    <p:animEffect transition="in" filter="fade">
                                      <p:cBhvr>
                                        <p:cTn id="103" dur="500"/>
                                        <p:tgtEl>
                                          <p:spTgt spid="35"/>
                                        </p:tgtEl>
                                      </p:cBhvr>
                                    </p:animEffect>
                                  </p:childTnLst>
                                </p:cTn>
                              </p:par>
                              <p:par>
                                <p:cTn id="109" presetID="2" presetClass="entr" presetSubtype="4" fill="hold" grpId="0" nodeType="withEffect">
                                  <p:stCondLst>
                                    <p:cond delay="200"/>
                                  </p:stCondLst>
                                  <p:childTnLst>
                                    <p:set>
                                      <p:cBhvr>
                                        <p:cTn id="105" dur="1" fill="hold">
                                          <p:stCondLst>
                                            <p:cond delay="0"/>
                                          </p:stCondLst>
                                        </p:cTn>
                                        <p:tgtEl>
                                          <p:spTgt spid="36"/>
                                        </p:tgtEl>
                                        <p:attrNameLst>
                                          <p:attrName>style.visibility</p:attrName>
                                        </p:attrNameLst>
                                      </p:cBhvr>
                                      <p:to>
                                        <p:strVal val="visible"/>
                                      </p:to>
                                    </p:set>
                                    <p:anim calcmode="lin" valueType="num">
                                      <p:cBhvr additive="base">
                                        <p:cTn id="106" dur="500" fill="hold"/>
                                        <p:tgtEl>
                                          <p:spTgt spid="36"/>
                                        </p:tgtEl>
                                        <p:attrNameLst>
                                          <p:attrName>ppt_x</p:attrName>
                                        </p:attrNameLst>
                                      </p:cBhvr>
                                      <p:tavLst>
                                        <p:tav tm="0">
                                          <p:val>
                                            <p:strVal val="#ppt_x"/>
                                          </p:val>
                                        </p:tav>
                                        <p:tav tm="100000">
                                          <p:val>
                                            <p:strVal val="#ppt_x"/>
                                          </p:val>
                                        </p:tav>
                                      </p:tavLst>
                                    </p:anim>
                                    <p:anim calcmode="lin" valueType="num">
                                      <p:cBhvr additive="base">
                                        <p:cTn id="107" dur="500" fill="hold"/>
                                        <p:tgtEl>
                                          <p:spTgt spid="36"/>
                                        </p:tgtEl>
                                        <p:attrNameLst>
                                          <p:attrName>ppt_y</p:attrName>
                                        </p:attrNameLst>
                                      </p:cBhvr>
                                      <p:tavLst>
                                        <p:tav tm="0">
                                          <p:val>
                                            <p:strVal val="#ppt_y+0.1"/>
                                          </p:val>
                                        </p:tav>
                                        <p:tav tm="100000">
                                          <p:val>
                                            <p:strVal val="#ppt_y"/>
                                          </p:val>
                                        </p:tav>
                                      </p:tavLst>
                                    </p:anim>
                                    <p:animEffect transition="in" filter="fade">
                                      <p:cBhvr>
                                        <p:cTn id="108" dur="500"/>
                                        <p:tgtEl>
                                          <p:spTgt spid="36"/>
                                        </p:tgtEl>
                                      </p:cBhvr>
                                    </p:animEffect>
                                  </p:childTnLst>
                                </p:cTn>
                              </p:par>
                              <p:par>
                                <p:cTn id="114" presetID="2" presetClass="entr" presetSubtype="4" fill="hold" grpId="0" nodeType="withEffect">
                                  <p:stCondLst>
                                    <p:cond delay="300"/>
                                  </p:stCondLst>
                                  <p:childTnLst>
                                    <p:set>
                                      <p:cBhvr>
                                        <p:cTn id="110" dur="1" fill="hold">
                                          <p:stCondLst>
                                            <p:cond delay="0"/>
                                          </p:stCondLst>
                                        </p:cTn>
                                        <p:tgtEl>
                                          <p:spTgt spid="38"/>
                                        </p:tgtEl>
                                        <p:attrNameLst>
                                          <p:attrName>style.visibility</p:attrName>
                                        </p:attrNameLst>
                                      </p:cBhvr>
                                      <p:to>
                                        <p:strVal val="visible"/>
                                      </p:to>
                                    </p:set>
                                    <p:anim calcmode="lin" valueType="num">
                                      <p:cBhvr additive="base">
                                        <p:cTn id="111" dur="500" fill="hold"/>
                                        <p:tgtEl>
                                          <p:spTgt spid="38"/>
                                        </p:tgtEl>
                                        <p:attrNameLst>
                                          <p:attrName>ppt_x</p:attrName>
                                        </p:attrNameLst>
                                      </p:cBhvr>
                                      <p:tavLst>
                                        <p:tav tm="0">
                                          <p:val>
                                            <p:strVal val="#ppt_x"/>
                                          </p:val>
                                        </p:tav>
                                        <p:tav tm="100000">
                                          <p:val>
                                            <p:strVal val="#ppt_x"/>
                                          </p:val>
                                        </p:tav>
                                      </p:tavLst>
                                    </p:anim>
                                    <p:anim calcmode="lin" valueType="num">
                                      <p:cBhvr additive="base">
                                        <p:cTn id="112" dur="500" fill="hold"/>
                                        <p:tgtEl>
                                          <p:spTgt spid="38"/>
                                        </p:tgtEl>
                                        <p:attrNameLst>
                                          <p:attrName>ppt_y</p:attrName>
                                        </p:attrNameLst>
                                      </p:cBhvr>
                                      <p:tavLst>
                                        <p:tav tm="0">
                                          <p:val>
                                            <p:strVal val="#ppt_y+0.1"/>
                                          </p:val>
                                        </p:tav>
                                        <p:tav tm="100000">
                                          <p:val>
                                            <p:strVal val="#ppt_y"/>
                                          </p:val>
                                        </p:tav>
                                      </p:tavLst>
                                    </p:anim>
                                    <p:animEffect transition="in" filter="fade">
                                      <p:cBhvr>
                                        <p:cTn id="113" dur="500"/>
                                        <p:tgtEl>
                                          <p:spTgt spid="38"/>
                                        </p:tgtEl>
                                      </p:cBhvr>
                                    </p:animEffect>
                                  </p:childTnLst>
                                </p:cTn>
                              </p:par>
                              <p:par>
                                <p:cTn id="119" presetID="2" presetClass="entr" presetSubtype="4" fill="hold" grpId="0" nodeType="withEffect">
                                  <p:stCondLst>
                                    <p:cond delay="300"/>
                                  </p:stCondLst>
                                  <p:childTnLst>
                                    <p:set>
                                      <p:cBhvr>
                                        <p:cTn id="115" dur="1" fill="hold">
                                          <p:stCondLst>
                                            <p:cond delay="0"/>
                                          </p:stCondLst>
                                        </p:cTn>
                                        <p:tgtEl>
                                          <p:spTgt spid="39"/>
                                        </p:tgtEl>
                                        <p:attrNameLst>
                                          <p:attrName>style.visibility</p:attrName>
                                        </p:attrNameLst>
                                      </p:cBhvr>
                                      <p:to>
                                        <p:strVal val="visible"/>
                                      </p:to>
                                    </p:set>
                                    <p:anim calcmode="lin" valueType="num">
                                      <p:cBhvr additive="base">
                                        <p:cTn id="116" dur="500" fill="hold"/>
                                        <p:tgtEl>
                                          <p:spTgt spid="39"/>
                                        </p:tgtEl>
                                        <p:attrNameLst>
                                          <p:attrName>ppt_x</p:attrName>
                                        </p:attrNameLst>
                                      </p:cBhvr>
                                      <p:tavLst>
                                        <p:tav tm="0">
                                          <p:val>
                                            <p:strVal val="#ppt_x"/>
                                          </p:val>
                                        </p:tav>
                                        <p:tav tm="100000">
                                          <p:val>
                                            <p:strVal val="#ppt_x"/>
                                          </p:val>
                                        </p:tav>
                                      </p:tavLst>
                                    </p:anim>
                                    <p:anim calcmode="lin" valueType="num">
                                      <p:cBhvr additive="base">
                                        <p:cTn id="117" dur="500" fill="hold"/>
                                        <p:tgtEl>
                                          <p:spTgt spid="39"/>
                                        </p:tgtEl>
                                        <p:attrNameLst>
                                          <p:attrName>ppt_y</p:attrName>
                                        </p:attrNameLst>
                                      </p:cBhvr>
                                      <p:tavLst>
                                        <p:tav tm="0">
                                          <p:val>
                                            <p:strVal val="#ppt_y+0.1"/>
                                          </p:val>
                                        </p:tav>
                                        <p:tav tm="100000">
                                          <p:val>
                                            <p:strVal val="#ppt_y"/>
                                          </p:val>
                                        </p:tav>
                                      </p:tavLst>
                                    </p:anim>
                                    <p:animEffect transition="in" filter="fade">
                                      <p:cBhvr>
                                        <p:cTn id="118" dur="500"/>
                                        <p:tgtEl>
                                          <p:spTgt spid="39"/>
                                        </p:tgtEl>
                                      </p:cBhvr>
                                    </p:animEffect>
                                  </p:childTnLst>
                                </p:cTn>
                              </p:par>
                              <p:par>
                                <p:cTn id="124" presetID="2" presetClass="entr" presetSubtype="4" fill="hold" grpId="0" nodeType="withEffect">
                                  <p:stCondLst>
                                    <p:cond delay="300"/>
                                  </p:stCondLst>
                                  <p:childTnLst>
                                    <p:set>
                                      <p:cBhvr>
                                        <p:cTn id="120" dur="1" fill="hold">
                                          <p:stCondLst>
                                            <p:cond delay="0"/>
                                          </p:stCondLst>
                                        </p:cTn>
                                        <p:tgtEl>
                                          <p:spTgt spid="40"/>
                                        </p:tgtEl>
                                        <p:attrNameLst>
                                          <p:attrName>style.visibility</p:attrName>
                                        </p:attrNameLst>
                                      </p:cBhvr>
                                      <p:to>
                                        <p:strVal val="visible"/>
                                      </p:to>
                                    </p:set>
                                    <p:anim calcmode="lin" valueType="num">
                                      <p:cBhvr additive="base">
                                        <p:cTn id="121" dur="500" fill="hold"/>
                                        <p:tgtEl>
                                          <p:spTgt spid="40"/>
                                        </p:tgtEl>
                                        <p:attrNameLst>
                                          <p:attrName>ppt_x</p:attrName>
                                        </p:attrNameLst>
                                      </p:cBhvr>
                                      <p:tavLst>
                                        <p:tav tm="0">
                                          <p:val>
                                            <p:strVal val="#ppt_x"/>
                                          </p:val>
                                        </p:tav>
                                        <p:tav tm="100000">
                                          <p:val>
                                            <p:strVal val="#ppt_x"/>
                                          </p:val>
                                        </p:tav>
                                      </p:tavLst>
                                    </p:anim>
                                    <p:anim calcmode="lin" valueType="num">
                                      <p:cBhvr additive="base">
                                        <p:cTn id="122" dur="500" fill="hold"/>
                                        <p:tgtEl>
                                          <p:spTgt spid="40"/>
                                        </p:tgtEl>
                                        <p:attrNameLst>
                                          <p:attrName>ppt_y</p:attrName>
                                        </p:attrNameLst>
                                      </p:cBhvr>
                                      <p:tavLst>
                                        <p:tav tm="0">
                                          <p:val>
                                            <p:strVal val="#ppt_y+0.1"/>
                                          </p:val>
                                        </p:tav>
                                        <p:tav tm="100000">
                                          <p:val>
                                            <p:strVal val="#ppt_y"/>
                                          </p:val>
                                        </p:tav>
                                      </p:tavLst>
                                    </p:anim>
                                    <p:animEffect transition="in" filter="fade">
                                      <p:cBhvr>
                                        <p:cTn id="123" dur="500"/>
                                        <p:tgtEl>
                                          <p:spTgt spid="40"/>
                                        </p:tgtEl>
                                      </p:cBhvr>
                                    </p:animEffect>
                                  </p:childTnLst>
                                </p:cTn>
                              </p:par>
                              <p:par>
                                <p:cTn id="129" presetID="2" presetClass="entr" presetSubtype="4" fill="hold" grpId="0" nodeType="withEffect">
                                  <p:stCondLst>
                                    <p:cond delay="300"/>
                                  </p:stCondLst>
                                  <p:childTnLst>
                                    <p:set>
                                      <p:cBhvr>
                                        <p:cTn id="125" dur="1" fill="hold">
                                          <p:stCondLst>
                                            <p:cond delay="0"/>
                                          </p:stCondLst>
                                        </p:cTn>
                                        <p:tgtEl>
                                          <p:spTgt spid="41"/>
                                        </p:tgtEl>
                                        <p:attrNameLst>
                                          <p:attrName>style.visibility</p:attrName>
                                        </p:attrNameLst>
                                      </p:cBhvr>
                                      <p:to>
                                        <p:strVal val="visible"/>
                                      </p:to>
                                    </p:set>
                                    <p:anim calcmode="lin" valueType="num">
                                      <p:cBhvr additive="base">
                                        <p:cTn id="126" dur="500" fill="hold"/>
                                        <p:tgtEl>
                                          <p:spTgt spid="41"/>
                                        </p:tgtEl>
                                        <p:attrNameLst>
                                          <p:attrName>ppt_x</p:attrName>
                                        </p:attrNameLst>
                                      </p:cBhvr>
                                      <p:tavLst>
                                        <p:tav tm="0">
                                          <p:val>
                                            <p:strVal val="#ppt_x"/>
                                          </p:val>
                                        </p:tav>
                                        <p:tav tm="100000">
                                          <p:val>
                                            <p:strVal val="#ppt_x"/>
                                          </p:val>
                                        </p:tav>
                                      </p:tavLst>
                                    </p:anim>
                                    <p:anim calcmode="lin" valueType="num">
                                      <p:cBhvr additive="base">
                                        <p:cTn id="127" dur="500" fill="hold"/>
                                        <p:tgtEl>
                                          <p:spTgt spid="41"/>
                                        </p:tgtEl>
                                        <p:attrNameLst>
                                          <p:attrName>ppt_y</p:attrName>
                                        </p:attrNameLst>
                                      </p:cBhvr>
                                      <p:tavLst>
                                        <p:tav tm="0">
                                          <p:val>
                                            <p:strVal val="#ppt_y+0.1"/>
                                          </p:val>
                                        </p:tav>
                                        <p:tav tm="100000">
                                          <p:val>
                                            <p:strVal val="#ppt_y"/>
                                          </p:val>
                                        </p:tav>
                                      </p:tavLst>
                                    </p:anim>
                                    <p:animEffect transition="in" filter="fade">
                                      <p:cBhvr>
                                        <p:cTn id="128" dur="500"/>
                                        <p:tgtEl>
                                          <p:spTgt spid="41"/>
                                        </p:tgtEl>
                                      </p:cBhvr>
                                    </p:animEffect>
                                  </p:childTnLst>
                                </p:cTn>
                              </p:par>
                              <p:par>
                                <p:cTn id="134" presetID="2" presetClass="entr" presetSubtype="4" fill="hold" grpId="0" nodeType="withEffect">
                                  <p:stCondLst>
                                    <p:cond delay="300"/>
                                  </p:stCondLst>
                                  <p:childTnLst>
                                    <p:set>
                                      <p:cBhvr>
                                        <p:cTn id="130" dur="1" fill="hold">
                                          <p:stCondLst>
                                            <p:cond delay="0"/>
                                          </p:stCondLst>
                                        </p:cTn>
                                        <p:tgtEl>
                                          <p:spTgt spid="42"/>
                                        </p:tgtEl>
                                        <p:attrNameLst>
                                          <p:attrName>style.visibility</p:attrName>
                                        </p:attrNameLst>
                                      </p:cBhvr>
                                      <p:to>
                                        <p:strVal val="visible"/>
                                      </p:to>
                                    </p:set>
                                    <p:anim calcmode="lin" valueType="num">
                                      <p:cBhvr additive="base">
                                        <p:cTn id="131" dur="500" fill="hold"/>
                                        <p:tgtEl>
                                          <p:spTgt spid="42"/>
                                        </p:tgtEl>
                                        <p:attrNameLst>
                                          <p:attrName>ppt_x</p:attrName>
                                        </p:attrNameLst>
                                      </p:cBhvr>
                                      <p:tavLst>
                                        <p:tav tm="0">
                                          <p:val>
                                            <p:strVal val="#ppt_x"/>
                                          </p:val>
                                        </p:tav>
                                        <p:tav tm="100000">
                                          <p:val>
                                            <p:strVal val="#ppt_x"/>
                                          </p:val>
                                        </p:tav>
                                      </p:tavLst>
                                    </p:anim>
                                    <p:anim calcmode="lin" valueType="num">
                                      <p:cBhvr additive="base">
                                        <p:cTn id="132" dur="500" fill="hold"/>
                                        <p:tgtEl>
                                          <p:spTgt spid="42"/>
                                        </p:tgtEl>
                                        <p:attrNameLst>
                                          <p:attrName>ppt_y</p:attrName>
                                        </p:attrNameLst>
                                      </p:cBhvr>
                                      <p:tavLst>
                                        <p:tav tm="0">
                                          <p:val>
                                            <p:strVal val="#ppt_y+0.1"/>
                                          </p:val>
                                        </p:tav>
                                        <p:tav tm="100000">
                                          <p:val>
                                            <p:strVal val="#ppt_y"/>
                                          </p:val>
                                        </p:tav>
                                      </p:tavLst>
                                    </p:anim>
                                    <p:animEffect transition="in" filter="fade">
                                      <p:cBhvr>
                                        <p:cTn id="133" dur="500"/>
                                        <p:tgtEl>
                                          <p:spTgt spid="42"/>
                                        </p:tgtEl>
                                      </p:cBhvr>
                                    </p:animEffect>
                                  </p:childTnLst>
                                </p:cTn>
                              </p:par>
                              <p:par>
                                <p:cTn id="139" presetID="2" presetClass="entr" presetSubtype="4" fill="hold" grpId="0" nodeType="withEffect">
                                  <p:stCondLst>
                                    <p:cond delay="300"/>
                                  </p:stCondLst>
                                  <p:childTnLst>
                                    <p:set>
                                      <p:cBhvr>
                                        <p:cTn id="135" dur="1" fill="hold">
                                          <p:stCondLst>
                                            <p:cond delay="0"/>
                                          </p:stCondLst>
                                        </p:cTn>
                                        <p:tgtEl>
                                          <p:spTgt spid="44"/>
                                        </p:tgtEl>
                                        <p:attrNameLst>
                                          <p:attrName>style.visibility</p:attrName>
                                        </p:attrNameLst>
                                      </p:cBhvr>
                                      <p:to>
                                        <p:strVal val="visible"/>
                                      </p:to>
                                    </p:set>
                                    <p:anim calcmode="lin" valueType="num">
                                      <p:cBhvr additive="base">
                                        <p:cTn id="136" dur="500" fill="hold"/>
                                        <p:tgtEl>
                                          <p:spTgt spid="44"/>
                                        </p:tgtEl>
                                        <p:attrNameLst>
                                          <p:attrName>ppt_x</p:attrName>
                                        </p:attrNameLst>
                                      </p:cBhvr>
                                      <p:tavLst>
                                        <p:tav tm="0">
                                          <p:val>
                                            <p:strVal val="#ppt_x"/>
                                          </p:val>
                                        </p:tav>
                                        <p:tav tm="100000">
                                          <p:val>
                                            <p:strVal val="#ppt_x"/>
                                          </p:val>
                                        </p:tav>
                                      </p:tavLst>
                                    </p:anim>
                                    <p:anim calcmode="lin" valueType="num">
                                      <p:cBhvr additive="base">
                                        <p:cTn id="137" dur="500" fill="hold"/>
                                        <p:tgtEl>
                                          <p:spTgt spid="44"/>
                                        </p:tgtEl>
                                        <p:attrNameLst>
                                          <p:attrName>ppt_y</p:attrName>
                                        </p:attrNameLst>
                                      </p:cBhvr>
                                      <p:tavLst>
                                        <p:tav tm="0">
                                          <p:val>
                                            <p:strVal val="#ppt_y+0.1"/>
                                          </p:val>
                                        </p:tav>
                                        <p:tav tm="100000">
                                          <p:val>
                                            <p:strVal val="#ppt_y"/>
                                          </p:val>
                                        </p:tav>
                                      </p:tavLst>
                                    </p:anim>
                                    <p:animEffect transition="in" filter="fade">
                                      <p:cBhvr>
                                        <p:cTn id="138" dur="500"/>
                                        <p:tgtEl>
                                          <p:spTgt spid="44"/>
                                        </p:tgtEl>
                                      </p:cBhvr>
                                    </p:animEffect>
                                  </p:childTnLst>
                                </p:cTn>
                              </p:par>
                              <p:par>
                                <p:cTn id="144" presetID="2" presetClass="entr" presetSubtype="4" fill="hold" grpId="0" nodeType="withEffect">
                                  <p:stCondLst>
                                    <p:cond delay="300"/>
                                  </p:stCondLst>
                                  <p:childTnLst>
                                    <p:set>
                                      <p:cBhvr>
                                        <p:cTn id="140" dur="1" fill="hold">
                                          <p:stCondLst>
                                            <p:cond delay="0"/>
                                          </p:stCondLst>
                                        </p:cTn>
                                        <p:tgtEl>
                                          <p:spTgt spid="45"/>
                                        </p:tgtEl>
                                        <p:attrNameLst>
                                          <p:attrName>style.visibility</p:attrName>
                                        </p:attrNameLst>
                                      </p:cBhvr>
                                      <p:to>
                                        <p:strVal val="visible"/>
                                      </p:to>
                                    </p:set>
                                    <p:anim calcmode="lin" valueType="num">
                                      <p:cBhvr additive="base">
                                        <p:cTn id="141" dur="500" fill="hold"/>
                                        <p:tgtEl>
                                          <p:spTgt spid="45"/>
                                        </p:tgtEl>
                                        <p:attrNameLst>
                                          <p:attrName>ppt_x</p:attrName>
                                        </p:attrNameLst>
                                      </p:cBhvr>
                                      <p:tavLst>
                                        <p:tav tm="0">
                                          <p:val>
                                            <p:strVal val="#ppt_x"/>
                                          </p:val>
                                        </p:tav>
                                        <p:tav tm="100000">
                                          <p:val>
                                            <p:strVal val="#ppt_x"/>
                                          </p:val>
                                        </p:tav>
                                      </p:tavLst>
                                    </p:anim>
                                    <p:anim calcmode="lin" valueType="num">
                                      <p:cBhvr additive="base">
                                        <p:cTn id="142" dur="500" fill="hold"/>
                                        <p:tgtEl>
                                          <p:spTgt spid="45"/>
                                        </p:tgtEl>
                                        <p:attrNameLst>
                                          <p:attrName>ppt_y</p:attrName>
                                        </p:attrNameLst>
                                      </p:cBhvr>
                                      <p:tavLst>
                                        <p:tav tm="0">
                                          <p:val>
                                            <p:strVal val="#ppt_y+0.1"/>
                                          </p:val>
                                        </p:tav>
                                        <p:tav tm="100000">
                                          <p:val>
                                            <p:strVal val="#ppt_y"/>
                                          </p:val>
                                        </p:tav>
                                      </p:tavLst>
                                    </p:anim>
                                    <p:animEffect transition="in" filter="fade">
                                      <p:cBhvr>
                                        <p:cTn id="143" dur="500"/>
                                        <p:tgtEl>
                                          <p:spTgt spid="45"/>
                                        </p:tgtEl>
                                      </p:cBhvr>
                                    </p:animEffect>
                                  </p:childTnLst>
                                </p:cTn>
                              </p:par>
                            </p:childTnLst>
                          </p:cTn>
                        </p:par>
                      </p:childTnLst>
                    </p:cTn>
                  </p:par>
                  <p:par>
                    <p:cTn id="145" fill="hold">
                      <p:stCondLst>
                        <p:cond delay="indefinite"/>
                      </p:stCondLst>
                      <p:childTnLst>
                        <p:par>
                          <p:cTn id="146" fill="hold">
                            <p:stCondLst>
                              <p:cond delay="0"/>
                            </p:stCondLst>
                            <p:childTnLst>
                              <p:par>
                                <p:cTn id="149" presetID="22" presetClass="entr" presetSubtype="8" fill="hold" grpId="0" nodeType="clickEffect">
                                  <p:stCondLst>
                                    <p:cond delay="0"/>
                                  </p:stCondLst>
                                  <p:childTnLst>
                                    <p:set>
                                      <p:cBhvr>
                                        <p:cTn id="147" dur="1" fill="hold">
                                          <p:stCondLst>
                                            <p:cond delay="0"/>
                                          </p:stCondLst>
                                        </p:cTn>
                                        <p:tgtEl>
                                          <p:spTgt spid="16"/>
                                        </p:tgtEl>
                                        <p:attrNameLst>
                                          <p:attrName>style.visibility</p:attrName>
                                        </p:attrNameLst>
                                      </p:cBhvr>
                                      <p:to>
                                        <p:strVal val="visible"/>
                                      </p:to>
                                    </p:set>
                                    <p:animEffect transition="in" filter="wipe(left)">
                                      <p:cBhvr>
                                        <p:cTn id="148" dur="500"/>
                                        <p:tgtEl>
                                          <p:spTgt spid="16"/>
                                        </p:tgtEl>
                                      </p:cBhvr>
                                    </p:animEffect>
                                  </p:childTnLst>
                                </p:cTn>
                              </p:par>
                              <p:par>
                                <p:cTn id="152" presetID="22" presetClass="entr" presetSubtype="8" fill="hold" grpId="0" nodeType="withEffect">
                                  <p:stCondLst>
                                    <p:cond delay="0"/>
                                  </p:stCondLst>
                                  <p:childTnLst>
                                    <p:set>
                                      <p:cBhvr>
                                        <p:cTn id="150" dur="1" fill="hold">
                                          <p:stCondLst>
                                            <p:cond delay="0"/>
                                          </p:stCondLst>
                                        </p:cTn>
                                        <p:tgtEl>
                                          <p:spTgt spid="25"/>
                                        </p:tgtEl>
                                        <p:attrNameLst>
                                          <p:attrName>style.visibility</p:attrName>
                                        </p:attrNameLst>
                                      </p:cBhvr>
                                      <p:to>
                                        <p:strVal val="visible"/>
                                      </p:to>
                                    </p:set>
                                    <p:animEffect transition="in" filter="wipe(left)">
                                      <p:cBhvr>
                                        <p:cTn id="151" dur="500"/>
                                        <p:tgtEl>
                                          <p:spTgt spid="25"/>
                                        </p:tgtEl>
                                      </p:cBhvr>
                                    </p:animEffect>
                                  </p:childTnLst>
                                </p:cTn>
                              </p:par>
                              <p:par>
                                <p:cTn id="155" presetID="22" presetClass="entr" presetSubtype="8" fill="hold" grpId="0" nodeType="with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wipe(left)">
                                      <p:cBhvr>
                                        <p:cTn id="154" dur="500"/>
                                        <p:tgtEl>
                                          <p:spTgt spid="34"/>
                                        </p:tgtEl>
                                      </p:cBhvr>
                                    </p:animEffect>
                                  </p:childTnLst>
                                </p:cTn>
                              </p:par>
                              <p:par>
                                <p:cTn id="158" presetID="22" presetClass="entr" presetSubtype="8"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Effect transition="in" filter="wipe(left)">
                                      <p:cBhvr>
                                        <p:cTn id="157" dur="500"/>
                                        <p:tgtEl>
                                          <p:spTgt spid="43"/>
                                        </p:tgtEl>
                                      </p:cBhvr>
                                    </p:animEffect>
                                  </p:childTnLst>
                                </p:cTn>
                              </p:par>
                              <p:par>
                                <p:cTn id="161" presetID="22" presetClass="entr" presetSubtype="8" fill="hold" grpId="0" nodeType="withEffect">
                                  <p:stCondLst>
                                    <p:cond delay="150"/>
                                  </p:stCondLst>
                                  <p:childTnLst>
                                    <p:set>
                                      <p:cBhvr>
                                        <p:cTn id="159" dur="1" fill="hold">
                                          <p:stCondLst>
                                            <p:cond delay="0"/>
                                          </p:stCondLst>
                                        </p:cTn>
                                        <p:tgtEl>
                                          <p:spTgt spid="19"/>
                                        </p:tgtEl>
                                        <p:attrNameLst>
                                          <p:attrName>style.visibility</p:attrName>
                                        </p:attrNameLst>
                                      </p:cBhvr>
                                      <p:to>
                                        <p:strVal val="visible"/>
                                      </p:to>
                                    </p:set>
                                    <p:animEffect transition="in" filter="wipe(left)">
                                      <p:cBhvr>
                                        <p:cTn id="160" dur="500"/>
                                        <p:tgtEl>
                                          <p:spTgt spid="19"/>
                                        </p:tgtEl>
                                      </p:cBhvr>
                                    </p:animEffect>
                                  </p:childTnLst>
                                </p:cTn>
                              </p:par>
                              <p:par>
                                <p:cTn id="164" presetID="22" presetClass="entr" presetSubtype="8" fill="hold" grpId="0" nodeType="withEffect">
                                  <p:stCondLst>
                                    <p:cond delay="150"/>
                                  </p:stCondLst>
                                  <p:childTnLst>
                                    <p:set>
                                      <p:cBhvr>
                                        <p:cTn id="162" dur="1" fill="hold">
                                          <p:stCondLst>
                                            <p:cond delay="0"/>
                                          </p:stCondLst>
                                        </p:cTn>
                                        <p:tgtEl>
                                          <p:spTgt spid="28"/>
                                        </p:tgtEl>
                                        <p:attrNameLst>
                                          <p:attrName>style.visibility</p:attrName>
                                        </p:attrNameLst>
                                      </p:cBhvr>
                                      <p:to>
                                        <p:strVal val="visible"/>
                                      </p:to>
                                    </p:set>
                                    <p:animEffect transition="in" filter="wipe(left)">
                                      <p:cBhvr>
                                        <p:cTn id="163" dur="500"/>
                                        <p:tgtEl>
                                          <p:spTgt spid="28"/>
                                        </p:tgtEl>
                                      </p:cBhvr>
                                    </p:animEffect>
                                  </p:childTnLst>
                                </p:cTn>
                              </p:par>
                              <p:par>
                                <p:cTn id="167" presetID="22" presetClass="entr" presetSubtype="8" fill="hold" grpId="0" nodeType="withEffect">
                                  <p:stCondLst>
                                    <p:cond delay="150"/>
                                  </p:stCondLst>
                                  <p:childTnLst>
                                    <p:set>
                                      <p:cBhvr>
                                        <p:cTn id="165" dur="1" fill="hold">
                                          <p:stCondLst>
                                            <p:cond delay="0"/>
                                          </p:stCondLst>
                                        </p:cTn>
                                        <p:tgtEl>
                                          <p:spTgt spid="37"/>
                                        </p:tgtEl>
                                        <p:attrNameLst>
                                          <p:attrName>style.visibility</p:attrName>
                                        </p:attrNameLst>
                                      </p:cBhvr>
                                      <p:to>
                                        <p:strVal val="visible"/>
                                      </p:to>
                                    </p:set>
                                    <p:animEffect transition="in" filter="wipe(left)">
                                      <p:cBhvr>
                                        <p:cTn id="166" dur="500"/>
                                        <p:tgtEl>
                                          <p:spTgt spid="37"/>
                                        </p:tgtEl>
                                      </p:cBhvr>
                                    </p:animEffect>
                                  </p:childTnLst>
                                </p:cTn>
                              </p:par>
                              <p:par>
                                <p:cTn id="170" presetID="22" presetClass="entr" presetSubtype="8" fill="hold" grpId="0" nodeType="withEffect">
                                  <p:stCondLst>
                                    <p:cond delay="150"/>
                                  </p:stCondLst>
                                  <p:childTnLst>
                                    <p:set>
                                      <p:cBhvr>
                                        <p:cTn id="168" dur="1" fill="hold">
                                          <p:stCondLst>
                                            <p:cond delay="0"/>
                                          </p:stCondLst>
                                        </p:cTn>
                                        <p:tgtEl>
                                          <p:spTgt spid="46"/>
                                        </p:tgtEl>
                                        <p:attrNameLst>
                                          <p:attrName>style.visibility</p:attrName>
                                        </p:attrNameLst>
                                      </p:cBhvr>
                                      <p:to>
                                        <p:strVal val="visible"/>
                                      </p:to>
                                    </p:set>
                                    <p:animEffect transition="in" filter="wipe(left)">
                                      <p:cBhvr>
                                        <p:cTn id="169" dur="500"/>
                                        <p:tgtEl>
                                          <p:spTgt spid="46"/>
                                        </p:tgtEl>
                                      </p:cBhvr>
                                    </p:animEffect>
                                  </p:childTnLst>
                                </p:cTn>
                              </p:par>
                            </p:childTnLst>
                          </p:cTn>
                        </p:par>
                      </p:childTnLst>
                    </p:cTn>
                  </p:par>
                  <p:par>
                    <p:cTn id="171" fill="hold">
                      <p:stCondLst>
                        <p:cond delay="indefinite"/>
                      </p:stCondLst>
                      <p:childTnLst>
                        <p:par>
                          <p:cTn id="172" fill="hold">
                            <p:stCondLst>
                              <p:cond delay="0"/>
                            </p:stCondLst>
                            <p:childTnLst>
                              <p:par>
                                <p:cTn id="177" presetID="2" presetClass="entr" presetSubtype="4" fill="hold" grpId="0" nodeType="clickEffect">
                                  <p:stCondLst>
                                    <p:cond delay="0"/>
                                  </p:stCondLst>
                                  <p:childTnLst>
                                    <p:set>
                                      <p:cBhvr>
                                        <p:cTn id="173" dur="1" fill="hold">
                                          <p:stCondLst>
                                            <p:cond delay="0"/>
                                          </p:stCondLst>
                                        </p:cTn>
                                        <p:tgtEl>
                                          <p:spTgt spid="47"/>
                                        </p:tgtEl>
                                        <p:attrNameLst>
                                          <p:attrName>style.visibility</p:attrName>
                                        </p:attrNameLst>
                                      </p:cBhvr>
                                      <p:to>
                                        <p:strVal val="visible"/>
                                      </p:to>
                                    </p:set>
                                    <p:anim calcmode="lin" valueType="num">
                                      <p:cBhvr additive="base">
                                        <p:cTn id="174" dur="500" fill="hold"/>
                                        <p:tgtEl>
                                          <p:spTgt spid="47"/>
                                        </p:tgtEl>
                                        <p:attrNameLst>
                                          <p:attrName>ppt_x</p:attrName>
                                        </p:attrNameLst>
                                      </p:cBhvr>
                                      <p:tavLst>
                                        <p:tav tm="0">
                                          <p:val>
                                            <p:strVal val="#ppt_x"/>
                                          </p:val>
                                        </p:tav>
                                        <p:tav tm="100000">
                                          <p:val>
                                            <p:strVal val="#ppt_x"/>
                                          </p:val>
                                        </p:tav>
                                      </p:tavLst>
                                    </p:anim>
                                    <p:anim calcmode="lin" valueType="num">
                                      <p:cBhvr additive="base">
                                        <p:cTn id="175" dur="500" fill="hold"/>
                                        <p:tgtEl>
                                          <p:spTgt spid="47"/>
                                        </p:tgtEl>
                                        <p:attrNameLst>
                                          <p:attrName>ppt_y</p:attrName>
                                        </p:attrNameLst>
                                      </p:cBhvr>
                                      <p:tavLst>
                                        <p:tav tm="0">
                                          <p:val>
                                            <p:strVal val="#ppt_y+0.1"/>
                                          </p:val>
                                        </p:tav>
                                        <p:tav tm="100000">
                                          <p:val>
                                            <p:strVal val="#ppt_y"/>
                                          </p:val>
                                        </p:tav>
                                      </p:tavLst>
                                    </p:anim>
                                    <p:animEffect transition="in" filter="fade">
                                      <p:cBhvr>
                                        <p:cTn id="176" dur="500"/>
                                        <p:tgtEl>
                                          <p:spTgt spid="47"/>
                                        </p:tgtEl>
                                      </p:cBhvr>
                                    </p:animEffect>
                                  </p:childTnLst>
                                </p:cTn>
                              </p:par>
                              <p:par>
                                <p:cTn id="182" presetID="2" presetClass="entr" presetSubtype="4" fill="hold" grpId="0" nodeType="withEffect">
                                  <p:stCondLst>
                                    <p:cond delay="0"/>
                                  </p:stCondLst>
                                  <p:childTnLst>
                                    <p:set>
                                      <p:cBhvr>
                                        <p:cTn id="178" dur="1" fill="hold">
                                          <p:stCondLst>
                                            <p:cond delay="0"/>
                                          </p:stCondLst>
                                        </p:cTn>
                                        <p:tgtEl>
                                          <p:spTgt spid="48"/>
                                        </p:tgtEl>
                                        <p:attrNameLst>
                                          <p:attrName>style.visibility</p:attrName>
                                        </p:attrNameLst>
                                      </p:cBhvr>
                                      <p:to>
                                        <p:strVal val="visible"/>
                                      </p:to>
                                    </p:set>
                                    <p:anim calcmode="lin" valueType="num">
                                      <p:cBhvr additive="base">
                                        <p:cTn id="179" dur="500" fill="hold"/>
                                        <p:tgtEl>
                                          <p:spTgt spid="48"/>
                                        </p:tgtEl>
                                        <p:attrNameLst>
                                          <p:attrName>ppt_x</p:attrName>
                                        </p:attrNameLst>
                                      </p:cBhvr>
                                      <p:tavLst>
                                        <p:tav tm="0">
                                          <p:val>
                                            <p:strVal val="#ppt_x"/>
                                          </p:val>
                                        </p:tav>
                                        <p:tav tm="100000">
                                          <p:val>
                                            <p:strVal val="#ppt_x"/>
                                          </p:val>
                                        </p:tav>
                                      </p:tavLst>
                                    </p:anim>
                                    <p:anim calcmode="lin" valueType="num">
                                      <p:cBhvr additive="base">
                                        <p:cTn id="180" dur="500" fill="hold"/>
                                        <p:tgtEl>
                                          <p:spTgt spid="48"/>
                                        </p:tgtEl>
                                        <p:attrNameLst>
                                          <p:attrName>ppt_y</p:attrName>
                                        </p:attrNameLst>
                                      </p:cBhvr>
                                      <p:tavLst>
                                        <p:tav tm="0">
                                          <p:val>
                                            <p:strVal val="#ppt_y+0.1"/>
                                          </p:val>
                                        </p:tav>
                                        <p:tav tm="100000">
                                          <p:val>
                                            <p:strVal val="#ppt_y"/>
                                          </p:val>
                                        </p:tav>
                                      </p:tavLst>
                                    </p:anim>
                                    <p:animEffect transition="in" filter="fade">
                                      <p:cBhvr>
                                        <p:cTn id="181" dur="500"/>
                                        <p:tgtEl>
                                          <p:spTgt spid="48"/>
                                        </p:tgtEl>
                                      </p:cBhvr>
                                    </p:animEffect>
                                  </p:childTnLst>
                                </p:cTn>
                              </p:par>
                              <p:par>
                                <p:cTn id="187" presetID="2" presetClass="entr" presetSubtype="4" fill="hold" grpId="0" nodeType="withEffect">
                                  <p:stCondLst>
                                    <p:cond delay="120"/>
                                  </p:stCondLst>
                                  <p:childTnLst>
                                    <p:set>
                                      <p:cBhvr>
                                        <p:cTn id="183" dur="1" fill="hold">
                                          <p:stCondLst>
                                            <p:cond delay="0"/>
                                          </p:stCondLst>
                                        </p:cTn>
                                        <p:tgtEl>
                                          <p:spTgt spid="49"/>
                                        </p:tgtEl>
                                        <p:attrNameLst>
                                          <p:attrName>style.visibility</p:attrName>
                                        </p:attrNameLst>
                                      </p:cBhvr>
                                      <p:to>
                                        <p:strVal val="visible"/>
                                      </p:to>
                                    </p:set>
                                    <p:anim calcmode="lin" valueType="num">
                                      <p:cBhvr additive="base">
                                        <p:cTn id="184" dur="500" fill="hold"/>
                                        <p:tgtEl>
                                          <p:spTgt spid="49"/>
                                        </p:tgtEl>
                                        <p:attrNameLst>
                                          <p:attrName>ppt_x</p:attrName>
                                        </p:attrNameLst>
                                      </p:cBhvr>
                                      <p:tavLst>
                                        <p:tav tm="0">
                                          <p:val>
                                            <p:strVal val="#ppt_x"/>
                                          </p:val>
                                        </p:tav>
                                        <p:tav tm="100000">
                                          <p:val>
                                            <p:strVal val="#ppt_x"/>
                                          </p:val>
                                        </p:tav>
                                      </p:tavLst>
                                    </p:anim>
                                    <p:anim calcmode="lin" valueType="num">
                                      <p:cBhvr additive="base">
                                        <p:cTn id="185" dur="500" fill="hold"/>
                                        <p:tgtEl>
                                          <p:spTgt spid="49"/>
                                        </p:tgtEl>
                                        <p:attrNameLst>
                                          <p:attrName>ppt_y</p:attrName>
                                        </p:attrNameLst>
                                      </p:cBhvr>
                                      <p:tavLst>
                                        <p:tav tm="0">
                                          <p:val>
                                            <p:strVal val="#ppt_y+0.1"/>
                                          </p:val>
                                        </p:tav>
                                        <p:tav tm="100000">
                                          <p:val>
                                            <p:strVal val="#ppt_y"/>
                                          </p:val>
                                        </p:tav>
                                      </p:tavLst>
                                    </p:anim>
                                    <p:animEffect transition="in" filter="fade">
                                      <p:cBhvr>
                                        <p:cTn id="186" dur="500"/>
                                        <p:tgtEl>
                                          <p:spTgt spid="49"/>
                                        </p:tgtEl>
                                      </p:cBhvr>
                                    </p:animEffect>
                                  </p:childTnLst>
                                </p:cTn>
                              </p:par>
                              <p:par>
                                <p:cTn id="192" presetID="2" presetClass="entr" presetSubtype="4" fill="hold" grpId="0" nodeType="withEffect">
                                  <p:stCondLst>
                                    <p:cond delay="120"/>
                                  </p:stCondLst>
                                  <p:childTnLst>
                                    <p:set>
                                      <p:cBhvr>
                                        <p:cTn id="188" dur="1" fill="hold">
                                          <p:stCondLst>
                                            <p:cond delay="0"/>
                                          </p:stCondLst>
                                        </p:cTn>
                                        <p:tgtEl>
                                          <p:spTgt spid="50"/>
                                        </p:tgtEl>
                                        <p:attrNameLst>
                                          <p:attrName>style.visibility</p:attrName>
                                        </p:attrNameLst>
                                      </p:cBhvr>
                                      <p:to>
                                        <p:strVal val="visible"/>
                                      </p:to>
                                    </p:set>
                                    <p:anim calcmode="lin" valueType="num">
                                      <p:cBhvr additive="base">
                                        <p:cTn id="189" dur="500" fill="hold"/>
                                        <p:tgtEl>
                                          <p:spTgt spid="50"/>
                                        </p:tgtEl>
                                        <p:attrNameLst>
                                          <p:attrName>ppt_x</p:attrName>
                                        </p:attrNameLst>
                                      </p:cBhvr>
                                      <p:tavLst>
                                        <p:tav tm="0">
                                          <p:val>
                                            <p:strVal val="#ppt_x"/>
                                          </p:val>
                                        </p:tav>
                                        <p:tav tm="100000">
                                          <p:val>
                                            <p:strVal val="#ppt_x"/>
                                          </p:val>
                                        </p:tav>
                                      </p:tavLst>
                                    </p:anim>
                                    <p:anim calcmode="lin" valueType="num">
                                      <p:cBhvr additive="base">
                                        <p:cTn id="190" dur="500" fill="hold"/>
                                        <p:tgtEl>
                                          <p:spTgt spid="50"/>
                                        </p:tgtEl>
                                        <p:attrNameLst>
                                          <p:attrName>ppt_y</p:attrName>
                                        </p:attrNameLst>
                                      </p:cBhvr>
                                      <p:tavLst>
                                        <p:tav tm="0">
                                          <p:val>
                                            <p:strVal val="#ppt_y+0.1"/>
                                          </p:val>
                                        </p:tav>
                                        <p:tav tm="100000">
                                          <p:val>
                                            <p:strVal val="#ppt_y"/>
                                          </p:val>
                                        </p:tav>
                                      </p:tavLst>
                                    </p:anim>
                                    <p:animEffect transition="in" filter="fade">
                                      <p:cBhvr>
                                        <p:cTn id="191" dur="500"/>
                                        <p:tgtEl>
                                          <p:spTgt spid="50"/>
                                        </p:tgtEl>
                                      </p:cBhvr>
                                    </p:animEffect>
                                  </p:childTnLst>
                                </p:cTn>
                              </p:par>
                              <p:par>
                                <p:cTn id="197" presetID="2" presetClass="entr" presetSubtype="4" fill="hold" grpId="0" nodeType="withEffect">
                                  <p:stCondLst>
                                    <p:cond delay="240"/>
                                  </p:stCondLst>
                                  <p:childTnLst>
                                    <p:set>
                                      <p:cBhvr>
                                        <p:cTn id="193" dur="1" fill="hold">
                                          <p:stCondLst>
                                            <p:cond delay="0"/>
                                          </p:stCondLst>
                                        </p:cTn>
                                        <p:tgtEl>
                                          <p:spTgt spid="51"/>
                                        </p:tgtEl>
                                        <p:attrNameLst>
                                          <p:attrName>style.visibility</p:attrName>
                                        </p:attrNameLst>
                                      </p:cBhvr>
                                      <p:to>
                                        <p:strVal val="visible"/>
                                      </p:to>
                                    </p:set>
                                    <p:anim calcmode="lin" valueType="num">
                                      <p:cBhvr additive="base">
                                        <p:cTn id="194" dur="500" fill="hold"/>
                                        <p:tgtEl>
                                          <p:spTgt spid="51"/>
                                        </p:tgtEl>
                                        <p:attrNameLst>
                                          <p:attrName>ppt_x</p:attrName>
                                        </p:attrNameLst>
                                      </p:cBhvr>
                                      <p:tavLst>
                                        <p:tav tm="0">
                                          <p:val>
                                            <p:strVal val="#ppt_x"/>
                                          </p:val>
                                        </p:tav>
                                        <p:tav tm="100000">
                                          <p:val>
                                            <p:strVal val="#ppt_x"/>
                                          </p:val>
                                        </p:tav>
                                      </p:tavLst>
                                    </p:anim>
                                    <p:anim calcmode="lin" valueType="num">
                                      <p:cBhvr additive="base">
                                        <p:cTn id="195" dur="500" fill="hold"/>
                                        <p:tgtEl>
                                          <p:spTgt spid="51"/>
                                        </p:tgtEl>
                                        <p:attrNameLst>
                                          <p:attrName>ppt_y</p:attrName>
                                        </p:attrNameLst>
                                      </p:cBhvr>
                                      <p:tavLst>
                                        <p:tav tm="0">
                                          <p:val>
                                            <p:strVal val="#ppt_y+0.1"/>
                                          </p:val>
                                        </p:tav>
                                        <p:tav tm="100000">
                                          <p:val>
                                            <p:strVal val="#ppt_y"/>
                                          </p:val>
                                        </p:tav>
                                      </p:tavLst>
                                    </p:anim>
                                    <p:animEffect transition="in" filter="fade">
                                      <p:cBhvr>
                                        <p:cTn id="196" dur="500"/>
                                        <p:tgtEl>
                                          <p:spTgt spid="51"/>
                                        </p:tgtEl>
                                      </p:cBhvr>
                                    </p:animEffect>
                                  </p:childTnLst>
                                </p:cTn>
                              </p:par>
                              <p:par>
                                <p:cTn id="202" presetID="2" presetClass="entr" presetSubtype="4" fill="hold" grpId="0" nodeType="withEffect">
                                  <p:stCondLst>
                                    <p:cond delay="240"/>
                                  </p:stCondLst>
                                  <p:childTnLst>
                                    <p:set>
                                      <p:cBhvr>
                                        <p:cTn id="198" dur="1" fill="hold">
                                          <p:stCondLst>
                                            <p:cond delay="0"/>
                                          </p:stCondLst>
                                        </p:cTn>
                                        <p:tgtEl>
                                          <p:spTgt spid="52"/>
                                        </p:tgtEl>
                                        <p:attrNameLst>
                                          <p:attrName>style.visibility</p:attrName>
                                        </p:attrNameLst>
                                      </p:cBhvr>
                                      <p:to>
                                        <p:strVal val="visible"/>
                                      </p:to>
                                    </p:set>
                                    <p:anim calcmode="lin" valueType="num">
                                      <p:cBhvr additive="base">
                                        <p:cTn id="199" dur="500" fill="hold"/>
                                        <p:tgtEl>
                                          <p:spTgt spid="52"/>
                                        </p:tgtEl>
                                        <p:attrNameLst>
                                          <p:attrName>ppt_x</p:attrName>
                                        </p:attrNameLst>
                                      </p:cBhvr>
                                      <p:tavLst>
                                        <p:tav tm="0">
                                          <p:val>
                                            <p:strVal val="#ppt_x"/>
                                          </p:val>
                                        </p:tav>
                                        <p:tav tm="100000">
                                          <p:val>
                                            <p:strVal val="#ppt_x"/>
                                          </p:val>
                                        </p:tav>
                                      </p:tavLst>
                                    </p:anim>
                                    <p:anim calcmode="lin" valueType="num">
                                      <p:cBhvr additive="base">
                                        <p:cTn id="200" dur="500" fill="hold"/>
                                        <p:tgtEl>
                                          <p:spTgt spid="52"/>
                                        </p:tgtEl>
                                        <p:attrNameLst>
                                          <p:attrName>ppt_y</p:attrName>
                                        </p:attrNameLst>
                                      </p:cBhvr>
                                      <p:tavLst>
                                        <p:tav tm="0">
                                          <p:val>
                                            <p:strVal val="#ppt_y+0.1"/>
                                          </p:val>
                                        </p:tav>
                                        <p:tav tm="100000">
                                          <p:val>
                                            <p:strVal val="#ppt_y"/>
                                          </p:val>
                                        </p:tav>
                                      </p:tavLst>
                                    </p:anim>
                                    <p:animEffect transition="in" filter="fade">
                                      <p:cBhvr>
                                        <p:cTn id="201" dur="500"/>
                                        <p:tgtEl>
                                          <p:spTgt spid="52"/>
                                        </p:tgtEl>
                                      </p:cBhvr>
                                    </p:animEffect>
                                  </p:childTnLst>
                                </p:cTn>
                              </p:par>
                            </p:childTnLst>
                          </p:cTn>
                        </p:par>
                      </p:childTnLst>
                    </p:cTn>
                  </p:par>
                  <p:par>
                    <p:cTn id="203" fill="hold">
                      <p:stCondLst>
                        <p:cond delay="indefinite"/>
                      </p:stCondLst>
                      <p:childTnLst>
                        <p:par>
                          <p:cTn id="204" fill="hold">
                            <p:stCondLst>
                              <p:cond delay="0"/>
                            </p:stCondLst>
                            <p:childTnLst>
                              <p:par>
                                <p:cTn id="209" presetID="2" presetClass="entr" presetSubtype="4" fill="hold" grpId="0" nodeType="clickEffect">
                                  <p:stCondLst>
                                    <p:cond delay="0"/>
                                  </p:stCondLst>
                                  <p:childTnLst>
                                    <p:set>
                                      <p:cBhvr>
                                        <p:cTn id="205" dur="1" fill="hold">
                                          <p:stCondLst>
                                            <p:cond delay="0"/>
                                          </p:stCondLst>
                                        </p:cTn>
                                        <p:tgtEl>
                                          <p:spTgt spid="53"/>
                                        </p:tgtEl>
                                        <p:attrNameLst>
                                          <p:attrName>style.visibility</p:attrName>
                                        </p:attrNameLst>
                                      </p:cBhvr>
                                      <p:to>
                                        <p:strVal val="visible"/>
                                      </p:to>
                                    </p:set>
                                    <p:anim calcmode="lin" valueType="num">
                                      <p:cBhvr additive="base">
                                        <p:cTn id="206" dur="500" fill="hold"/>
                                        <p:tgtEl>
                                          <p:spTgt spid="53"/>
                                        </p:tgtEl>
                                        <p:attrNameLst>
                                          <p:attrName>ppt_x</p:attrName>
                                        </p:attrNameLst>
                                      </p:cBhvr>
                                      <p:tavLst>
                                        <p:tav tm="0">
                                          <p:val>
                                            <p:strVal val="#ppt_x"/>
                                          </p:val>
                                        </p:tav>
                                        <p:tav tm="100000">
                                          <p:val>
                                            <p:strVal val="#ppt_x"/>
                                          </p:val>
                                        </p:tav>
                                      </p:tavLst>
                                    </p:anim>
                                    <p:anim calcmode="lin" valueType="num">
                                      <p:cBhvr additive="base">
                                        <p:cTn id="207" dur="500" fill="hold"/>
                                        <p:tgtEl>
                                          <p:spTgt spid="53"/>
                                        </p:tgtEl>
                                        <p:attrNameLst>
                                          <p:attrName>ppt_y</p:attrName>
                                        </p:attrNameLst>
                                      </p:cBhvr>
                                      <p:tavLst>
                                        <p:tav tm="0">
                                          <p:val>
                                            <p:strVal val="#ppt_y+0.1"/>
                                          </p:val>
                                        </p:tav>
                                        <p:tav tm="100000">
                                          <p:val>
                                            <p:strVal val="#ppt_y"/>
                                          </p:val>
                                        </p:tav>
                                      </p:tavLst>
                                    </p:anim>
                                    <p:animEffect transition="in" filter="fade">
                                      <p:cBhvr>
                                        <p:cTn id="208" dur="500"/>
                                        <p:tgtEl>
                                          <p:spTgt spid="53"/>
                                        </p:tgtEl>
                                      </p:cBhvr>
                                    </p:animEffect>
                                  </p:childTnLst>
                                </p:cTn>
                              </p:par>
                              <p:par>
                                <p:cTn id="214" presetID="2" presetClass="entr" presetSubtype="4" fill="hold" grpId="0" nodeType="withEffect">
                                  <p:stCondLst>
                                    <p:cond delay="0"/>
                                  </p:stCondLst>
                                  <p:childTnLst>
                                    <p:set>
                                      <p:cBhvr>
                                        <p:cTn id="210" dur="1" fill="hold">
                                          <p:stCondLst>
                                            <p:cond delay="0"/>
                                          </p:stCondLst>
                                        </p:cTn>
                                        <p:tgtEl>
                                          <p:spTgt spid="54"/>
                                        </p:tgtEl>
                                        <p:attrNameLst>
                                          <p:attrName>style.visibility</p:attrName>
                                        </p:attrNameLst>
                                      </p:cBhvr>
                                      <p:to>
                                        <p:strVal val="visible"/>
                                      </p:to>
                                    </p:set>
                                    <p:anim calcmode="lin" valueType="num">
                                      <p:cBhvr additive="base">
                                        <p:cTn id="211" dur="500" fill="hold"/>
                                        <p:tgtEl>
                                          <p:spTgt spid="54"/>
                                        </p:tgtEl>
                                        <p:attrNameLst>
                                          <p:attrName>ppt_x</p:attrName>
                                        </p:attrNameLst>
                                      </p:cBhvr>
                                      <p:tavLst>
                                        <p:tav tm="0">
                                          <p:val>
                                            <p:strVal val="#ppt_x"/>
                                          </p:val>
                                        </p:tav>
                                        <p:tav tm="100000">
                                          <p:val>
                                            <p:strVal val="#ppt_x"/>
                                          </p:val>
                                        </p:tav>
                                      </p:tavLst>
                                    </p:anim>
                                    <p:anim calcmode="lin" valueType="num">
                                      <p:cBhvr additive="base">
                                        <p:cTn id="212" dur="500" fill="hold"/>
                                        <p:tgtEl>
                                          <p:spTgt spid="54"/>
                                        </p:tgtEl>
                                        <p:attrNameLst>
                                          <p:attrName>ppt_y</p:attrName>
                                        </p:attrNameLst>
                                      </p:cBhvr>
                                      <p:tavLst>
                                        <p:tav tm="0">
                                          <p:val>
                                            <p:strVal val="#ppt_y+0.1"/>
                                          </p:val>
                                        </p:tav>
                                        <p:tav tm="100000">
                                          <p:val>
                                            <p:strVal val="#ppt_y"/>
                                          </p:val>
                                        </p:tav>
                                      </p:tavLst>
                                    </p:anim>
                                    <p:animEffect transition="in" filter="fade">
                                      <p:cBhvr>
                                        <p:cTn id="21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Partitioning: One Topic, Several Logs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single topic log is split into pieces - each one a log of its own</a:t>
            </a:r>
          </a:p>
        </p:txBody>
      </p:sp>
      <p:sp>
        <p:nvSpPr>
          <p:cNvPr id="11" name="a1f_lb10"/>
          <p:cNvSpPr txBox="1"/>
          <p:nvPr/>
        </p:nvSpPr>
        <p:spPr>
          <a:xfrm>
            <a:off x="457200" y="1261872"/>
            <a:ext cx="5486400" cy="201168"/>
          </a:xfrm>
          <a:prstGeom prst="rect">
            <a:avLst/>
          </a:prstGeom>
          <a:noFill/>
        </p:spPr>
        <p:txBody>
          <a:bodyPr wrap="square" lIns="0" tIns="0" rIns="0" bIns="0" anchor="ctr">
            <a:spAutoFit/>
          </a:bodyPr>
          <a:lstStyle/>
          <a:p>
            <a:pPr algn="l"/>
            <a:r>
              <a:rPr sz="1000" b="1">
                <a:solidFill>
                  <a:srgbClr val="1C1917"/>
                </a:solidFill>
                <a:latin typeface="Consolas"/>
              </a:rPr>
              <a:t>thermostat_readings  -  one log</a:t>
            </a:r>
          </a:p>
        </p:txBody>
      </p:sp>
      <p:sp>
        <p:nvSpPr>
          <p:cNvPr id="12" name="a1w_cell11"/>
          <p:cNvSpPr/>
          <p:nvPr/>
        </p:nvSpPr>
        <p:spPr>
          <a:xfrm>
            <a:off x="457200"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_cellt12"/>
          <p:cNvSpPr txBox="1"/>
          <p:nvPr/>
        </p:nvSpPr>
        <p:spPr>
          <a:xfrm>
            <a:off x="457200"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0</a:t>
            </a:r>
          </a:p>
        </p:txBody>
      </p:sp>
      <p:sp>
        <p:nvSpPr>
          <p:cNvPr id="14" name="a1wd40_cell13"/>
          <p:cNvSpPr/>
          <p:nvPr/>
        </p:nvSpPr>
        <p:spPr>
          <a:xfrm>
            <a:off x="1024128"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40_cellt14"/>
          <p:cNvSpPr txBox="1"/>
          <p:nvPr/>
        </p:nvSpPr>
        <p:spPr>
          <a:xfrm>
            <a:off x="1024128"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1</a:t>
            </a:r>
          </a:p>
        </p:txBody>
      </p:sp>
      <p:sp>
        <p:nvSpPr>
          <p:cNvPr id="16" name="a1wd80_cell15"/>
          <p:cNvSpPr/>
          <p:nvPr/>
        </p:nvSpPr>
        <p:spPr>
          <a:xfrm>
            <a:off x="1591056"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80_cellt16"/>
          <p:cNvSpPr txBox="1"/>
          <p:nvPr/>
        </p:nvSpPr>
        <p:spPr>
          <a:xfrm>
            <a:off x="1591056"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2</a:t>
            </a:r>
          </a:p>
        </p:txBody>
      </p:sp>
      <p:sp>
        <p:nvSpPr>
          <p:cNvPr id="18" name="a1wd120_cell17"/>
          <p:cNvSpPr/>
          <p:nvPr/>
        </p:nvSpPr>
        <p:spPr>
          <a:xfrm>
            <a:off x="2157984"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120_cellt18"/>
          <p:cNvSpPr txBox="1"/>
          <p:nvPr/>
        </p:nvSpPr>
        <p:spPr>
          <a:xfrm>
            <a:off x="2157984"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3</a:t>
            </a:r>
          </a:p>
        </p:txBody>
      </p:sp>
      <p:sp>
        <p:nvSpPr>
          <p:cNvPr id="20" name="a1wd160_cell19"/>
          <p:cNvSpPr/>
          <p:nvPr/>
        </p:nvSpPr>
        <p:spPr>
          <a:xfrm>
            <a:off x="2724912"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160_cellt20"/>
          <p:cNvSpPr txBox="1"/>
          <p:nvPr/>
        </p:nvSpPr>
        <p:spPr>
          <a:xfrm>
            <a:off x="2724912"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4</a:t>
            </a:r>
          </a:p>
        </p:txBody>
      </p:sp>
      <p:sp>
        <p:nvSpPr>
          <p:cNvPr id="22" name="a1wd200_cell21"/>
          <p:cNvSpPr/>
          <p:nvPr/>
        </p:nvSpPr>
        <p:spPr>
          <a:xfrm>
            <a:off x="3291840"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200_cellt22"/>
          <p:cNvSpPr txBox="1"/>
          <p:nvPr/>
        </p:nvSpPr>
        <p:spPr>
          <a:xfrm>
            <a:off x="3291840"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5</a:t>
            </a:r>
          </a:p>
        </p:txBody>
      </p:sp>
      <p:sp>
        <p:nvSpPr>
          <p:cNvPr id="24" name="a1wd240_cell23"/>
          <p:cNvSpPr/>
          <p:nvPr/>
        </p:nvSpPr>
        <p:spPr>
          <a:xfrm>
            <a:off x="3858768"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240_cellt24"/>
          <p:cNvSpPr txBox="1"/>
          <p:nvPr/>
        </p:nvSpPr>
        <p:spPr>
          <a:xfrm>
            <a:off x="3858768"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6</a:t>
            </a:r>
          </a:p>
        </p:txBody>
      </p:sp>
      <p:sp>
        <p:nvSpPr>
          <p:cNvPr id="26" name="a1wd280_cell25"/>
          <p:cNvSpPr/>
          <p:nvPr/>
        </p:nvSpPr>
        <p:spPr>
          <a:xfrm>
            <a:off x="4425696"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280_cellt26"/>
          <p:cNvSpPr txBox="1"/>
          <p:nvPr/>
        </p:nvSpPr>
        <p:spPr>
          <a:xfrm>
            <a:off x="4425696"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7</a:t>
            </a:r>
          </a:p>
        </p:txBody>
      </p:sp>
      <p:sp>
        <p:nvSpPr>
          <p:cNvPr id="28" name="a1wd320_cell27"/>
          <p:cNvSpPr/>
          <p:nvPr/>
        </p:nvSpPr>
        <p:spPr>
          <a:xfrm>
            <a:off x="4992624"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320_cellt28"/>
          <p:cNvSpPr txBox="1"/>
          <p:nvPr/>
        </p:nvSpPr>
        <p:spPr>
          <a:xfrm>
            <a:off x="4992624"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8</a:t>
            </a:r>
          </a:p>
        </p:txBody>
      </p:sp>
      <p:sp>
        <p:nvSpPr>
          <p:cNvPr id="30" name="a1wd360_cell29"/>
          <p:cNvSpPr/>
          <p:nvPr/>
        </p:nvSpPr>
        <p:spPr>
          <a:xfrm>
            <a:off x="5559552"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360_cellt30"/>
          <p:cNvSpPr txBox="1"/>
          <p:nvPr/>
        </p:nvSpPr>
        <p:spPr>
          <a:xfrm>
            <a:off x="5559552"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9</a:t>
            </a:r>
          </a:p>
        </p:txBody>
      </p:sp>
      <p:sp>
        <p:nvSpPr>
          <p:cNvPr id="32" name="a1wd400_cell31"/>
          <p:cNvSpPr/>
          <p:nvPr/>
        </p:nvSpPr>
        <p:spPr>
          <a:xfrm>
            <a:off x="6126480"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400_cellt32"/>
          <p:cNvSpPr txBox="1"/>
          <p:nvPr/>
        </p:nvSpPr>
        <p:spPr>
          <a:xfrm>
            <a:off x="6126480"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10</a:t>
            </a:r>
          </a:p>
        </p:txBody>
      </p:sp>
      <p:sp>
        <p:nvSpPr>
          <p:cNvPr id="34" name="a1wd440_cell33"/>
          <p:cNvSpPr/>
          <p:nvPr/>
        </p:nvSpPr>
        <p:spPr>
          <a:xfrm>
            <a:off x="6693408" y="1517904"/>
            <a:ext cx="566928" cy="384048"/>
          </a:xfrm>
          <a:prstGeom prst="rect">
            <a:avLst/>
          </a:prstGeom>
          <a:solidFill>
            <a:srgbClr val="F7F6F3"/>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440_cellt34"/>
          <p:cNvSpPr txBox="1"/>
          <p:nvPr/>
        </p:nvSpPr>
        <p:spPr>
          <a:xfrm>
            <a:off x="6693408" y="1517904"/>
            <a:ext cx="566928" cy="384048"/>
          </a:xfrm>
          <a:prstGeom prst="rect">
            <a:avLst/>
          </a:prstGeom>
          <a:noFill/>
        </p:spPr>
        <p:txBody>
          <a:bodyPr wrap="square" lIns="0" tIns="0" rIns="0" bIns="0" anchor="ctr">
            <a:spAutoFit/>
          </a:bodyPr>
          <a:lstStyle/>
          <a:p>
            <a:pPr algn="ctr"/>
            <a:r>
              <a:rPr sz="950" b="1">
                <a:solidFill>
                  <a:srgbClr val="78716C"/>
                </a:solidFill>
                <a:latin typeface="Consolas"/>
              </a:rPr>
              <a:t>11</a:t>
            </a:r>
          </a:p>
        </p:txBody>
      </p:sp>
      <p:cxnSp>
        <p:nvCxnSpPr>
          <p:cNvPr id="36" name="a2u_ar35"/>
          <p:cNvCxnSpPr/>
          <p:nvPr/>
        </p:nvCxnSpPr>
        <p:spPr>
          <a:xfrm>
            <a:off x="2148840" y="1947672"/>
            <a:ext cx="0" cy="292608"/>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a2u_lb36"/>
          <p:cNvSpPr txBox="1"/>
          <p:nvPr/>
        </p:nvSpPr>
        <p:spPr>
          <a:xfrm>
            <a:off x="2286000" y="1956816"/>
            <a:ext cx="2743200" cy="274320"/>
          </a:xfrm>
          <a:prstGeom prst="rect">
            <a:avLst/>
          </a:prstGeom>
          <a:noFill/>
        </p:spPr>
        <p:txBody>
          <a:bodyPr wrap="square" lIns="0" tIns="0" rIns="0" bIns="0" anchor="ctr">
            <a:spAutoFit/>
          </a:bodyPr>
          <a:lstStyle/>
          <a:p>
            <a:pPr algn="l"/>
            <a:r>
              <a:rPr sz="850" b="1">
                <a:solidFill>
                  <a:srgbClr val="C2410C"/>
                </a:solidFill>
                <a:latin typeface="Segoe UI"/>
              </a:rPr>
              <a:t>split into partitions</a:t>
            </a:r>
          </a:p>
        </p:txBody>
      </p:sp>
      <p:sp>
        <p:nvSpPr>
          <p:cNvPr id="38" name="a2ud150_pn37"/>
          <p:cNvSpPr txBox="1"/>
          <p:nvPr/>
        </p:nvSpPr>
        <p:spPr>
          <a:xfrm>
            <a:off x="457200" y="2331720"/>
            <a:ext cx="1188720" cy="384048"/>
          </a:xfrm>
          <a:prstGeom prst="rect">
            <a:avLst/>
          </a:prstGeom>
          <a:noFill/>
        </p:spPr>
        <p:txBody>
          <a:bodyPr wrap="square" lIns="0" tIns="0" rIns="0" bIns="0" anchor="ctr">
            <a:spAutoFit/>
          </a:bodyPr>
          <a:lstStyle/>
          <a:p>
            <a:pPr algn="l"/>
            <a:r>
              <a:rPr sz="1000" b="1">
                <a:solidFill>
                  <a:srgbClr val="0E7490"/>
                </a:solidFill>
                <a:latin typeface="Consolas"/>
              </a:rPr>
              <a:t>partition 0</a:t>
            </a:r>
          </a:p>
        </p:txBody>
      </p:sp>
      <p:sp>
        <p:nvSpPr>
          <p:cNvPr id="39" name="a2ud150_cell38"/>
          <p:cNvSpPr/>
          <p:nvPr/>
        </p:nvSpPr>
        <p:spPr>
          <a:xfrm>
            <a:off x="1691640" y="2331720"/>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150_cellt39"/>
          <p:cNvSpPr txBox="1"/>
          <p:nvPr/>
        </p:nvSpPr>
        <p:spPr>
          <a:xfrm>
            <a:off x="1691640" y="2331720"/>
            <a:ext cx="566928" cy="384048"/>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41" name="a2ud190_cell40"/>
          <p:cNvSpPr/>
          <p:nvPr/>
        </p:nvSpPr>
        <p:spPr>
          <a:xfrm>
            <a:off x="2258568" y="2331720"/>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ud190_cellt41"/>
          <p:cNvSpPr txBox="1"/>
          <p:nvPr/>
        </p:nvSpPr>
        <p:spPr>
          <a:xfrm>
            <a:off x="2258568" y="2331720"/>
            <a:ext cx="566928" cy="384048"/>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43" name="a2ud230_cell42"/>
          <p:cNvSpPr/>
          <p:nvPr/>
        </p:nvSpPr>
        <p:spPr>
          <a:xfrm>
            <a:off x="2825496" y="2331720"/>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d230_cellt43"/>
          <p:cNvSpPr txBox="1"/>
          <p:nvPr/>
        </p:nvSpPr>
        <p:spPr>
          <a:xfrm>
            <a:off x="2825496" y="2331720"/>
            <a:ext cx="566928" cy="384048"/>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45" name="a2ud270_cell44"/>
          <p:cNvSpPr/>
          <p:nvPr/>
        </p:nvSpPr>
        <p:spPr>
          <a:xfrm>
            <a:off x="3392424" y="2331720"/>
            <a:ext cx="566928" cy="384048"/>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d270_cellt45"/>
          <p:cNvSpPr txBox="1"/>
          <p:nvPr/>
        </p:nvSpPr>
        <p:spPr>
          <a:xfrm>
            <a:off x="3392424" y="2331720"/>
            <a:ext cx="566928" cy="384048"/>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47" name="a3u_pill46"/>
          <p:cNvSpPr/>
          <p:nvPr/>
        </p:nvSpPr>
        <p:spPr>
          <a:xfrm>
            <a:off x="4069080" y="2404872"/>
            <a:ext cx="777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node 1</a:t>
            </a:r>
          </a:p>
        </p:txBody>
      </p:sp>
      <p:sp>
        <p:nvSpPr>
          <p:cNvPr id="48" name="a2ud300_pn47"/>
          <p:cNvSpPr txBox="1"/>
          <p:nvPr/>
        </p:nvSpPr>
        <p:spPr>
          <a:xfrm>
            <a:off x="457200" y="2834639"/>
            <a:ext cx="1188720" cy="384048"/>
          </a:xfrm>
          <a:prstGeom prst="rect">
            <a:avLst/>
          </a:prstGeom>
          <a:noFill/>
        </p:spPr>
        <p:txBody>
          <a:bodyPr wrap="square" lIns="0" tIns="0" rIns="0" bIns="0" anchor="ctr">
            <a:spAutoFit/>
          </a:bodyPr>
          <a:lstStyle/>
          <a:p>
            <a:pPr algn="l"/>
            <a:r>
              <a:rPr sz="1000" b="1">
                <a:solidFill>
                  <a:srgbClr val="4F46E5"/>
                </a:solidFill>
                <a:latin typeface="Consolas"/>
              </a:rPr>
              <a:t>partition 1</a:t>
            </a:r>
          </a:p>
        </p:txBody>
      </p:sp>
      <p:sp>
        <p:nvSpPr>
          <p:cNvPr id="49" name="a2ud300_cell48"/>
          <p:cNvSpPr/>
          <p:nvPr/>
        </p:nvSpPr>
        <p:spPr>
          <a:xfrm>
            <a:off x="1691640" y="2834639"/>
            <a:ext cx="56692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2ud300_cellt49"/>
          <p:cNvSpPr txBox="1"/>
          <p:nvPr/>
        </p:nvSpPr>
        <p:spPr>
          <a:xfrm>
            <a:off x="1691640" y="2834639"/>
            <a:ext cx="566928" cy="384048"/>
          </a:xfrm>
          <a:prstGeom prst="rect">
            <a:avLst/>
          </a:prstGeom>
          <a:noFill/>
        </p:spPr>
        <p:txBody>
          <a:bodyPr wrap="square" lIns="0" tIns="0" rIns="0" bIns="0" anchor="ctr">
            <a:spAutoFit/>
          </a:bodyPr>
          <a:lstStyle/>
          <a:p>
            <a:pPr algn="ctr"/>
            <a:r>
              <a:rPr sz="950" b="1">
                <a:solidFill>
                  <a:srgbClr val="4F46E5"/>
                </a:solidFill>
                <a:latin typeface="Consolas"/>
              </a:rPr>
              <a:t>0</a:t>
            </a:r>
          </a:p>
        </p:txBody>
      </p:sp>
      <p:sp>
        <p:nvSpPr>
          <p:cNvPr id="51" name="a2ud340_cell50"/>
          <p:cNvSpPr/>
          <p:nvPr/>
        </p:nvSpPr>
        <p:spPr>
          <a:xfrm>
            <a:off x="2258568" y="2834639"/>
            <a:ext cx="56692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2ud340_cellt51"/>
          <p:cNvSpPr txBox="1"/>
          <p:nvPr/>
        </p:nvSpPr>
        <p:spPr>
          <a:xfrm>
            <a:off x="2258568" y="2834639"/>
            <a:ext cx="566928" cy="384048"/>
          </a:xfrm>
          <a:prstGeom prst="rect">
            <a:avLst/>
          </a:prstGeom>
          <a:noFill/>
        </p:spPr>
        <p:txBody>
          <a:bodyPr wrap="square" lIns="0" tIns="0" rIns="0" bIns="0" anchor="ctr">
            <a:spAutoFit/>
          </a:bodyPr>
          <a:lstStyle/>
          <a:p>
            <a:pPr algn="ctr"/>
            <a:r>
              <a:rPr sz="950" b="1">
                <a:solidFill>
                  <a:srgbClr val="4F46E5"/>
                </a:solidFill>
                <a:latin typeface="Consolas"/>
              </a:rPr>
              <a:t>1</a:t>
            </a:r>
          </a:p>
        </p:txBody>
      </p:sp>
      <p:sp>
        <p:nvSpPr>
          <p:cNvPr id="53" name="a2ud380_cell52"/>
          <p:cNvSpPr/>
          <p:nvPr/>
        </p:nvSpPr>
        <p:spPr>
          <a:xfrm>
            <a:off x="2825496" y="2834639"/>
            <a:ext cx="56692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d380_cellt53"/>
          <p:cNvSpPr txBox="1"/>
          <p:nvPr/>
        </p:nvSpPr>
        <p:spPr>
          <a:xfrm>
            <a:off x="2825496" y="2834639"/>
            <a:ext cx="566928" cy="384048"/>
          </a:xfrm>
          <a:prstGeom prst="rect">
            <a:avLst/>
          </a:prstGeom>
          <a:noFill/>
        </p:spPr>
        <p:txBody>
          <a:bodyPr wrap="square" lIns="0" tIns="0" rIns="0" bIns="0" anchor="ctr">
            <a:spAutoFit/>
          </a:bodyPr>
          <a:lstStyle/>
          <a:p>
            <a:pPr algn="ctr"/>
            <a:r>
              <a:rPr sz="950" b="1">
                <a:solidFill>
                  <a:srgbClr val="4F46E5"/>
                </a:solidFill>
                <a:latin typeface="Consolas"/>
              </a:rPr>
              <a:t>2</a:t>
            </a:r>
          </a:p>
        </p:txBody>
      </p:sp>
      <p:sp>
        <p:nvSpPr>
          <p:cNvPr id="55" name="a2ud420_cell54"/>
          <p:cNvSpPr/>
          <p:nvPr/>
        </p:nvSpPr>
        <p:spPr>
          <a:xfrm>
            <a:off x="3392424" y="2834639"/>
            <a:ext cx="56692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2ud420_cellt55"/>
          <p:cNvSpPr txBox="1"/>
          <p:nvPr/>
        </p:nvSpPr>
        <p:spPr>
          <a:xfrm>
            <a:off x="3392424" y="2834639"/>
            <a:ext cx="566928" cy="384048"/>
          </a:xfrm>
          <a:prstGeom prst="rect">
            <a:avLst/>
          </a:prstGeom>
          <a:noFill/>
        </p:spPr>
        <p:txBody>
          <a:bodyPr wrap="square" lIns="0" tIns="0" rIns="0" bIns="0" anchor="ctr">
            <a:spAutoFit/>
          </a:bodyPr>
          <a:lstStyle/>
          <a:p>
            <a:pPr algn="ctr"/>
            <a:r>
              <a:rPr sz="950" b="1">
                <a:solidFill>
                  <a:srgbClr val="4F46E5"/>
                </a:solidFill>
                <a:latin typeface="Consolas"/>
              </a:rPr>
              <a:t>3</a:t>
            </a:r>
          </a:p>
        </p:txBody>
      </p:sp>
      <p:sp>
        <p:nvSpPr>
          <p:cNvPr id="57" name="a3ud100_pill56"/>
          <p:cNvSpPr/>
          <p:nvPr/>
        </p:nvSpPr>
        <p:spPr>
          <a:xfrm>
            <a:off x="4069080" y="2907791"/>
            <a:ext cx="777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node 2</a:t>
            </a:r>
          </a:p>
        </p:txBody>
      </p:sp>
      <p:sp>
        <p:nvSpPr>
          <p:cNvPr id="58" name="a2ud450_pn57"/>
          <p:cNvSpPr txBox="1"/>
          <p:nvPr/>
        </p:nvSpPr>
        <p:spPr>
          <a:xfrm>
            <a:off x="457200" y="3337560"/>
            <a:ext cx="1188720" cy="384048"/>
          </a:xfrm>
          <a:prstGeom prst="rect">
            <a:avLst/>
          </a:prstGeom>
          <a:noFill/>
        </p:spPr>
        <p:txBody>
          <a:bodyPr wrap="square" lIns="0" tIns="0" rIns="0" bIns="0" anchor="ctr">
            <a:spAutoFit/>
          </a:bodyPr>
          <a:lstStyle/>
          <a:p>
            <a:pPr algn="l"/>
            <a:r>
              <a:rPr sz="1000" b="1">
                <a:solidFill>
                  <a:srgbClr val="C2410C"/>
                </a:solidFill>
                <a:latin typeface="Consolas"/>
              </a:rPr>
              <a:t>partition 2</a:t>
            </a:r>
          </a:p>
        </p:txBody>
      </p:sp>
      <p:sp>
        <p:nvSpPr>
          <p:cNvPr id="59" name="a2ud450_cell58"/>
          <p:cNvSpPr/>
          <p:nvPr/>
        </p:nvSpPr>
        <p:spPr>
          <a:xfrm>
            <a:off x="1691640" y="3337560"/>
            <a:ext cx="566928" cy="384048"/>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2ud450_cellt59"/>
          <p:cNvSpPr txBox="1"/>
          <p:nvPr/>
        </p:nvSpPr>
        <p:spPr>
          <a:xfrm>
            <a:off x="1691640" y="3337560"/>
            <a:ext cx="566928" cy="384048"/>
          </a:xfrm>
          <a:prstGeom prst="rect">
            <a:avLst/>
          </a:prstGeom>
          <a:noFill/>
        </p:spPr>
        <p:txBody>
          <a:bodyPr wrap="square" lIns="0" tIns="0" rIns="0" bIns="0" anchor="ctr">
            <a:spAutoFit/>
          </a:bodyPr>
          <a:lstStyle/>
          <a:p>
            <a:pPr algn="ctr"/>
            <a:r>
              <a:rPr sz="950" b="1">
                <a:solidFill>
                  <a:srgbClr val="C2410C"/>
                </a:solidFill>
                <a:latin typeface="Consolas"/>
              </a:rPr>
              <a:t>0</a:t>
            </a:r>
          </a:p>
        </p:txBody>
      </p:sp>
      <p:sp>
        <p:nvSpPr>
          <p:cNvPr id="61" name="a2ud490_cell60"/>
          <p:cNvSpPr/>
          <p:nvPr/>
        </p:nvSpPr>
        <p:spPr>
          <a:xfrm>
            <a:off x="2258568" y="3337560"/>
            <a:ext cx="566928" cy="384048"/>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2ud490_cellt61"/>
          <p:cNvSpPr txBox="1"/>
          <p:nvPr/>
        </p:nvSpPr>
        <p:spPr>
          <a:xfrm>
            <a:off x="2258568" y="3337560"/>
            <a:ext cx="566928" cy="384048"/>
          </a:xfrm>
          <a:prstGeom prst="rect">
            <a:avLst/>
          </a:prstGeom>
          <a:noFill/>
        </p:spPr>
        <p:txBody>
          <a:bodyPr wrap="square" lIns="0" tIns="0" rIns="0" bIns="0" anchor="ctr">
            <a:spAutoFit/>
          </a:bodyPr>
          <a:lstStyle/>
          <a:p>
            <a:pPr algn="ctr"/>
            <a:r>
              <a:rPr sz="950" b="1">
                <a:solidFill>
                  <a:srgbClr val="C2410C"/>
                </a:solidFill>
                <a:latin typeface="Consolas"/>
              </a:rPr>
              <a:t>1</a:t>
            </a:r>
          </a:p>
        </p:txBody>
      </p:sp>
      <p:sp>
        <p:nvSpPr>
          <p:cNvPr id="63" name="a2ud530_cell62"/>
          <p:cNvSpPr/>
          <p:nvPr/>
        </p:nvSpPr>
        <p:spPr>
          <a:xfrm>
            <a:off x="2825496" y="3337560"/>
            <a:ext cx="566928" cy="384048"/>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2ud530_cellt63"/>
          <p:cNvSpPr txBox="1"/>
          <p:nvPr/>
        </p:nvSpPr>
        <p:spPr>
          <a:xfrm>
            <a:off x="2825496" y="3337560"/>
            <a:ext cx="566928" cy="384048"/>
          </a:xfrm>
          <a:prstGeom prst="rect">
            <a:avLst/>
          </a:prstGeom>
          <a:noFill/>
        </p:spPr>
        <p:txBody>
          <a:bodyPr wrap="square" lIns="0" tIns="0" rIns="0" bIns="0" anchor="ctr">
            <a:spAutoFit/>
          </a:bodyPr>
          <a:lstStyle/>
          <a:p>
            <a:pPr algn="ctr"/>
            <a:r>
              <a:rPr sz="950" b="1">
                <a:solidFill>
                  <a:srgbClr val="C2410C"/>
                </a:solidFill>
                <a:latin typeface="Consolas"/>
              </a:rPr>
              <a:t>2</a:t>
            </a:r>
          </a:p>
        </p:txBody>
      </p:sp>
      <p:sp>
        <p:nvSpPr>
          <p:cNvPr id="65" name="a2ud570_cell64"/>
          <p:cNvSpPr/>
          <p:nvPr/>
        </p:nvSpPr>
        <p:spPr>
          <a:xfrm>
            <a:off x="3392424" y="3337560"/>
            <a:ext cx="566928" cy="384048"/>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2ud570_cellt65"/>
          <p:cNvSpPr txBox="1"/>
          <p:nvPr/>
        </p:nvSpPr>
        <p:spPr>
          <a:xfrm>
            <a:off x="3392424" y="3337560"/>
            <a:ext cx="566928" cy="384048"/>
          </a:xfrm>
          <a:prstGeom prst="rect">
            <a:avLst/>
          </a:prstGeom>
          <a:noFill/>
        </p:spPr>
        <p:txBody>
          <a:bodyPr wrap="square" lIns="0" tIns="0" rIns="0" bIns="0" anchor="ctr">
            <a:spAutoFit/>
          </a:bodyPr>
          <a:lstStyle/>
          <a:p>
            <a:pPr algn="ctr"/>
            <a:r>
              <a:rPr sz="950" b="1">
                <a:solidFill>
                  <a:srgbClr val="C2410C"/>
                </a:solidFill>
                <a:latin typeface="Consolas"/>
              </a:rPr>
              <a:t>3</a:t>
            </a:r>
          </a:p>
        </p:txBody>
      </p:sp>
      <p:sp>
        <p:nvSpPr>
          <p:cNvPr id="67" name="a3ud200_pill66"/>
          <p:cNvSpPr/>
          <p:nvPr/>
        </p:nvSpPr>
        <p:spPr>
          <a:xfrm>
            <a:off x="4069080" y="3410712"/>
            <a:ext cx="777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node 3</a:t>
            </a:r>
          </a:p>
        </p:txBody>
      </p:sp>
      <p:sp>
        <p:nvSpPr>
          <p:cNvPr id="68" name="a3ud300_dot67"/>
          <p:cNvSpPr/>
          <p:nvPr/>
        </p:nvSpPr>
        <p:spPr>
          <a:xfrm>
            <a:off x="5212080" y="240944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3ud300_b68"/>
          <p:cNvSpPr txBox="1"/>
          <p:nvPr/>
        </p:nvSpPr>
        <p:spPr>
          <a:xfrm>
            <a:off x="5431536" y="2313432"/>
            <a:ext cx="3255263" cy="438912"/>
          </a:xfrm>
          <a:prstGeom prst="rect">
            <a:avLst/>
          </a:prstGeom>
          <a:noFill/>
        </p:spPr>
        <p:txBody>
          <a:bodyPr wrap="square" lIns="0" tIns="0" rIns="0" bIns="0" anchor="t">
            <a:spAutoFit/>
          </a:bodyPr>
          <a:lstStyle/>
          <a:p>
            <a:pPr algn="l"/>
            <a:r>
              <a:rPr sz="950" b="1">
                <a:solidFill>
                  <a:srgbClr val="1C1917"/>
                </a:solidFill>
                <a:latin typeface="Segoe UI"/>
              </a:rPr>
              <a:t>A log of its own  </a:t>
            </a:r>
            <a:r>
              <a:rPr sz="950" b="0">
                <a:solidFill>
                  <a:srgbClr val="44403C"/>
                </a:solidFill>
                <a:latin typeface="Segoe UI"/>
              </a:rPr>
              <a:t>append-only, with offsets from 0</a:t>
            </a:r>
          </a:p>
        </p:txBody>
      </p:sp>
      <p:sp>
        <p:nvSpPr>
          <p:cNvPr id="70" name="a3ud420_dot69"/>
          <p:cNvSpPr/>
          <p:nvPr/>
        </p:nvSpPr>
        <p:spPr>
          <a:xfrm>
            <a:off x="5212080" y="28849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3ud420_b70"/>
          <p:cNvSpPr txBox="1"/>
          <p:nvPr/>
        </p:nvSpPr>
        <p:spPr>
          <a:xfrm>
            <a:off x="5431536" y="2788920"/>
            <a:ext cx="3255263" cy="438912"/>
          </a:xfrm>
          <a:prstGeom prst="rect">
            <a:avLst/>
          </a:prstGeom>
          <a:noFill/>
        </p:spPr>
        <p:txBody>
          <a:bodyPr wrap="square" lIns="0" tIns="0" rIns="0" bIns="0" anchor="t">
            <a:spAutoFit/>
          </a:bodyPr>
          <a:lstStyle/>
          <a:p>
            <a:pPr algn="l"/>
            <a:r>
              <a:rPr sz="950" b="1">
                <a:solidFill>
                  <a:srgbClr val="1C1917"/>
                </a:solidFill>
                <a:latin typeface="Segoe UI"/>
              </a:rPr>
              <a:t>Many per topic  </a:t>
            </a:r>
            <a:r>
              <a:rPr sz="950" b="0">
                <a:solidFill>
                  <a:srgbClr val="44403C"/>
                </a:solidFill>
                <a:latin typeface="Segoe UI"/>
              </a:rPr>
              <a:t>three here - often far more</a:t>
            </a:r>
          </a:p>
        </p:txBody>
      </p:sp>
      <p:sp>
        <p:nvSpPr>
          <p:cNvPr id="72" name="a3ud540_dot71"/>
          <p:cNvSpPr/>
          <p:nvPr/>
        </p:nvSpPr>
        <p:spPr>
          <a:xfrm>
            <a:off x="5212080" y="336042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ud540_b72"/>
          <p:cNvSpPr txBox="1"/>
          <p:nvPr/>
        </p:nvSpPr>
        <p:spPr>
          <a:xfrm>
            <a:off x="5431536" y="3264408"/>
            <a:ext cx="3255263" cy="438912"/>
          </a:xfrm>
          <a:prstGeom prst="rect">
            <a:avLst/>
          </a:prstGeom>
          <a:noFill/>
        </p:spPr>
        <p:txBody>
          <a:bodyPr wrap="square" lIns="0" tIns="0" rIns="0" bIns="0" anchor="t">
            <a:spAutoFit/>
          </a:bodyPr>
          <a:lstStyle/>
          <a:p>
            <a:pPr algn="l"/>
            <a:r>
              <a:rPr sz="950" b="1">
                <a:solidFill>
                  <a:srgbClr val="1C1917"/>
                </a:solidFill>
                <a:latin typeface="Segoe UI"/>
              </a:rPr>
              <a:t>Spread out  </a:t>
            </a:r>
            <a:r>
              <a:rPr sz="950" b="0">
                <a:solidFill>
                  <a:srgbClr val="44403C"/>
                </a:solidFill>
                <a:latin typeface="Segoe UI"/>
              </a:rPr>
              <a:t>partitions can live on different nodes</a:t>
            </a:r>
          </a:p>
        </p:txBody>
      </p:sp>
      <p:sp>
        <p:nvSpPr>
          <p:cNvPr id="74" name="a4u_nb73"/>
          <p:cNvSpPr/>
          <p:nvPr/>
        </p:nvSpPr>
        <p:spPr>
          <a:xfrm>
            <a:off x="457200" y="3977639"/>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a4u_nacc74"/>
          <p:cNvSpPr/>
          <p:nvPr/>
        </p:nvSpPr>
        <p:spPr>
          <a:xfrm>
            <a:off x="457200" y="3977639"/>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a4u_nt75"/>
          <p:cNvSpPr txBox="1"/>
          <p:nvPr/>
        </p:nvSpPr>
        <p:spPr>
          <a:xfrm>
            <a:off x="658368" y="3977639"/>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Partitioning breaks one topic into several logs - so a topic is no longer tied to one machine.</a:t>
            </a:r>
          </a:p>
        </p:txBody>
      </p:sp>
      <p:sp>
        <p:nvSpPr>
          <p:cNvPr id="77" name="ft7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78" name="ft7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ft7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80" name="ft7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22" presetClass="entr" presetSubtype="8"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500"/>
                                        <p:tgtEl>
                                          <p:spTgt spid="12"/>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6" presetID="22" presetClass="entr" presetSubtype="8" fill="hold" grpId="0" nodeType="withEffect">
                                  <p:stCondLst>
                                    <p:cond delay="4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4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8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8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2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2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16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16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20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20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24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par>
                                <p:cTn id="49" presetID="22" presetClass="entr" presetSubtype="8" fill="hold" grpId="0" nodeType="withEffect">
                                  <p:stCondLst>
                                    <p:cond delay="24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par>
                                <p:cTn id="52" presetID="22" presetClass="entr" presetSubtype="8" fill="hold" grpId="0" nodeType="withEffect">
                                  <p:stCondLst>
                                    <p:cond delay="28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par>
                                <p:cTn id="55" presetID="22" presetClass="entr" presetSubtype="8" fill="hold" grpId="0" nodeType="withEffect">
                                  <p:stCondLst>
                                    <p:cond delay="28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500"/>
                                        <p:tgtEl>
                                          <p:spTgt spid="27"/>
                                        </p:tgtEl>
                                      </p:cBhvr>
                                    </p:animEffect>
                                  </p:childTnLst>
                                </p:cTn>
                              </p:par>
                              <p:par>
                                <p:cTn id="58" presetID="22" presetClass="entr" presetSubtype="8" fill="hold" grpId="0" nodeType="withEffect">
                                  <p:stCondLst>
                                    <p:cond delay="32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par>
                                <p:cTn id="61" presetID="22" presetClass="entr" presetSubtype="8" fill="hold" grpId="0" nodeType="withEffect">
                                  <p:stCondLst>
                                    <p:cond delay="32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500"/>
                                        <p:tgtEl>
                                          <p:spTgt spid="29"/>
                                        </p:tgtEl>
                                      </p:cBhvr>
                                    </p:animEffect>
                                  </p:childTnLst>
                                </p:cTn>
                              </p:par>
                              <p:par>
                                <p:cTn id="64" presetID="22" presetClass="entr" presetSubtype="8" fill="hold" grpId="0" nodeType="withEffect">
                                  <p:stCondLst>
                                    <p:cond delay="36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par>
                                <p:cTn id="67" presetID="22" presetClass="entr" presetSubtype="8" fill="hold" grpId="0" nodeType="withEffect">
                                  <p:stCondLst>
                                    <p:cond delay="36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par>
                                <p:cTn id="70" presetID="22" presetClass="entr" presetSubtype="8" fill="hold" grpId="0" nodeType="withEffect">
                                  <p:stCondLst>
                                    <p:cond delay="40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3" presetID="22" presetClass="entr" presetSubtype="8" fill="hold" grpId="0" nodeType="withEffect">
                                  <p:stCondLst>
                                    <p:cond delay="400"/>
                                  </p:stCondLst>
                                  <p:childTnLst>
                                    <p:set>
                                      <p:cBhvr>
                                        <p:cTn id="71" dur="1" fill="hold">
                                          <p:stCondLst>
                                            <p:cond delay="0"/>
                                          </p:stCondLst>
                                        </p:cTn>
                                        <p:tgtEl>
                                          <p:spTgt spid="33"/>
                                        </p:tgtEl>
                                        <p:attrNameLst>
                                          <p:attrName>style.visibility</p:attrName>
                                        </p:attrNameLst>
                                      </p:cBhvr>
                                      <p:to>
                                        <p:strVal val="visible"/>
                                      </p:to>
                                    </p:set>
                                    <p:animEffect transition="in" filter="wipe(left)">
                                      <p:cBhvr>
                                        <p:cTn id="72" dur="500"/>
                                        <p:tgtEl>
                                          <p:spTgt spid="33"/>
                                        </p:tgtEl>
                                      </p:cBhvr>
                                    </p:animEffect>
                                  </p:childTnLst>
                                </p:cTn>
                              </p:par>
                              <p:par>
                                <p:cTn id="76" presetID="22" presetClass="entr" presetSubtype="8" fill="hold" grpId="0" nodeType="withEffect">
                                  <p:stCondLst>
                                    <p:cond delay="440"/>
                                  </p:stCondLst>
                                  <p:childTnLst>
                                    <p:set>
                                      <p:cBhvr>
                                        <p:cTn id="74" dur="1" fill="hold">
                                          <p:stCondLst>
                                            <p:cond delay="0"/>
                                          </p:stCondLst>
                                        </p:cTn>
                                        <p:tgtEl>
                                          <p:spTgt spid="34"/>
                                        </p:tgtEl>
                                        <p:attrNameLst>
                                          <p:attrName>style.visibility</p:attrName>
                                        </p:attrNameLst>
                                      </p:cBhvr>
                                      <p:to>
                                        <p:strVal val="visible"/>
                                      </p:to>
                                    </p:set>
                                    <p:animEffect transition="in" filter="wipe(left)">
                                      <p:cBhvr>
                                        <p:cTn id="75" dur="500"/>
                                        <p:tgtEl>
                                          <p:spTgt spid="34"/>
                                        </p:tgtEl>
                                      </p:cBhvr>
                                    </p:animEffect>
                                  </p:childTnLst>
                                </p:cTn>
                              </p:par>
                              <p:par>
                                <p:cTn id="79" presetID="22" presetClass="entr" presetSubtype="8" fill="hold" grpId="0" nodeType="withEffect">
                                  <p:stCondLst>
                                    <p:cond delay="440"/>
                                  </p:stCondLst>
                                  <p:childTnLst>
                                    <p:set>
                                      <p:cBhvr>
                                        <p:cTn id="77" dur="1" fill="hold">
                                          <p:stCondLst>
                                            <p:cond delay="0"/>
                                          </p:stCondLst>
                                        </p:cTn>
                                        <p:tgtEl>
                                          <p:spTgt spid="35"/>
                                        </p:tgtEl>
                                        <p:attrNameLst>
                                          <p:attrName>style.visibility</p:attrName>
                                        </p:attrNameLst>
                                      </p:cBhvr>
                                      <p:to>
                                        <p:strVal val="visible"/>
                                      </p:to>
                                    </p:set>
                                    <p:animEffect transition="in" filter="wipe(left)">
                                      <p:cBhvr>
                                        <p:cTn id="78"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anim calcmode="lin" valueType="num">
                                      <p:cBhvr additive="base">
                                        <p:cTn id="83" dur="500" fill="hold"/>
                                        <p:tgtEl>
                                          <p:spTgt spid="36"/>
                                        </p:tgtEl>
                                        <p:attrNameLst>
                                          <p:attrName>ppt_x</p:attrName>
                                        </p:attrNameLst>
                                      </p:cBhvr>
                                      <p:tavLst>
                                        <p:tav tm="0">
                                          <p:val>
                                            <p:strVal val="#ppt_x"/>
                                          </p:val>
                                        </p:tav>
                                        <p:tav tm="100000">
                                          <p:val>
                                            <p:strVal val="#ppt_x"/>
                                          </p:val>
                                        </p:tav>
                                      </p:tavLst>
                                    </p:anim>
                                    <p:anim calcmode="lin" valueType="num">
                                      <p:cBhvr additive="base">
                                        <p:cTn id="84" dur="500" fill="hold"/>
                                        <p:tgtEl>
                                          <p:spTgt spid="36"/>
                                        </p:tgtEl>
                                        <p:attrNameLst>
                                          <p:attrName>ppt_y</p:attrName>
                                        </p:attrNameLst>
                                      </p:cBhvr>
                                      <p:tavLst>
                                        <p:tav tm="0">
                                          <p:val>
                                            <p:strVal val="#ppt_y+0.1"/>
                                          </p:val>
                                        </p:tav>
                                        <p:tav tm="100000">
                                          <p:val>
                                            <p:strVal val="#ppt_y"/>
                                          </p:val>
                                        </p:tav>
                                      </p:tavLst>
                                    </p:anim>
                                    <p:animEffect transition="in" filter="fade">
                                      <p:cBhvr>
                                        <p:cTn id="85" dur="500"/>
                                        <p:tgtEl>
                                          <p:spTgt spid="3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ppt_y+0.1"/>
                                          </p:val>
                                        </p:tav>
                                        <p:tav tm="100000">
                                          <p:val>
                                            <p:strVal val="#ppt_y"/>
                                          </p:val>
                                        </p:tav>
                                      </p:tavLst>
                                    </p:anim>
                                    <p:animEffect transition="in" filter="fade">
                                      <p:cBhvr>
                                        <p:cTn id="90" dur="500"/>
                                        <p:tgtEl>
                                          <p:spTgt spid="37"/>
                                        </p:tgtEl>
                                      </p:cBhvr>
                                    </p:animEffect>
                                  </p:childTnLst>
                                </p:cTn>
                              </p:par>
                              <p:par>
                                <p:cTn id="96" presetID="2" presetClass="entr" presetSubtype="4" fill="hold" grpId="0" nodeType="withEffect">
                                  <p:stCondLst>
                                    <p:cond delay="150"/>
                                  </p:stCondLst>
                                  <p:childTnLst>
                                    <p:set>
                                      <p:cBhvr>
                                        <p:cTn id="92" dur="1" fill="hold">
                                          <p:stCondLst>
                                            <p:cond delay="0"/>
                                          </p:stCondLst>
                                        </p:cTn>
                                        <p:tgtEl>
                                          <p:spTgt spid="38"/>
                                        </p:tgtEl>
                                        <p:attrNameLst>
                                          <p:attrName>style.visibility</p:attrName>
                                        </p:attrNameLst>
                                      </p:cBhvr>
                                      <p:to>
                                        <p:strVal val="visible"/>
                                      </p:to>
                                    </p:set>
                                    <p:anim calcmode="lin" valueType="num">
                                      <p:cBhvr additive="base">
                                        <p:cTn id="93" dur="500" fill="hold"/>
                                        <p:tgtEl>
                                          <p:spTgt spid="38"/>
                                        </p:tgtEl>
                                        <p:attrNameLst>
                                          <p:attrName>ppt_x</p:attrName>
                                        </p:attrNameLst>
                                      </p:cBhvr>
                                      <p:tavLst>
                                        <p:tav tm="0">
                                          <p:val>
                                            <p:strVal val="#ppt_x"/>
                                          </p:val>
                                        </p:tav>
                                        <p:tav tm="100000">
                                          <p:val>
                                            <p:strVal val="#ppt_x"/>
                                          </p:val>
                                        </p:tav>
                                      </p:tavLst>
                                    </p:anim>
                                    <p:anim calcmode="lin" valueType="num">
                                      <p:cBhvr additive="base">
                                        <p:cTn id="94" dur="500" fill="hold"/>
                                        <p:tgtEl>
                                          <p:spTgt spid="38"/>
                                        </p:tgtEl>
                                        <p:attrNameLst>
                                          <p:attrName>ppt_y</p:attrName>
                                        </p:attrNameLst>
                                      </p:cBhvr>
                                      <p:tavLst>
                                        <p:tav tm="0">
                                          <p:val>
                                            <p:strVal val="#ppt_y+0.1"/>
                                          </p:val>
                                        </p:tav>
                                        <p:tav tm="100000">
                                          <p:val>
                                            <p:strVal val="#ppt_y"/>
                                          </p:val>
                                        </p:tav>
                                      </p:tavLst>
                                    </p:anim>
                                    <p:animEffect transition="in" filter="fade">
                                      <p:cBhvr>
                                        <p:cTn id="95" dur="500"/>
                                        <p:tgtEl>
                                          <p:spTgt spid="38"/>
                                        </p:tgtEl>
                                      </p:cBhvr>
                                    </p:animEffect>
                                  </p:childTnLst>
                                </p:cTn>
                              </p:par>
                              <p:par>
                                <p:cTn id="101" presetID="2" presetClass="entr" presetSubtype="4" fill="hold" grpId="0" nodeType="withEffect">
                                  <p:stCondLst>
                                    <p:cond delay="150"/>
                                  </p:stCondLst>
                                  <p:childTnLst>
                                    <p:set>
                                      <p:cBhvr>
                                        <p:cTn id="97" dur="1" fill="hold">
                                          <p:stCondLst>
                                            <p:cond delay="0"/>
                                          </p:stCondLst>
                                        </p:cTn>
                                        <p:tgtEl>
                                          <p:spTgt spid="39"/>
                                        </p:tgtEl>
                                        <p:attrNameLst>
                                          <p:attrName>style.visibility</p:attrName>
                                        </p:attrNameLst>
                                      </p:cBhvr>
                                      <p:to>
                                        <p:strVal val="visible"/>
                                      </p:to>
                                    </p:set>
                                    <p:anim calcmode="lin" valueType="num">
                                      <p:cBhvr additive="base">
                                        <p:cTn id="98" dur="500" fill="hold"/>
                                        <p:tgtEl>
                                          <p:spTgt spid="39"/>
                                        </p:tgtEl>
                                        <p:attrNameLst>
                                          <p:attrName>ppt_x</p:attrName>
                                        </p:attrNameLst>
                                      </p:cBhvr>
                                      <p:tavLst>
                                        <p:tav tm="0">
                                          <p:val>
                                            <p:strVal val="#ppt_x"/>
                                          </p:val>
                                        </p:tav>
                                        <p:tav tm="100000">
                                          <p:val>
                                            <p:strVal val="#ppt_x"/>
                                          </p:val>
                                        </p:tav>
                                      </p:tavLst>
                                    </p:anim>
                                    <p:anim calcmode="lin" valueType="num">
                                      <p:cBhvr additive="base">
                                        <p:cTn id="99" dur="500" fill="hold"/>
                                        <p:tgtEl>
                                          <p:spTgt spid="39"/>
                                        </p:tgtEl>
                                        <p:attrNameLst>
                                          <p:attrName>ppt_y</p:attrName>
                                        </p:attrNameLst>
                                      </p:cBhvr>
                                      <p:tavLst>
                                        <p:tav tm="0">
                                          <p:val>
                                            <p:strVal val="#ppt_y+0.1"/>
                                          </p:val>
                                        </p:tav>
                                        <p:tav tm="100000">
                                          <p:val>
                                            <p:strVal val="#ppt_y"/>
                                          </p:val>
                                        </p:tav>
                                      </p:tavLst>
                                    </p:anim>
                                    <p:animEffect transition="in" filter="fade">
                                      <p:cBhvr>
                                        <p:cTn id="100" dur="500"/>
                                        <p:tgtEl>
                                          <p:spTgt spid="39"/>
                                        </p:tgtEl>
                                      </p:cBhvr>
                                    </p:animEffect>
                                  </p:childTnLst>
                                </p:cTn>
                              </p:par>
                              <p:par>
                                <p:cTn id="106" presetID="2" presetClass="entr" presetSubtype="4" fill="hold" grpId="0" nodeType="withEffect">
                                  <p:stCondLst>
                                    <p:cond delay="150"/>
                                  </p:stCondLst>
                                  <p:childTnLst>
                                    <p:set>
                                      <p:cBhvr>
                                        <p:cTn id="102" dur="1" fill="hold">
                                          <p:stCondLst>
                                            <p:cond delay="0"/>
                                          </p:stCondLst>
                                        </p:cTn>
                                        <p:tgtEl>
                                          <p:spTgt spid="40"/>
                                        </p:tgtEl>
                                        <p:attrNameLst>
                                          <p:attrName>style.visibility</p:attrName>
                                        </p:attrNameLst>
                                      </p:cBhvr>
                                      <p:to>
                                        <p:strVal val="visible"/>
                                      </p:to>
                                    </p:set>
                                    <p:anim calcmode="lin" valueType="num">
                                      <p:cBhvr additive="base">
                                        <p:cTn id="103" dur="500" fill="hold"/>
                                        <p:tgtEl>
                                          <p:spTgt spid="40"/>
                                        </p:tgtEl>
                                        <p:attrNameLst>
                                          <p:attrName>ppt_x</p:attrName>
                                        </p:attrNameLst>
                                      </p:cBhvr>
                                      <p:tavLst>
                                        <p:tav tm="0">
                                          <p:val>
                                            <p:strVal val="#ppt_x"/>
                                          </p:val>
                                        </p:tav>
                                        <p:tav tm="100000">
                                          <p:val>
                                            <p:strVal val="#ppt_x"/>
                                          </p:val>
                                        </p:tav>
                                      </p:tavLst>
                                    </p:anim>
                                    <p:anim calcmode="lin" valueType="num">
                                      <p:cBhvr additive="base">
                                        <p:cTn id="104" dur="500" fill="hold"/>
                                        <p:tgtEl>
                                          <p:spTgt spid="40"/>
                                        </p:tgtEl>
                                        <p:attrNameLst>
                                          <p:attrName>ppt_y</p:attrName>
                                        </p:attrNameLst>
                                      </p:cBhvr>
                                      <p:tavLst>
                                        <p:tav tm="0">
                                          <p:val>
                                            <p:strVal val="#ppt_y+0.1"/>
                                          </p:val>
                                        </p:tav>
                                        <p:tav tm="100000">
                                          <p:val>
                                            <p:strVal val="#ppt_y"/>
                                          </p:val>
                                        </p:tav>
                                      </p:tavLst>
                                    </p:anim>
                                    <p:animEffect transition="in" filter="fade">
                                      <p:cBhvr>
                                        <p:cTn id="105" dur="500"/>
                                        <p:tgtEl>
                                          <p:spTgt spid="40"/>
                                        </p:tgtEl>
                                      </p:cBhvr>
                                    </p:animEffect>
                                  </p:childTnLst>
                                </p:cTn>
                              </p:par>
                              <p:par>
                                <p:cTn id="111" presetID="2" presetClass="entr" presetSubtype="4" fill="hold" grpId="0" nodeType="withEffect">
                                  <p:stCondLst>
                                    <p:cond delay="190"/>
                                  </p:stCondLst>
                                  <p:childTnLst>
                                    <p:set>
                                      <p:cBhvr>
                                        <p:cTn id="107" dur="1" fill="hold">
                                          <p:stCondLst>
                                            <p:cond delay="0"/>
                                          </p:stCondLst>
                                        </p:cTn>
                                        <p:tgtEl>
                                          <p:spTgt spid="41"/>
                                        </p:tgtEl>
                                        <p:attrNameLst>
                                          <p:attrName>style.visibility</p:attrName>
                                        </p:attrNameLst>
                                      </p:cBhvr>
                                      <p:to>
                                        <p:strVal val="visible"/>
                                      </p:to>
                                    </p:set>
                                    <p:anim calcmode="lin" valueType="num">
                                      <p:cBhvr additive="base">
                                        <p:cTn id="108" dur="500" fill="hold"/>
                                        <p:tgtEl>
                                          <p:spTgt spid="41"/>
                                        </p:tgtEl>
                                        <p:attrNameLst>
                                          <p:attrName>ppt_x</p:attrName>
                                        </p:attrNameLst>
                                      </p:cBhvr>
                                      <p:tavLst>
                                        <p:tav tm="0">
                                          <p:val>
                                            <p:strVal val="#ppt_x"/>
                                          </p:val>
                                        </p:tav>
                                        <p:tav tm="100000">
                                          <p:val>
                                            <p:strVal val="#ppt_x"/>
                                          </p:val>
                                        </p:tav>
                                      </p:tavLst>
                                    </p:anim>
                                    <p:anim calcmode="lin" valueType="num">
                                      <p:cBhvr additive="base">
                                        <p:cTn id="109" dur="500" fill="hold"/>
                                        <p:tgtEl>
                                          <p:spTgt spid="41"/>
                                        </p:tgtEl>
                                        <p:attrNameLst>
                                          <p:attrName>ppt_y</p:attrName>
                                        </p:attrNameLst>
                                      </p:cBhvr>
                                      <p:tavLst>
                                        <p:tav tm="0">
                                          <p:val>
                                            <p:strVal val="#ppt_y+0.1"/>
                                          </p:val>
                                        </p:tav>
                                        <p:tav tm="100000">
                                          <p:val>
                                            <p:strVal val="#ppt_y"/>
                                          </p:val>
                                        </p:tav>
                                      </p:tavLst>
                                    </p:anim>
                                    <p:animEffect transition="in" filter="fade">
                                      <p:cBhvr>
                                        <p:cTn id="110" dur="500"/>
                                        <p:tgtEl>
                                          <p:spTgt spid="41"/>
                                        </p:tgtEl>
                                      </p:cBhvr>
                                    </p:animEffect>
                                  </p:childTnLst>
                                </p:cTn>
                              </p:par>
                              <p:par>
                                <p:cTn id="116" presetID="2" presetClass="entr" presetSubtype="4" fill="hold" grpId="0" nodeType="withEffect">
                                  <p:stCondLst>
                                    <p:cond delay="190"/>
                                  </p:stCondLst>
                                  <p:childTnLst>
                                    <p:set>
                                      <p:cBhvr>
                                        <p:cTn id="112" dur="1" fill="hold">
                                          <p:stCondLst>
                                            <p:cond delay="0"/>
                                          </p:stCondLst>
                                        </p:cTn>
                                        <p:tgtEl>
                                          <p:spTgt spid="42"/>
                                        </p:tgtEl>
                                        <p:attrNameLst>
                                          <p:attrName>style.visibility</p:attrName>
                                        </p:attrNameLst>
                                      </p:cBhvr>
                                      <p:to>
                                        <p:strVal val="visible"/>
                                      </p:to>
                                    </p:set>
                                    <p:anim calcmode="lin" valueType="num">
                                      <p:cBhvr additive="base">
                                        <p:cTn id="113" dur="500" fill="hold"/>
                                        <p:tgtEl>
                                          <p:spTgt spid="42"/>
                                        </p:tgtEl>
                                        <p:attrNameLst>
                                          <p:attrName>ppt_x</p:attrName>
                                        </p:attrNameLst>
                                      </p:cBhvr>
                                      <p:tavLst>
                                        <p:tav tm="0">
                                          <p:val>
                                            <p:strVal val="#ppt_x"/>
                                          </p:val>
                                        </p:tav>
                                        <p:tav tm="100000">
                                          <p:val>
                                            <p:strVal val="#ppt_x"/>
                                          </p:val>
                                        </p:tav>
                                      </p:tavLst>
                                    </p:anim>
                                    <p:anim calcmode="lin" valueType="num">
                                      <p:cBhvr additive="base">
                                        <p:cTn id="114" dur="500" fill="hold"/>
                                        <p:tgtEl>
                                          <p:spTgt spid="42"/>
                                        </p:tgtEl>
                                        <p:attrNameLst>
                                          <p:attrName>ppt_y</p:attrName>
                                        </p:attrNameLst>
                                      </p:cBhvr>
                                      <p:tavLst>
                                        <p:tav tm="0">
                                          <p:val>
                                            <p:strVal val="#ppt_y+0.1"/>
                                          </p:val>
                                        </p:tav>
                                        <p:tav tm="100000">
                                          <p:val>
                                            <p:strVal val="#ppt_y"/>
                                          </p:val>
                                        </p:tav>
                                      </p:tavLst>
                                    </p:anim>
                                    <p:animEffect transition="in" filter="fade">
                                      <p:cBhvr>
                                        <p:cTn id="115" dur="500"/>
                                        <p:tgtEl>
                                          <p:spTgt spid="42"/>
                                        </p:tgtEl>
                                      </p:cBhvr>
                                    </p:animEffect>
                                  </p:childTnLst>
                                </p:cTn>
                              </p:par>
                              <p:par>
                                <p:cTn id="121" presetID="2" presetClass="entr" presetSubtype="4" fill="hold" grpId="0" nodeType="withEffect">
                                  <p:stCondLst>
                                    <p:cond delay="230"/>
                                  </p:stCondLst>
                                  <p:childTnLst>
                                    <p:set>
                                      <p:cBhvr>
                                        <p:cTn id="117" dur="1" fill="hold">
                                          <p:stCondLst>
                                            <p:cond delay="0"/>
                                          </p:stCondLst>
                                        </p:cTn>
                                        <p:tgtEl>
                                          <p:spTgt spid="43"/>
                                        </p:tgtEl>
                                        <p:attrNameLst>
                                          <p:attrName>style.visibility</p:attrName>
                                        </p:attrNameLst>
                                      </p:cBhvr>
                                      <p:to>
                                        <p:strVal val="visible"/>
                                      </p:to>
                                    </p:set>
                                    <p:anim calcmode="lin" valueType="num">
                                      <p:cBhvr additive="base">
                                        <p:cTn id="118" dur="500" fill="hold"/>
                                        <p:tgtEl>
                                          <p:spTgt spid="43"/>
                                        </p:tgtEl>
                                        <p:attrNameLst>
                                          <p:attrName>ppt_x</p:attrName>
                                        </p:attrNameLst>
                                      </p:cBhvr>
                                      <p:tavLst>
                                        <p:tav tm="0">
                                          <p:val>
                                            <p:strVal val="#ppt_x"/>
                                          </p:val>
                                        </p:tav>
                                        <p:tav tm="100000">
                                          <p:val>
                                            <p:strVal val="#ppt_x"/>
                                          </p:val>
                                        </p:tav>
                                      </p:tavLst>
                                    </p:anim>
                                    <p:anim calcmode="lin" valueType="num">
                                      <p:cBhvr additive="base">
                                        <p:cTn id="119" dur="500" fill="hold"/>
                                        <p:tgtEl>
                                          <p:spTgt spid="43"/>
                                        </p:tgtEl>
                                        <p:attrNameLst>
                                          <p:attrName>ppt_y</p:attrName>
                                        </p:attrNameLst>
                                      </p:cBhvr>
                                      <p:tavLst>
                                        <p:tav tm="0">
                                          <p:val>
                                            <p:strVal val="#ppt_y+0.1"/>
                                          </p:val>
                                        </p:tav>
                                        <p:tav tm="100000">
                                          <p:val>
                                            <p:strVal val="#ppt_y"/>
                                          </p:val>
                                        </p:tav>
                                      </p:tavLst>
                                    </p:anim>
                                    <p:animEffect transition="in" filter="fade">
                                      <p:cBhvr>
                                        <p:cTn id="120" dur="500"/>
                                        <p:tgtEl>
                                          <p:spTgt spid="43"/>
                                        </p:tgtEl>
                                      </p:cBhvr>
                                    </p:animEffect>
                                  </p:childTnLst>
                                </p:cTn>
                              </p:par>
                              <p:par>
                                <p:cTn id="126" presetID="2" presetClass="entr" presetSubtype="4" fill="hold" grpId="0" nodeType="withEffect">
                                  <p:stCondLst>
                                    <p:cond delay="230"/>
                                  </p:stCondLst>
                                  <p:childTnLst>
                                    <p:set>
                                      <p:cBhvr>
                                        <p:cTn id="122" dur="1" fill="hold">
                                          <p:stCondLst>
                                            <p:cond delay="0"/>
                                          </p:stCondLst>
                                        </p:cTn>
                                        <p:tgtEl>
                                          <p:spTgt spid="44"/>
                                        </p:tgtEl>
                                        <p:attrNameLst>
                                          <p:attrName>style.visibility</p:attrName>
                                        </p:attrNameLst>
                                      </p:cBhvr>
                                      <p:to>
                                        <p:strVal val="visible"/>
                                      </p:to>
                                    </p:set>
                                    <p:anim calcmode="lin" valueType="num">
                                      <p:cBhvr additive="base">
                                        <p:cTn id="123" dur="500" fill="hold"/>
                                        <p:tgtEl>
                                          <p:spTgt spid="44"/>
                                        </p:tgtEl>
                                        <p:attrNameLst>
                                          <p:attrName>ppt_x</p:attrName>
                                        </p:attrNameLst>
                                      </p:cBhvr>
                                      <p:tavLst>
                                        <p:tav tm="0">
                                          <p:val>
                                            <p:strVal val="#ppt_x"/>
                                          </p:val>
                                        </p:tav>
                                        <p:tav tm="100000">
                                          <p:val>
                                            <p:strVal val="#ppt_x"/>
                                          </p:val>
                                        </p:tav>
                                      </p:tavLst>
                                    </p:anim>
                                    <p:anim calcmode="lin" valueType="num">
                                      <p:cBhvr additive="base">
                                        <p:cTn id="124" dur="500" fill="hold"/>
                                        <p:tgtEl>
                                          <p:spTgt spid="44"/>
                                        </p:tgtEl>
                                        <p:attrNameLst>
                                          <p:attrName>ppt_y</p:attrName>
                                        </p:attrNameLst>
                                      </p:cBhvr>
                                      <p:tavLst>
                                        <p:tav tm="0">
                                          <p:val>
                                            <p:strVal val="#ppt_y+0.1"/>
                                          </p:val>
                                        </p:tav>
                                        <p:tav tm="100000">
                                          <p:val>
                                            <p:strVal val="#ppt_y"/>
                                          </p:val>
                                        </p:tav>
                                      </p:tavLst>
                                    </p:anim>
                                    <p:animEffect transition="in" filter="fade">
                                      <p:cBhvr>
                                        <p:cTn id="125" dur="500"/>
                                        <p:tgtEl>
                                          <p:spTgt spid="44"/>
                                        </p:tgtEl>
                                      </p:cBhvr>
                                    </p:animEffect>
                                  </p:childTnLst>
                                </p:cTn>
                              </p:par>
                              <p:par>
                                <p:cTn id="131" presetID="2" presetClass="entr" presetSubtype="4" fill="hold" grpId="0" nodeType="withEffect">
                                  <p:stCondLst>
                                    <p:cond delay="270"/>
                                  </p:stCondLst>
                                  <p:childTnLst>
                                    <p:set>
                                      <p:cBhvr>
                                        <p:cTn id="127" dur="1" fill="hold">
                                          <p:stCondLst>
                                            <p:cond delay="0"/>
                                          </p:stCondLst>
                                        </p:cTn>
                                        <p:tgtEl>
                                          <p:spTgt spid="45"/>
                                        </p:tgtEl>
                                        <p:attrNameLst>
                                          <p:attrName>style.visibility</p:attrName>
                                        </p:attrNameLst>
                                      </p:cBhvr>
                                      <p:to>
                                        <p:strVal val="visible"/>
                                      </p:to>
                                    </p:set>
                                    <p:anim calcmode="lin" valueType="num">
                                      <p:cBhvr additive="base">
                                        <p:cTn id="128" dur="500" fill="hold"/>
                                        <p:tgtEl>
                                          <p:spTgt spid="45"/>
                                        </p:tgtEl>
                                        <p:attrNameLst>
                                          <p:attrName>ppt_x</p:attrName>
                                        </p:attrNameLst>
                                      </p:cBhvr>
                                      <p:tavLst>
                                        <p:tav tm="0">
                                          <p:val>
                                            <p:strVal val="#ppt_x"/>
                                          </p:val>
                                        </p:tav>
                                        <p:tav tm="100000">
                                          <p:val>
                                            <p:strVal val="#ppt_x"/>
                                          </p:val>
                                        </p:tav>
                                      </p:tavLst>
                                    </p:anim>
                                    <p:anim calcmode="lin" valueType="num">
                                      <p:cBhvr additive="base">
                                        <p:cTn id="129" dur="500" fill="hold"/>
                                        <p:tgtEl>
                                          <p:spTgt spid="45"/>
                                        </p:tgtEl>
                                        <p:attrNameLst>
                                          <p:attrName>ppt_y</p:attrName>
                                        </p:attrNameLst>
                                      </p:cBhvr>
                                      <p:tavLst>
                                        <p:tav tm="0">
                                          <p:val>
                                            <p:strVal val="#ppt_y+0.1"/>
                                          </p:val>
                                        </p:tav>
                                        <p:tav tm="100000">
                                          <p:val>
                                            <p:strVal val="#ppt_y"/>
                                          </p:val>
                                        </p:tav>
                                      </p:tavLst>
                                    </p:anim>
                                    <p:animEffect transition="in" filter="fade">
                                      <p:cBhvr>
                                        <p:cTn id="130" dur="500"/>
                                        <p:tgtEl>
                                          <p:spTgt spid="45"/>
                                        </p:tgtEl>
                                      </p:cBhvr>
                                    </p:animEffect>
                                  </p:childTnLst>
                                </p:cTn>
                              </p:par>
                              <p:par>
                                <p:cTn id="136" presetID="2" presetClass="entr" presetSubtype="4" fill="hold" grpId="0" nodeType="withEffect">
                                  <p:stCondLst>
                                    <p:cond delay="270"/>
                                  </p:stCondLst>
                                  <p:childTnLst>
                                    <p:set>
                                      <p:cBhvr>
                                        <p:cTn id="132" dur="1" fill="hold">
                                          <p:stCondLst>
                                            <p:cond delay="0"/>
                                          </p:stCondLst>
                                        </p:cTn>
                                        <p:tgtEl>
                                          <p:spTgt spid="46"/>
                                        </p:tgtEl>
                                        <p:attrNameLst>
                                          <p:attrName>style.visibility</p:attrName>
                                        </p:attrNameLst>
                                      </p:cBhvr>
                                      <p:to>
                                        <p:strVal val="visible"/>
                                      </p:to>
                                    </p:set>
                                    <p:anim calcmode="lin" valueType="num">
                                      <p:cBhvr additive="base">
                                        <p:cTn id="133" dur="500" fill="hold"/>
                                        <p:tgtEl>
                                          <p:spTgt spid="46"/>
                                        </p:tgtEl>
                                        <p:attrNameLst>
                                          <p:attrName>ppt_x</p:attrName>
                                        </p:attrNameLst>
                                      </p:cBhvr>
                                      <p:tavLst>
                                        <p:tav tm="0">
                                          <p:val>
                                            <p:strVal val="#ppt_x"/>
                                          </p:val>
                                        </p:tav>
                                        <p:tav tm="100000">
                                          <p:val>
                                            <p:strVal val="#ppt_x"/>
                                          </p:val>
                                        </p:tav>
                                      </p:tavLst>
                                    </p:anim>
                                    <p:anim calcmode="lin" valueType="num">
                                      <p:cBhvr additive="base">
                                        <p:cTn id="134" dur="500" fill="hold"/>
                                        <p:tgtEl>
                                          <p:spTgt spid="46"/>
                                        </p:tgtEl>
                                        <p:attrNameLst>
                                          <p:attrName>ppt_y</p:attrName>
                                        </p:attrNameLst>
                                      </p:cBhvr>
                                      <p:tavLst>
                                        <p:tav tm="0">
                                          <p:val>
                                            <p:strVal val="#ppt_y+0.1"/>
                                          </p:val>
                                        </p:tav>
                                        <p:tav tm="100000">
                                          <p:val>
                                            <p:strVal val="#ppt_y"/>
                                          </p:val>
                                        </p:tav>
                                      </p:tavLst>
                                    </p:anim>
                                    <p:animEffect transition="in" filter="fade">
                                      <p:cBhvr>
                                        <p:cTn id="135" dur="500"/>
                                        <p:tgtEl>
                                          <p:spTgt spid="46"/>
                                        </p:tgtEl>
                                      </p:cBhvr>
                                    </p:animEffect>
                                  </p:childTnLst>
                                </p:cTn>
                              </p:par>
                              <p:par>
                                <p:cTn id="141" presetID="2" presetClass="entr" presetSubtype="4" fill="hold" grpId="0" nodeType="withEffect">
                                  <p:stCondLst>
                                    <p:cond delay="300"/>
                                  </p:stCondLst>
                                  <p:childTnLst>
                                    <p:set>
                                      <p:cBhvr>
                                        <p:cTn id="137" dur="1" fill="hold">
                                          <p:stCondLst>
                                            <p:cond delay="0"/>
                                          </p:stCondLst>
                                        </p:cTn>
                                        <p:tgtEl>
                                          <p:spTgt spid="48"/>
                                        </p:tgtEl>
                                        <p:attrNameLst>
                                          <p:attrName>style.visibility</p:attrName>
                                        </p:attrNameLst>
                                      </p:cBhvr>
                                      <p:to>
                                        <p:strVal val="visible"/>
                                      </p:to>
                                    </p:set>
                                    <p:anim calcmode="lin" valueType="num">
                                      <p:cBhvr additive="base">
                                        <p:cTn id="138" dur="500" fill="hold"/>
                                        <p:tgtEl>
                                          <p:spTgt spid="48"/>
                                        </p:tgtEl>
                                        <p:attrNameLst>
                                          <p:attrName>ppt_x</p:attrName>
                                        </p:attrNameLst>
                                      </p:cBhvr>
                                      <p:tavLst>
                                        <p:tav tm="0">
                                          <p:val>
                                            <p:strVal val="#ppt_x"/>
                                          </p:val>
                                        </p:tav>
                                        <p:tav tm="100000">
                                          <p:val>
                                            <p:strVal val="#ppt_x"/>
                                          </p:val>
                                        </p:tav>
                                      </p:tavLst>
                                    </p:anim>
                                    <p:anim calcmode="lin" valueType="num">
                                      <p:cBhvr additive="base">
                                        <p:cTn id="139" dur="500" fill="hold"/>
                                        <p:tgtEl>
                                          <p:spTgt spid="48"/>
                                        </p:tgtEl>
                                        <p:attrNameLst>
                                          <p:attrName>ppt_y</p:attrName>
                                        </p:attrNameLst>
                                      </p:cBhvr>
                                      <p:tavLst>
                                        <p:tav tm="0">
                                          <p:val>
                                            <p:strVal val="#ppt_y+0.1"/>
                                          </p:val>
                                        </p:tav>
                                        <p:tav tm="100000">
                                          <p:val>
                                            <p:strVal val="#ppt_y"/>
                                          </p:val>
                                        </p:tav>
                                      </p:tavLst>
                                    </p:anim>
                                    <p:animEffect transition="in" filter="fade">
                                      <p:cBhvr>
                                        <p:cTn id="140" dur="500"/>
                                        <p:tgtEl>
                                          <p:spTgt spid="48"/>
                                        </p:tgtEl>
                                      </p:cBhvr>
                                    </p:animEffect>
                                  </p:childTnLst>
                                </p:cTn>
                              </p:par>
                              <p:par>
                                <p:cTn id="146" presetID="2" presetClass="entr" presetSubtype="4" fill="hold" grpId="0" nodeType="withEffect">
                                  <p:stCondLst>
                                    <p:cond delay="300"/>
                                  </p:stCondLst>
                                  <p:childTnLst>
                                    <p:set>
                                      <p:cBhvr>
                                        <p:cTn id="142" dur="1" fill="hold">
                                          <p:stCondLst>
                                            <p:cond delay="0"/>
                                          </p:stCondLst>
                                        </p:cTn>
                                        <p:tgtEl>
                                          <p:spTgt spid="49"/>
                                        </p:tgtEl>
                                        <p:attrNameLst>
                                          <p:attrName>style.visibility</p:attrName>
                                        </p:attrNameLst>
                                      </p:cBhvr>
                                      <p:to>
                                        <p:strVal val="visible"/>
                                      </p:to>
                                    </p:set>
                                    <p:anim calcmode="lin" valueType="num">
                                      <p:cBhvr additive="base">
                                        <p:cTn id="143" dur="500" fill="hold"/>
                                        <p:tgtEl>
                                          <p:spTgt spid="49"/>
                                        </p:tgtEl>
                                        <p:attrNameLst>
                                          <p:attrName>ppt_x</p:attrName>
                                        </p:attrNameLst>
                                      </p:cBhvr>
                                      <p:tavLst>
                                        <p:tav tm="0">
                                          <p:val>
                                            <p:strVal val="#ppt_x"/>
                                          </p:val>
                                        </p:tav>
                                        <p:tav tm="100000">
                                          <p:val>
                                            <p:strVal val="#ppt_x"/>
                                          </p:val>
                                        </p:tav>
                                      </p:tavLst>
                                    </p:anim>
                                    <p:anim calcmode="lin" valueType="num">
                                      <p:cBhvr additive="base">
                                        <p:cTn id="144" dur="500" fill="hold"/>
                                        <p:tgtEl>
                                          <p:spTgt spid="49"/>
                                        </p:tgtEl>
                                        <p:attrNameLst>
                                          <p:attrName>ppt_y</p:attrName>
                                        </p:attrNameLst>
                                      </p:cBhvr>
                                      <p:tavLst>
                                        <p:tav tm="0">
                                          <p:val>
                                            <p:strVal val="#ppt_y+0.1"/>
                                          </p:val>
                                        </p:tav>
                                        <p:tav tm="100000">
                                          <p:val>
                                            <p:strVal val="#ppt_y"/>
                                          </p:val>
                                        </p:tav>
                                      </p:tavLst>
                                    </p:anim>
                                    <p:animEffect transition="in" filter="fade">
                                      <p:cBhvr>
                                        <p:cTn id="145" dur="500"/>
                                        <p:tgtEl>
                                          <p:spTgt spid="49"/>
                                        </p:tgtEl>
                                      </p:cBhvr>
                                    </p:animEffect>
                                  </p:childTnLst>
                                </p:cTn>
                              </p:par>
                              <p:par>
                                <p:cTn id="151" presetID="2" presetClass="entr" presetSubtype="4" fill="hold" grpId="0" nodeType="withEffect">
                                  <p:stCondLst>
                                    <p:cond delay="300"/>
                                  </p:stCondLst>
                                  <p:childTnLst>
                                    <p:set>
                                      <p:cBhvr>
                                        <p:cTn id="147" dur="1" fill="hold">
                                          <p:stCondLst>
                                            <p:cond delay="0"/>
                                          </p:stCondLst>
                                        </p:cTn>
                                        <p:tgtEl>
                                          <p:spTgt spid="50"/>
                                        </p:tgtEl>
                                        <p:attrNameLst>
                                          <p:attrName>style.visibility</p:attrName>
                                        </p:attrNameLst>
                                      </p:cBhvr>
                                      <p:to>
                                        <p:strVal val="visible"/>
                                      </p:to>
                                    </p:set>
                                    <p:anim calcmode="lin" valueType="num">
                                      <p:cBhvr additive="base">
                                        <p:cTn id="148" dur="500" fill="hold"/>
                                        <p:tgtEl>
                                          <p:spTgt spid="50"/>
                                        </p:tgtEl>
                                        <p:attrNameLst>
                                          <p:attrName>ppt_x</p:attrName>
                                        </p:attrNameLst>
                                      </p:cBhvr>
                                      <p:tavLst>
                                        <p:tav tm="0">
                                          <p:val>
                                            <p:strVal val="#ppt_x"/>
                                          </p:val>
                                        </p:tav>
                                        <p:tav tm="100000">
                                          <p:val>
                                            <p:strVal val="#ppt_x"/>
                                          </p:val>
                                        </p:tav>
                                      </p:tavLst>
                                    </p:anim>
                                    <p:anim calcmode="lin" valueType="num">
                                      <p:cBhvr additive="base">
                                        <p:cTn id="149" dur="500" fill="hold"/>
                                        <p:tgtEl>
                                          <p:spTgt spid="50"/>
                                        </p:tgtEl>
                                        <p:attrNameLst>
                                          <p:attrName>ppt_y</p:attrName>
                                        </p:attrNameLst>
                                      </p:cBhvr>
                                      <p:tavLst>
                                        <p:tav tm="0">
                                          <p:val>
                                            <p:strVal val="#ppt_y+0.1"/>
                                          </p:val>
                                        </p:tav>
                                        <p:tav tm="100000">
                                          <p:val>
                                            <p:strVal val="#ppt_y"/>
                                          </p:val>
                                        </p:tav>
                                      </p:tavLst>
                                    </p:anim>
                                    <p:animEffect transition="in" filter="fade">
                                      <p:cBhvr>
                                        <p:cTn id="150" dur="500"/>
                                        <p:tgtEl>
                                          <p:spTgt spid="50"/>
                                        </p:tgtEl>
                                      </p:cBhvr>
                                    </p:animEffect>
                                  </p:childTnLst>
                                </p:cTn>
                              </p:par>
                              <p:par>
                                <p:cTn id="156" presetID="2" presetClass="entr" presetSubtype="4" fill="hold" grpId="0" nodeType="withEffect">
                                  <p:stCondLst>
                                    <p:cond delay="340"/>
                                  </p:stCondLst>
                                  <p:childTnLst>
                                    <p:set>
                                      <p:cBhvr>
                                        <p:cTn id="152" dur="1" fill="hold">
                                          <p:stCondLst>
                                            <p:cond delay="0"/>
                                          </p:stCondLst>
                                        </p:cTn>
                                        <p:tgtEl>
                                          <p:spTgt spid="51"/>
                                        </p:tgtEl>
                                        <p:attrNameLst>
                                          <p:attrName>style.visibility</p:attrName>
                                        </p:attrNameLst>
                                      </p:cBhvr>
                                      <p:to>
                                        <p:strVal val="visible"/>
                                      </p:to>
                                    </p:set>
                                    <p:anim calcmode="lin" valueType="num">
                                      <p:cBhvr additive="base">
                                        <p:cTn id="153" dur="500" fill="hold"/>
                                        <p:tgtEl>
                                          <p:spTgt spid="51"/>
                                        </p:tgtEl>
                                        <p:attrNameLst>
                                          <p:attrName>ppt_x</p:attrName>
                                        </p:attrNameLst>
                                      </p:cBhvr>
                                      <p:tavLst>
                                        <p:tav tm="0">
                                          <p:val>
                                            <p:strVal val="#ppt_x"/>
                                          </p:val>
                                        </p:tav>
                                        <p:tav tm="100000">
                                          <p:val>
                                            <p:strVal val="#ppt_x"/>
                                          </p:val>
                                        </p:tav>
                                      </p:tavLst>
                                    </p:anim>
                                    <p:anim calcmode="lin" valueType="num">
                                      <p:cBhvr additive="base">
                                        <p:cTn id="154" dur="500" fill="hold"/>
                                        <p:tgtEl>
                                          <p:spTgt spid="51"/>
                                        </p:tgtEl>
                                        <p:attrNameLst>
                                          <p:attrName>ppt_y</p:attrName>
                                        </p:attrNameLst>
                                      </p:cBhvr>
                                      <p:tavLst>
                                        <p:tav tm="0">
                                          <p:val>
                                            <p:strVal val="#ppt_y+0.1"/>
                                          </p:val>
                                        </p:tav>
                                        <p:tav tm="100000">
                                          <p:val>
                                            <p:strVal val="#ppt_y"/>
                                          </p:val>
                                        </p:tav>
                                      </p:tavLst>
                                    </p:anim>
                                    <p:animEffect transition="in" filter="fade">
                                      <p:cBhvr>
                                        <p:cTn id="155" dur="500"/>
                                        <p:tgtEl>
                                          <p:spTgt spid="51"/>
                                        </p:tgtEl>
                                      </p:cBhvr>
                                    </p:animEffect>
                                  </p:childTnLst>
                                </p:cTn>
                              </p:par>
                              <p:par>
                                <p:cTn id="161" presetID="2" presetClass="entr" presetSubtype="4" fill="hold" grpId="0" nodeType="withEffect">
                                  <p:stCondLst>
                                    <p:cond delay="340"/>
                                  </p:stCondLst>
                                  <p:childTnLst>
                                    <p:set>
                                      <p:cBhvr>
                                        <p:cTn id="157" dur="1" fill="hold">
                                          <p:stCondLst>
                                            <p:cond delay="0"/>
                                          </p:stCondLst>
                                        </p:cTn>
                                        <p:tgtEl>
                                          <p:spTgt spid="52"/>
                                        </p:tgtEl>
                                        <p:attrNameLst>
                                          <p:attrName>style.visibility</p:attrName>
                                        </p:attrNameLst>
                                      </p:cBhvr>
                                      <p:to>
                                        <p:strVal val="visible"/>
                                      </p:to>
                                    </p:set>
                                    <p:anim calcmode="lin" valueType="num">
                                      <p:cBhvr additive="base">
                                        <p:cTn id="158" dur="500" fill="hold"/>
                                        <p:tgtEl>
                                          <p:spTgt spid="52"/>
                                        </p:tgtEl>
                                        <p:attrNameLst>
                                          <p:attrName>ppt_x</p:attrName>
                                        </p:attrNameLst>
                                      </p:cBhvr>
                                      <p:tavLst>
                                        <p:tav tm="0">
                                          <p:val>
                                            <p:strVal val="#ppt_x"/>
                                          </p:val>
                                        </p:tav>
                                        <p:tav tm="100000">
                                          <p:val>
                                            <p:strVal val="#ppt_x"/>
                                          </p:val>
                                        </p:tav>
                                      </p:tavLst>
                                    </p:anim>
                                    <p:anim calcmode="lin" valueType="num">
                                      <p:cBhvr additive="base">
                                        <p:cTn id="159" dur="500" fill="hold"/>
                                        <p:tgtEl>
                                          <p:spTgt spid="52"/>
                                        </p:tgtEl>
                                        <p:attrNameLst>
                                          <p:attrName>ppt_y</p:attrName>
                                        </p:attrNameLst>
                                      </p:cBhvr>
                                      <p:tavLst>
                                        <p:tav tm="0">
                                          <p:val>
                                            <p:strVal val="#ppt_y+0.1"/>
                                          </p:val>
                                        </p:tav>
                                        <p:tav tm="100000">
                                          <p:val>
                                            <p:strVal val="#ppt_y"/>
                                          </p:val>
                                        </p:tav>
                                      </p:tavLst>
                                    </p:anim>
                                    <p:animEffect transition="in" filter="fade">
                                      <p:cBhvr>
                                        <p:cTn id="160" dur="500"/>
                                        <p:tgtEl>
                                          <p:spTgt spid="52"/>
                                        </p:tgtEl>
                                      </p:cBhvr>
                                    </p:animEffect>
                                  </p:childTnLst>
                                </p:cTn>
                              </p:par>
                              <p:par>
                                <p:cTn id="166" presetID="2" presetClass="entr" presetSubtype="4" fill="hold" grpId="0" nodeType="withEffect">
                                  <p:stCondLst>
                                    <p:cond delay="380"/>
                                  </p:stCondLst>
                                  <p:childTnLst>
                                    <p:set>
                                      <p:cBhvr>
                                        <p:cTn id="162" dur="1" fill="hold">
                                          <p:stCondLst>
                                            <p:cond delay="0"/>
                                          </p:stCondLst>
                                        </p:cTn>
                                        <p:tgtEl>
                                          <p:spTgt spid="53"/>
                                        </p:tgtEl>
                                        <p:attrNameLst>
                                          <p:attrName>style.visibility</p:attrName>
                                        </p:attrNameLst>
                                      </p:cBhvr>
                                      <p:to>
                                        <p:strVal val="visible"/>
                                      </p:to>
                                    </p:set>
                                    <p:anim calcmode="lin" valueType="num">
                                      <p:cBhvr additive="base">
                                        <p:cTn id="163" dur="500" fill="hold"/>
                                        <p:tgtEl>
                                          <p:spTgt spid="53"/>
                                        </p:tgtEl>
                                        <p:attrNameLst>
                                          <p:attrName>ppt_x</p:attrName>
                                        </p:attrNameLst>
                                      </p:cBhvr>
                                      <p:tavLst>
                                        <p:tav tm="0">
                                          <p:val>
                                            <p:strVal val="#ppt_x"/>
                                          </p:val>
                                        </p:tav>
                                        <p:tav tm="100000">
                                          <p:val>
                                            <p:strVal val="#ppt_x"/>
                                          </p:val>
                                        </p:tav>
                                      </p:tavLst>
                                    </p:anim>
                                    <p:anim calcmode="lin" valueType="num">
                                      <p:cBhvr additive="base">
                                        <p:cTn id="164" dur="500" fill="hold"/>
                                        <p:tgtEl>
                                          <p:spTgt spid="53"/>
                                        </p:tgtEl>
                                        <p:attrNameLst>
                                          <p:attrName>ppt_y</p:attrName>
                                        </p:attrNameLst>
                                      </p:cBhvr>
                                      <p:tavLst>
                                        <p:tav tm="0">
                                          <p:val>
                                            <p:strVal val="#ppt_y+0.1"/>
                                          </p:val>
                                        </p:tav>
                                        <p:tav tm="100000">
                                          <p:val>
                                            <p:strVal val="#ppt_y"/>
                                          </p:val>
                                        </p:tav>
                                      </p:tavLst>
                                    </p:anim>
                                    <p:animEffect transition="in" filter="fade">
                                      <p:cBhvr>
                                        <p:cTn id="165" dur="500"/>
                                        <p:tgtEl>
                                          <p:spTgt spid="53"/>
                                        </p:tgtEl>
                                      </p:cBhvr>
                                    </p:animEffect>
                                  </p:childTnLst>
                                </p:cTn>
                              </p:par>
                              <p:par>
                                <p:cTn id="171" presetID="2" presetClass="entr" presetSubtype="4" fill="hold" grpId="0" nodeType="withEffect">
                                  <p:stCondLst>
                                    <p:cond delay="380"/>
                                  </p:stCondLst>
                                  <p:childTnLst>
                                    <p:set>
                                      <p:cBhvr>
                                        <p:cTn id="167" dur="1" fill="hold">
                                          <p:stCondLst>
                                            <p:cond delay="0"/>
                                          </p:stCondLst>
                                        </p:cTn>
                                        <p:tgtEl>
                                          <p:spTgt spid="54"/>
                                        </p:tgtEl>
                                        <p:attrNameLst>
                                          <p:attrName>style.visibility</p:attrName>
                                        </p:attrNameLst>
                                      </p:cBhvr>
                                      <p:to>
                                        <p:strVal val="visible"/>
                                      </p:to>
                                    </p:set>
                                    <p:anim calcmode="lin" valueType="num">
                                      <p:cBhvr additive="base">
                                        <p:cTn id="168" dur="500" fill="hold"/>
                                        <p:tgtEl>
                                          <p:spTgt spid="54"/>
                                        </p:tgtEl>
                                        <p:attrNameLst>
                                          <p:attrName>ppt_x</p:attrName>
                                        </p:attrNameLst>
                                      </p:cBhvr>
                                      <p:tavLst>
                                        <p:tav tm="0">
                                          <p:val>
                                            <p:strVal val="#ppt_x"/>
                                          </p:val>
                                        </p:tav>
                                        <p:tav tm="100000">
                                          <p:val>
                                            <p:strVal val="#ppt_x"/>
                                          </p:val>
                                        </p:tav>
                                      </p:tavLst>
                                    </p:anim>
                                    <p:anim calcmode="lin" valueType="num">
                                      <p:cBhvr additive="base">
                                        <p:cTn id="169" dur="500" fill="hold"/>
                                        <p:tgtEl>
                                          <p:spTgt spid="54"/>
                                        </p:tgtEl>
                                        <p:attrNameLst>
                                          <p:attrName>ppt_y</p:attrName>
                                        </p:attrNameLst>
                                      </p:cBhvr>
                                      <p:tavLst>
                                        <p:tav tm="0">
                                          <p:val>
                                            <p:strVal val="#ppt_y+0.1"/>
                                          </p:val>
                                        </p:tav>
                                        <p:tav tm="100000">
                                          <p:val>
                                            <p:strVal val="#ppt_y"/>
                                          </p:val>
                                        </p:tav>
                                      </p:tavLst>
                                    </p:anim>
                                    <p:animEffect transition="in" filter="fade">
                                      <p:cBhvr>
                                        <p:cTn id="170" dur="500"/>
                                        <p:tgtEl>
                                          <p:spTgt spid="54"/>
                                        </p:tgtEl>
                                      </p:cBhvr>
                                    </p:animEffect>
                                  </p:childTnLst>
                                </p:cTn>
                              </p:par>
                              <p:par>
                                <p:cTn id="176" presetID="2" presetClass="entr" presetSubtype="4" fill="hold" grpId="0" nodeType="withEffect">
                                  <p:stCondLst>
                                    <p:cond delay="420"/>
                                  </p:stCondLst>
                                  <p:childTnLst>
                                    <p:set>
                                      <p:cBhvr>
                                        <p:cTn id="172" dur="1" fill="hold">
                                          <p:stCondLst>
                                            <p:cond delay="0"/>
                                          </p:stCondLst>
                                        </p:cTn>
                                        <p:tgtEl>
                                          <p:spTgt spid="55"/>
                                        </p:tgtEl>
                                        <p:attrNameLst>
                                          <p:attrName>style.visibility</p:attrName>
                                        </p:attrNameLst>
                                      </p:cBhvr>
                                      <p:to>
                                        <p:strVal val="visible"/>
                                      </p:to>
                                    </p:set>
                                    <p:anim calcmode="lin" valueType="num">
                                      <p:cBhvr additive="base">
                                        <p:cTn id="173" dur="500" fill="hold"/>
                                        <p:tgtEl>
                                          <p:spTgt spid="55"/>
                                        </p:tgtEl>
                                        <p:attrNameLst>
                                          <p:attrName>ppt_x</p:attrName>
                                        </p:attrNameLst>
                                      </p:cBhvr>
                                      <p:tavLst>
                                        <p:tav tm="0">
                                          <p:val>
                                            <p:strVal val="#ppt_x"/>
                                          </p:val>
                                        </p:tav>
                                        <p:tav tm="100000">
                                          <p:val>
                                            <p:strVal val="#ppt_x"/>
                                          </p:val>
                                        </p:tav>
                                      </p:tavLst>
                                    </p:anim>
                                    <p:anim calcmode="lin" valueType="num">
                                      <p:cBhvr additive="base">
                                        <p:cTn id="174" dur="500" fill="hold"/>
                                        <p:tgtEl>
                                          <p:spTgt spid="55"/>
                                        </p:tgtEl>
                                        <p:attrNameLst>
                                          <p:attrName>ppt_y</p:attrName>
                                        </p:attrNameLst>
                                      </p:cBhvr>
                                      <p:tavLst>
                                        <p:tav tm="0">
                                          <p:val>
                                            <p:strVal val="#ppt_y+0.1"/>
                                          </p:val>
                                        </p:tav>
                                        <p:tav tm="100000">
                                          <p:val>
                                            <p:strVal val="#ppt_y"/>
                                          </p:val>
                                        </p:tav>
                                      </p:tavLst>
                                    </p:anim>
                                    <p:animEffect transition="in" filter="fade">
                                      <p:cBhvr>
                                        <p:cTn id="175" dur="500"/>
                                        <p:tgtEl>
                                          <p:spTgt spid="55"/>
                                        </p:tgtEl>
                                      </p:cBhvr>
                                    </p:animEffect>
                                  </p:childTnLst>
                                </p:cTn>
                              </p:par>
                              <p:par>
                                <p:cTn id="181" presetID="2" presetClass="entr" presetSubtype="4" fill="hold" grpId="0" nodeType="withEffect">
                                  <p:stCondLst>
                                    <p:cond delay="420"/>
                                  </p:stCondLst>
                                  <p:childTnLst>
                                    <p:set>
                                      <p:cBhvr>
                                        <p:cTn id="177" dur="1" fill="hold">
                                          <p:stCondLst>
                                            <p:cond delay="0"/>
                                          </p:stCondLst>
                                        </p:cTn>
                                        <p:tgtEl>
                                          <p:spTgt spid="56"/>
                                        </p:tgtEl>
                                        <p:attrNameLst>
                                          <p:attrName>style.visibility</p:attrName>
                                        </p:attrNameLst>
                                      </p:cBhvr>
                                      <p:to>
                                        <p:strVal val="visible"/>
                                      </p:to>
                                    </p:set>
                                    <p:anim calcmode="lin" valueType="num">
                                      <p:cBhvr additive="base">
                                        <p:cTn id="178" dur="500" fill="hold"/>
                                        <p:tgtEl>
                                          <p:spTgt spid="56"/>
                                        </p:tgtEl>
                                        <p:attrNameLst>
                                          <p:attrName>ppt_x</p:attrName>
                                        </p:attrNameLst>
                                      </p:cBhvr>
                                      <p:tavLst>
                                        <p:tav tm="0">
                                          <p:val>
                                            <p:strVal val="#ppt_x"/>
                                          </p:val>
                                        </p:tav>
                                        <p:tav tm="100000">
                                          <p:val>
                                            <p:strVal val="#ppt_x"/>
                                          </p:val>
                                        </p:tav>
                                      </p:tavLst>
                                    </p:anim>
                                    <p:anim calcmode="lin" valueType="num">
                                      <p:cBhvr additive="base">
                                        <p:cTn id="179" dur="500" fill="hold"/>
                                        <p:tgtEl>
                                          <p:spTgt spid="56"/>
                                        </p:tgtEl>
                                        <p:attrNameLst>
                                          <p:attrName>ppt_y</p:attrName>
                                        </p:attrNameLst>
                                      </p:cBhvr>
                                      <p:tavLst>
                                        <p:tav tm="0">
                                          <p:val>
                                            <p:strVal val="#ppt_y+0.1"/>
                                          </p:val>
                                        </p:tav>
                                        <p:tav tm="100000">
                                          <p:val>
                                            <p:strVal val="#ppt_y"/>
                                          </p:val>
                                        </p:tav>
                                      </p:tavLst>
                                    </p:anim>
                                    <p:animEffect transition="in" filter="fade">
                                      <p:cBhvr>
                                        <p:cTn id="180" dur="500"/>
                                        <p:tgtEl>
                                          <p:spTgt spid="56"/>
                                        </p:tgtEl>
                                      </p:cBhvr>
                                    </p:animEffect>
                                  </p:childTnLst>
                                </p:cTn>
                              </p:par>
                              <p:par>
                                <p:cTn id="186" presetID="2" presetClass="entr" presetSubtype="4" fill="hold" grpId="0" nodeType="withEffect">
                                  <p:stCondLst>
                                    <p:cond delay="450"/>
                                  </p:stCondLst>
                                  <p:childTnLst>
                                    <p:set>
                                      <p:cBhvr>
                                        <p:cTn id="182" dur="1" fill="hold">
                                          <p:stCondLst>
                                            <p:cond delay="0"/>
                                          </p:stCondLst>
                                        </p:cTn>
                                        <p:tgtEl>
                                          <p:spTgt spid="58"/>
                                        </p:tgtEl>
                                        <p:attrNameLst>
                                          <p:attrName>style.visibility</p:attrName>
                                        </p:attrNameLst>
                                      </p:cBhvr>
                                      <p:to>
                                        <p:strVal val="visible"/>
                                      </p:to>
                                    </p:set>
                                    <p:anim calcmode="lin" valueType="num">
                                      <p:cBhvr additive="base">
                                        <p:cTn id="183" dur="500" fill="hold"/>
                                        <p:tgtEl>
                                          <p:spTgt spid="58"/>
                                        </p:tgtEl>
                                        <p:attrNameLst>
                                          <p:attrName>ppt_x</p:attrName>
                                        </p:attrNameLst>
                                      </p:cBhvr>
                                      <p:tavLst>
                                        <p:tav tm="0">
                                          <p:val>
                                            <p:strVal val="#ppt_x"/>
                                          </p:val>
                                        </p:tav>
                                        <p:tav tm="100000">
                                          <p:val>
                                            <p:strVal val="#ppt_x"/>
                                          </p:val>
                                        </p:tav>
                                      </p:tavLst>
                                    </p:anim>
                                    <p:anim calcmode="lin" valueType="num">
                                      <p:cBhvr additive="base">
                                        <p:cTn id="184" dur="500" fill="hold"/>
                                        <p:tgtEl>
                                          <p:spTgt spid="58"/>
                                        </p:tgtEl>
                                        <p:attrNameLst>
                                          <p:attrName>ppt_y</p:attrName>
                                        </p:attrNameLst>
                                      </p:cBhvr>
                                      <p:tavLst>
                                        <p:tav tm="0">
                                          <p:val>
                                            <p:strVal val="#ppt_y+0.1"/>
                                          </p:val>
                                        </p:tav>
                                        <p:tav tm="100000">
                                          <p:val>
                                            <p:strVal val="#ppt_y"/>
                                          </p:val>
                                        </p:tav>
                                      </p:tavLst>
                                    </p:anim>
                                    <p:animEffect transition="in" filter="fade">
                                      <p:cBhvr>
                                        <p:cTn id="185" dur="500"/>
                                        <p:tgtEl>
                                          <p:spTgt spid="58"/>
                                        </p:tgtEl>
                                      </p:cBhvr>
                                    </p:animEffect>
                                  </p:childTnLst>
                                </p:cTn>
                              </p:par>
                              <p:par>
                                <p:cTn id="191" presetID="2" presetClass="entr" presetSubtype="4" fill="hold" grpId="0" nodeType="withEffect">
                                  <p:stCondLst>
                                    <p:cond delay="450"/>
                                  </p:stCondLst>
                                  <p:childTnLst>
                                    <p:set>
                                      <p:cBhvr>
                                        <p:cTn id="187" dur="1" fill="hold">
                                          <p:stCondLst>
                                            <p:cond delay="0"/>
                                          </p:stCondLst>
                                        </p:cTn>
                                        <p:tgtEl>
                                          <p:spTgt spid="59"/>
                                        </p:tgtEl>
                                        <p:attrNameLst>
                                          <p:attrName>style.visibility</p:attrName>
                                        </p:attrNameLst>
                                      </p:cBhvr>
                                      <p:to>
                                        <p:strVal val="visible"/>
                                      </p:to>
                                    </p:set>
                                    <p:anim calcmode="lin" valueType="num">
                                      <p:cBhvr additive="base">
                                        <p:cTn id="188" dur="500" fill="hold"/>
                                        <p:tgtEl>
                                          <p:spTgt spid="59"/>
                                        </p:tgtEl>
                                        <p:attrNameLst>
                                          <p:attrName>ppt_x</p:attrName>
                                        </p:attrNameLst>
                                      </p:cBhvr>
                                      <p:tavLst>
                                        <p:tav tm="0">
                                          <p:val>
                                            <p:strVal val="#ppt_x"/>
                                          </p:val>
                                        </p:tav>
                                        <p:tav tm="100000">
                                          <p:val>
                                            <p:strVal val="#ppt_x"/>
                                          </p:val>
                                        </p:tav>
                                      </p:tavLst>
                                    </p:anim>
                                    <p:anim calcmode="lin" valueType="num">
                                      <p:cBhvr additive="base">
                                        <p:cTn id="189" dur="500" fill="hold"/>
                                        <p:tgtEl>
                                          <p:spTgt spid="59"/>
                                        </p:tgtEl>
                                        <p:attrNameLst>
                                          <p:attrName>ppt_y</p:attrName>
                                        </p:attrNameLst>
                                      </p:cBhvr>
                                      <p:tavLst>
                                        <p:tav tm="0">
                                          <p:val>
                                            <p:strVal val="#ppt_y+0.1"/>
                                          </p:val>
                                        </p:tav>
                                        <p:tav tm="100000">
                                          <p:val>
                                            <p:strVal val="#ppt_y"/>
                                          </p:val>
                                        </p:tav>
                                      </p:tavLst>
                                    </p:anim>
                                    <p:animEffect transition="in" filter="fade">
                                      <p:cBhvr>
                                        <p:cTn id="190" dur="500"/>
                                        <p:tgtEl>
                                          <p:spTgt spid="59"/>
                                        </p:tgtEl>
                                      </p:cBhvr>
                                    </p:animEffect>
                                  </p:childTnLst>
                                </p:cTn>
                              </p:par>
                              <p:par>
                                <p:cTn id="196" presetID="2" presetClass="entr" presetSubtype="4" fill="hold" grpId="0" nodeType="withEffect">
                                  <p:stCondLst>
                                    <p:cond delay="450"/>
                                  </p:stCondLst>
                                  <p:childTnLst>
                                    <p:set>
                                      <p:cBhvr>
                                        <p:cTn id="192" dur="1" fill="hold">
                                          <p:stCondLst>
                                            <p:cond delay="0"/>
                                          </p:stCondLst>
                                        </p:cTn>
                                        <p:tgtEl>
                                          <p:spTgt spid="60"/>
                                        </p:tgtEl>
                                        <p:attrNameLst>
                                          <p:attrName>style.visibility</p:attrName>
                                        </p:attrNameLst>
                                      </p:cBhvr>
                                      <p:to>
                                        <p:strVal val="visible"/>
                                      </p:to>
                                    </p:set>
                                    <p:anim calcmode="lin" valueType="num">
                                      <p:cBhvr additive="base">
                                        <p:cTn id="193" dur="500" fill="hold"/>
                                        <p:tgtEl>
                                          <p:spTgt spid="60"/>
                                        </p:tgtEl>
                                        <p:attrNameLst>
                                          <p:attrName>ppt_x</p:attrName>
                                        </p:attrNameLst>
                                      </p:cBhvr>
                                      <p:tavLst>
                                        <p:tav tm="0">
                                          <p:val>
                                            <p:strVal val="#ppt_x"/>
                                          </p:val>
                                        </p:tav>
                                        <p:tav tm="100000">
                                          <p:val>
                                            <p:strVal val="#ppt_x"/>
                                          </p:val>
                                        </p:tav>
                                      </p:tavLst>
                                    </p:anim>
                                    <p:anim calcmode="lin" valueType="num">
                                      <p:cBhvr additive="base">
                                        <p:cTn id="194" dur="500" fill="hold"/>
                                        <p:tgtEl>
                                          <p:spTgt spid="60"/>
                                        </p:tgtEl>
                                        <p:attrNameLst>
                                          <p:attrName>ppt_y</p:attrName>
                                        </p:attrNameLst>
                                      </p:cBhvr>
                                      <p:tavLst>
                                        <p:tav tm="0">
                                          <p:val>
                                            <p:strVal val="#ppt_y+0.1"/>
                                          </p:val>
                                        </p:tav>
                                        <p:tav tm="100000">
                                          <p:val>
                                            <p:strVal val="#ppt_y"/>
                                          </p:val>
                                        </p:tav>
                                      </p:tavLst>
                                    </p:anim>
                                    <p:animEffect transition="in" filter="fade">
                                      <p:cBhvr>
                                        <p:cTn id="195" dur="500"/>
                                        <p:tgtEl>
                                          <p:spTgt spid="60"/>
                                        </p:tgtEl>
                                      </p:cBhvr>
                                    </p:animEffect>
                                  </p:childTnLst>
                                </p:cTn>
                              </p:par>
                              <p:par>
                                <p:cTn id="201" presetID="2" presetClass="entr" presetSubtype="4" fill="hold" grpId="0" nodeType="withEffect">
                                  <p:stCondLst>
                                    <p:cond delay="490"/>
                                  </p:stCondLst>
                                  <p:childTnLst>
                                    <p:set>
                                      <p:cBhvr>
                                        <p:cTn id="197" dur="1" fill="hold">
                                          <p:stCondLst>
                                            <p:cond delay="0"/>
                                          </p:stCondLst>
                                        </p:cTn>
                                        <p:tgtEl>
                                          <p:spTgt spid="61"/>
                                        </p:tgtEl>
                                        <p:attrNameLst>
                                          <p:attrName>style.visibility</p:attrName>
                                        </p:attrNameLst>
                                      </p:cBhvr>
                                      <p:to>
                                        <p:strVal val="visible"/>
                                      </p:to>
                                    </p:set>
                                    <p:anim calcmode="lin" valueType="num">
                                      <p:cBhvr additive="base">
                                        <p:cTn id="198" dur="500" fill="hold"/>
                                        <p:tgtEl>
                                          <p:spTgt spid="61"/>
                                        </p:tgtEl>
                                        <p:attrNameLst>
                                          <p:attrName>ppt_x</p:attrName>
                                        </p:attrNameLst>
                                      </p:cBhvr>
                                      <p:tavLst>
                                        <p:tav tm="0">
                                          <p:val>
                                            <p:strVal val="#ppt_x"/>
                                          </p:val>
                                        </p:tav>
                                        <p:tav tm="100000">
                                          <p:val>
                                            <p:strVal val="#ppt_x"/>
                                          </p:val>
                                        </p:tav>
                                      </p:tavLst>
                                    </p:anim>
                                    <p:anim calcmode="lin" valueType="num">
                                      <p:cBhvr additive="base">
                                        <p:cTn id="199" dur="500" fill="hold"/>
                                        <p:tgtEl>
                                          <p:spTgt spid="61"/>
                                        </p:tgtEl>
                                        <p:attrNameLst>
                                          <p:attrName>ppt_y</p:attrName>
                                        </p:attrNameLst>
                                      </p:cBhvr>
                                      <p:tavLst>
                                        <p:tav tm="0">
                                          <p:val>
                                            <p:strVal val="#ppt_y+0.1"/>
                                          </p:val>
                                        </p:tav>
                                        <p:tav tm="100000">
                                          <p:val>
                                            <p:strVal val="#ppt_y"/>
                                          </p:val>
                                        </p:tav>
                                      </p:tavLst>
                                    </p:anim>
                                    <p:animEffect transition="in" filter="fade">
                                      <p:cBhvr>
                                        <p:cTn id="200" dur="500"/>
                                        <p:tgtEl>
                                          <p:spTgt spid="61"/>
                                        </p:tgtEl>
                                      </p:cBhvr>
                                    </p:animEffect>
                                  </p:childTnLst>
                                </p:cTn>
                              </p:par>
                              <p:par>
                                <p:cTn id="206" presetID="2" presetClass="entr" presetSubtype="4" fill="hold" grpId="0" nodeType="withEffect">
                                  <p:stCondLst>
                                    <p:cond delay="490"/>
                                  </p:stCondLst>
                                  <p:childTnLst>
                                    <p:set>
                                      <p:cBhvr>
                                        <p:cTn id="202" dur="1" fill="hold">
                                          <p:stCondLst>
                                            <p:cond delay="0"/>
                                          </p:stCondLst>
                                        </p:cTn>
                                        <p:tgtEl>
                                          <p:spTgt spid="62"/>
                                        </p:tgtEl>
                                        <p:attrNameLst>
                                          <p:attrName>style.visibility</p:attrName>
                                        </p:attrNameLst>
                                      </p:cBhvr>
                                      <p:to>
                                        <p:strVal val="visible"/>
                                      </p:to>
                                    </p:set>
                                    <p:anim calcmode="lin" valueType="num">
                                      <p:cBhvr additive="base">
                                        <p:cTn id="203" dur="500" fill="hold"/>
                                        <p:tgtEl>
                                          <p:spTgt spid="62"/>
                                        </p:tgtEl>
                                        <p:attrNameLst>
                                          <p:attrName>ppt_x</p:attrName>
                                        </p:attrNameLst>
                                      </p:cBhvr>
                                      <p:tavLst>
                                        <p:tav tm="0">
                                          <p:val>
                                            <p:strVal val="#ppt_x"/>
                                          </p:val>
                                        </p:tav>
                                        <p:tav tm="100000">
                                          <p:val>
                                            <p:strVal val="#ppt_x"/>
                                          </p:val>
                                        </p:tav>
                                      </p:tavLst>
                                    </p:anim>
                                    <p:anim calcmode="lin" valueType="num">
                                      <p:cBhvr additive="base">
                                        <p:cTn id="204" dur="500" fill="hold"/>
                                        <p:tgtEl>
                                          <p:spTgt spid="62"/>
                                        </p:tgtEl>
                                        <p:attrNameLst>
                                          <p:attrName>ppt_y</p:attrName>
                                        </p:attrNameLst>
                                      </p:cBhvr>
                                      <p:tavLst>
                                        <p:tav tm="0">
                                          <p:val>
                                            <p:strVal val="#ppt_y+0.1"/>
                                          </p:val>
                                        </p:tav>
                                        <p:tav tm="100000">
                                          <p:val>
                                            <p:strVal val="#ppt_y"/>
                                          </p:val>
                                        </p:tav>
                                      </p:tavLst>
                                    </p:anim>
                                    <p:animEffect transition="in" filter="fade">
                                      <p:cBhvr>
                                        <p:cTn id="205" dur="500"/>
                                        <p:tgtEl>
                                          <p:spTgt spid="62"/>
                                        </p:tgtEl>
                                      </p:cBhvr>
                                    </p:animEffect>
                                  </p:childTnLst>
                                </p:cTn>
                              </p:par>
                              <p:par>
                                <p:cTn id="211" presetID="2" presetClass="entr" presetSubtype="4" fill="hold" grpId="0" nodeType="withEffect">
                                  <p:stCondLst>
                                    <p:cond delay="530"/>
                                  </p:stCondLst>
                                  <p:childTnLst>
                                    <p:set>
                                      <p:cBhvr>
                                        <p:cTn id="207" dur="1" fill="hold">
                                          <p:stCondLst>
                                            <p:cond delay="0"/>
                                          </p:stCondLst>
                                        </p:cTn>
                                        <p:tgtEl>
                                          <p:spTgt spid="63"/>
                                        </p:tgtEl>
                                        <p:attrNameLst>
                                          <p:attrName>style.visibility</p:attrName>
                                        </p:attrNameLst>
                                      </p:cBhvr>
                                      <p:to>
                                        <p:strVal val="visible"/>
                                      </p:to>
                                    </p:set>
                                    <p:anim calcmode="lin" valueType="num">
                                      <p:cBhvr additive="base">
                                        <p:cTn id="208" dur="500" fill="hold"/>
                                        <p:tgtEl>
                                          <p:spTgt spid="63"/>
                                        </p:tgtEl>
                                        <p:attrNameLst>
                                          <p:attrName>ppt_x</p:attrName>
                                        </p:attrNameLst>
                                      </p:cBhvr>
                                      <p:tavLst>
                                        <p:tav tm="0">
                                          <p:val>
                                            <p:strVal val="#ppt_x"/>
                                          </p:val>
                                        </p:tav>
                                        <p:tav tm="100000">
                                          <p:val>
                                            <p:strVal val="#ppt_x"/>
                                          </p:val>
                                        </p:tav>
                                      </p:tavLst>
                                    </p:anim>
                                    <p:anim calcmode="lin" valueType="num">
                                      <p:cBhvr additive="base">
                                        <p:cTn id="209" dur="500" fill="hold"/>
                                        <p:tgtEl>
                                          <p:spTgt spid="63"/>
                                        </p:tgtEl>
                                        <p:attrNameLst>
                                          <p:attrName>ppt_y</p:attrName>
                                        </p:attrNameLst>
                                      </p:cBhvr>
                                      <p:tavLst>
                                        <p:tav tm="0">
                                          <p:val>
                                            <p:strVal val="#ppt_y+0.1"/>
                                          </p:val>
                                        </p:tav>
                                        <p:tav tm="100000">
                                          <p:val>
                                            <p:strVal val="#ppt_y"/>
                                          </p:val>
                                        </p:tav>
                                      </p:tavLst>
                                    </p:anim>
                                    <p:animEffect transition="in" filter="fade">
                                      <p:cBhvr>
                                        <p:cTn id="210" dur="500"/>
                                        <p:tgtEl>
                                          <p:spTgt spid="63"/>
                                        </p:tgtEl>
                                      </p:cBhvr>
                                    </p:animEffect>
                                  </p:childTnLst>
                                </p:cTn>
                              </p:par>
                              <p:par>
                                <p:cTn id="216" presetID="2" presetClass="entr" presetSubtype="4" fill="hold" grpId="0" nodeType="withEffect">
                                  <p:stCondLst>
                                    <p:cond delay="530"/>
                                  </p:stCondLst>
                                  <p:childTnLst>
                                    <p:set>
                                      <p:cBhvr>
                                        <p:cTn id="212" dur="1" fill="hold">
                                          <p:stCondLst>
                                            <p:cond delay="0"/>
                                          </p:stCondLst>
                                        </p:cTn>
                                        <p:tgtEl>
                                          <p:spTgt spid="64"/>
                                        </p:tgtEl>
                                        <p:attrNameLst>
                                          <p:attrName>style.visibility</p:attrName>
                                        </p:attrNameLst>
                                      </p:cBhvr>
                                      <p:to>
                                        <p:strVal val="visible"/>
                                      </p:to>
                                    </p:set>
                                    <p:anim calcmode="lin" valueType="num">
                                      <p:cBhvr additive="base">
                                        <p:cTn id="213" dur="500" fill="hold"/>
                                        <p:tgtEl>
                                          <p:spTgt spid="64"/>
                                        </p:tgtEl>
                                        <p:attrNameLst>
                                          <p:attrName>ppt_x</p:attrName>
                                        </p:attrNameLst>
                                      </p:cBhvr>
                                      <p:tavLst>
                                        <p:tav tm="0">
                                          <p:val>
                                            <p:strVal val="#ppt_x"/>
                                          </p:val>
                                        </p:tav>
                                        <p:tav tm="100000">
                                          <p:val>
                                            <p:strVal val="#ppt_x"/>
                                          </p:val>
                                        </p:tav>
                                      </p:tavLst>
                                    </p:anim>
                                    <p:anim calcmode="lin" valueType="num">
                                      <p:cBhvr additive="base">
                                        <p:cTn id="214" dur="500" fill="hold"/>
                                        <p:tgtEl>
                                          <p:spTgt spid="64"/>
                                        </p:tgtEl>
                                        <p:attrNameLst>
                                          <p:attrName>ppt_y</p:attrName>
                                        </p:attrNameLst>
                                      </p:cBhvr>
                                      <p:tavLst>
                                        <p:tav tm="0">
                                          <p:val>
                                            <p:strVal val="#ppt_y+0.1"/>
                                          </p:val>
                                        </p:tav>
                                        <p:tav tm="100000">
                                          <p:val>
                                            <p:strVal val="#ppt_y"/>
                                          </p:val>
                                        </p:tav>
                                      </p:tavLst>
                                    </p:anim>
                                    <p:animEffect transition="in" filter="fade">
                                      <p:cBhvr>
                                        <p:cTn id="215" dur="500"/>
                                        <p:tgtEl>
                                          <p:spTgt spid="64"/>
                                        </p:tgtEl>
                                      </p:cBhvr>
                                    </p:animEffect>
                                  </p:childTnLst>
                                </p:cTn>
                              </p:par>
                              <p:par>
                                <p:cTn id="221" presetID="2" presetClass="entr" presetSubtype="4" fill="hold" grpId="0" nodeType="withEffect">
                                  <p:stCondLst>
                                    <p:cond delay="570"/>
                                  </p:stCondLst>
                                  <p:childTnLst>
                                    <p:set>
                                      <p:cBhvr>
                                        <p:cTn id="217" dur="1" fill="hold">
                                          <p:stCondLst>
                                            <p:cond delay="0"/>
                                          </p:stCondLst>
                                        </p:cTn>
                                        <p:tgtEl>
                                          <p:spTgt spid="65"/>
                                        </p:tgtEl>
                                        <p:attrNameLst>
                                          <p:attrName>style.visibility</p:attrName>
                                        </p:attrNameLst>
                                      </p:cBhvr>
                                      <p:to>
                                        <p:strVal val="visible"/>
                                      </p:to>
                                    </p:set>
                                    <p:anim calcmode="lin" valueType="num">
                                      <p:cBhvr additive="base">
                                        <p:cTn id="218" dur="500" fill="hold"/>
                                        <p:tgtEl>
                                          <p:spTgt spid="65"/>
                                        </p:tgtEl>
                                        <p:attrNameLst>
                                          <p:attrName>ppt_x</p:attrName>
                                        </p:attrNameLst>
                                      </p:cBhvr>
                                      <p:tavLst>
                                        <p:tav tm="0">
                                          <p:val>
                                            <p:strVal val="#ppt_x"/>
                                          </p:val>
                                        </p:tav>
                                        <p:tav tm="100000">
                                          <p:val>
                                            <p:strVal val="#ppt_x"/>
                                          </p:val>
                                        </p:tav>
                                      </p:tavLst>
                                    </p:anim>
                                    <p:anim calcmode="lin" valueType="num">
                                      <p:cBhvr additive="base">
                                        <p:cTn id="219" dur="500" fill="hold"/>
                                        <p:tgtEl>
                                          <p:spTgt spid="65"/>
                                        </p:tgtEl>
                                        <p:attrNameLst>
                                          <p:attrName>ppt_y</p:attrName>
                                        </p:attrNameLst>
                                      </p:cBhvr>
                                      <p:tavLst>
                                        <p:tav tm="0">
                                          <p:val>
                                            <p:strVal val="#ppt_y+0.1"/>
                                          </p:val>
                                        </p:tav>
                                        <p:tav tm="100000">
                                          <p:val>
                                            <p:strVal val="#ppt_y"/>
                                          </p:val>
                                        </p:tav>
                                      </p:tavLst>
                                    </p:anim>
                                    <p:animEffect transition="in" filter="fade">
                                      <p:cBhvr>
                                        <p:cTn id="220" dur="500"/>
                                        <p:tgtEl>
                                          <p:spTgt spid="65"/>
                                        </p:tgtEl>
                                      </p:cBhvr>
                                    </p:animEffect>
                                  </p:childTnLst>
                                </p:cTn>
                              </p:par>
                              <p:par>
                                <p:cTn id="226" presetID="2" presetClass="entr" presetSubtype="4" fill="hold" grpId="0" nodeType="withEffect">
                                  <p:stCondLst>
                                    <p:cond delay="570"/>
                                  </p:stCondLst>
                                  <p:childTnLst>
                                    <p:set>
                                      <p:cBhvr>
                                        <p:cTn id="222" dur="1" fill="hold">
                                          <p:stCondLst>
                                            <p:cond delay="0"/>
                                          </p:stCondLst>
                                        </p:cTn>
                                        <p:tgtEl>
                                          <p:spTgt spid="66"/>
                                        </p:tgtEl>
                                        <p:attrNameLst>
                                          <p:attrName>style.visibility</p:attrName>
                                        </p:attrNameLst>
                                      </p:cBhvr>
                                      <p:to>
                                        <p:strVal val="visible"/>
                                      </p:to>
                                    </p:set>
                                    <p:anim calcmode="lin" valueType="num">
                                      <p:cBhvr additive="base">
                                        <p:cTn id="223" dur="500" fill="hold"/>
                                        <p:tgtEl>
                                          <p:spTgt spid="66"/>
                                        </p:tgtEl>
                                        <p:attrNameLst>
                                          <p:attrName>ppt_x</p:attrName>
                                        </p:attrNameLst>
                                      </p:cBhvr>
                                      <p:tavLst>
                                        <p:tav tm="0">
                                          <p:val>
                                            <p:strVal val="#ppt_x"/>
                                          </p:val>
                                        </p:tav>
                                        <p:tav tm="100000">
                                          <p:val>
                                            <p:strVal val="#ppt_x"/>
                                          </p:val>
                                        </p:tav>
                                      </p:tavLst>
                                    </p:anim>
                                    <p:anim calcmode="lin" valueType="num">
                                      <p:cBhvr additive="base">
                                        <p:cTn id="224" dur="500" fill="hold"/>
                                        <p:tgtEl>
                                          <p:spTgt spid="66"/>
                                        </p:tgtEl>
                                        <p:attrNameLst>
                                          <p:attrName>ppt_y</p:attrName>
                                        </p:attrNameLst>
                                      </p:cBhvr>
                                      <p:tavLst>
                                        <p:tav tm="0">
                                          <p:val>
                                            <p:strVal val="#ppt_y+0.1"/>
                                          </p:val>
                                        </p:tav>
                                        <p:tav tm="100000">
                                          <p:val>
                                            <p:strVal val="#ppt_y"/>
                                          </p:val>
                                        </p:tav>
                                      </p:tavLst>
                                    </p:anim>
                                    <p:animEffect transition="in" filter="fade">
                                      <p:cBhvr>
                                        <p:cTn id="225" dur="5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233" presetID="2" presetClass="entr" presetSubtype="4" fill="hold" grpId="0" nodeType="clickEffect">
                                  <p:stCondLst>
                                    <p:cond delay="0"/>
                                  </p:stCondLst>
                                  <p:childTnLst>
                                    <p:set>
                                      <p:cBhvr>
                                        <p:cTn id="229" dur="1" fill="hold">
                                          <p:stCondLst>
                                            <p:cond delay="0"/>
                                          </p:stCondLst>
                                        </p:cTn>
                                        <p:tgtEl>
                                          <p:spTgt spid="47"/>
                                        </p:tgtEl>
                                        <p:attrNameLst>
                                          <p:attrName>style.visibility</p:attrName>
                                        </p:attrNameLst>
                                      </p:cBhvr>
                                      <p:to>
                                        <p:strVal val="visible"/>
                                      </p:to>
                                    </p:set>
                                    <p:anim calcmode="lin" valueType="num">
                                      <p:cBhvr additive="base">
                                        <p:cTn id="230" dur="500" fill="hold"/>
                                        <p:tgtEl>
                                          <p:spTgt spid="47"/>
                                        </p:tgtEl>
                                        <p:attrNameLst>
                                          <p:attrName>ppt_x</p:attrName>
                                        </p:attrNameLst>
                                      </p:cBhvr>
                                      <p:tavLst>
                                        <p:tav tm="0">
                                          <p:val>
                                            <p:strVal val="#ppt_x"/>
                                          </p:val>
                                        </p:tav>
                                        <p:tav tm="100000">
                                          <p:val>
                                            <p:strVal val="#ppt_x"/>
                                          </p:val>
                                        </p:tav>
                                      </p:tavLst>
                                    </p:anim>
                                    <p:anim calcmode="lin" valueType="num">
                                      <p:cBhvr additive="base">
                                        <p:cTn id="231" dur="500" fill="hold"/>
                                        <p:tgtEl>
                                          <p:spTgt spid="47"/>
                                        </p:tgtEl>
                                        <p:attrNameLst>
                                          <p:attrName>ppt_y</p:attrName>
                                        </p:attrNameLst>
                                      </p:cBhvr>
                                      <p:tavLst>
                                        <p:tav tm="0">
                                          <p:val>
                                            <p:strVal val="#ppt_y+0.1"/>
                                          </p:val>
                                        </p:tav>
                                        <p:tav tm="100000">
                                          <p:val>
                                            <p:strVal val="#ppt_y"/>
                                          </p:val>
                                        </p:tav>
                                      </p:tavLst>
                                    </p:anim>
                                    <p:animEffect transition="in" filter="fade">
                                      <p:cBhvr>
                                        <p:cTn id="232" dur="500"/>
                                        <p:tgtEl>
                                          <p:spTgt spid="47"/>
                                        </p:tgtEl>
                                      </p:cBhvr>
                                    </p:animEffect>
                                  </p:childTnLst>
                                </p:cTn>
                              </p:par>
                              <p:par>
                                <p:cTn id="238" presetID="2" presetClass="entr" presetSubtype="4" fill="hold" grpId="0" nodeType="withEffect">
                                  <p:stCondLst>
                                    <p:cond delay="100"/>
                                  </p:stCondLst>
                                  <p:childTnLst>
                                    <p:set>
                                      <p:cBhvr>
                                        <p:cTn id="234" dur="1" fill="hold">
                                          <p:stCondLst>
                                            <p:cond delay="0"/>
                                          </p:stCondLst>
                                        </p:cTn>
                                        <p:tgtEl>
                                          <p:spTgt spid="57"/>
                                        </p:tgtEl>
                                        <p:attrNameLst>
                                          <p:attrName>style.visibility</p:attrName>
                                        </p:attrNameLst>
                                      </p:cBhvr>
                                      <p:to>
                                        <p:strVal val="visible"/>
                                      </p:to>
                                    </p:set>
                                    <p:anim calcmode="lin" valueType="num">
                                      <p:cBhvr additive="base">
                                        <p:cTn id="235" dur="500" fill="hold"/>
                                        <p:tgtEl>
                                          <p:spTgt spid="57"/>
                                        </p:tgtEl>
                                        <p:attrNameLst>
                                          <p:attrName>ppt_x</p:attrName>
                                        </p:attrNameLst>
                                      </p:cBhvr>
                                      <p:tavLst>
                                        <p:tav tm="0">
                                          <p:val>
                                            <p:strVal val="#ppt_x"/>
                                          </p:val>
                                        </p:tav>
                                        <p:tav tm="100000">
                                          <p:val>
                                            <p:strVal val="#ppt_x"/>
                                          </p:val>
                                        </p:tav>
                                      </p:tavLst>
                                    </p:anim>
                                    <p:anim calcmode="lin" valueType="num">
                                      <p:cBhvr additive="base">
                                        <p:cTn id="236" dur="500" fill="hold"/>
                                        <p:tgtEl>
                                          <p:spTgt spid="57"/>
                                        </p:tgtEl>
                                        <p:attrNameLst>
                                          <p:attrName>ppt_y</p:attrName>
                                        </p:attrNameLst>
                                      </p:cBhvr>
                                      <p:tavLst>
                                        <p:tav tm="0">
                                          <p:val>
                                            <p:strVal val="#ppt_y+0.1"/>
                                          </p:val>
                                        </p:tav>
                                        <p:tav tm="100000">
                                          <p:val>
                                            <p:strVal val="#ppt_y"/>
                                          </p:val>
                                        </p:tav>
                                      </p:tavLst>
                                    </p:anim>
                                    <p:animEffect transition="in" filter="fade">
                                      <p:cBhvr>
                                        <p:cTn id="237" dur="500"/>
                                        <p:tgtEl>
                                          <p:spTgt spid="57"/>
                                        </p:tgtEl>
                                      </p:cBhvr>
                                    </p:animEffect>
                                  </p:childTnLst>
                                </p:cTn>
                              </p:par>
                              <p:par>
                                <p:cTn id="243" presetID="2" presetClass="entr" presetSubtype="4" fill="hold" grpId="0" nodeType="withEffect">
                                  <p:stCondLst>
                                    <p:cond delay="200"/>
                                  </p:stCondLst>
                                  <p:childTnLst>
                                    <p:set>
                                      <p:cBhvr>
                                        <p:cTn id="239" dur="1" fill="hold">
                                          <p:stCondLst>
                                            <p:cond delay="0"/>
                                          </p:stCondLst>
                                        </p:cTn>
                                        <p:tgtEl>
                                          <p:spTgt spid="67"/>
                                        </p:tgtEl>
                                        <p:attrNameLst>
                                          <p:attrName>style.visibility</p:attrName>
                                        </p:attrNameLst>
                                      </p:cBhvr>
                                      <p:to>
                                        <p:strVal val="visible"/>
                                      </p:to>
                                    </p:set>
                                    <p:anim calcmode="lin" valueType="num">
                                      <p:cBhvr additive="base">
                                        <p:cTn id="240" dur="500" fill="hold"/>
                                        <p:tgtEl>
                                          <p:spTgt spid="67"/>
                                        </p:tgtEl>
                                        <p:attrNameLst>
                                          <p:attrName>ppt_x</p:attrName>
                                        </p:attrNameLst>
                                      </p:cBhvr>
                                      <p:tavLst>
                                        <p:tav tm="0">
                                          <p:val>
                                            <p:strVal val="#ppt_x"/>
                                          </p:val>
                                        </p:tav>
                                        <p:tav tm="100000">
                                          <p:val>
                                            <p:strVal val="#ppt_x"/>
                                          </p:val>
                                        </p:tav>
                                      </p:tavLst>
                                    </p:anim>
                                    <p:anim calcmode="lin" valueType="num">
                                      <p:cBhvr additive="base">
                                        <p:cTn id="241" dur="500" fill="hold"/>
                                        <p:tgtEl>
                                          <p:spTgt spid="67"/>
                                        </p:tgtEl>
                                        <p:attrNameLst>
                                          <p:attrName>ppt_y</p:attrName>
                                        </p:attrNameLst>
                                      </p:cBhvr>
                                      <p:tavLst>
                                        <p:tav tm="0">
                                          <p:val>
                                            <p:strVal val="#ppt_y+0.1"/>
                                          </p:val>
                                        </p:tav>
                                        <p:tav tm="100000">
                                          <p:val>
                                            <p:strVal val="#ppt_y"/>
                                          </p:val>
                                        </p:tav>
                                      </p:tavLst>
                                    </p:anim>
                                    <p:animEffect transition="in" filter="fade">
                                      <p:cBhvr>
                                        <p:cTn id="242" dur="500"/>
                                        <p:tgtEl>
                                          <p:spTgt spid="67"/>
                                        </p:tgtEl>
                                      </p:cBhvr>
                                    </p:animEffect>
                                  </p:childTnLst>
                                </p:cTn>
                              </p:par>
                              <p:par>
                                <p:cTn id="248" presetID="2" presetClass="entr" presetSubtype="4" fill="hold" grpId="0" nodeType="withEffect">
                                  <p:stCondLst>
                                    <p:cond delay="300"/>
                                  </p:stCondLst>
                                  <p:childTnLst>
                                    <p:set>
                                      <p:cBhvr>
                                        <p:cTn id="244" dur="1" fill="hold">
                                          <p:stCondLst>
                                            <p:cond delay="0"/>
                                          </p:stCondLst>
                                        </p:cTn>
                                        <p:tgtEl>
                                          <p:spTgt spid="68"/>
                                        </p:tgtEl>
                                        <p:attrNameLst>
                                          <p:attrName>style.visibility</p:attrName>
                                        </p:attrNameLst>
                                      </p:cBhvr>
                                      <p:to>
                                        <p:strVal val="visible"/>
                                      </p:to>
                                    </p:set>
                                    <p:anim calcmode="lin" valueType="num">
                                      <p:cBhvr additive="base">
                                        <p:cTn id="245" dur="500" fill="hold"/>
                                        <p:tgtEl>
                                          <p:spTgt spid="68"/>
                                        </p:tgtEl>
                                        <p:attrNameLst>
                                          <p:attrName>ppt_x</p:attrName>
                                        </p:attrNameLst>
                                      </p:cBhvr>
                                      <p:tavLst>
                                        <p:tav tm="0">
                                          <p:val>
                                            <p:strVal val="#ppt_x"/>
                                          </p:val>
                                        </p:tav>
                                        <p:tav tm="100000">
                                          <p:val>
                                            <p:strVal val="#ppt_x"/>
                                          </p:val>
                                        </p:tav>
                                      </p:tavLst>
                                    </p:anim>
                                    <p:anim calcmode="lin" valueType="num">
                                      <p:cBhvr additive="base">
                                        <p:cTn id="246" dur="500" fill="hold"/>
                                        <p:tgtEl>
                                          <p:spTgt spid="68"/>
                                        </p:tgtEl>
                                        <p:attrNameLst>
                                          <p:attrName>ppt_y</p:attrName>
                                        </p:attrNameLst>
                                      </p:cBhvr>
                                      <p:tavLst>
                                        <p:tav tm="0">
                                          <p:val>
                                            <p:strVal val="#ppt_y+0.1"/>
                                          </p:val>
                                        </p:tav>
                                        <p:tav tm="100000">
                                          <p:val>
                                            <p:strVal val="#ppt_y"/>
                                          </p:val>
                                        </p:tav>
                                      </p:tavLst>
                                    </p:anim>
                                    <p:animEffect transition="in" filter="fade">
                                      <p:cBhvr>
                                        <p:cTn id="247" dur="500"/>
                                        <p:tgtEl>
                                          <p:spTgt spid="68"/>
                                        </p:tgtEl>
                                      </p:cBhvr>
                                    </p:animEffect>
                                  </p:childTnLst>
                                </p:cTn>
                              </p:par>
                              <p:par>
                                <p:cTn id="253" presetID="2" presetClass="entr" presetSubtype="4" fill="hold" grpId="0" nodeType="withEffect">
                                  <p:stCondLst>
                                    <p:cond delay="300"/>
                                  </p:stCondLst>
                                  <p:childTnLst>
                                    <p:set>
                                      <p:cBhvr>
                                        <p:cTn id="249" dur="1" fill="hold">
                                          <p:stCondLst>
                                            <p:cond delay="0"/>
                                          </p:stCondLst>
                                        </p:cTn>
                                        <p:tgtEl>
                                          <p:spTgt spid="69"/>
                                        </p:tgtEl>
                                        <p:attrNameLst>
                                          <p:attrName>style.visibility</p:attrName>
                                        </p:attrNameLst>
                                      </p:cBhvr>
                                      <p:to>
                                        <p:strVal val="visible"/>
                                      </p:to>
                                    </p:set>
                                    <p:anim calcmode="lin" valueType="num">
                                      <p:cBhvr additive="base">
                                        <p:cTn id="250" dur="500" fill="hold"/>
                                        <p:tgtEl>
                                          <p:spTgt spid="69"/>
                                        </p:tgtEl>
                                        <p:attrNameLst>
                                          <p:attrName>ppt_x</p:attrName>
                                        </p:attrNameLst>
                                      </p:cBhvr>
                                      <p:tavLst>
                                        <p:tav tm="0">
                                          <p:val>
                                            <p:strVal val="#ppt_x"/>
                                          </p:val>
                                        </p:tav>
                                        <p:tav tm="100000">
                                          <p:val>
                                            <p:strVal val="#ppt_x"/>
                                          </p:val>
                                        </p:tav>
                                      </p:tavLst>
                                    </p:anim>
                                    <p:anim calcmode="lin" valueType="num">
                                      <p:cBhvr additive="base">
                                        <p:cTn id="251" dur="500" fill="hold"/>
                                        <p:tgtEl>
                                          <p:spTgt spid="69"/>
                                        </p:tgtEl>
                                        <p:attrNameLst>
                                          <p:attrName>ppt_y</p:attrName>
                                        </p:attrNameLst>
                                      </p:cBhvr>
                                      <p:tavLst>
                                        <p:tav tm="0">
                                          <p:val>
                                            <p:strVal val="#ppt_y+0.1"/>
                                          </p:val>
                                        </p:tav>
                                        <p:tav tm="100000">
                                          <p:val>
                                            <p:strVal val="#ppt_y"/>
                                          </p:val>
                                        </p:tav>
                                      </p:tavLst>
                                    </p:anim>
                                    <p:animEffect transition="in" filter="fade">
                                      <p:cBhvr>
                                        <p:cTn id="252" dur="500"/>
                                        <p:tgtEl>
                                          <p:spTgt spid="69"/>
                                        </p:tgtEl>
                                      </p:cBhvr>
                                    </p:animEffect>
                                  </p:childTnLst>
                                </p:cTn>
                              </p:par>
                              <p:par>
                                <p:cTn id="258" presetID="2" presetClass="entr" presetSubtype="4" fill="hold" grpId="0" nodeType="withEffect">
                                  <p:stCondLst>
                                    <p:cond delay="420"/>
                                  </p:stCondLst>
                                  <p:childTnLst>
                                    <p:set>
                                      <p:cBhvr>
                                        <p:cTn id="254" dur="1" fill="hold">
                                          <p:stCondLst>
                                            <p:cond delay="0"/>
                                          </p:stCondLst>
                                        </p:cTn>
                                        <p:tgtEl>
                                          <p:spTgt spid="70"/>
                                        </p:tgtEl>
                                        <p:attrNameLst>
                                          <p:attrName>style.visibility</p:attrName>
                                        </p:attrNameLst>
                                      </p:cBhvr>
                                      <p:to>
                                        <p:strVal val="visible"/>
                                      </p:to>
                                    </p:set>
                                    <p:anim calcmode="lin" valueType="num">
                                      <p:cBhvr additive="base">
                                        <p:cTn id="255" dur="500" fill="hold"/>
                                        <p:tgtEl>
                                          <p:spTgt spid="70"/>
                                        </p:tgtEl>
                                        <p:attrNameLst>
                                          <p:attrName>ppt_x</p:attrName>
                                        </p:attrNameLst>
                                      </p:cBhvr>
                                      <p:tavLst>
                                        <p:tav tm="0">
                                          <p:val>
                                            <p:strVal val="#ppt_x"/>
                                          </p:val>
                                        </p:tav>
                                        <p:tav tm="100000">
                                          <p:val>
                                            <p:strVal val="#ppt_x"/>
                                          </p:val>
                                        </p:tav>
                                      </p:tavLst>
                                    </p:anim>
                                    <p:anim calcmode="lin" valueType="num">
                                      <p:cBhvr additive="base">
                                        <p:cTn id="256" dur="500" fill="hold"/>
                                        <p:tgtEl>
                                          <p:spTgt spid="70"/>
                                        </p:tgtEl>
                                        <p:attrNameLst>
                                          <p:attrName>ppt_y</p:attrName>
                                        </p:attrNameLst>
                                      </p:cBhvr>
                                      <p:tavLst>
                                        <p:tav tm="0">
                                          <p:val>
                                            <p:strVal val="#ppt_y+0.1"/>
                                          </p:val>
                                        </p:tav>
                                        <p:tav tm="100000">
                                          <p:val>
                                            <p:strVal val="#ppt_y"/>
                                          </p:val>
                                        </p:tav>
                                      </p:tavLst>
                                    </p:anim>
                                    <p:animEffect transition="in" filter="fade">
                                      <p:cBhvr>
                                        <p:cTn id="257" dur="500"/>
                                        <p:tgtEl>
                                          <p:spTgt spid="70"/>
                                        </p:tgtEl>
                                      </p:cBhvr>
                                    </p:animEffect>
                                  </p:childTnLst>
                                </p:cTn>
                              </p:par>
                              <p:par>
                                <p:cTn id="263" presetID="2" presetClass="entr" presetSubtype="4" fill="hold" grpId="0" nodeType="withEffect">
                                  <p:stCondLst>
                                    <p:cond delay="420"/>
                                  </p:stCondLst>
                                  <p:childTnLst>
                                    <p:set>
                                      <p:cBhvr>
                                        <p:cTn id="259" dur="1" fill="hold">
                                          <p:stCondLst>
                                            <p:cond delay="0"/>
                                          </p:stCondLst>
                                        </p:cTn>
                                        <p:tgtEl>
                                          <p:spTgt spid="71"/>
                                        </p:tgtEl>
                                        <p:attrNameLst>
                                          <p:attrName>style.visibility</p:attrName>
                                        </p:attrNameLst>
                                      </p:cBhvr>
                                      <p:to>
                                        <p:strVal val="visible"/>
                                      </p:to>
                                    </p:set>
                                    <p:anim calcmode="lin" valueType="num">
                                      <p:cBhvr additive="base">
                                        <p:cTn id="260" dur="500" fill="hold"/>
                                        <p:tgtEl>
                                          <p:spTgt spid="71"/>
                                        </p:tgtEl>
                                        <p:attrNameLst>
                                          <p:attrName>ppt_x</p:attrName>
                                        </p:attrNameLst>
                                      </p:cBhvr>
                                      <p:tavLst>
                                        <p:tav tm="0">
                                          <p:val>
                                            <p:strVal val="#ppt_x"/>
                                          </p:val>
                                        </p:tav>
                                        <p:tav tm="100000">
                                          <p:val>
                                            <p:strVal val="#ppt_x"/>
                                          </p:val>
                                        </p:tav>
                                      </p:tavLst>
                                    </p:anim>
                                    <p:anim calcmode="lin" valueType="num">
                                      <p:cBhvr additive="base">
                                        <p:cTn id="261" dur="500" fill="hold"/>
                                        <p:tgtEl>
                                          <p:spTgt spid="71"/>
                                        </p:tgtEl>
                                        <p:attrNameLst>
                                          <p:attrName>ppt_y</p:attrName>
                                        </p:attrNameLst>
                                      </p:cBhvr>
                                      <p:tavLst>
                                        <p:tav tm="0">
                                          <p:val>
                                            <p:strVal val="#ppt_y+0.1"/>
                                          </p:val>
                                        </p:tav>
                                        <p:tav tm="100000">
                                          <p:val>
                                            <p:strVal val="#ppt_y"/>
                                          </p:val>
                                        </p:tav>
                                      </p:tavLst>
                                    </p:anim>
                                    <p:animEffect transition="in" filter="fade">
                                      <p:cBhvr>
                                        <p:cTn id="262" dur="500"/>
                                        <p:tgtEl>
                                          <p:spTgt spid="71"/>
                                        </p:tgtEl>
                                      </p:cBhvr>
                                    </p:animEffect>
                                  </p:childTnLst>
                                </p:cTn>
                              </p:par>
                              <p:par>
                                <p:cTn id="268" presetID="2" presetClass="entr" presetSubtype="4" fill="hold" grpId="0" nodeType="withEffect">
                                  <p:stCondLst>
                                    <p:cond delay="540"/>
                                  </p:stCondLst>
                                  <p:childTnLst>
                                    <p:set>
                                      <p:cBhvr>
                                        <p:cTn id="264" dur="1" fill="hold">
                                          <p:stCondLst>
                                            <p:cond delay="0"/>
                                          </p:stCondLst>
                                        </p:cTn>
                                        <p:tgtEl>
                                          <p:spTgt spid="72"/>
                                        </p:tgtEl>
                                        <p:attrNameLst>
                                          <p:attrName>style.visibility</p:attrName>
                                        </p:attrNameLst>
                                      </p:cBhvr>
                                      <p:to>
                                        <p:strVal val="visible"/>
                                      </p:to>
                                    </p:set>
                                    <p:anim calcmode="lin" valueType="num">
                                      <p:cBhvr additive="base">
                                        <p:cTn id="265" dur="500" fill="hold"/>
                                        <p:tgtEl>
                                          <p:spTgt spid="72"/>
                                        </p:tgtEl>
                                        <p:attrNameLst>
                                          <p:attrName>ppt_x</p:attrName>
                                        </p:attrNameLst>
                                      </p:cBhvr>
                                      <p:tavLst>
                                        <p:tav tm="0">
                                          <p:val>
                                            <p:strVal val="#ppt_x"/>
                                          </p:val>
                                        </p:tav>
                                        <p:tav tm="100000">
                                          <p:val>
                                            <p:strVal val="#ppt_x"/>
                                          </p:val>
                                        </p:tav>
                                      </p:tavLst>
                                    </p:anim>
                                    <p:anim calcmode="lin" valueType="num">
                                      <p:cBhvr additive="base">
                                        <p:cTn id="266" dur="500" fill="hold"/>
                                        <p:tgtEl>
                                          <p:spTgt spid="72"/>
                                        </p:tgtEl>
                                        <p:attrNameLst>
                                          <p:attrName>ppt_y</p:attrName>
                                        </p:attrNameLst>
                                      </p:cBhvr>
                                      <p:tavLst>
                                        <p:tav tm="0">
                                          <p:val>
                                            <p:strVal val="#ppt_y+0.1"/>
                                          </p:val>
                                        </p:tav>
                                        <p:tav tm="100000">
                                          <p:val>
                                            <p:strVal val="#ppt_y"/>
                                          </p:val>
                                        </p:tav>
                                      </p:tavLst>
                                    </p:anim>
                                    <p:animEffect transition="in" filter="fade">
                                      <p:cBhvr>
                                        <p:cTn id="267" dur="500"/>
                                        <p:tgtEl>
                                          <p:spTgt spid="72"/>
                                        </p:tgtEl>
                                      </p:cBhvr>
                                    </p:animEffect>
                                  </p:childTnLst>
                                </p:cTn>
                              </p:par>
                              <p:par>
                                <p:cTn id="273" presetID="2" presetClass="entr" presetSubtype="4" fill="hold" grpId="0" nodeType="withEffect">
                                  <p:stCondLst>
                                    <p:cond delay="540"/>
                                  </p:stCondLst>
                                  <p:childTnLst>
                                    <p:set>
                                      <p:cBhvr>
                                        <p:cTn id="269" dur="1" fill="hold">
                                          <p:stCondLst>
                                            <p:cond delay="0"/>
                                          </p:stCondLst>
                                        </p:cTn>
                                        <p:tgtEl>
                                          <p:spTgt spid="73"/>
                                        </p:tgtEl>
                                        <p:attrNameLst>
                                          <p:attrName>style.visibility</p:attrName>
                                        </p:attrNameLst>
                                      </p:cBhvr>
                                      <p:to>
                                        <p:strVal val="visible"/>
                                      </p:to>
                                    </p:set>
                                    <p:anim calcmode="lin" valueType="num">
                                      <p:cBhvr additive="base">
                                        <p:cTn id="270" dur="500" fill="hold"/>
                                        <p:tgtEl>
                                          <p:spTgt spid="73"/>
                                        </p:tgtEl>
                                        <p:attrNameLst>
                                          <p:attrName>ppt_x</p:attrName>
                                        </p:attrNameLst>
                                      </p:cBhvr>
                                      <p:tavLst>
                                        <p:tav tm="0">
                                          <p:val>
                                            <p:strVal val="#ppt_x"/>
                                          </p:val>
                                        </p:tav>
                                        <p:tav tm="100000">
                                          <p:val>
                                            <p:strVal val="#ppt_x"/>
                                          </p:val>
                                        </p:tav>
                                      </p:tavLst>
                                    </p:anim>
                                    <p:anim calcmode="lin" valueType="num">
                                      <p:cBhvr additive="base">
                                        <p:cTn id="271" dur="500" fill="hold"/>
                                        <p:tgtEl>
                                          <p:spTgt spid="73"/>
                                        </p:tgtEl>
                                        <p:attrNameLst>
                                          <p:attrName>ppt_y</p:attrName>
                                        </p:attrNameLst>
                                      </p:cBhvr>
                                      <p:tavLst>
                                        <p:tav tm="0">
                                          <p:val>
                                            <p:strVal val="#ppt_y+0.1"/>
                                          </p:val>
                                        </p:tav>
                                        <p:tav tm="100000">
                                          <p:val>
                                            <p:strVal val="#ppt_y"/>
                                          </p:val>
                                        </p:tav>
                                      </p:tavLst>
                                    </p:anim>
                                    <p:animEffect transition="in" filter="fade">
                                      <p:cBhvr>
                                        <p:cTn id="272" dur="500"/>
                                        <p:tgtEl>
                                          <p:spTgt spid="73"/>
                                        </p:tgtEl>
                                      </p:cBhvr>
                                    </p:animEffect>
                                  </p:childTnLst>
                                </p:cTn>
                              </p:par>
                            </p:childTnLst>
                          </p:cTn>
                        </p:par>
                      </p:childTnLst>
                    </p:cTn>
                  </p:par>
                  <p:par>
                    <p:cTn id="274" fill="hold">
                      <p:stCondLst>
                        <p:cond delay="indefinite"/>
                      </p:stCondLst>
                      <p:childTnLst>
                        <p:par>
                          <p:cTn id="275" fill="hold">
                            <p:stCondLst>
                              <p:cond delay="0"/>
                            </p:stCondLst>
                            <p:childTnLst>
                              <p:par>
                                <p:cTn id="280" presetID="2" presetClass="entr" presetSubtype="4" fill="hold" grpId="0" nodeType="clickEffect">
                                  <p:stCondLst>
                                    <p:cond delay="0"/>
                                  </p:stCondLst>
                                  <p:childTnLst>
                                    <p:set>
                                      <p:cBhvr>
                                        <p:cTn id="276" dur="1" fill="hold">
                                          <p:stCondLst>
                                            <p:cond delay="0"/>
                                          </p:stCondLst>
                                        </p:cTn>
                                        <p:tgtEl>
                                          <p:spTgt spid="74"/>
                                        </p:tgtEl>
                                        <p:attrNameLst>
                                          <p:attrName>style.visibility</p:attrName>
                                        </p:attrNameLst>
                                      </p:cBhvr>
                                      <p:to>
                                        <p:strVal val="visible"/>
                                      </p:to>
                                    </p:set>
                                    <p:anim calcmode="lin" valueType="num">
                                      <p:cBhvr additive="base">
                                        <p:cTn id="277" dur="500" fill="hold"/>
                                        <p:tgtEl>
                                          <p:spTgt spid="74"/>
                                        </p:tgtEl>
                                        <p:attrNameLst>
                                          <p:attrName>ppt_x</p:attrName>
                                        </p:attrNameLst>
                                      </p:cBhvr>
                                      <p:tavLst>
                                        <p:tav tm="0">
                                          <p:val>
                                            <p:strVal val="#ppt_x"/>
                                          </p:val>
                                        </p:tav>
                                        <p:tav tm="100000">
                                          <p:val>
                                            <p:strVal val="#ppt_x"/>
                                          </p:val>
                                        </p:tav>
                                      </p:tavLst>
                                    </p:anim>
                                    <p:anim calcmode="lin" valueType="num">
                                      <p:cBhvr additive="base">
                                        <p:cTn id="278" dur="500" fill="hold"/>
                                        <p:tgtEl>
                                          <p:spTgt spid="74"/>
                                        </p:tgtEl>
                                        <p:attrNameLst>
                                          <p:attrName>ppt_y</p:attrName>
                                        </p:attrNameLst>
                                      </p:cBhvr>
                                      <p:tavLst>
                                        <p:tav tm="0">
                                          <p:val>
                                            <p:strVal val="#ppt_y+0.1"/>
                                          </p:val>
                                        </p:tav>
                                        <p:tav tm="100000">
                                          <p:val>
                                            <p:strVal val="#ppt_y"/>
                                          </p:val>
                                        </p:tav>
                                      </p:tavLst>
                                    </p:anim>
                                    <p:animEffect transition="in" filter="fade">
                                      <p:cBhvr>
                                        <p:cTn id="279" dur="500"/>
                                        <p:tgtEl>
                                          <p:spTgt spid="74"/>
                                        </p:tgtEl>
                                      </p:cBhvr>
                                    </p:animEffect>
                                  </p:childTnLst>
                                </p:cTn>
                              </p:par>
                              <p:par>
                                <p:cTn id="285" presetID="2" presetClass="entr" presetSubtype="4" fill="hold" grpId="0" nodeType="withEffect">
                                  <p:stCondLst>
                                    <p:cond delay="0"/>
                                  </p:stCondLst>
                                  <p:childTnLst>
                                    <p:set>
                                      <p:cBhvr>
                                        <p:cTn id="281" dur="1" fill="hold">
                                          <p:stCondLst>
                                            <p:cond delay="0"/>
                                          </p:stCondLst>
                                        </p:cTn>
                                        <p:tgtEl>
                                          <p:spTgt spid="75"/>
                                        </p:tgtEl>
                                        <p:attrNameLst>
                                          <p:attrName>style.visibility</p:attrName>
                                        </p:attrNameLst>
                                      </p:cBhvr>
                                      <p:to>
                                        <p:strVal val="visible"/>
                                      </p:to>
                                    </p:set>
                                    <p:anim calcmode="lin" valueType="num">
                                      <p:cBhvr additive="base">
                                        <p:cTn id="282" dur="500" fill="hold"/>
                                        <p:tgtEl>
                                          <p:spTgt spid="75"/>
                                        </p:tgtEl>
                                        <p:attrNameLst>
                                          <p:attrName>ppt_x</p:attrName>
                                        </p:attrNameLst>
                                      </p:cBhvr>
                                      <p:tavLst>
                                        <p:tav tm="0">
                                          <p:val>
                                            <p:strVal val="#ppt_x"/>
                                          </p:val>
                                        </p:tav>
                                        <p:tav tm="100000">
                                          <p:val>
                                            <p:strVal val="#ppt_x"/>
                                          </p:val>
                                        </p:tav>
                                      </p:tavLst>
                                    </p:anim>
                                    <p:anim calcmode="lin" valueType="num">
                                      <p:cBhvr additive="base">
                                        <p:cTn id="283" dur="500" fill="hold"/>
                                        <p:tgtEl>
                                          <p:spTgt spid="75"/>
                                        </p:tgtEl>
                                        <p:attrNameLst>
                                          <p:attrName>ppt_y</p:attrName>
                                        </p:attrNameLst>
                                      </p:cBhvr>
                                      <p:tavLst>
                                        <p:tav tm="0">
                                          <p:val>
                                            <p:strVal val="#ppt_y+0.1"/>
                                          </p:val>
                                        </p:tav>
                                        <p:tav tm="100000">
                                          <p:val>
                                            <p:strVal val="#ppt_y"/>
                                          </p:val>
                                        </p:tav>
                                      </p:tavLst>
                                    </p:anim>
                                    <p:animEffect transition="in" filter="fade">
                                      <p:cBhvr>
                                        <p:cTn id="284" dur="500"/>
                                        <p:tgtEl>
                                          <p:spTgt spid="75"/>
                                        </p:tgtEl>
                                      </p:cBhvr>
                                    </p:animEffect>
                                  </p:childTnLst>
                                </p:cTn>
                              </p:par>
                              <p:par>
                                <p:cTn id="290" presetID="2" presetClass="entr" presetSubtype="4" fill="hold" grpId="0" nodeType="withEffect">
                                  <p:stCondLst>
                                    <p:cond delay="0"/>
                                  </p:stCondLst>
                                  <p:childTnLst>
                                    <p:set>
                                      <p:cBhvr>
                                        <p:cTn id="286" dur="1" fill="hold">
                                          <p:stCondLst>
                                            <p:cond delay="0"/>
                                          </p:stCondLst>
                                        </p:cTn>
                                        <p:tgtEl>
                                          <p:spTgt spid="76"/>
                                        </p:tgtEl>
                                        <p:attrNameLst>
                                          <p:attrName>style.visibility</p:attrName>
                                        </p:attrNameLst>
                                      </p:cBhvr>
                                      <p:to>
                                        <p:strVal val="visible"/>
                                      </p:to>
                                    </p:set>
                                    <p:anim calcmode="lin" valueType="num">
                                      <p:cBhvr additive="base">
                                        <p:cTn id="287" dur="500" fill="hold"/>
                                        <p:tgtEl>
                                          <p:spTgt spid="76"/>
                                        </p:tgtEl>
                                        <p:attrNameLst>
                                          <p:attrName>ppt_x</p:attrName>
                                        </p:attrNameLst>
                                      </p:cBhvr>
                                      <p:tavLst>
                                        <p:tav tm="0">
                                          <p:val>
                                            <p:strVal val="#ppt_x"/>
                                          </p:val>
                                        </p:tav>
                                        <p:tav tm="100000">
                                          <p:val>
                                            <p:strVal val="#ppt_x"/>
                                          </p:val>
                                        </p:tav>
                                      </p:tavLst>
                                    </p:anim>
                                    <p:anim calcmode="lin" valueType="num">
                                      <p:cBhvr additive="base">
                                        <p:cTn id="288" dur="500" fill="hold"/>
                                        <p:tgtEl>
                                          <p:spTgt spid="76"/>
                                        </p:tgtEl>
                                        <p:attrNameLst>
                                          <p:attrName>ppt_y</p:attrName>
                                        </p:attrNameLst>
                                      </p:cBhvr>
                                      <p:tavLst>
                                        <p:tav tm="0">
                                          <p:val>
                                            <p:strVal val="#ppt_y+0.1"/>
                                          </p:val>
                                        </p:tav>
                                        <p:tav tm="100000">
                                          <p:val>
                                            <p:strVal val="#ppt_y"/>
                                          </p:val>
                                        </p:tav>
                                      </p:tavLst>
                                    </p:anim>
                                    <p:animEffect transition="in" filter="fade">
                                      <p:cBhvr>
                                        <p:cTn id="28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Ordering Is Per Partition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No strict global order across a partitioned topic - only within each partition</a:t>
            </a:r>
          </a:p>
        </p:txBody>
      </p:sp>
      <p:sp>
        <p:nvSpPr>
          <p:cNvPr id="11" name="a1f_lb10"/>
          <p:cNvSpPr txBox="1"/>
          <p:nvPr/>
        </p:nvSpPr>
        <p:spPr>
          <a:xfrm>
            <a:off x="457200" y="1261872"/>
            <a:ext cx="3840480" cy="201168"/>
          </a:xfrm>
          <a:prstGeom prst="rect">
            <a:avLst/>
          </a:prstGeom>
          <a:noFill/>
        </p:spPr>
        <p:txBody>
          <a:bodyPr wrap="square" lIns="0" tIns="0" rIns="0" bIns="0" anchor="ctr">
            <a:spAutoFit/>
          </a:bodyPr>
          <a:lstStyle/>
          <a:p>
            <a:pPr algn="l"/>
            <a:r>
              <a:rPr sz="850" b="1">
                <a:solidFill>
                  <a:srgbClr val="1C1917"/>
                </a:solidFill>
                <a:latin typeface="Segoe UI"/>
              </a:rPr>
              <a:t>written to the topic, in this order</a:t>
            </a:r>
          </a:p>
        </p:txBody>
      </p:sp>
      <p:sp>
        <p:nvSpPr>
          <p:cNvPr id="12" name="a1w_cell11"/>
          <p:cNvSpPr/>
          <p:nvPr/>
        </p:nvSpPr>
        <p:spPr>
          <a:xfrm>
            <a:off x="457200" y="1517904"/>
            <a:ext cx="566928" cy="384048"/>
          </a:xfrm>
          <a:prstGeom prst="rect">
            <a:avLst/>
          </a:prstGeom>
          <a:solidFill>
            <a:srgbClr val="D9F2F7"/>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_cellt12"/>
          <p:cNvSpPr txBox="1"/>
          <p:nvPr/>
        </p:nvSpPr>
        <p:spPr>
          <a:xfrm>
            <a:off x="457200" y="1517904"/>
            <a:ext cx="566928" cy="384048"/>
          </a:xfrm>
          <a:prstGeom prst="rect">
            <a:avLst/>
          </a:prstGeom>
          <a:noFill/>
        </p:spPr>
        <p:txBody>
          <a:bodyPr wrap="square" lIns="0" tIns="0" rIns="0" bIns="0" anchor="ctr">
            <a:spAutoFit/>
          </a:bodyPr>
          <a:lstStyle/>
          <a:p>
            <a:pPr algn="ctr"/>
            <a:r>
              <a:rPr sz="950" b="1">
                <a:solidFill>
                  <a:srgbClr val="0E7490"/>
                </a:solidFill>
                <a:latin typeface="Consolas"/>
              </a:rPr>
              <a:t>m1</a:t>
            </a:r>
          </a:p>
        </p:txBody>
      </p:sp>
      <p:sp>
        <p:nvSpPr>
          <p:cNvPr id="14" name="a1wd60_cell13"/>
          <p:cNvSpPr/>
          <p:nvPr/>
        </p:nvSpPr>
        <p:spPr>
          <a:xfrm>
            <a:off x="1024128" y="1517904"/>
            <a:ext cx="566928" cy="384048"/>
          </a:xfrm>
          <a:prstGeom prst="rect">
            <a:avLst/>
          </a:prstGeom>
          <a:solidFill>
            <a:srgbClr val="E0E7FF"/>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60_cellt14"/>
          <p:cNvSpPr txBox="1"/>
          <p:nvPr/>
        </p:nvSpPr>
        <p:spPr>
          <a:xfrm>
            <a:off x="1024128" y="1517904"/>
            <a:ext cx="566928" cy="384048"/>
          </a:xfrm>
          <a:prstGeom prst="rect">
            <a:avLst/>
          </a:prstGeom>
          <a:noFill/>
        </p:spPr>
        <p:txBody>
          <a:bodyPr wrap="square" lIns="0" tIns="0" rIns="0" bIns="0" anchor="ctr">
            <a:spAutoFit/>
          </a:bodyPr>
          <a:lstStyle/>
          <a:p>
            <a:pPr algn="ctr"/>
            <a:r>
              <a:rPr sz="950" b="1">
                <a:solidFill>
                  <a:srgbClr val="4F46E5"/>
                </a:solidFill>
                <a:latin typeface="Consolas"/>
              </a:rPr>
              <a:t>m2</a:t>
            </a:r>
          </a:p>
        </p:txBody>
      </p:sp>
      <p:sp>
        <p:nvSpPr>
          <p:cNvPr id="16" name="a1wd120_cell15"/>
          <p:cNvSpPr/>
          <p:nvPr/>
        </p:nvSpPr>
        <p:spPr>
          <a:xfrm>
            <a:off x="1591056" y="1517904"/>
            <a:ext cx="566928" cy="384048"/>
          </a:xfrm>
          <a:prstGeom prst="rect">
            <a:avLst/>
          </a:prstGeom>
          <a:solidFill>
            <a:srgbClr val="FFEDD5"/>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120_cellt16"/>
          <p:cNvSpPr txBox="1"/>
          <p:nvPr/>
        </p:nvSpPr>
        <p:spPr>
          <a:xfrm>
            <a:off x="1591056" y="1517904"/>
            <a:ext cx="566928" cy="384048"/>
          </a:xfrm>
          <a:prstGeom prst="rect">
            <a:avLst/>
          </a:prstGeom>
          <a:noFill/>
        </p:spPr>
        <p:txBody>
          <a:bodyPr wrap="square" lIns="0" tIns="0" rIns="0" bIns="0" anchor="ctr">
            <a:spAutoFit/>
          </a:bodyPr>
          <a:lstStyle/>
          <a:p>
            <a:pPr algn="ctr"/>
            <a:r>
              <a:rPr sz="950" b="1">
                <a:solidFill>
                  <a:srgbClr val="C2410C"/>
                </a:solidFill>
                <a:latin typeface="Consolas"/>
              </a:rPr>
              <a:t>m3</a:t>
            </a:r>
          </a:p>
        </p:txBody>
      </p:sp>
      <p:sp>
        <p:nvSpPr>
          <p:cNvPr id="18" name="a1wd180_cell17"/>
          <p:cNvSpPr/>
          <p:nvPr/>
        </p:nvSpPr>
        <p:spPr>
          <a:xfrm>
            <a:off x="2157984" y="1517904"/>
            <a:ext cx="566928" cy="384048"/>
          </a:xfrm>
          <a:prstGeom prst="rect">
            <a:avLst/>
          </a:prstGeom>
          <a:solidFill>
            <a:srgbClr val="D9F2F7"/>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180_cellt18"/>
          <p:cNvSpPr txBox="1"/>
          <p:nvPr/>
        </p:nvSpPr>
        <p:spPr>
          <a:xfrm>
            <a:off x="2157984" y="1517904"/>
            <a:ext cx="566928" cy="384048"/>
          </a:xfrm>
          <a:prstGeom prst="rect">
            <a:avLst/>
          </a:prstGeom>
          <a:noFill/>
        </p:spPr>
        <p:txBody>
          <a:bodyPr wrap="square" lIns="0" tIns="0" rIns="0" bIns="0" anchor="ctr">
            <a:spAutoFit/>
          </a:bodyPr>
          <a:lstStyle/>
          <a:p>
            <a:pPr algn="ctr"/>
            <a:r>
              <a:rPr sz="950" b="1">
                <a:solidFill>
                  <a:srgbClr val="0E7490"/>
                </a:solidFill>
                <a:latin typeface="Consolas"/>
              </a:rPr>
              <a:t>m4</a:t>
            </a:r>
          </a:p>
        </p:txBody>
      </p:sp>
      <p:sp>
        <p:nvSpPr>
          <p:cNvPr id="20" name="a1wd240_cell19"/>
          <p:cNvSpPr/>
          <p:nvPr/>
        </p:nvSpPr>
        <p:spPr>
          <a:xfrm>
            <a:off x="2724912" y="1517904"/>
            <a:ext cx="566928" cy="384048"/>
          </a:xfrm>
          <a:prstGeom prst="rect">
            <a:avLst/>
          </a:prstGeom>
          <a:solidFill>
            <a:srgbClr val="E0E7FF"/>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240_cellt20"/>
          <p:cNvSpPr txBox="1"/>
          <p:nvPr/>
        </p:nvSpPr>
        <p:spPr>
          <a:xfrm>
            <a:off x="2724912" y="1517904"/>
            <a:ext cx="566928" cy="384048"/>
          </a:xfrm>
          <a:prstGeom prst="rect">
            <a:avLst/>
          </a:prstGeom>
          <a:noFill/>
        </p:spPr>
        <p:txBody>
          <a:bodyPr wrap="square" lIns="0" tIns="0" rIns="0" bIns="0" anchor="ctr">
            <a:spAutoFit/>
          </a:bodyPr>
          <a:lstStyle/>
          <a:p>
            <a:pPr algn="ctr"/>
            <a:r>
              <a:rPr sz="950" b="1">
                <a:solidFill>
                  <a:srgbClr val="4F46E5"/>
                </a:solidFill>
                <a:latin typeface="Consolas"/>
              </a:rPr>
              <a:t>m5</a:t>
            </a:r>
          </a:p>
        </p:txBody>
      </p:sp>
      <p:sp>
        <p:nvSpPr>
          <p:cNvPr id="22" name="a1wd300_cell21"/>
          <p:cNvSpPr/>
          <p:nvPr/>
        </p:nvSpPr>
        <p:spPr>
          <a:xfrm>
            <a:off x="3291840" y="1517904"/>
            <a:ext cx="566928" cy="384048"/>
          </a:xfrm>
          <a:prstGeom prst="rect">
            <a:avLst/>
          </a:prstGeom>
          <a:solidFill>
            <a:srgbClr val="FFEDD5"/>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300_cellt22"/>
          <p:cNvSpPr txBox="1"/>
          <p:nvPr/>
        </p:nvSpPr>
        <p:spPr>
          <a:xfrm>
            <a:off x="3291840" y="1517904"/>
            <a:ext cx="566928" cy="384048"/>
          </a:xfrm>
          <a:prstGeom prst="rect">
            <a:avLst/>
          </a:prstGeom>
          <a:noFill/>
        </p:spPr>
        <p:txBody>
          <a:bodyPr wrap="square" lIns="0" tIns="0" rIns="0" bIns="0" anchor="ctr">
            <a:spAutoFit/>
          </a:bodyPr>
          <a:lstStyle/>
          <a:p>
            <a:pPr algn="ctr"/>
            <a:r>
              <a:rPr sz="950" b="1">
                <a:solidFill>
                  <a:srgbClr val="C2410C"/>
                </a:solidFill>
                <a:latin typeface="Consolas"/>
              </a:rPr>
              <a:t>m6</a:t>
            </a:r>
          </a:p>
        </p:txBody>
      </p:sp>
      <p:cxnSp>
        <p:nvCxnSpPr>
          <p:cNvPr id="24" name="a2u_ar23"/>
          <p:cNvCxnSpPr/>
          <p:nvPr/>
        </p:nvCxnSpPr>
        <p:spPr>
          <a:xfrm>
            <a:off x="2157984" y="1947672"/>
            <a:ext cx="0" cy="246888"/>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2u_pn24"/>
          <p:cNvSpPr txBox="1"/>
          <p:nvPr/>
        </p:nvSpPr>
        <p:spPr>
          <a:xfrm>
            <a:off x="457200" y="2286000"/>
            <a:ext cx="457200" cy="365760"/>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26" name="a2u_cell25"/>
          <p:cNvSpPr/>
          <p:nvPr/>
        </p:nvSpPr>
        <p:spPr>
          <a:xfrm>
            <a:off x="914400" y="2286000"/>
            <a:ext cx="566928"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cellt26"/>
          <p:cNvSpPr txBox="1"/>
          <p:nvPr/>
        </p:nvSpPr>
        <p:spPr>
          <a:xfrm>
            <a:off x="914400" y="2286000"/>
            <a:ext cx="566928" cy="365760"/>
          </a:xfrm>
          <a:prstGeom prst="rect">
            <a:avLst/>
          </a:prstGeom>
          <a:noFill/>
        </p:spPr>
        <p:txBody>
          <a:bodyPr wrap="square" lIns="0" tIns="0" rIns="0" bIns="0" anchor="ctr">
            <a:spAutoFit/>
          </a:bodyPr>
          <a:lstStyle/>
          <a:p>
            <a:pPr algn="ctr"/>
            <a:r>
              <a:rPr sz="950" b="1">
                <a:solidFill>
                  <a:srgbClr val="0E7490"/>
                </a:solidFill>
                <a:latin typeface="Consolas"/>
              </a:rPr>
              <a:t>m1</a:t>
            </a:r>
          </a:p>
        </p:txBody>
      </p:sp>
      <p:sp>
        <p:nvSpPr>
          <p:cNvPr id="28" name="a2u_cell27"/>
          <p:cNvSpPr/>
          <p:nvPr/>
        </p:nvSpPr>
        <p:spPr>
          <a:xfrm>
            <a:off x="1481328" y="2286000"/>
            <a:ext cx="566928"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cellt28"/>
          <p:cNvSpPr txBox="1"/>
          <p:nvPr/>
        </p:nvSpPr>
        <p:spPr>
          <a:xfrm>
            <a:off x="1481328" y="2286000"/>
            <a:ext cx="566928" cy="365760"/>
          </a:xfrm>
          <a:prstGeom prst="rect">
            <a:avLst/>
          </a:prstGeom>
          <a:noFill/>
        </p:spPr>
        <p:txBody>
          <a:bodyPr wrap="square" lIns="0" tIns="0" rIns="0" bIns="0" anchor="ctr">
            <a:spAutoFit/>
          </a:bodyPr>
          <a:lstStyle/>
          <a:p>
            <a:pPr algn="ctr"/>
            <a:r>
              <a:rPr sz="950" b="1">
                <a:solidFill>
                  <a:srgbClr val="0E7490"/>
                </a:solidFill>
                <a:latin typeface="Consolas"/>
              </a:rPr>
              <a:t>m4</a:t>
            </a:r>
          </a:p>
        </p:txBody>
      </p:sp>
      <p:sp>
        <p:nvSpPr>
          <p:cNvPr id="30" name="a3u_pill29"/>
          <p:cNvSpPr/>
          <p:nvPr/>
        </p:nvSpPr>
        <p:spPr>
          <a:xfrm>
            <a:off x="2194560" y="2350008"/>
            <a:ext cx="100584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5803D"/>
                </a:solidFill>
                <a:latin typeface="Consolas"/>
              </a:rPr>
              <a:t>in order</a:t>
            </a:r>
          </a:p>
        </p:txBody>
      </p:sp>
      <p:sp>
        <p:nvSpPr>
          <p:cNvPr id="31" name="a2ud120_pn30"/>
          <p:cNvSpPr txBox="1"/>
          <p:nvPr/>
        </p:nvSpPr>
        <p:spPr>
          <a:xfrm>
            <a:off x="457200" y="2743200"/>
            <a:ext cx="457200" cy="365760"/>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32" name="a2ud120_cell31"/>
          <p:cNvSpPr/>
          <p:nvPr/>
        </p:nvSpPr>
        <p:spPr>
          <a:xfrm>
            <a:off x="914400" y="2743200"/>
            <a:ext cx="566928"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120_cellt32"/>
          <p:cNvSpPr txBox="1"/>
          <p:nvPr/>
        </p:nvSpPr>
        <p:spPr>
          <a:xfrm>
            <a:off x="914400" y="2743200"/>
            <a:ext cx="566928" cy="365760"/>
          </a:xfrm>
          <a:prstGeom prst="rect">
            <a:avLst/>
          </a:prstGeom>
          <a:noFill/>
        </p:spPr>
        <p:txBody>
          <a:bodyPr wrap="square" lIns="0" tIns="0" rIns="0" bIns="0" anchor="ctr">
            <a:spAutoFit/>
          </a:bodyPr>
          <a:lstStyle/>
          <a:p>
            <a:pPr algn="ctr"/>
            <a:r>
              <a:rPr sz="950" b="1">
                <a:solidFill>
                  <a:srgbClr val="4F46E5"/>
                </a:solidFill>
                <a:latin typeface="Consolas"/>
              </a:rPr>
              <a:t>m2</a:t>
            </a:r>
          </a:p>
        </p:txBody>
      </p:sp>
      <p:sp>
        <p:nvSpPr>
          <p:cNvPr id="34" name="a2ud120_cell33"/>
          <p:cNvSpPr/>
          <p:nvPr/>
        </p:nvSpPr>
        <p:spPr>
          <a:xfrm>
            <a:off x="1481328" y="2743200"/>
            <a:ext cx="566928"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120_cellt34"/>
          <p:cNvSpPr txBox="1"/>
          <p:nvPr/>
        </p:nvSpPr>
        <p:spPr>
          <a:xfrm>
            <a:off x="1481328" y="2743200"/>
            <a:ext cx="566928" cy="365760"/>
          </a:xfrm>
          <a:prstGeom prst="rect">
            <a:avLst/>
          </a:prstGeom>
          <a:noFill/>
        </p:spPr>
        <p:txBody>
          <a:bodyPr wrap="square" lIns="0" tIns="0" rIns="0" bIns="0" anchor="ctr">
            <a:spAutoFit/>
          </a:bodyPr>
          <a:lstStyle/>
          <a:p>
            <a:pPr algn="ctr"/>
            <a:r>
              <a:rPr sz="950" b="1">
                <a:solidFill>
                  <a:srgbClr val="4F46E5"/>
                </a:solidFill>
                <a:latin typeface="Consolas"/>
              </a:rPr>
              <a:t>m5</a:t>
            </a:r>
          </a:p>
        </p:txBody>
      </p:sp>
      <p:sp>
        <p:nvSpPr>
          <p:cNvPr id="36" name="a3ud100_pill35"/>
          <p:cNvSpPr/>
          <p:nvPr/>
        </p:nvSpPr>
        <p:spPr>
          <a:xfrm>
            <a:off x="2194560" y="2807208"/>
            <a:ext cx="100584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5803D"/>
                </a:solidFill>
                <a:latin typeface="Consolas"/>
              </a:rPr>
              <a:t>in order</a:t>
            </a:r>
          </a:p>
        </p:txBody>
      </p:sp>
      <p:sp>
        <p:nvSpPr>
          <p:cNvPr id="37" name="a2ud240_pn36"/>
          <p:cNvSpPr txBox="1"/>
          <p:nvPr/>
        </p:nvSpPr>
        <p:spPr>
          <a:xfrm>
            <a:off x="457200" y="3200400"/>
            <a:ext cx="457200" cy="365760"/>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38" name="a2ud240_cell37"/>
          <p:cNvSpPr/>
          <p:nvPr/>
        </p:nvSpPr>
        <p:spPr>
          <a:xfrm>
            <a:off x="914400" y="3200400"/>
            <a:ext cx="566928"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240_cellt38"/>
          <p:cNvSpPr txBox="1"/>
          <p:nvPr/>
        </p:nvSpPr>
        <p:spPr>
          <a:xfrm>
            <a:off x="914400" y="3200400"/>
            <a:ext cx="566928" cy="365760"/>
          </a:xfrm>
          <a:prstGeom prst="rect">
            <a:avLst/>
          </a:prstGeom>
          <a:noFill/>
        </p:spPr>
        <p:txBody>
          <a:bodyPr wrap="square" lIns="0" tIns="0" rIns="0" bIns="0" anchor="ctr">
            <a:spAutoFit/>
          </a:bodyPr>
          <a:lstStyle/>
          <a:p>
            <a:pPr algn="ctr"/>
            <a:r>
              <a:rPr sz="950" b="1">
                <a:solidFill>
                  <a:srgbClr val="C2410C"/>
                </a:solidFill>
                <a:latin typeface="Consolas"/>
              </a:rPr>
              <a:t>m3</a:t>
            </a:r>
          </a:p>
        </p:txBody>
      </p:sp>
      <p:sp>
        <p:nvSpPr>
          <p:cNvPr id="40" name="a2ud240_cell39"/>
          <p:cNvSpPr/>
          <p:nvPr/>
        </p:nvSpPr>
        <p:spPr>
          <a:xfrm>
            <a:off x="1481328" y="3200400"/>
            <a:ext cx="566928"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d240_cellt40"/>
          <p:cNvSpPr txBox="1"/>
          <p:nvPr/>
        </p:nvSpPr>
        <p:spPr>
          <a:xfrm>
            <a:off x="1481328" y="3200400"/>
            <a:ext cx="566928" cy="365760"/>
          </a:xfrm>
          <a:prstGeom prst="rect">
            <a:avLst/>
          </a:prstGeom>
          <a:noFill/>
        </p:spPr>
        <p:txBody>
          <a:bodyPr wrap="square" lIns="0" tIns="0" rIns="0" bIns="0" anchor="ctr">
            <a:spAutoFit/>
          </a:bodyPr>
          <a:lstStyle/>
          <a:p>
            <a:pPr algn="ctr"/>
            <a:r>
              <a:rPr sz="950" b="1">
                <a:solidFill>
                  <a:srgbClr val="C2410C"/>
                </a:solidFill>
                <a:latin typeface="Consolas"/>
              </a:rPr>
              <a:t>m6</a:t>
            </a:r>
          </a:p>
        </p:txBody>
      </p:sp>
      <p:sp>
        <p:nvSpPr>
          <p:cNvPr id="42" name="a3ud200_pill41"/>
          <p:cNvSpPr/>
          <p:nvPr/>
        </p:nvSpPr>
        <p:spPr>
          <a:xfrm>
            <a:off x="2194560" y="3264408"/>
            <a:ext cx="100584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5803D"/>
                </a:solidFill>
                <a:latin typeface="Consolas"/>
              </a:rPr>
              <a:t>in order</a:t>
            </a:r>
          </a:p>
        </p:txBody>
      </p:sp>
      <p:sp>
        <p:nvSpPr>
          <p:cNvPr id="43" name="a4f_lb42"/>
          <p:cNvSpPr txBox="1"/>
          <p:nvPr/>
        </p:nvSpPr>
        <p:spPr>
          <a:xfrm>
            <a:off x="4572000" y="1261872"/>
            <a:ext cx="4114800" cy="201168"/>
          </a:xfrm>
          <a:prstGeom prst="rect">
            <a:avLst/>
          </a:prstGeom>
          <a:noFill/>
        </p:spPr>
        <p:txBody>
          <a:bodyPr wrap="square" lIns="0" tIns="0" rIns="0" bIns="0" anchor="ctr">
            <a:spAutoFit/>
          </a:bodyPr>
          <a:lstStyle/>
          <a:p>
            <a:pPr algn="l"/>
            <a:r>
              <a:rPr sz="850" b="1">
                <a:solidFill>
                  <a:srgbClr val="1C1917"/>
                </a:solidFill>
                <a:latin typeface="Segoe UI"/>
              </a:rPr>
              <a:t>one reader of the whole topic might get</a:t>
            </a:r>
          </a:p>
        </p:txBody>
      </p:sp>
      <p:sp>
        <p:nvSpPr>
          <p:cNvPr id="44" name="a4w_cell43"/>
          <p:cNvSpPr/>
          <p:nvPr/>
        </p:nvSpPr>
        <p:spPr>
          <a:xfrm>
            <a:off x="4572000" y="1517904"/>
            <a:ext cx="640080" cy="384048"/>
          </a:xfrm>
          <a:prstGeom prst="rect">
            <a:avLst/>
          </a:prstGeom>
          <a:solidFill>
            <a:srgbClr val="E0E7FF"/>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4w_cellt44"/>
          <p:cNvSpPr txBox="1"/>
          <p:nvPr/>
        </p:nvSpPr>
        <p:spPr>
          <a:xfrm>
            <a:off x="4572000" y="1517904"/>
            <a:ext cx="640080" cy="384048"/>
          </a:xfrm>
          <a:prstGeom prst="rect">
            <a:avLst/>
          </a:prstGeom>
          <a:noFill/>
        </p:spPr>
        <p:txBody>
          <a:bodyPr wrap="square" lIns="0" tIns="0" rIns="0" bIns="0" anchor="ctr">
            <a:spAutoFit/>
          </a:bodyPr>
          <a:lstStyle/>
          <a:p>
            <a:pPr algn="ctr"/>
            <a:r>
              <a:rPr sz="950" b="1">
                <a:solidFill>
                  <a:srgbClr val="4F46E5"/>
                </a:solidFill>
                <a:latin typeface="Consolas"/>
              </a:rPr>
              <a:t>m2</a:t>
            </a:r>
          </a:p>
        </p:txBody>
      </p:sp>
      <p:sp>
        <p:nvSpPr>
          <p:cNvPr id="46" name="a4wd60_cell45"/>
          <p:cNvSpPr/>
          <p:nvPr/>
        </p:nvSpPr>
        <p:spPr>
          <a:xfrm>
            <a:off x="5212080" y="1517904"/>
            <a:ext cx="640080" cy="384048"/>
          </a:xfrm>
          <a:prstGeom prst="rect">
            <a:avLst/>
          </a:prstGeom>
          <a:solidFill>
            <a:srgbClr val="D9F2F7"/>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wd60_cellt46"/>
          <p:cNvSpPr txBox="1"/>
          <p:nvPr/>
        </p:nvSpPr>
        <p:spPr>
          <a:xfrm>
            <a:off x="5212080" y="1517904"/>
            <a:ext cx="640080" cy="384048"/>
          </a:xfrm>
          <a:prstGeom prst="rect">
            <a:avLst/>
          </a:prstGeom>
          <a:noFill/>
        </p:spPr>
        <p:txBody>
          <a:bodyPr wrap="square" lIns="0" tIns="0" rIns="0" bIns="0" anchor="ctr">
            <a:spAutoFit/>
          </a:bodyPr>
          <a:lstStyle/>
          <a:p>
            <a:pPr algn="ctr"/>
            <a:r>
              <a:rPr sz="950" b="1">
                <a:solidFill>
                  <a:srgbClr val="0E7490"/>
                </a:solidFill>
                <a:latin typeface="Consolas"/>
              </a:rPr>
              <a:t>m1</a:t>
            </a:r>
          </a:p>
        </p:txBody>
      </p:sp>
      <p:sp>
        <p:nvSpPr>
          <p:cNvPr id="48" name="a4wd120_cell47"/>
          <p:cNvSpPr/>
          <p:nvPr/>
        </p:nvSpPr>
        <p:spPr>
          <a:xfrm>
            <a:off x="5852160" y="1517904"/>
            <a:ext cx="640080" cy="384048"/>
          </a:xfrm>
          <a:prstGeom prst="rect">
            <a:avLst/>
          </a:prstGeom>
          <a:solidFill>
            <a:srgbClr val="FFEDD5"/>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4wd120_cellt48"/>
          <p:cNvSpPr txBox="1"/>
          <p:nvPr/>
        </p:nvSpPr>
        <p:spPr>
          <a:xfrm>
            <a:off x="5852160" y="1517904"/>
            <a:ext cx="640080" cy="384048"/>
          </a:xfrm>
          <a:prstGeom prst="rect">
            <a:avLst/>
          </a:prstGeom>
          <a:noFill/>
        </p:spPr>
        <p:txBody>
          <a:bodyPr wrap="square" lIns="0" tIns="0" rIns="0" bIns="0" anchor="ctr">
            <a:spAutoFit/>
          </a:bodyPr>
          <a:lstStyle/>
          <a:p>
            <a:pPr algn="ctr"/>
            <a:r>
              <a:rPr sz="950" b="1">
                <a:solidFill>
                  <a:srgbClr val="C2410C"/>
                </a:solidFill>
                <a:latin typeface="Consolas"/>
              </a:rPr>
              <a:t>m3</a:t>
            </a:r>
          </a:p>
        </p:txBody>
      </p:sp>
      <p:sp>
        <p:nvSpPr>
          <p:cNvPr id="50" name="a4wd180_cell49"/>
          <p:cNvSpPr/>
          <p:nvPr/>
        </p:nvSpPr>
        <p:spPr>
          <a:xfrm>
            <a:off x="6492240" y="1517904"/>
            <a:ext cx="640080" cy="384048"/>
          </a:xfrm>
          <a:prstGeom prst="rect">
            <a:avLst/>
          </a:prstGeom>
          <a:solidFill>
            <a:srgbClr val="E0E7FF"/>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wd180_cellt50"/>
          <p:cNvSpPr txBox="1"/>
          <p:nvPr/>
        </p:nvSpPr>
        <p:spPr>
          <a:xfrm>
            <a:off x="6492240" y="1517904"/>
            <a:ext cx="640080" cy="384048"/>
          </a:xfrm>
          <a:prstGeom prst="rect">
            <a:avLst/>
          </a:prstGeom>
          <a:noFill/>
        </p:spPr>
        <p:txBody>
          <a:bodyPr wrap="square" lIns="0" tIns="0" rIns="0" bIns="0" anchor="ctr">
            <a:spAutoFit/>
          </a:bodyPr>
          <a:lstStyle/>
          <a:p>
            <a:pPr algn="ctr"/>
            <a:r>
              <a:rPr sz="950" b="1">
                <a:solidFill>
                  <a:srgbClr val="4F46E5"/>
                </a:solidFill>
                <a:latin typeface="Consolas"/>
              </a:rPr>
              <a:t>m5</a:t>
            </a:r>
          </a:p>
        </p:txBody>
      </p:sp>
      <p:sp>
        <p:nvSpPr>
          <p:cNvPr id="52" name="a4wd240_cell51"/>
          <p:cNvSpPr/>
          <p:nvPr/>
        </p:nvSpPr>
        <p:spPr>
          <a:xfrm>
            <a:off x="7132320" y="1517904"/>
            <a:ext cx="640080" cy="384048"/>
          </a:xfrm>
          <a:prstGeom prst="rect">
            <a:avLst/>
          </a:prstGeom>
          <a:solidFill>
            <a:srgbClr val="D9F2F7"/>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4wd240_cellt52"/>
          <p:cNvSpPr txBox="1"/>
          <p:nvPr/>
        </p:nvSpPr>
        <p:spPr>
          <a:xfrm>
            <a:off x="7132320" y="1517904"/>
            <a:ext cx="640080" cy="384048"/>
          </a:xfrm>
          <a:prstGeom prst="rect">
            <a:avLst/>
          </a:prstGeom>
          <a:noFill/>
        </p:spPr>
        <p:txBody>
          <a:bodyPr wrap="square" lIns="0" tIns="0" rIns="0" bIns="0" anchor="ctr">
            <a:spAutoFit/>
          </a:bodyPr>
          <a:lstStyle/>
          <a:p>
            <a:pPr algn="ctr"/>
            <a:r>
              <a:rPr sz="950" b="1">
                <a:solidFill>
                  <a:srgbClr val="0E7490"/>
                </a:solidFill>
                <a:latin typeface="Consolas"/>
              </a:rPr>
              <a:t>m4</a:t>
            </a:r>
          </a:p>
        </p:txBody>
      </p:sp>
      <p:sp>
        <p:nvSpPr>
          <p:cNvPr id="54" name="a4wd300_cell53"/>
          <p:cNvSpPr/>
          <p:nvPr/>
        </p:nvSpPr>
        <p:spPr>
          <a:xfrm>
            <a:off x="7772400" y="1517904"/>
            <a:ext cx="640080" cy="384048"/>
          </a:xfrm>
          <a:prstGeom prst="rect">
            <a:avLst/>
          </a:prstGeom>
          <a:solidFill>
            <a:srgbClr val="FFEDD5"/>
          </a:solidFill>
          <a:ln w="9525">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4wd300_cellt54"/>
          <p:cNvSpPr txBox="1"/>
          <p:nvPr/>
        </p:nvSpPr>
        <p:spPr>
          <a:xfrm>
            <a:off x="7772400" y="1517904"/>
            <a:ext cx="640080" cy="384048"/>
          </a:xfrm>
          <a:prstGeom prst="rect">
            <a:avLst/>
          </a:prstGeom>
          <a:noFill/>
        </p:spPr>
        <p:txBody>
          <a:bodyPr wrap="square" lIns="0" tIns="0" rIns="0" bIns="0" anchor="ctr">
            <a:spAutoFit/>
          </a:bodyPr>
          <a:lstStyle/>
          <a:p>
            <a:pPr algn="ctr"/>
            <a:r>
              <a:rPr sz="950" b="1">
                <a:solidFill>
                  <a:srgbClr val="C2410C"/>
                </a:solidFill>
                <a:latin typeface="Consolas"/>
              </a:rPr>
              <a:t>m6</a:t>
            </a:r>
          </a:p>
        </p:txBody>
      </p:sp>
      <p:sp>
        <p:nvSpPr>
          <p:cNvPr id="56" name="a3u_card55"/>
          <p:cNvSpPr/>
          <p:nvPr/>
        </p:nvSpPr>
        <p:spPr>
          <a:xfrm>
            <a:off x="4572000" y="2194560"/>
            <a:ext cx="4114800" cy="713232"/>
          </a:xfrm>
          <a:prstGeom prst="roundRect">
            <a:avLst>
              <a:gd name="adj" fmla="val 1538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3u_acc56"/>
          <p:cNvSpPr/>
          <p:nvPr/>
        </p:nvSpPr>
        <p:spPr>
          <a:xfrm>
            <a:off x="4572000" y="2194560"/>
            <a:ext cx="50292" cy="71323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3u_hh57"/>
          <p:cNvSpPr txBox="1"/>
          <p:nvPr/>
        </p:nvSpPr>
        <p:spPr>
          <a:xfrm>
            <a:off x="4773168" y="2304288"/>
            <a:ext cx="3749039" cy="237744"/>
          </a:xfrm>
          <a:prstGeom prst="rect">
            <a:avLst/>
          </a:prstGeom>
          <a:noFill/>
        </p:spPr>
        <p:txBody>
          <a:bodyPr wrap="square" lIns="0" tIns="0" rIns="0" bIns="0" anchor="ctr">
            <a:spAutoFit/>
          </a:bodyPr>
          <a:lstStyle/>
          <a:p>
            <a:pPr algn="l"/>
            <a:r>
              <a:rPr sz="900" b="1">
                <a:solidFill>
                  <a:srgbClr val="15803D"/>
                </a:solidFill>
                <a:latin typeface="Segoe UI"/>
              </a:rPr>
              <a:t>WITHIN A PARTITION  ·  GUARANTEED</a:t>
            </a:r>
          </a:p>
        </p:txBody>
      </p:sp>
      <p:sp>
        <p:nvSpPr>
          <p:cNvPr id="59" name="a3ud80_g158"/>
          <p:cNvSpPr txBox="1"/>
          <p:nvPr/>
        </p:nvSpPr>
        <p:spPr>
          <a:xfrm>
            <a:off x="4773168" y="2505456"/>
            <a:ext cx="3749039" cy="329184"/>
          </a:xfrm>
          <a:prstGeom prst="rect">
            <a:avLst/>
          </a:prstGeom>
          <a:noFill/>
        </p:spPr>
        <p:txBody>
          <a:bodyPr wrap="square" lIns="0" tIns="0" rIns="0" bIns="0" anchor="ctr">
            <a:spAutoFit/>
          </a:bodyPr>
          <a:lstStyle/>
          <a:p>
            <a:pPr algn="l"/>
            <a:r>
              <a:rPr sz="900" b="0">
                <a:solidFill>
                  <a:srgbClr val="44403C"/>
                </a:solidFill>
                <a:latin typeface="Segoe UI"/>
              </a:rPr>
              <a:t>m1 before m4, m2 before m5, m3 before m6 - every time</a:t>
            </a:r>
          </a:p>
        </p:txBody>
      </p:sp>
      <p:sp>
        <p:nvSpPr>
          <p:cNvPr id="60" name="a5u_card59"/>
          <p:cNvSpPr/>
          <p:nvPr/>
        </p:nvSpPr>
        <p:spPr>
          <a:xfrm>
            <a:off x="4572000" y="3017520"/>
            <a:ext cx="4114800" cy="713232"/>
          </a:xfrm>
          <a:prstGeom prst="roundRect">
            <a:avLst>
              <a:gd name="adj" fmla="val 1538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5u_acc60"/>
          <p:cNvSpPr/>
          <p:nvPr/>
        </p:nvSpPr>
        <p:spPr>
          <a:xfrm>
            <a:off x="4572000" y="3017520"/>
            <a:ext cx="50292"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5u_hh61"/>
          <p:cNvSpPr txBox="1"/>
          <p:nvPr/>
        </p:nvSpPr>
        <p:spPr>
          <a:xfrm>
            <a:off x="4773168" y="3127248"/>
            <a:ext cx="3749039" cy="237744"/>
          </a:xfrm>
          <a:prstGeom prst="rect">
            <a:avLst/>
          </a:prstGeom>
          <a:noFill/>
        </p:spPr>
        <p:txBody>
          <a:bodyPr wrap="square" lIns="0" tIns="0" rIns="0" bIns="0" anchor="ctr">
            <a:spAutoFit/>
          </a:bodyPr>
          <a:lstStyle/>
          <a:p>
            <a:pPr algn="l"/>
            <a:r>
              <a:rPr sz="900" b="1">
                <a:solidFill>
                  <a:srgbClr val="E11D48"/>
                </a:solidFill>
                <a:latin typeface="Segoe UI"/>
              </a:rPr>
              <a:t>ACROSS THE TOPIC  ·  NO STRICT ORDER</a:t>
            </a:r>
          </a:p>
        </p:txBody>
      </p:sp>
      <p:sp>
        <p:nvSpPr>
          <p:cNvPr id="63" name="a5ud80_g262"/>
          <p:cNvSpPr txBox="1"/>
          <p:nvPr/>
        </p:nvSpPr>
        <p:spPr>
          <a:xfrm>
            <a:off x="4773168" y="3328416"/>
            <a:ext cx="3749039" cy="329184"/>
          </a:xfrm>
          <a:prstGeom prst="rect">
            <a:avLst/>
          </a:prstGeom>
          <a:noFill/>
        </p:spPr>
        <p:txBody>
          <a:bodyPr wrap="square" lIns="0" tIns="0" rIns="0" bIns="0" anchor="ctr">
            <a:spAutoFit/>
          </a:bodyPr>
          <a:lstStyle/>
          <a:p>
            <a:pPr algn="l"/>
            <a:r>
              <a:rPr sz="900" b="0">
                <a:solidFill>
                  <a:srgbClr val="44403C"/>
                </a:solidFill>
                <a:latin typeface="Segoe UI"/>
              </a:rPr>
              <a:t>m2 reached this reader before m1</a:t>
            </a:r>
          </a:p>
        </p:txBody>
      </p:sp>
      <p:sp>
        <p:nvSpPr>
          <p:cNvPr id="64" name="a6u_nb63"/>
          <p:cNvSpPr/>
          <p:nvPr/>
        </p:nvSpPr>
        <p:spPr>
          <a:xfrm>
            <a:off x="457200" y="3977639"/>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6u_nacc64"/>
          <p:cNvSpPr/>
          <p:nvPr/>
        </p:nvSpPr>
        <p:spPr>
          <a:xfrm>
            <a:off x="457200" y="3977639"/>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6u_nt65"/>
          <p:cNvSpPr txBox="1"/>
          <p:nvPr/>
        </p:nvSpPr>
        <p:spPr>
          <a:xfrm>
            <a:off x="658368" y="3977639"/>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Partitioning gives up strict global order. Order is guaranteed only inside each partition.</a:t>
            </a:r>
          </a:p>
        </p:txBody>
      </p:sp>
      <p:sp>
        <p:nvSpPr>
          <p:cNvPr id="67" name="ft6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68" name="ft6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ft6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70" name="ft6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22" presetClass="entr" presetSubtype="8"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500"/>
                                        <p:tgtEl>
                                          <p:spTgt spid="12"/>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6" presetID="22" presetClass="entr" presetSubtype="8" fill="hold" grpId="0" nodeType="withEffect">
                                  <p:stCondLst>
                                    <p:cond delay="6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12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8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8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2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24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30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50" presetID="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ppt_y+0.1"/>
                                          </p:val>
                                        </p:tav>
                                        <p:tav tm="100000">
                                          <p:val>
                                            <p:strVal val="#ppt_y"/>
                                          </p:val>
                                        </p:tav>
                                      </p:tavLst>
                                    </p:anim>
                                    <p:animEffect transition="in" filter="fade">
                                      <p:cBhvr>
                                        <p:cTn id="49" dur="500"/>
                                        <p:tgtEl>
                                          <p:spTgt spid="24"/>
                                        </p:tgtEl>
                                      </p:cBhvr>
                                    </p:animEffect>
                                  </p:childTnLst>
                                </p:cTn>
                              </p:par>
                              <p:par>
                                <p:cTn id="55" presetID="2" presetClass="entr" presetSubtype="4"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500" fill="hold"/>
                                        <p:tgtEl>
                                          <p:spTgt spid="25"/>
                                        </p:tgtEl>
                                        <p:attrNameLst>
                                          <p:attrName>ppt_x</p:attrName>
                                        </p:attrNameLst>
                                      </p:cBhvr>
                                      <p:tavLst>
                                        <p:tav tm="0">
                                          <p:val>
                                            <p:strVal val="#ppt_x"/>
                                          </p:val>
                                        </p:tav>
                                        <p:tav tm="100000">
                                          <p:val>
                                            <p:strVal val="#ppt_x"/>
                                          </p:val>
                                        </p:tav>
                                      </p:tavLst>
                                    </p:anim>
                                    <p:anim calcmode="lin" valueType="num">
                                      <p:cBhvr additive="base">
                                        <p:cTn id="53" dur="500" fill="hold"/>
                                        <p:tgtEl>
                                          <p:spTgt spid="25"/>
                                        </p:tgtEl>
                                        <p:attrNameLst>
                                          <p:attrName>ppt_y</p:attrName>
                                        </p:attrNameLst>
                                      </p:cBhvr>
                                      <p:tavLst>
                                        <p:tav tm="0">
                                          <p:val>
                                            <p:strVal val="#ppt_y+0.1"/>
                                          </p:val>
                                        </p:tav>
                                        <p:tav tm="100000">
                                          <p:val>
                                            <p:strVal val="#ppt_y"/>
                                          </p:val>
                                        </p:tav>
                                      </p:tavLst>
                                    </p:anim>
                                    <p:animEffect transition="in" filter="fade">
                                      <p:cBhvr>
                                        <p:cTn id="54" dur="500"/>
                                        <p:tgtEl>
                                          <p:spTgt spid="25"/>
                                        </p:tgtEl>
                                      </p:cBhvr>
                                    </p:animEffect>
                                  </p:childTnLst>
                                </p:cTn>
                              </p:par>
                              <p:par>
                                <p:cTn id="60" presetID="2" presetClass="entr" presetSubtype="4"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ppt_y+0.1"/>
                                          </p:val>
                                        </p:tav>
                                        <p:tav tm="100000">
                                          <p:val>
                                            <p:strVal val="#ppt_y"/>
                                          </p:val>
                                        </p:tav>
                                      </p:tavLst>
                                    </p:anim>
                                    <p:animEffect transition="in" filter="fade">
                                      <p:cBhvr>
                                        <p:cTn id="59" dur="500"/>
                                        <p:tgtEl>
                                          <p:spTgt spid="26"/>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additive="base">
                                        <p:cTn id="62" dur="500" fill="hold"/>
                                        <p:tgtEl>
                                          <p:spTgt spid="27"/>
                                        </p:tgtEl>
                                        <p:attrNameLst>
                                          <p:attrName>ppt_x</p:attrName>
                                        </p:attrNameLst>
                                      </p:cBhvr>
                                      <p:tavLst>
                                        <p:tav tm="0">
                                          <p:val>
                                            <p:strVal val="#ppt_x"/>
                                          </p:val>
                                        </p:tav>
                                        <p:tav tm="100000">
                                          <p:val>
                                            <p:strVal val="#ppt_x"/>
                                          </p:val>
                                        </p:tav>
                                      </p:tavLst>
                                    </p:anim>
                                    <p:anim calcmode="lin" valueType="num">
                                      <p:cBhvr additive="base">
                                        <p:cTn id="63" dur="500" fill="hold"/>
                                        <p:tgtEl>
                                          <p:spTgt spid="27"/>
                                        </p:tgtEl>
                                        <p:attrNameLst>
                                          <p:attrName>ppt_y</p:attrName>
                                        </p:attrNameLst>
                                      </p:cBhvr>
                                      <p:tavLst>
                                        <p:tav tm="0">
                                          <p:val>
                                            <p:strVal val="#ppt_y+0.1"/>
                                          </p:val>
                                        </p:tav>
                                        <p:tav tm="100000">
                                          <p:val>
                                            <p:strVal val="#ppt_y"/>
                                          </p:val>
                                        </p:tav>
                                      </p:tavLst>
                                    </p:anim>
                                    <p:animEffect transition="in" filter="fade">
                                      <p:cBhvr>
                                        <p:cTn id="64" dur="500"/>
                                        <p:tgtEl>
                                          <p:spTgt spid="27"/>
                                        </p:tgtEl>
                                      </p:cBhvr>
                                    </p:animEffect>
                                  </p:childTnLst>
                                </p:cTn>
                              </p:par>
                              <p:par>
                                <p:cTn id="70" presetID="2" presetClass="entr" presetSubtype="4"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ppt_y+0.1"/>
                                          </p:val>
                                        </p:tav>
                                        <p:tav tm="100000">
                                          <p:val>
                                            <p:strVal val="#ppt_y"/>
                                          </p:val>
                                        </p:tav>
                                      </p:tavLst>
                                    </p:anim>
                                    <p:animEffect transition="in" filter="fade">
                                      <p:cBhvr>
                                        <p:cTn id="69" dur="500"/>
                                        <p:tgtEl>
                                          <p:spTgt spid="28"/>
                                        </p:tgtEl>
                                      </p:cBhvr>
                                    </p:animEffect>
                                  </p:childTnLst>
                                </p:cTn>
                              </p:par>
                              <p:par>
                                <p:cTn id="75" presetID="2" presetClass="entr" presetSubtype="4"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ppt_y+0.1"/>
                                          </p:val>
                                        </p:tav>
                                        <p:tav tm="100000">
                                          <p:val>
                                            <p:strVal val="#ppt_y"/>
                                          </p:val>
                                        </p:tav>
                                      </p:tavLst>
                                    </p:anim>
                                    <p:animEffect transition="in" filter="fade">
                                      <p:cBhvr>
                                        <p:cTn id="74" dur="500"/>
                                        <p:tgtEl>
                                          <p:spTgt spid="29"/>
                                        </p:tgtEl>
                                      </p:cBhvr>
                                    </p:animEffect>
                                  </p:childTnLst>
                                </p:cTn>
                              </p:par>
                              <p:par>
                                <p:cTn id="80" presetID="2" presetClass="entr" presetSubtype="4" fill="hold" grpId="0" nodeType="withEffect">
                                  <p:stCondLst>
                                    <p:cond delay="120"/>
                                  </p:stCondLst>
                                  <p:childTnLst>
                                    <p:set>
                                      <p:cBhvr>
                                        <p:cTn id="76" dur="1" fill="hold">
                                          <p:stCondLst>
                                            <p:cond delay="0"/>
                                          </p:stCondLst>
                                        </p:cTn>
                                        <p:tgtEl>
                                          <p:spTgt spid="31"/>
                                        </p:tgtEl>
                                        <p:attrNameLst>
                                          <p:attrName>style.visibility</p:attrName>
                                        </p:attrNameLst>
                                      </p:cBhvr>
                                      <p:to>
                                        <p:strVal val="visible"/>
                                      </p:to>
                                    </p:set>
                                    <p:anim calcmode="lin" valueType="num">
                                      <p:cBhvr additive="base">
                                        <p:cTn id="77" dur="500" fill="hold"/>
                                        <p:tgtEl>
                                          <p:spTgt spid="31"/>
                                        </p:tgtEl>
                                        <p:attrNameLst>
                                          <p:attrName>ppt_x</p:attrName>
                                        </p:attrNameLst>
                                      </p:cBhvr>
                                      <p:tavLst>
                                        <p:tav tm="0">
                                          <p:val>
                                            <p:strVal val="#ppt_x"/>
                                          </p:val>
                                        </p:tav>
                                        <p:tav tm="100000">
                                          <p:val>
                                            <p:strVal val="#ppt_x"/>
                                          </p:val>
                                        </p:tav>
                                      </p:tavLst>
                                    </p:anim>
                                    <p:anim calcmode="lin" valueType="num">
                                      <p:cBhvr additive="base">
                                        <p:cTn id="78" dur="500" fill="hold"/>
                                        <p:tgtEl>
                                          <p:spTgt spid="31"/>
                                        </p:tgtEl>
                                        <p:attrNameLst>
                                          <p:attrName>ppt_y</p:attrName>
                                        </p:attrNameLst>
                                      </p:cBhvr>
                                      <p:tavLst>
                                        <p:tav tm="0">
                                          <p:val>
                                            <p:strVal val="#ppt_y+0.1"/>
                                          </p:val>
                                        </p:tav>
                                        <p:tav tm="100000">
                                          <p:val>
                                            <p:strVal val="#ppt_y"/>
                                          </p:val>
                                        </p:tav>
                                      </p:tavLst>
                                    </p:anim>
                                    <p:animEffect transition="in" filter="fade">
                                      <p:cBhvr>
                                        <p:cTn id="79" dur="500"/>
                                        <p:tgtEl>
                                          <p:spTgt spid="31"/>
                                        </p:tgtEl>
                                      </p:cBhvr>
                                    </p:animEffect>
                                  </p:childTnLst>
                                </p:cTn>
                              </p:par>
                              <p:par>
                                <p:cTn id="85" presetID="2" presetClass="entr" presetSubtype="4" fill="hold" grpId="0" nodeType="withEffect">
                                  <p:stCondLst>
                                    <p:cond delay="120"/>
                                  </p:stCondLst>
                                  <p:childTnLst>
                                    <p:set>
                                      <p:cBhvr>
                                        <p:cTn id="81" dur="1" fill="hold">
                                          <p:stCondLst>
                                            <p:cond delay="0"/>
                                          </p:stCondLst>
                                        </p:cTn>
                                        <p:tgtEl>
                                          <p:spTgt spid="32"/>
                                        </p:tgtEl>
                                        <p:attrNameLst>
                                          <p:attrName>style.visibility</p:attrName>
                                        </p:attrNameLst>
                                      </p:cBhvr>
                                      <p:to>
                                        <p:strVal val="visible"/>
                                      </p:to>
                                    </p:set>
                                    <p:anim calcmode="lin" valueType="num">
                                      <p:cBhvr additive="base">
                                        <p:cTn id="82" dur="500" fill="hold"/>
                                        <p:tgtEl>
                                          <p:spTgt spid="32"/>
                                        </p:tgtEl>
                                        <p:attrNameLst>
                                          <p:attrName>ppt_x</p:attrName>
                                        </p:attrNameLst>
                                      </p:cBhvr>
                                      <p:tavLst>
                                        <p:tav tm="0">
                                          <p:val>
                                            <p:strVal val="#ppt_x"/>
                                          </p:val>
                                        </p:tav>
                                        <p:tav tm="100000">
                                          <p:val>
                                            <p:strVal val="#ppt_x"/>
                                          </p:val>
                                        </p:tav>
                                      </p:tavLst>
                                    </p:anim>
                                    <p:anim calcmode="lin" valueType="num">
                                      <p:cBhvr additive="base">
                                        <p:cTn id="83" dur="500" fill="hold"/>
                                        <p:tgtEl>
                                          <p:spTgt spid="32"/>
                                        </p:tgtEl>
                                        <p:attrNameLst>
                                          <p:attrName>ppt_y</p:attrName>
                                        </p:attrNameLst>
                                      </p:cBhvr>
                                      <p:tavLst>
                                        <p:tav tm="0">
                                          <p:val>
                                            <p:strVal val="#ppt_y+0.1"/>
                                          </p:val>
                                        </p:tav>
                                        <p:tav tm="100000">
                                          <p:val>
                                            <p:strVal val="#ppt_y"/>
                                          </p:val>
                                        </p:tav>
                                      </p:tavLst>
                                    </p:anim>
                                    <p:animEffect transition="in" filter="fade">
                                      <p:cBhvr>
                                        <p:cTn id="84" dur="500"/>
                                        <p:tgtEl>
                                          <p:spTgt spid="32"/>
                                        </p:tgtEl>
                                      </p:cBhvr>
                                    </p:animEffect>
                                  </p:childTnLst>
                                </p:cTn>
                              </p:par>
                              <p:par>
                                <p:cTn id="90" presetID="2" presetClass="entr" presetSubtype="4" fill="hold" grpId="0" nodeType="withEffect">
                                  <p:stCondLst>
                                    <p:cond delay="120"/>
                                  </p:stCondLst>
                                  <p:childTnLst>
                                    <p:set>
                                      <p:cBhvr>
                                        <p:cTn id="86" dur="1" fill="hold">
                                          <p:stCondLst>
                                            <p:cond delay="0"/>
                                          </p:stCondLst>
                                        </p:cTn>
                                        <p:tgtEl>
                                          <p:spTgt spid="33"/>
                                        </p:tgtEl>
                                        <p:attrNameLst>
                                          <p:attrName>style.visibility</p:attrName>
                                        </p:attrNameLst>
                                      </p:cBhvr>
                                      <p:to>
                                        <p:strVal val="visible"/>
                                      </p:to>
                                    </p:set>
                                    <p:anim calcmode="lin" valueType="num">
                                      <p:cBhvr additive="base">
                                        <p:cTn id="87" dur="500" fill="hold"/>
                                        <p:tgtEl>
                                          <p:spTgt spid="33"/>
                                        </p:tgtEl>
                                        <p:attrNameLst>
                                          <p:attrName>ppt_x</p:attrName>
                                        </p:attrNameLst>
                                      </p:cBhvr>
                                      <p:tavLst>
                                        <p:tav tm="0">
                                          <p:val>
                                            <p:strVal val="#ppt_x"/>
                                          </p:val>
                                        </p:tav>
                                        <p:tav tm="100000">
                                          <p:val>
                                            <p:strVal val="#ppt_x"/>
                                          </p:val>
                                        </p:tav>
                                      </p:tavLst>
                                    </p:anim>
                                    <p:anim calcmode="lin" valueType="num">
                                      <p:cBhvr additive="base">
                                        <p:cTn id="88" dur="500" fill="hold"/>
                                        <p:tgtEl>
                                          <p:spTgt spid="33"/>
                                        </p:tgtEl>
                                        <p:attrNameLst>
                                          <p:attrName>ppt_y</p:attrName>
                                        </p:attrNameLst>
                                      </p:cBhvr>
                                      <p:tavLst>
                                        <p:tav tm="0">
                                          <p:val>
                                            <p:strVal val="#ppt_y+0.1"/>
                                          </p:val>
                                        </p:tav>
                                        <p:tav tm="100000">
                                          <p:val>
                                            <p:strVal val="#ppt_y"/>
                                          </p:val>
                                        </p:tav>
                                      </p:tavLst>
                                    </p:anim>
                                    <p:animEffect transition="in" filter="fade">
                                      <p:cBhvr>
                                        <p:cTn id="89" dur="500"/>
                                        <p:tgtEl>
                                          <p:spTgt spid="33"/>
                                        </p:tgtEl>
                                      </p:cBhvr>
                                    </p:animEffect>
                                  </p:childTnLst>
                                </p:cTn>
                              </p:par>
                              <p:par>
                                <p:cTn id="95" presetID="2" presetClass="entr" presetSubtype="4" fill="hold" grpId="0" nodeType="withEffect">
                                  <p:stCondLst>
                                    <p:cond delay="120"/>
                                  </p:stCondLst>
                                  <p:childTnLst>
                                    <p:set>
                                      <p:cBhvr>
                                        <p:cTn id="91" dur="1" fill="hold">
                                          <p:stCondLst>
                                            <p:cond delay="0"/>
                                          </p:stCondLst>
                                        </p:cTn>
                                        <p:tgtEl>
                                          <p:spTgt spid="34"/>
                                        </p:tgtEl>
                                        <p:attrNameLst>
                                          <p:attrName>style.visibility</p:attrName>
                                        </p:attrNameLst>
                                      </p:cBhvr>
                                      <p:to>
                                        <p:strVal val="visible"/>
                                      </p:to>
                                    </p:set>
                                    <p:anim calcmode="lin" valueType="num">
                                      <p:cBhvr additive="base">
                                        <p:cTn id="92" dur="500" fill="hold"/>
                                        <p:tgtEl>
                                          <p:spTgt spid="34"/>
                                        </p:tgtEl>
                                        <p:attrNameLst>
                                          <p:attrName>ppt_x</p:attrName>
                                        </p:attrNameLst>
                                      </p:cBhvr>
                                      <p:tavLst>
                                        <p:tav tm="0">
                                          <p:val>
                                            <p:strVal val="#ppt_x"/>
                                          </p:val>
                                        </p:tav>
                                        <p:tav tm="100000">
                                          <p:val>
                                            <p:strVal val="#ppt_x"/>
                                          </p:val>
                                        </p:tav>
                                      </p:tavLst>
                                    </p:anim>
                                    <p:anim calcmode="lin" valueType="num">
                                      <p:cBhvr additive="base">
                                        <p:cTn id="93" dur="500" fill="hold"/>
                                        <p:tgtEl>
                                          <p:spTgt spid="34"/>
                                        </p:tgtEl>
                                        <p:attrNameLst>
                                          <p:attrName>ppt_y</p:attrName>
                                        </p:attrNameLst>
                                      </p:cBhvr>
                                      <p:tavLst>
                                        <p:tav tm="0">
                                          <p:val>
                                            <p:strVal val="#ppt_y+0.1"/>
                                          </p:val>
                                        </p:tav>
                                        <p:tav tm="100000">
                                          <p:val>
                                            <p:strVal val="#ppt_y"/>
                                          </p:val>
                                        </p:tav>
                                      </p:tavLst>
                                    </p:anim>
                                    <p:animEffect transition="in" filter="fade">
                                      <p:cBhvr>
                                        <p:cTn id="94" dur="500"/>
                                        <p:tgtEl>
                                          <p:spTgt spid="34"/>
                                        </p:tgtEl>
                                      </p:cBhvr>
                                    </p:animEffect>
                                  </p:childTnLst>
                                </p:cTn>
                              </p:par>
                              <p:par>
                                <p:cTn id="100" presetID="2" presetClass="entr" presetSubtype="4" fill="hold" grpId="0" nodeType="withEffect">
                                  <p:stCondLst>
                                    <p:cond delay="120"/>
                                  </p:stCondLst>
                                  <p:childTnLst>
                                    <p:set>
                                      <p:cBhvr>
                                        <p:cTn id="96" dur="1" fill="hold">
                                          <p:stCondLst>
                                            <p:cond delay="0"/>
                                          </p:stCondLst>
                                        </p:cTn>
                                        <p:tgtEl>
                                          <p:spTgt spid="35"/>
                                        </p:tgtEl>
                                        <p:attrNameLst>
                                          <p:attrName>style.visibility</p:attrName>
                                        </p:attrNameLst>
                                      </p:cBhvr>
                                      <p:to>
                                        <p:strVal val="visible"/>
                                      </p:to>
                                    </p:set>
                                    <p:anim calcmode="lin" valueType="num">
                                      <p:cBhvr additive="base">
                                        <p:cTn id="97" dur="500" fill="hold"/>
                                        <p:tgtEl>
                                          <p:spTgt spid="35"/>
                                        </p:tgtEl>
                                        <p:attrNameLst>
                                          <p:attrName>ppt_x</p:attrName>
                                        </p:attrNameLst>
                                      </p:cBhvr>
                                      <p:tavLst>
                                        <p:tav tm="0">
                                          <p:val>
                                            <p:strVal val="#ppt_x"/>
                                          </p:val>
                                        </p:tav>
                                        <p:tav tm="100000">
                                          <p:val>
                                            <p:strVal val="#ppt_x"/>
                                          </p:val>
                                        </p:tav>
                                      </p:tavLst>
                                    </p:anim>
                                    <p:anim calcmode="lin" valueType="num">
                                      <p:cBhvr additive="base">
                                        <p:cTn id="98" dur="500" fill="hold"/>
                                        <p:tgtEl>
                                          <p:spTgt spid="35"/>
                                        </p:tgtEl>
                                        <p:attrNameLst>
                                          <p:attrName>ppt_y</p:attrName>
                                        </p:attrNameLst>
                                      </p:cBhvr>
                                      <p:tavLst>
                                        <p:tav tm="0">
                                          <p:val>
                                            <p:strVal val="#ppt_y+0.1"/>
                                          </p:val>
                                        </p:tav>
                                        <p:tav tm="100000">
                                          <p:val>
                                            <p:strVal val="#ppt_y"/>
                                          </p:val>
                                        </p:tav>
                                      </p:tavLst>
                                    </p:anim>
                                    <p:animEffect transition="in" filter="fade">
                                      <p:cBhvr>
                                        <p:cTn id="99" dur="500"/>
                                        <p:tgtEl>
                                          <p:spTgt spid="35"/>
                                        </p:tgtEl>
                                      </p:cBhvr>
                                    </p:animEffect>
                                  </p:childTnLst>
                                </p:cTn>
                              </p:par>
                              <p:par>
                                <p:cTn id="105" presetID="2" presetClass="entr" presetSubtype="4" fill="hold" grpId="0" nodeType="withEffect">
                                  <p:stCondLst>
                                    <p:cond delay="24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fill="hold"/>
                                        <p:tgtEl>
                                          <p:spTgt spid="37"/>
                                        </p:tgtEl>
                                        <p:attrNameLst>
                                          <p:attrName>ppt_x</p:attrName>
                                        </p:attrNameLst>
                                      </p:cBhvr>
                                      <p:tavLst>
                                        <p:tav tm="0">
                                          <p:val>
                                            <p:strVal val="#ppt_x"/>
                                          </p:val>
                                        </p:tav>
                                        <p:tav tm="100000">
                                          <p:val>
                                            <p:strVal val="#ppt_x"/>
                                          </p:val>
                                        </p:tav>
                                      </p:tavLst>
                                    </p:anim>
                                    <p:anim calcmode="lin" valueType="num">
                                      <p:cBhvr additive="base">
                                        <p:cTn id="103" dur="500" fill="hold"/>
                                        <p:tgtEl>
                                          <p:spTgt spid="37"/>
                                        </p:tgtEl>
                                        <p:attrNameLst>
                                          <p:attrName>ppt_y</p:attrName>
                                        </p:attrNameLst>
                                      </p:cBhvr>
                                      <p:tavLst>
                                        <p:tav tm="0">
                                          <p:val>
                                            <p:strVal val="#ppt_y+0.1"/>
                                          </p:val>
                                        </p:tav>
                                        <p:tav tm="100000">
                                          <p:val>
                                            <p:strVal val="#ppt_y"/>
                                          </p:val>
                                        </p:tav>
                                      </p:tavLst>
                                    </p:anim>
                                    <p:animEffect transition="in" filter="fade">
                                      <p:cBhvr>
                                        <p:cTn id="104" dur="500"/>
                                        <p:tgtEl>
                                          <p:spTgt spid="37"/>
                                        </p:tgtEl>
                                      </p:cBhvr>
                                    </p:animEffect>
                                  </p:childTnLst>
                                </p:cTn>
                              </p:par>
                              <p:par>
                                <p:cTn id="110" presetID="2" presetClass="entr" presetSubtype="4" fill="hold" grpId="0" nodeType="withEffect">
                                  <p:stCondLst>
                                    <p:cond delay="240"/>
                                  </p:stCondLst>
                                  <p:childTnLst>
                                    <p:set>
                                      <p:cBhvr>
                                        <p:cTn id="106" dur="1" fill="hold">
                                          <p:stCondLst>
                                            <p:cond delay="0"/>
                                          </p:stCondLst>
                                        </p:cTn>
                                        <p:tgtEl>
                                          <p:spTgt spid="38"/>
                                        </p:tgtEl>
                                        <p:attrNameLst>
                                          <p:attrName>style.visibility</p:attrName>
                                        </p:attrNameLst>
                                      </p:cBhvr>
                                      <p:to>
                                        <p:strVal val="visible"/>
                                      </p:to>
                                    </p:set>
                                    <p:anim calcmode="lin" valueType="num">
                                      <p:cBhvr additive="base">
                                        <p:cTn id="107" dur="500" fill="hold"/>
                                        <p:tgtEl>
                                          <p:spTgt spid="38"/>
                                        </p:tgtEl>
                                        <p:attrNameLst>
                                          <p:attrName>ppt_x</p:attrName>
                                        </p:attrNameLst>
                                      </p:cBhvr>
                                      <p:tavLst>
                                        <p:tav tm="0">
                                          <p:val>
                                            <p:strVal val="#ppt_x"/>
                                          </p:val>
                                        </p:tav>
                                        <p:tav tm="100000">
                                          <p:val>
                                            <p:strVal val="#ppt_x"/>
                                          </p:val>
                                        </p:tav>
                                      </p:tavLst>
                                    </p:anim>
                                    <p:anim calcmode="lin" valueType="num">
                                      <p:cBhvr additive="base">
                                        <p:cTn id="108" dur="500" fill="hold"/>
                                        <p:tgtEl>
                                          <p:spTgt spid="38"/>
                                        </p:tgtEl>
                                        <p:attrNameLst>
                                          <p:attrName>ppt_y</p:attrName>
                                        </p:attrNameLst>
                                      </p:cBhvr>
                                      <p:tavLst>
                                        <p:tav tm="0">
                                          <p:val>
                                            <p:strVal val="#ppt_y+0.1"/>
                                          </p:val>
                                        </p:tav>
                                        <p:tav tm="100000">
                                          <p:val>
                                            <p:strVal val="#ppt_y"/>
                                          </p:val>
                                        </p:tav>
                                      </p:tavLst>
                                    </p:anim>
                                    <p:animEffect transition="in" filter="fade">
                                      <p:cBhvr>
                                        <p:cTn id="109" dur="500"/>
                                        <p:tgtEl>
                                          <p:spTgt spid="38"/>
                                        </p:tgtEl>
                                      </p:cBhvr>
                                    </p:animEffect>
                                  </p:childTnLst>
                                </p:cTn>
                              </p:par>
                              <p:par>
                                <p:cTn id="115" presetID="2" presetClass="entr" presetSubtype="4" fill="hold" grpId="0" nodeType="withEffect">
                                  <p:stCondLst>
                                    <p:cond delay="240"/>
                                  </p:stCondLst>
                                  <p:childTnLst>
                                    <p:set>
                                      <p:cBhvr>
                                        <p:cTn id="111" dur="1" fill="hold">
                                          <p:stCondLst>
                                            <p:cond delay="0"/>
                                          </p:stCondLst>
                                        </p:cTn>
                                        <p:tgtEl>
                                          <p:spTgt spid="39"/>
                                        </p:tgtEl>
                                        <p:attrNameLst>
                                          <p:attrName>style.visibility</p:attrName>
                                        </p:attrNameLst>
                                      </p:cBhvr>
                                      <p:to>
                                        <p:strVal val="visible"/>
                                      </p:to>
                                    </p:set>
                                    <p:anim calcmode="lin" valueType="num">
                                      <p:cBhvr additive="base">
                                        <p:cTn id="112" dur="500" fill="hold"/>
                                        <p:tgtEl>
                                          <p:spTgt spid="39"/>
                                        </p:tgtEl>
                                        <p:attrNameLst>
                                          <p:attrName>ppt_x</p:attrName>
                                        </p:attrNameLst>
                                      </p:cBhvr>
                                      <p:tavLst>
                                        <p:tav tm="0">
                                          <p:val>
                                            <p:strVal val="#ppt_x"/>
                                          </p:val>
                                        </p:tav>
                                        <p:tav tm="100000">
                                          <p:val>
                                            <p:strVal val="#ppt_x"/>
                                          </p:val>
                                        </p:tav>
                                      </p:tavLst>
                                    </p:anim>
                                    <p:anim calcmode="lin" valueType="num">
                                      <p:cBhvr additive="base">
                                        <p:cTn id="113" dur="500" fill="hold"/>
                                        <p:tgtEl>
                                          <p:spTgt spid="39"/>
                                        </p:tgtEl>
                                        <p:attrNameLst>
                                          <p:attrName>ppt_y</p:attrName>
                                        </p:attrNameLst>
                                      </p:cBhvr>
                                      <p:tavLst>
                                        <p:tav tm="0">
                                          <p:val>
                                            <p:strVal val="#ppt_y+0.1"/>
                                          </p:val>
                                        </p:tav>
                                        <p:tav tm="100000">
                                          <p:val>
                                            <p:strVal val="#ppt_y"/>
                                          </p:val>
                                        </p:tav>
                                      </p:tavLst>
                                    </p:anim>
                                    <p:animEffect transition="in" filter="fade">
                                      <p:cBhvr>
                                        <p:cTn id="114" dur="500"/>
                                        <p:tgtEl>
                                          <p:spTgt spid="39"/>
                                        </p:tgtEl>
                                      </p:cBhvr>
                                    </p:animEffect>
                                  </p:childTnLst>
                                </p:cTn>
                              </p:par>
                              <p:par>
                                <p:cTn id="120" presetID="2" presetClass="entr" presetSubtype="4" fill="hold" grpId="0" nodeType="withEffect">
                                  <p:stCondLst>
                                    <p:cond delay="24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500" fill="hold"/>
                                        <p:tgtEl>
                                          <p:spTgt spid="40"/>
                                        </p:tgtEl>
                                        <p:attrNameLst>
                                          <p:attrName>ppt_x</p:attrName>
                                        </p:attrNameLst>
                                      </p:cBhvr>
                                      <p:tavLst>
                                        <p:tav tm="0">
                                          <p:val>
                                            <p:strVal val="#ppt_x"/>
                                          </p:val>
                                        </p:tav>
                                        <p:tav tm="100000">
                                          <p:val>
                                            <p:strVal val="#ppt_x"/>
                                          </p:val>
                                        </p:tav>
                                      </p:tavLst>
                                    </p:anim>
                                    <p:anim calcmode="lin" valueType="num">
                                      <p:cBhvr additive="base">
                                        <p:cTn id="118" dur="500" fill="hold"/>
                                        <p:tgtEl>
                                          <p:spTgt spid="40"/>
                                        </p:tgtEl>
                                        <p:attrNameLst>
                                          <p:attrName>ppt_y</p:attrName>
                                        </p:attrNameLst>
                                      </p:cBhvr>
                                      <p:tavLst>
                                        <p:tav tm="0">
                                          <p:val>
                                            <p:strVal val="#ppt_y+0.1"/>
                                          </p:val>
                                        </p:tav>
                                        <p:tav tm="100000">
                                          <p:val>
                                            <p:strVal val="#ppt_y"/>
                                          </p:val>
                                        </p:tav>
                                      </p:tavLst>
                                    </p:anim>
                                    <p:animEffect transition="in" filter="fade">
                                      <p:cBhvr>
                                        <p:cTn id="119" dur="500"/>
                                        <p:tgtEl>
                                          <p:spTgt spid="40"/>
                                        </p:tgtEl>
                                      </p:cBhvr>
                                    </p:animEffect>
                                  </p:childTnLst>
                                </p:cTn>
                              </p:par>
                              <p:par>
                                <p:cTn id="125" presetID="2" presetClass="entr" presetSubtype="4" fill="hold" grpId="0" nodeType="withEffect">
                                  <p:stCondLst>
                                    <p:cond delay="240"/>
                                  </p:stCondLst>
                                  <p:childTnLst>
                                    <p:set>
                                      <p:cBhvr>
                                        <p:cTn id="121" dur="1" fill="hold">
                                          <p:stCondLst>
                                            <p:cond delay="0"/>
                                          </p:stCondLst>
                                        </p:cTn>
                                        <p:tgtEl>
                                          <p:spTgt spid="41"/>
                                        </p:tgtEl>
                                        <p:attrNameLst>
                                          <p:attrName>style.visibility</p:attrName>
                                        </p:attrNameLst>
                                      </p:cBhvr>
                                      <p:to>
                                        <p:strVal val="visible"/>
                                      </p:to>
                                    </p:set>
                                    <p:anim calcmode="lin" valueType="num">
                                      <p:cBhvr additive="base">
                                        <p:cTn id="122" dur="500" fill="hold"/>
                                        <p:tgtEl>
                                          <p:spTgt spid="41"/>
                                        </p:tgtEl>
                                        <p:attrNameLst>
                                          <p:attrName>ppt_x</p:attrName>
                                        </p:attrNameLst>
                                      </p:cBhvr>
                                      <p:tavLst>
                                        <p:tav tm="0">
                                          <p:val>
                                            <p:strVal val="#ppt_x"/>
                                          </p:val>
                                        </p:tav>
                                        <p:tav tm="100000">
                                          <p:val>
                                            <p:strVal val="#ppt_x"/>
                                          </p:val>
                                        </p:tav>
                                      </p:tavLst>
                                    </p:anim>
                                    <p:anim calcmode="lin" valueType="num">
                                      <p:cBhvr additive="base">
                                        <p:cTn id="123" dur="500" fill="hold"/>
                                        <p:tgtEl>
                                          <p:spTgt spid="41"/>
                                        </p:tgtEl>
                                        <p:attrNameLst>
                                          <p:attrName>ppt_y</p:attrName>
                                        </p:attrNameLst>
                                      </p:cBhvr>
                                      <p:tavLst>
                                        <p:tav tm="0">
                                          <p:val>
                                            <p:strVal val="#ppt_y+0.1"/>
                                          </p:val>
                                        </p:tav>
                                        <p:tav tm="100000">
                                          <p:val>
                                            <p:strVal val="#ppt_y"/>
                                          </p:val>
                                        </p:tav>
                                      </p:tavLst>
                                    </p:anim>
                                    <p:animEffect transition="in" filter="fade">
                                      <p:cBhvr>
                                        <p:cTn id="124" dur="500"/>
                                        <p:tgtEl>
                                          <p:spTgt spid="41"/>
                                        </p:tgtEl>
                                      </p:cBhvr>
                                    </p:animEffect>
                                  </p:childTnLst>
                                </p:cTn>
                              </p:par>
                            </p:childTnLst>
                          </p:cTn>
                        </p:par>
                      </p:childTnLst>
                    </p:cTn>
                  </p:par>
                  <p:par>
                    <p:cTn id="126" fill="hold">
                      <p:stCondLst>
                        <p:cond delay="indefinite"/>
                      </p:stCondLst>
                      <p:childTnLst>
                        <p:par>
                          <p:cTn id="127" fill="hold">
                            <p:stCondLst>
                              <p:cond delay="0"/>
                            </p:stCondLst>
                            <p:childTnLst>
                              <p:par>
                                <p:cTn id="132" presetID="2" presetClass="entr" presetSubtype="4" fill="hold" grpId="0" nodeType="clickEffect">
                                  <p:stCondLst>
                                    <p:cond delay="0"/>
                                  </p:stCondLst>
                                  <p:childTnLst>
                                    <p:set>
                                      <p:cBhvr>
                                        <p:cTn id="128" dur="1" fill="hold">
                                          <p:stCondLst>
                                            <p:cond delay="0"/>
                                          </p:stCondLst>
                                        </p:cTn>
                                        <p:tgtEl>
                                          <p:spTgt spid="30"/>
                                        </p:tgtEl>
                                        <p:attrNameLst>
                                          <p:attrName>style.visibility</p:attrName>
                                        </p:attrNameLst>
                                      </p:cBhvr>
                                      <p:to>
                                        <p:strVal val="visible"/>
                                      </p:to>
                                    </p:set>
                                    <p:anim calcmode="lin" valueType="num">
                                      <p:cBhvr additive="base">
                                        <p:cTn id="129" dur="500" fill="hold"/>
                                        <p:tgtEl>
                                          <p:spTgt spid="30"/>
                                        </p:tgtEl>
                                        <p:attrNameLst>
                                          <p:attrName>ppt_x</p:attrName>
                                        </p:attrNameLst>
                                      </p:cBhvr>
                                      <p:tavLst>
                                        <p:tav tm="0">
                                          <p:val>
                                            <p:strVal val="#ppt_x"/>
                                          </p:val>
                                        </p:tav>
                                        <p:tav tm="100000">
                                          <p:val>
                                            <p:strVal val="#ppt_x"/>
                                          </p:val>
                                        </p:tav>
                                      </p:tavLst>
                                    </p:anim>
                                    <p:anim calcmode="lin" valueType="num">
                                      <p:cBhvr additive="base">
                                        <p:cTn id="130" dur="500" fill="hold"/>
                                        <p:tgtEl>
                                          <p:spTgt spid="30"/>
                                        </p:tgtEl>
                                        <p:attrNameLst>
                                          <p:attrName>ppt_y</p:attrName>
                                        </p:attrNameLst>
                                      </p:cBhvr>
                                      <p:tavLst>
                                        <p:tav tm="0">
                                          <p:val>
                                            <p:strVal val="#ppt_y+0.1"/>
                                          </p:val>
                                        </p:tav>
                                        <p:tav tm="100000">
                                          <p:val>
                                            <p:strVal val="#ppt_y"/>
                                          </p:val>
                                        </p:tav>
                                      </p:tavLst>
                                    </p:anim>
                                    <p:animEffect transition="in" filter="fade">
                                      <p:cBhvr>
                                        <p:cTn id="131" dur="500"/>
                                        <p:tgtEl>
                                          <p:spTgt spid="30"/>
                                        </p:tgtEl>
                                      </p:cBhvr>
                                    </p:animEffect>
                                  </p:childTnLst>
                                </p:cTn>
                              </p:par>
                              <p:par>
                                <p:cTn id="137" presetID="2" presetClass="entr" presetSubtype="4" fill="hold" grpId="0" nodeType="withEffect">
                                  <p:stCondLst>
                                    <p:cond delay="0"/>
                                  </p:stCondLst>
                                  <p:childTnLst>
                                    <p:set>
                                      <p:cBhvr>
                                        <p:cTn id="133" dur="1" fill="hold">
                                          <p:stCondLst>
                                            <p:cond delay="0"/>
                                          </p:stCondLst>
                                        </p:cTn>
                                        <p:tgtEl>
                                          <p:spTgt spid="56"/>
                                        </p:tgtEl>
                                        <p:attrNameLst>
                                          <p:attrName>style.visibility</p:attrName>
                                        </p:attrNameLst>
                                      </p:cBhvr>
                                      <p:to>
                                        <p:strVal val="visible"/>
                                      </p:to>
                                    </p:set>
                                    <p:anim calcmode="lin" valueType="num">
                                      <p:cBhvr additive="base">
                                        <p:cTn id="134" dur="500" fill="hold"/>
                                        <p:tgtEl>
                                          <p:spTgt spid="56"/>
                                        </p:tgtEl>
                                        <p:attrNameLst>
                                          <p:attrName>ppt_x</p:attrName>
                                        </p:attrNameLst>
                                      </p:cBhvr>
                                      <p:tavLst>
                                        <p:tav tm="0">
                                          <p:val>
                                            <p:strVal val="#ppt_x"/>
                                          </p:val>
                                        </p:tav>
                                        <p:tav tm="100000">
                                          <p:val>
                                            <p:strVal val="#ppt_x"/>
                                          </p:val>
                                        </p:tav>
                                      </p:tavLst>
                                    </p:anim>
                                    <p:anim calcmode="lin" valueType="num">
                                      <p:cBhvr additive="base">
                                        <p:cTn id="135" dur="500" fill="hold"/>
                                        <p:tgtEl>
                                          <p:spTgt spid="56"/>
                                        </p:tgtEl>
                                        <p:attrNameLst>
                                          <p:attrName>ppt_y</p:attrName>
                                        </p:attrNameLst>
                                      </p:cBhvr>
                                      <p:tavLst>
                                        <p:tav tm="0">
                                          <p:val>
                                            <p:strVal val="#ppt_y+0.1"/>
                                          </p:val>
                                        </p:tav>
                                        <p:tav tm="100000">
                                          <p:val>
                                            <p:strVal val="#ppt_y"/>
                                          </p:val>
                                        </p:tav>
                                      </p:tavLst>
                                    </p:anim>
                                    <p:animEffect transition="in" filter="fade">
                                      <p:cBhvr>
                                        <p:cTn id="136" dur="500"/>
                                        <p:tgtEl>
                                          <p:spTgt spid="56"/>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57"/>
                                        </p:tgtEl>
                                        <p:attrNameLst>
                                          <p:attrName>style.visibility</p:attrName>
                                        </p:attrNameLst>
                                      </p:cBhvr>
                                      <p:to>
                                        <p:strVal val="visible"/>
                                      </p:to>
                                    </p:set>
                                    <p:anim calcmode="lin" valueType="num">
                                      <p:cBhvr additive="base">
                                        <p:cTn id="139" dur="500" fill="hold"/>
                                        <p:tgtEl>
                                          <p:spTgt spid="57"/>
                                        </p:tgtEl>
                                        <p:attrNameLst>
                                          <p:attrName>ppt_x</p:attrName>
                                        </p:attrNameLst>
                                      </p:cBhvr>
                                      <p:tavLst>
                                        <p:tav tm="0">
                                          <p:val>
                                            <p:strVal val="#ppt_x"/>
                                          </p:val>
                                        </p:tav>
                                        <p:tav tm="100000">
                                          <p:val>
                                            <p:strVal val="#ppt_x"/>
                                          </p:val>
                                        </p:tav>
                                      </p:tavLst>
                                    </p:anim>
                                    <p:anim calcmode="lin" valueType="num">
                                      <p:cBhvr additive="base">
                                        <p:cTn id="140" dur="500" fill="hold"/>
                                        <p:tgtEl>
                                          <p:spTgt spid="57"/>
                                        </p:tgtEl>
                                        <p:attrNameLst>
                                          <p:attrName>ppt_y</p:attrName>
                                        </p:attrNameLst>
                                      </p:cBhvr>
                                      <p:tavLst>
                                        <p:tav tm="0">
                                          <p:val>
                                            <p:strVal val="#ppt_y+0.1"/>
                                          </p:val>
                                        </p:tav>
                                        <p:tav tm="100000">
                                          <p:val>
                                            <p:strVal val="#ppt_y"/>
                                          </p:val>
                                        </p:tav>
                                      </p:tavLst>
                                    </p:anim>
                                    <p:animEffect transition="in" filter="fade">
                                      <p:cBhvr>
                                        <p:cTn id="141" dur="500"/>
                                        <p:tgtEl>
                                          <p:spTgt spid="57"/>
                                        </p:tgtEl>
                                      </p:cBhvr>
                                    </p:animEffect>
                                  </p:childTnLst>
                                </p:cTn>
                              </p:par>
                              <p:par>
                                <p:cTn id="147" presetID="2" presetClass="entr" presetSubtype="4"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 calcmode="lin" valueType="num">
                                      <p:cBhvr additive="base">
                                        <p:cTn id="144" dur="500" fill="hold"/>
                                        <p:tgtEl>
                                          <p:spTgt spid="58"/>
                                        </p:tgtEl>
                                        <p:attrNameLst>
                                          <p:attrName>ppt_x</p:attrName>
                                        </p:attrNameLst>
                                      </p:cBhvr>
                                      <p:tavLst>
                                        <p:tav tm="0">
                                          <p:val>
                                            <p:strVal val="#ppt_x"/>
                                          </p:val>
                                        </p:tav>
                                        <p:tav tm="100000">
                                          <p:val>
                                            <p:strVal val="#ppt_x"/>
                                          </p:val>
                                        </p:tav>
                                      </p:tavLst>
                                    </p:anim>
                                    <p:anim calcmode="lin" valueType="num">
                                      <p:cBhvr additive="base">
                                        <p:cTn id="145" dur="500" fill="hold"/>
                                        <p:tgtEl>
                                          <p:spTgt spid="58"/>
                                        </p:tgtEl>
                                        <p:attrNameLst>
                                          <p:attrName>ppt_y</p:attrName>
                                        </p:attrNameLst>
                                      </p:cBhvr>
                                      <p:tavLst>
                                        <p:tav tm="0">
                                          <p:val>
                                            <p:strVal val="#ppt_y+0.1"/>
                                          </p:val>
                                        </p:tav>
                                        <p:tav tm="100000">
                                          <p:val>
                                            <p:strVal val="#ppt_y"/>
                                          </p:val>
                                        </p:tav>
                                      </p:tavLst>
                                    </p:anim>
                                    <p:animEffect transition="in" filter="fade">
                                      <p:cBhvr>
                                        <p:cTn id="146" dur="500"/>
                                        <p:tgtEl>
                                          <p:spTgt spid="58"/>
                                        </p:tgtEl>
                                      </p:cBhvr>
                                    </p:animEffect>
                                  </p:childTnLst>
                                </p:cTn>
                              </p:par>
                              <p:par>
                                <p:cTn id="152" presetID="2" presetClass="entr" presetSubtype="4" fill="hold" grpId="0" nodeType="withEffect">
                                  <p:stCondLst>
                                    <p:cond delay="80"/>
                                  </p:stCondLst>
                                  <p:childTnLst>
                                    <p:set>
                                      <p:cBhvr>
                                        <p:cTn id="148" dur="1" fill="hold">
                                          <p:stCondLst>
                                            <p:cond delay="0"/>
                                          </p:stCondLst>
                                        </p:cTn>
                                        <p:tgtEl>
                                          <p:spTgt spid="59"/>
                                        </p:tgtEl>
                                        <p:attrNameLst>
                                          <p:attrName>style.visibility</p:attrName>
                                        </p:attrNameLst>
                                      </p:cBhvr>
                                      <p:to>
                                        <p:strVal val="visible"/>
                                      </p:to>
                                    </p:set>
                                    <p:anim calcmode="lin" valueType="num">
                                      <p:cBhvr additive="base">
                                        <p:cTn id="149" dur="500" fill="hold"/>
                                        <p:tgtEl>
                                          <p:spTgt spid="59"/>
                                        </p:tgtEl>
                                        <p:attrNameLst>
                                          <p:attrName>ppt_x</p:attrName>
                                        </p:attrNameLst>
                                      </p:cBhvr>
                                      <p:tavLst>
                                        <p:tav tm="0">
                                          <p:val>
                                            <p:strVal val="#ppt_x"/>
                                          </p:val>
                                        </p:tav>
                                        <p:tav tm="100000">
                                          <p:val>
                                            <p:strVal val="#ppt_x"/>
                                          </p:val>
                                        </p:tav>
                                      </p:tavLst>
                                    </p:anim>
                                    <p:anim calcmode="lin" valueType="num">
                                      <p:cBhvr additive="base">
                                        <p:cTn id="150" dur="500" fill="hold"/>
                                        <p:tgtEl>
                                          <p:spTgt spid="59"/>
                                        </p:tgtEl>
                                        <p:attrNameLst>
                                          <p:attrName>ppt_y</p:attrName>
                                        </p:attrNameLst>
                                      </p:cBhvr>
                                      <p:tavLst>
                                        <p:tav tm="0">
                                          <p:val>
                                            <p:strVal val="#ppt_y+0.1"/>
                                          </p:val>
                                        </p:tav>
                                        <p:tav tm="100000">
                                          <p:val>
                                            <p:strVal val="#ppt_y"/>
                                          </p:val>
                                        </p:tav>
                                      </p:tavLst>
                                    </p:anim>
                                    <p:animEffect transition="in" filter="fade">
                                      <p:cBhvr>
                                        <p:cTn id="151" dur="500"/>
                                        <p:tgtEl>
                                          <p:spTgt spid="59"/>
                                        </p:tgtEl>
                                      </p:cBhvr>
                                    </p:animEffect>
                                  </p:childTnLst>
                                </p:cTn>
                              </p:par>
                              <p:par>
                                <p:cTn id="157" presetID="2" presetClass="entr" presetSubtype="4" fill="hold" grpId="0" nodeType="withEffect">
                                  <p:stCondLst>
                                    <p:cond delay="100"/>
                                  </p:stCondLst>
                                  <p:childTnLst>
                                    <p:set>
                                      <p:cBhvr>
                                        <p:cTn id="153" dur="1" fill="hold">
                                          <p:stCondLst>
                                            <p:cond delay="0"/>
                                          </p:stCondLst>
                                        </p:cTn>
                                        <p:tgtEl>
                                          <p:spTgt spid="36"/>
                                        </p:tgtEl>
                                        <p:attrNameLst>
                                          <p:attrName>style.visibility</p:attrName>
                                        </p:attrNameLst>
                                      </p:cBhvr>
                                      <p:to>
                                        <p:strVal val="visible"/>
                                      </p:to>
                                    </p:set>
                                    <p:anim calcmode="lin" valueType="num">
                                      <p:cBhvr additive="base">
                                        <p:cTn id="154" dur="500" fill="hold"/>
                                        <p:tgtEl>
                                          <p:spTgt spid="36"/>
                                        </p:tgtEl>
                                        <p:attrNameLst>
                                          <p:attrName>ppt_x</p:attrName>
                                        </p:attrNameLst>
                                      </p:cBhvr>
                                      <p:tavLst>
                                        <p:tav tm="0">
                                          <p:val>
                                            <p:strVal val="#ppt_x"/>
                                          </p:val>
                                        </p:tav>
                                        <p:tav tm="100000">
                                          <p:val>
                                            <p:strVal val="#ppt_x"/>
                                          </p:val>
                                        </p:tav>
                                      </p:tavLst>
                                    </p:anim>
                                    <p:anim calcmode="lin" valueType="num">
                                      <p:cBhvr additive="base">
                                        <p:cTn id="155" dur="500" fill="hold"/>
                                        <p:tgtEl>
                                          <p:spTgt spid="36"/>
                                        </p:tgtEl>
                                        <p:attrNameLst>
                                          <p:attrName>ppt_y</p:attrName>
                                        </p:attrNameLst>
                                      </p:cBhvr>
                                      <p:tavLst>
                                        <p:tav tm="0">
                                          <p:val>
                                            <p:strVal val="#ppt_y+0.1"/>
                                          </p:val>
                                        </p:tav>
                                        <p:tav tm="100000">
                                          <p:val>
                                            <p:strVal val="#ppt_y"/>
                                          </p:val>
                                        </p:tav>
                                      </p:tavLst>
                                    </p:anim>
                                    <p:animEffect transition="in" filter="fade">
                                      <p:cBhvr>
                                        <p:cTn id="156" dur="500"/>
                                        <p:tgtEl>
                                          <p:spTgt spid="36"/>
                                        </p:tgtEl>
                                      </p:cBhvr>
                                    </p:animEffect>
                                  </p:childTnLst>
                                </p:cTn>
                              </p:par>
                              <p:par>
                                <p:cTn id="162" presetID="2" presetClass="entr" presetSubtype="4" fill="hold" grpId="0" nodeType="withEffect">
                                  <p:stCondLst>
                                    <p:cond delay="200"/>
                                  </p:stCondLst>
                                  <p:childTnLst>
                                    <p:set>
                                      <p:cBhvr>
                                        <p:cTn id="158" dur="1" fill="hold">
                                          <p:stCondLst>
                                            <p:cond delay="0"/>
                                          </p:stCondLst>
                                        </p:cTn>
                                        <p:tgtEl>
                                          <p:spTgt spid="42"/>
                                        </p:tgtEl>
                                        <p:attrNameLst>
                                          <p:attrName>style.visibility</p:attrName>
                                        </p:attrNameLst>
                                      </p:cBhvr>
                                      <p:to>
                                        <p:strVal val="visible"/>
                                      </p:to>
                                    </p:set>
                                    <p:anim calcmode="lin" valueType="num">
                                      <p:cBhvr additive="base">
                                        <p:cTn id="159" dur="500" fill="hold"/>
                                        <p:tgtEl>
                                          <p:spTgt spid="42"/>
                                        </p:tgtEl>
                                        <p:attrNameLst>
                                          <p:attrName>ppt_x</p:attrName>
                                        </p:attrNameLst>
                                      </p:cBhvr>
                                      <p:tavLst>
                                        <p:tav tm="0">
                                          <p:val>
                                            <p:strVal val="#ppt_x"/>
                                          </p:val>
                                        </p:tav>
                                        <p:tav tm="100000">
                                          <p:val>
                                            <p:strVal val="#ppt_x"/>
                                          </p:val>
                                        </p:tav>
                                      </p:tavLst>
                                    </p:anim>
                                    <p:anim calcmode="lin" valueType="num">
                                      <p:cBhvr additive="base">
                                        <p:cTn id="160" dur="500" fill="hold"/>
                                        <p:tgtEl>
                                          <p:spTgt spid="42"/>
                                        </p:tgtEl>
                                        <p:attrNameLst>
                                          <p:attrName>ppt_y</p:attrName>
                                        </p:attrNameLst>
                                      </p:cBhvr>
                                      <p:tavLst>
                                        <p:tav tm="0">
                                          <p:val>
                                            <p:strVal val="#ppt_y+0.1"/>
                                          </p:val>
                                        </p:tav>
                                        <p:tav tm="100000">
                                          <p:val>
                                            <p:strVal val="#ppt_y"/>
                                          </p:val>
                                        </p:tav>
                                      </p:tavLst>
                                    </p:anim>
                                    <p:animEffect transition="in" filter="fade">
                                      <p:cBhvr>
                                        <p:cTn id="161" dur="500"/>
                                        <p:tgtEl>
                                          <p:spTgt spid="42"/>
                                        </p:tgtEl>
                                      </p:cBhvr>
                                    </p:animEffect>
                                  </p:childTnLst>
                                </p:cTn>
                              </p:par>
                            </p:childTnLst>
                          </p:cTn>
                        </p:par>
                      </p:childTnLst>
                    </p:cTn>
                  </p:par>
                  <p:par>
                    <p:cTn id="163" fill="hold">
                      <p:stCondLst>
                        <p:cond delay="indefinite"/>
                      </p:stCondLst>
                      <p:childTnLst>
                        <p:par>
                          <p:cTn id="164" fill="hold">
                            <p:stCondLst>
                              <p:cond delay="0"/>
                            </p:stCondLst>
                            <p:childTnLst>
                              <p:par>
                                <p:cTn id="167" presetID="10" presetClass="entr" presetSubtype="0" fill="hold" grpId="0" nodeType="click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00"/>
                                        <p:tgtEl>
                                          <p:spTgt spid="43"/>
                                        </p:tgtEl>
                                      </p:cBhvr>
                                    </p:animEffect>
                                  </p:childTnLst>
                                </p:cTn>
                              </p:par>
                              <p:par>
                                <p:cTn id="170" presetID="22" presetClass="entr" presetSubtype="8" fill="hold" grpId="0" nodeType="withEffect">
                                  <p:stCondLst>
                                    <p:cond delay="0"/>
                                  </p:stCondLst>
                                  <p:childTnLst>
                                    <p:set>
                                      <p:cBhvr>
                                        <p:cTn id="168" dur="1" fill="hold">
                                          <p:stCondLst>
                                            <p:cond delay="0"/>
                                          </p:stCondLst>
                                        </p:cTn>
                                        <p:tgtEl>
                                          <p:spTgt spid="44"/>
                                        </p:tgtEl>
                                        <p:attrNameLst>
                                          <p:attrName>style.visibility</p:attrName>
                                        </p:attrNameLst>
                                      </p:cBhvr>
                                      <p:to>
                                        <p:strVal val="visible"/>
                                      </p:to>
                                    </p:set>
                                    <p:animEffect transition="in" filter="wipe(left)">
                                      <p:cBhvr>
                                        <p:cTn id="169" dur="500"/>
                                        <p:tgtEl>
                                          <p:spTgt spid="44"/>
                                        </p:tgtEl>
                                      </p:cBhvr>
                                    </p:animEffect>
                                  </p:childTnLst>
                                </p:cTn>
                              </p:par>
                              <p:par>
                                <p:cTn id="173" presetID="22" presetClass="entr" presetSubtype="8" fill="hold" grpId="0" nodeType="withEffect">
                                  <p:stCondLst>
                                    <p:cond delay="0"/>
                                  </p:stCondLst>
                                  <p:childTnLst>
                                    <p:set>
                                      <p:cBhvr>
                                        <p:cTn id="171" dur="1" fill="hold">
                                          <p:stCondLst>
                                            <p:cond delay="0"/>
                                          </p:stCondLst>
                                        </p:cTn>
                                        <p:tgtEl>
                                          <p:spTgt spid="45"/>
                                        </p:tgtEl>
                                        <p:attrNameLst>
                                          <p:attrName>style.visibility</p:attrName>
                                        </p:attrNameLst>
                                      </p:cBhvr>
                                      <p:to>
                                        <p:strVal val="visible"/>
                                      </p:to>
                                    </p:set>
                                    <p:animEffect transition="in" filter="wipe(left)">
                                      <p:cBhvr>
                                        <p:cTn id="172" dur="500"/>
                                        <p:tgtEl>
                                          <p:spTgt spid="45"/>
                                        </p:tgtEl>
                                      </p:cBhvr>
                                    </p:animEffect>
                                  </p:childTnLst>
                                </p:cTn>
                              </p:par>
                              <p:par>
                                <p:cTn id="176" presetID="22" presetClass="entr" presetSubtype="8" fill="hold" grpId="0" nodeType="withEffect">
                                  <p:stCondLst>
                                    <p:cond delay="60"/>
                                  </p:stCondLst>
                                  <p:childTnLst>
                                    <p:set>
                                      <p:cBhvr>
                                        <p:cTn id="174" dur="1" fill="hold">
                                          <p:stCondLst>
                                            <p:cond delay="0"/>
                                          </p:stCondLst>
                                        </p:cTn>
                                        <p:tgtEl>
                                          <p:spTgt spid="46"/>
                                        </p:tgtEl>
                                        <p:attrNameLst>
                                          <p:attrName>style.visibility</p:attrName>
                                        </p:attrNameLst>
                                      </p:cBhvr>
                                      <p:to>
                                        <p:strVal val="visible"/>
                                      </p:to>
                                    </p:set>
                                    <p:animEffect transition="in" filter="wipe(left)">
                                      <p:cBhvr>
                                        <p:cTn id="175" dur="500"/>
                                        <p:tgtEl>
                                          <p:spTgt spid="46"/>
                                        </p:tgtEl>
                                      </p:cBhvr>
                                    </p:animEffect>
                                  </p:childTnLst>
                                </p:cTn>
                              </p:par>
                              <p:par>
                                <p:cTn id="179" presetID="22" presetClass="entr" presetSubtype="8" fill="hold" grpId="0" nodeType="withEffect">
                                  <p:stCondLst>
                                    <p:cond delay="60"/>
                                  </p:stCondLst>
                                  <p:childTnLst>
                                    <p:set>
                                      <p:cBhvr>
                                        <p:cTn id="177" dur="1" fill="hold">
                                          <p:stCondLst>
                                            <p:cond delay="0"/>
                                          </p:stCondLst>
                                        </p:cTn>
                                        <p:tgtEl>
                                          <p:spTgt spid="47"/>
                                        </p:tgtEl>
                                        <p:attrNameLst>
                                          <p:attrName>style.visibility</p:attrName>
                                        </p:attrNameLst>
                                      </p:cBhvr>
                                      <p:to>
                                        <p:strVal val="visible"/>
                                      </p:to>
                                    </p:set>
                                    <p:animEffect transition="in" filter="wipe(left)">
                                      <p:cBhvr>
                                        <p:cTn id="178" dur="500"/>
                                        <p:tgtEl>
                                          <p:spTgt spid="47"/>
                                        </p:tgtEl>
                                      </p:cBhvr>
                                    </p:animEffect>
                                  </p:childTnLst>
                                </p:cTn>
                              </p:par>
                              <p:par>
                                <p:cTn id="182" presetID="22" presetClass="entr" presetSubtype="8" fill="hold" grpId="0" nodeType="withEffect">
                                  <p:stCondLst>
                                    <p:cond delay="120"/>
                                  </p:stCondLst>
                                  <p:childTnLst>
                                    <p:set>
                                      <p:cBhvr>
                                        <p:cTn id="180" dur="1" fill="hold">
                                          <p:stCondLst>
                                            <p:cond delay="0"/>
                                          </p:stCondLst>
                                        </p:cTn>
                                        <p:tgtEl>
                                          <p:spTgt spid="48"/>
                                        </p:tgtEl>
                                        <p:attrNameLst>
                                          <p:attrName>style.visibility</p:attrName>
                                        </p:attrNameLst>
                                      </p:cBhvr>
                                      <p:to>
                                        <p:strVal val="visible"/>
                                      </p:to>
                                    </p:set>
                                    <p:animEffect transition="in" filter="wipe(left)">
                                      <p:cBhvr>
                                        <p:cTn id="181" dur="500"/>
                                        <p:tgtEl>
                                          <p:spTgt spid="48"/>
                                        </p:tgtEl>
                                      </p:cBhvr>
                                    </p:animEffect>
                                  </p:childTnLst>
                                </p:cTn>
                              </p:par>
                              <p:par>
                                <p:cTn id="185" presetID="22" presetClass="entr" presetSubtype="8" fill="hold" grpId="0" nodeType="withEffect">
                                  <p:stCondLst>
                                    <p:cond delay="120"/>
                                  </p:stCondLst>
                                  <p:childTnLst>
                                    <p:set>
                                      <p:cBhvr>
                                        <p:cTn id="183" dur="1" fill="hold">
                                          <p:stCondLst>
                                            <p:cond delay="0"/>
                                          </p:stCondLst>
                                        </p:cTn>
                                        <p:tgtEl>
                                          <p:spTgt spid="49"/>
                                        </p:tgtEl>
                                        <p:attrNameLst>
                                          <p:attrName>style.visibility</p:attrName>
                                        </p:attrNameLst>
                                      </p:cBhvr>
                                      <p:to>
                                        <p:strVal val="visible"/>
                                      </p:to>
                                    </p:set>
                                    <p:animEffect transition="in" filter="wipe(left)">
                                      <p:cBhvr>
                                        <p:cTn id="184" dur="500"/>
                                        <p:tgtEl>
                                          <p:spTgt spid="49"/>
                                        </p:tgtEl>
                                      </p:cBhvr>
                                    </p:animEffect>
                                  </p:childTnLst>
                                </p:cTn>
                              </p:par>
                              <p:par>
                                <p:cTn id="188" presetID="22" presetClass="entr" presetSubtype="8" fill="hold" grpId="0" nodeType="withEffect">
                                  <p:stCondLst>
                                    <p:cond delay="180"/>
                                  </p:stCondLst>
                                  <p:childTnLst>
                                    <p:set>
                                      <p:cBhvr>
                                        <p:cTn id="186" dur="1" fill="hold">
                                          <p:stCondLst>
                                            <p:cond delay="0"/>
                                          </p:stCondLst>
                                        </p:cTn>
                                        <p:tgtEl>
                                          <p:spTgt spid="50"/>
                                        </p:tgtEl>
                                        <p:attrNameLst>
                                          <p:attrName>style.visibility</p:attrName>
                                        </p:attrNameLst>
                                      </p:cBhvr>
                                      <p:to>
                                        <p:strVal val="visible"/>
                                      </p:to>
                                    </p:set>
                                    <p:animEffect transition="in" filter="wipe(left)">
                                      <p:cBhvr>
                                        <p:cTn id="187" dur="500"/>
                                        <p:tgtEl>
                                          <p:spTgt spid="50"/>
                                        </p:tgtEl>
                                      </p:cBhvr>
                                    </p:animEffect>
                                  </p:childTnLst>
                                </p:cTn>
                              </p:par>
                              <p:par>
                                <p:cTn id="191" presetID="22" presetClass="entr" presetSubtype="8" fill="hold" grpId="0" nodeType="withEffect">
                                  <p:stCondLst>
                                    <p:cond delay="180"/>
                                  </p:stCondLst>
                                  <p:childTnLst>
                                    <p:set>
                                      <p:cBhvr>
                                        <p:cTn id="189" dur="1" fill="hold">
                                          <p:stCondLst>
                                            <p:cond delay="0"/>
                                          </p:stCondLst>
                                        </p:cTn>
                                        <p:tgtEl>
                                          <p:spTgt spid="51"/>
                                        </p:tgtEl>
                                        <p:attrNameLst>
                                          <p:attrName>style.visibility</p:attrName>
                                        </p:attrNameLst>
                                      </p:cBhvr>
                                      <p:to>
                                        <p:strVal val="visible"/>
                                      </p:to>
                                    </p:set>
                                    <p:animEffect transition="in" filter="wipe(left)">
                                      <p:cBhvr>
                                        <p:cTn id="190" dur="500"/>
                                        <p:tgtEl>
                                          <p:spTgt spid="51"/>
                                        </p:tgtEl>
                                      </p:cBhvr>
                                    </p:animEffect>
                                  </p:childTnLst>
                                </p:cTn>
                              </p:par>
                              <p:par>
                                <p:cTn id="194" presetID="22" presetClass="entr" presetSubtype="8" fill="hold" grpId="0" nodeType="withEffect">
                                  <p:stCondLst>
                                    <p:cond delay="240"/>
                                  </p:stCondLst>
                                  <p:childTnLst>
                                    <p:set>
                                      <p:cBhvr>
                                        <p:cTn id="192" dur="1" fill="hold">
                                          <p:stCondLst>
                                            <p:cond delay="0"/>
                                          </p:stCondLst>
                                        </p:cTn>
                                        <p:tgtEl>
                                          <p:spTgt spid="52"/>
                                        </p:tgtEl>
                                        <p:attrNameLst>
                                          <p:attrName>style.visibility</p:attrName>
                                        </p:attrNameLst>
                                      </p:cBhvr>
                                      <p:to>
                                        <p:strVal val="visible"/>
                                      </p:to>
                                    </p:set>
                                    <p:animEffect transition="in" filter="wipe(left)">
                                      <p:cBhvr>
                                        <p:cTn id="193" dur="500"/>
                                        <p:tgtEl>
                                          <p:spTgt spid="52"/>
                                        </p:tgtEl>
                                      </p:cBhvr>
                                    </p:animEffect>
                                  </p:childTnLst>
                                </p:cTn>
                              </p:par>
                              <p:par>
                                <p:cTn id="197" presetID="22" presetClass="entr" presetSubtype="8" fill="hold" grpId="0" nodeType="withEffect">
                                  <p:stCondLst>
                                    <p:cond delay="240"/>
                                  </p:stCondLst>
                                  <p:childTnLst>
                                    <p:set>
                                      <p:cBhvr>
                                        <p:cTn id="195" dur="1" fill="hold">
                                          <p:stCondLst>
                                            <p:cond delay="0"/>
                                          </p:stCondLst>
                                        </p:cTn>
                                        <p:tgtEl>
                                          <p:spTgt spid="53"/>
                                        </p:tgtEl>
                                        <p:attrNameLst>
                                          <p:attrName>style.visibility</p:attrName>
                                        </p:attrNameLst>
                                      </p:cBhvr>
                                      <p:to>
                                        <p:strVal val="visible"/>
                                      </p:to>
                                    </p:set>
                                    <p:animEffect transition="in" filter="wipe(left)">
                                      <p:cBhvr>
                                        <p:cTn id="196" dur="500"/>
                                        <p:tgtEl>
                                          <p:spTgt spid="53"/>
                                        </p:tgtEl>
                                      </p:cBhvr>
                                    </p:animEffect>
                                  </p:childTnLst>
                                </p:cTn>
                              </p:par>
                              <p:par>
                                <p:cTn id="200" presetID="22" presetClass="entr" presetSubtype="8" fill="hold" grpId="0" nodeType="withEffect">
                                  <p:stCondLst>
                                    <p:cond delay="300"/>
                                  </p:stCondLst>
                                  <p:childTnLst>
                                    <p:set>
                                      <p:cBhvr>
                                        <p:cTn id="198" dur="1" fill="hold">
                                          <p:stCondLst>
                                            <p:cond delay="0"/>
                                          </p:stCondLst>
                                        </p:cTn>
                                        <p:tgtEl>
                                          <p:spTgt spid="54"/>
                                        </p:tgtEl>
                                        <p:attrNameLst>
                                          <p:attrName>style.visibility</p:attrName>
                                        </p:attrNameLst>
                                      </p:cBhvr>
                                      <p:to>
                                        <p:strVal val="visible"/>
                                      </p:to>
                                    </p:set>
                                    <p:animEffect transition="in" filter="wipe(left)">
                                      <p:cBhvr>
                                        <p:cTn id="199" dur="500"/>
                                        <p:tgtEl>
                                          <p:spTgt spid="54"/>
                                        </p:tgtEl>
                                      </p:cBhvr>
                                    </p:animEffect>
                                  </p:childTnLst>
                                </p:cTn>
                              </p:par>
                              <p:par>
                                <p:cTn id="203" presetID="22" presetClass="entr" presetSubtype="8" fill="hold" grpId="0" nodeType="withEffect">
                                  <p:stCondLst>
                                    <p:cond delay="300"/>
                                  </p:stCondLst>
                                  <p:childTnLst>
                                    <p:set>
                                      <p:cBhvr>
                                        <p:cTn id="201" dur="1" fill="hold">
                                          <p:stCondLst>
                                            <p:cond delay="0"/>
                                          </p:stCondLst>
                                        </p:cTn>
                                        <p:tgtEl>
                                          <p:spTgt spid="55"/>
                                        </p:tgtEl>
                                        <p:attrNameLst>
                                          <p:attrName>style.visibility</p:attrName>
                                        </p:attrNameLst>
                                      </p:cBhvr>
                                      <p:to>
                                        <p:strVal val="visible"/>
                                      </p:to>
                                    </p:set>
                                    <p:animEffect transition="in" filter="wipe(left)">
                                      <p:cBhvr>
                                        <p:cTn id="202" dur="500"/>
                                        <p:tgtEl>
                                          <p:spTgt spid="55"/>
                                        </p:tgtEl>
                                      </p:cBhvr>
                                    </p:animEffect>
                                  </p:childTnLst>
                                </p:cTn>
                              </p:par>
                            </p:childTnLst>
                          </p:cTn>
                        </p:par>
                      </p:childTnLst>
                    </p:cTn>
                  </p:par>
                  <p:par>
                    <p:cTn id="204" fill="hold">
                      <p:stCondLst>
                        <p:cond delay="indefinite"/>
                      </p:stCondLst>
                      <p:childTnLst>
                        <p:par>
                          <p:cTn id="205" fill="hold">
                            <p:stCondLst>
                              <p:cond delay="0"/>
                            </p:stCondLst>
                            <p:childTnLst>
                              <p:par>
                                <p:cTn id="210" presetID="2" presetClass="entr" presetSubtype="4" fill="hold" grpId="0" nodeType="clickEffect">
                                  <p:stCondLst>
                                    <p:cond delay="0"/>
                                  </p:stCondLst>
                                  <p:childTnLst>
                                    <p:set>
                                      <p:cBhvr>
                                        <p:cTn id="206" dur="1" fill="hold">
                                          <p:stCondLst>
                                            <p:cond delay="0"/>
                                          </p:stCondLst>
                                        </p:cTn>
                                        <p:tgtEl>
                                          <p:spTgt spid="60"/>
                                        </p:tgtEl>
                                        <p:attrNameLst>
                                          <p:attrName>style.visibility</p:attrName>
                                        </p:attrNameLst>
                                      </p:cBhvr>
                                      <p:to>
                                        <p:strVal val="visible"/>
                                      </p:to>
                                    </p:set>
                                    <p:anim calcmode="lin" valueType="num">
                                      <p:cBhvr additive="base">
                                        <p:cTn id="207" dur="500" fill="hold"/>
                                        <p:tgtEl>
                                          <p:spTgt spid="60"/>
                                        </p:tgtEl>
                                        <p:attrNameLst>
                                          <p:attrName>ppt_x</p:attrName>
                                        </p:attrNameLst>
                                      </p:cBhvr>
                                      <p:tavLst>
                                        <p:tav tm="0">
                                          <p:val>
                                            <p:strVal val="#ppt_x"/>
                                          </p:val>
                                        </p:tav>
                                        <p:tav tm="100000">
                                          <p:val>
                                            <p:strVal val="#ppt_x"/>
                                          </p:val>
                                        </p:tav>
                                      </p:tavLst>
                                    </p:anim>
                                    <p:anim calcmode="lin" valueType="num">
                                      <p:cBhvr additive="base">
                                        <p:cTn id="208" dur="500" fill="hold"/>
                                        <p:tgtEl>
                                          <p:spTgt spid="60"/>
                                        </p:tgtEl>
                                        <p:attrNameLst>
                                          <p:attrName>ppt_y</p:attrName>
                                        </p:attrNameLst>
                                      </p:cBhvr>
                                      <p:tavLst>
                                        <p:tav tm="0">
                                          <p:val>
                                            <p:strVal val="#ppt_y+0.1"/>
                                          </p:val>
                                        </p:tav>
                                        <p:tav tm="100000">
                                          <p:val>
                                            <p:strVal val="#ppt_y"/>
                                          </p:val>
                                        </p:tav>
                                      </p:tavLst>
                                    </p:anim>
                                    <p:animEffect transition="in" filter="fade">
                                      <p:cBhvr>
                                        <p:cTn id="209" dur="500"/>
                                        <p:tgtEl>
                                          <p:spTgt spid="60"/>
                                        </p:tgtEl>
                                      </p:cBhvr>
                                    </p:animEffect>
                                  </p:childTnLst>
                                </p:cTn>
                              </p:par>
                              <p:par>
                                <p:cTn id="215" presetID="2" presetClass="entr" presetSubtype="4" fill="hold" grpId="0" nodeType="withEffect">
                                  <p:stCondLst>
                                    <p:cond delay="0"/>
                                  </p:stCondLst>
                                  <p:childTnLst>
                                    <p:set>
                                      <p:cBhvr>
                                        <p:cTn id="211" dur="1" fill="hold">
                                          <p:stCondLst>
                                            <p:cond delay="0"/>
                                          </p:stCondLst>
                                        </p:cTn>
                                        <p:tgtEl>
                                          <p:spTgt spid="61"/>
                                        </p:tgtEl>
                                        <p:attrNameLst>
                                          <p:attrName>style.visibility</p:attrName>
                                        </p:attrNameLst>
                                      </p:cBhvr>
                                      <p:to>
                                        <p:strVal val="visible"/>
                                      </p:to>
                                    </p:set>
                                    <p:anim calcmode="lin" valueType="num">
                                      <p:cBhvr additive="base">
                                        <p:cTn id="212" dur="500" fill="hold"/>
                                        <p:tgtEl>
                                          <p:spTgt spid="61"/>
                                        </p:tgtEl>
                                        <p:attrNameLst>
                                          <p:attrName>ppt_x</p:attrName>
                                        </p:attrNameLst>
                                      </p:cBhvr>
                                      <p:tavLst>
                                        <p:tav tm="0">
                                          <p:val>
                                            <p:strVal val="#ppt_x"/>
                                          </p:val>
                                        </p:tav>
                                        <p:tav tm="100000">
                                          <p:val>
                                            <p:strVal val="#ppt_x"/>
                                          </p:val>
                                        </p:tav>
                                      </p:tavLst>
                                    </p:anim>
                                    <p:anim calcmode="lin" valueType="num">
                                      <p:cBhvr additive="base">
                                        <p:cTn id="213" dur="500" fill="hold"/>
                                        <p:tgtEl>
                                          <p:spTgt spid="61"/>
                                        </p:tgtEl>
                                        <p:attrNameLst>
                                          <p:attrName>ppt_y</p:attrName>
                                        </p:attrNameLst>
                                      </p:cBhvr>
                                      <p:tavLst>
                                        <p:tav tm="0">
                                          <p:val>
                                            <p:strVal val="#ppt_y+0.1"/>
                                          </p:val>
                                        </p:tav>
                                        <p:tav tm="100000">
                                          <p:val>
                                            <p:strVal val="#ppt_y"/>
                                          </p:val>
                                        </p:tav>
                                      </p:tavLst>
                                    </p:anim>
                                    <p:animEffect transition="in" filter="fade">
                                      <p:cBhvr>
                                        <p:cTn id="214" dur="500"/>
                                        <p:tgtEl>
                                          <p:spTgt spid="61"/>
                                        </p:tgtEl>
                                      </p:cBhvr>
                                    </p:animEffect>
                                  </p:childTnLst>
                                </p:cTn>
                              </p:par>
                              <p:par>
                                <p:cTn id="220" presetID="2" presetClass="entr" presetSubtype="4" fill="hold" grpId="0" nodeType="withEffect">
                                  <p:stCondLst>
                                    <p:cond delay="0"/>
                                  </p:stCondLst>
                                  <p:childTnLst>
                                    <p:set>
                                      <p:cBhvr>
                                        <p:cTn id="216" dur="1" fill="hold">
                                          <p:stCondLst>
                                            <p:cond delay="0"/>
                                          </p:stCondLst>
                                        </p:cTn>
                                        <p:tgtEl>
                                          <p:spTgt spid="62"/>
                                        </p:tgtEl>
                                        <p:attrNameLst>
                                          <p:attrName>style.visibility</p:attrName>
                                        </p:attrNameLst>
                                      </p:cBhvr>
                                      <p:to>
                                        <p:strVal val="visible"/>
                                      </p:to>
                                    </p:set>
                                    <p:anim calcmode="lin" valueType="num">
                                      <p:cBhvr additive="base">
                                        <p:cTn id="217" dur="500" fill="hold"/>
                                        <p:tgtEl>
                                          <p:spTgt spid="62"/>
                                        </p:tgtEl>
                                        <p:attrNameLst>
                                          <p:attrName>ppt_x</p:attrName>
                                        </p:attrNameLst>
                                      </p:cBhvr>
                                      <p:tavLst>
                                        <p:tav tm="0">
                                          <p:val>
                                            <p:strVal val="#ppt_x"/>
                                          </p:val>
                                        </p:tav>
                                        <p:tav tm="100000">
                                          <p:val>
                                            <p:strVal val="#ppt_x"/>
                                          </p:val>
                                        </p:tav>
                                      </p:tavLst>
                                    </p:anim>
                                    <p:anim calcmode="lin" valueType="num">
                                      <p:cBhvr additive="base">
                                        <p:cTn id="218" dur="500" fill="hold"/>
                                        <p:tgtEl>
                                          <p:spTgt spid="62"/>
                                        </p:tgtEl>
                                        <p:attrNameLst>
                                          <p:attrName>ppt_y</p:attrName>
                                        </p:attrNameLst>
                                      </p:cBhvr>
                                      <p:tavLst>
                                        <p:tav tm="0">
                                          <p:val>
                                            <p:strVal val="#ppt_y+0.1"/>
                                          </p:val>
                                        </p:tav>
                                        <p:tav tm="100000">
                                          <p:val>
                                            <p:strVal val="#ppt_y"/>
                                          </p:val>
                                        </p:tav>
                                      </p:tavLst>
                                    </p:anim>
                                    <p:animEffect transition="in" filter="fade">
                                      <p:cBhvr>
                                        <p:cTn id="219" dur="500"/>
                                        <p:tgtEl>
                                          <p:spTgt spid="62"/>
                                        </p:tgtEl>
                                      </p:cBhvr>
                                    </p:animEffect>
                                  </p:childTnLst>
                                </p:cTn>
                              </p:par>
                              <p:par>
                                <p:cTn id="225" presetID="2" presetClass="entr" presetSubtype="4" fill="hold" grpId="0" nodeType="withEffect">
                                  <p:stCondLst>
                                    <p:cond delay="80"/>
                                  </p:stCondLst>
                                  <p:childTnLst>
                                    <p:set>
                                      <p:cBhvr>
                                        <p:cTn id="221" dur="1" fill="hold">
                                          <p:stCondLst>
                                            <p:cond delay="0"/>
                                          </p:stCondLst>
                                        </p:cTn>
                                        <p:tgtEl>
                                          <p:spTgt spid="63"/>
                                        </p:tgtEl>
                                        <p:attrNameLst>
                                          <p:attrName>style.visibility</p:attrName>
                                        </p:attrNameLst>
                                      </p:cBhvr>
                                      <p:to>
                                        <p:strVal val="visible"/>
                                      </p:to>
                                    </p:set>
                                    <p:anim calcmode="lin" valueType="num">
                                      <p:cBhvr additive="base">
                                        <p:cTn id="222" dur="500" fill="hold"/>
                                        <p:tgtEl>
                                          <p:spTgt spid="63"/>
                                        </p:tgtEl>
                                        <p:attrNameLst>
                                          <p:attrName>ppt_x</p:attrName>
                                        </p:attrNameLst>
                                      </p:cBhvr>
                                      <p:tavLst>
                                        <p:tav tm="0">
                                          <p:val>
                                            <p:strVal val="#ppt_x"/>
                                          </p:val>
                                        </p:tav>
                                        <p:tav tm="100000">
                                          <p:val>
                                            <p:strVal val="#ppt_x"/>
                                          </p:val>
                                        </p:tav>
                                      </p:tavLst>
                                    </p:anim>
                                    <p:anim calcmode="lin" valueType="num">
                                      <p:cBhvr additive="base">
                                        <p:cTn id="223" dur="500" fill="hold"/>
                                        <p:tgtEl>
                                          <p:spTgt spid="63"/>
                                        </p:tgtEl>
                                        <p:attrNameLst>
                                          <p:attrName>ppt_y</p:attrName>
                                        </p:attrNameLst>
                                      </p:cBhvr>
                                      <p:tavLst>
                                        <p:tav tm="0">
                                          <p:val>
                                            <p:strVal val="#ppt_y+0.1"/>
                                          </p:val>
                                        </p:tav>
                                        <p:tav tm="100000">
                                          <p:val>
                                            <p:strVal val="#ppt_y"/>
                                          </p:val>
                                        </p:tav>
                                      </p:tavLst>
                                    </p:anim>
                                    <p:animEffect transition="in" filter="fade">
                                      <p:cBhvr>
                                        <p:cTn id="224" dur="500"/>
                                        <p:tgtEl>
                                          <p:spTgt spid="63"/>
                                        </p:tgtEl>
                                      </p:cBhvr>
                                    </p:animEffect>
                                  </p:childTnLst>
                                </p:cTn>
                              </p:par>
                            </p:childTnLst>
                          </p:cTn>
                        </p:par>
                      </p:childTnLst>
                    </p:cTn>
                  </p:par>
                  <p:par>
                    <p:cTn id="226" fill="hold">
                      <p:stCondLst>
                        <p:cond delay="indefinite"/>
                      </p:stCondLst>
                      <p:childTnLst>
                        <p:par>
                          <p:cTn id="227" fill="hold">
                            <p:stCondLst>
                              <p:cond delay="0"/>
                            </p:stCondLst>
                            <p:childTnLst>
                              <p:par>
                                <p:cTn id="232" presetID="2" presetClass="entr" presetSubtype="4" fill="hold" grpId="0" nodeType="clickEffect">
                                  <p:stCondLst>
                                    <p:cond delay="0"/>
                                  </p:stCondLst>
                                  <p:childTnLst>
                                    <p:set>
                                      <p:cBhvr>
                                        <p:cTn id="228" dur="1" fill="hold">
                                          <p:stCondLst>
                                            <p:cond delay="0"/>
                                          </p:stCondLst>
                                        </p:cTn>
                                        <p:tgtEl>
                                          <p:spTgt spid="64"/>
                                        </p:tgtEl>
                                        <p:attrNameLst>
                                          <p:attrName>style.visibility</p:attrName>
                                        </p:attrNameLst>
                                      </p:cBhvr>
                                      <p:to>
                                        <p:strVal val="visible"/>
                                      </p:to>
                                    </p:set>
                                    <p:anim calcmode="lin" valueType="num">
                                      <p:cBhvr additive="base">
                                        <p:cTn id="229" dur="500" fill="hold"/>
                                        <p:tgtEl>
                                          <p:spTgt spid="64"/>
                                        </p:tgtEl>
                                        <p:attrNameLst>
                                          <p:attrName>ppt_x</p:attrName>
                                        </p:attrNameLst>
                                      </p:cBhvr>
                                      <p:tavLst>
                                        <p:tav tm="0">
                                          <p:val>
                                            <p:strVal val="#ppt_x"/>
                                          </p:val>
                                        </p:tav>
                                        <p:tav tm="100000">
                                          <p:val>
                                            <p:strVal val="#ppt_x"/>
                                          </p:val>
                                        </p:tav>
                                      </p:tavLst>
                                    </p:anim>
                                    <p:anim calcmode="lin" valueType="num">
                                      <p:cBhvr additive="base">
                                        <p:cTn id="230" dur="500" fill="hold"/>
                                        <p:tgtEl>
                                          <p:spTgt spid="64"/>
                                        </p:tgtEl>
                                        <p:attrNameLst>
                                          <p:attrName>ppt_y</p:attrName>
                                        </p:attrNameLst>
                                      </p:cBhvr>
                                      <p:tavLst>
                                        <p:tav tm="0">
                                          <p:val>
                                            <p:strVal val="#ppt_y+0.1"/>
                                          </p:val>
                                        </p:tav>
                                        <p:tav tm="100000">
                                          <p:val>
                                            <p:strVal val="#ppt_y"/>
                                          </p:val>
                                        </p:tav>
                                      </p:tavLst>
                                    </p:anim>
                                    <p:animEffect transition="in" filter="fade">
                                      <p:cBhvr>
                                        <p:cTn id="231" dur="500"/>
                                        <p:tgtEl>
                                          <p:spTgt spid="64"/>
                                        </p:tgtEl>
                                      </p:cBhvr>
                                    </p:animEffect>
                                  </p:childTnLst>
                                </p:cTn>
                              </p:par>
                              <p:par>
                                <p:cTn id="237" presetID="2" presetClass="entr" presetSubtype="4" fill="hold" grpId="0" nodeType="withEffect">
                                  <p:stCondLst>
                                    <p:cond delay="0"/>
                                  </p:stCondLst>
                                  <p:childTnLst>
                                    <p:set>
                                      <p:cBhvr>
                                        <p:cTn id="233" dur="1" fill="hold">
                                          <p:stCondLst>
                                            <p:cond delay="0"/>
                                          </p:stCondLst>
                                        </p:cTn>
                                        <p:tgtEl>
                                          <p:spTgt spid="65"/>
                                        </p:tgtEl>
                                        <p:attrNameLst>
                                          <p:attrName>style.visibility</p:attrName>
                                        </p:attrNameLst>
                                      </p:cBhvr>
                                      <p:to>
                                        <p:strVal val="visible"/>
                                      </p:to>
                                    </p:set>
                                    <p:anim calcmode="lin" valueType="num">
                                      <p:cBhvr additive="base">
                                        <p:cTn id="234" dur="500" fill="hold"/>
                                        <p:tgtEl>
                                          <p:spTgt spid="65"/>
                                        </p:tgtEl>
                                        <p:attrNameLst>
                                          <p:attrName>ppt_x</p:attrName>
                                        </p:attrNameLst>
                                      </p:cBhvr>
                                      <p:tavLst>
                                        <p:tav tm="0">
                                          <p:val>
                                            <p:strVal val="#ppt_x"/>
                                          </p:val>
                                        </p:tav>
                                        <p:tav tm="100000">
                                          <p:val>
                                            <p:strVal val="#ppt_x"/>
                                          </p:val>
                                        </p:tav>
                                      </p:tavLst>
                                    </p:anim>
                                    <p:anim calcmode="lin" valueType="num">
                                      <p:cBhvr additive="base">
                                        <p:cTn id="235" dur="500" fill="hold"/>
                                        <p:tgtEl>
                                          <p:spTgt spid="65"/>
                                        </p:tgtEl>
                                        <p:attrNameLst>
                                          <p:attrName>ppt_y</p:attrName>
                                        </p:attrNameLst>
                                      </p:cBhvr>
                                      <p:tavLst>
                                        <p:tav tm="0">
                                          <p:val>
                                            <p:strVal val="#ppt_y+0.1"/>
                                          </p:val>
                                        </p:tav>
                                        <p:tav tm="100000">
                                          <p:val>
                                            <p:strVal val="#ppt_y"/>
                                          </p:val>
                                        </p:tav>
                                      </p:tavLst>
                                    </p:anim>
                                    <p:animEffect transition="in" filter="fade">
                                      <p:cBhvr>
                                        <p:cTn id="236" dur="500"/>
                                        <p:tgtEl>
                                          <p:spTgt spid="65"/>
                                        </p:tgtEl>
                                      </p:cBhvr>
                                    </p:animEffect>
                                  </p:childTnLst>
                                </p:cTn>
                              </p:par>
                              <p:par>
                                <p:cTn id="242" presetID="2" presetClass="entr" presetSubtype="4" fill="hold" grpId="0" nodeType="withEffect">
                                  <p:stCondLst>
                                    <p:cond delay="0"/>
                                  </p:stCondLst>
                                  <p:childTnLst>
                                    <p:set>
                                      <p:cBhvr>
                                        <p:cTn id="238" dur="1" fill="hold">
                                          <p:stCondLst>
                                            <p:cond delay="0"/>
                                          </p:stCondLst>
                                        </p:cTn>
                                        <p:tgtEl>
                                          <p:spTgt spid="66"/>
                                        </p:tgtEl>
                                        <p:attrNameLst>
                                          <p:attrName>style.visibility</p:attrName>
                                        </p:attrNameLst>
                                      </p:cBhvr>
                                      <p:to>
                                        <p:strVal val="visible"/>
                                      </p:to>
                                    </p:set>
                                    <p:anim calcmode="lin" valueType="num">
                                      <p:cBhvr additive="base">
                                        <p:cTn id="239" dur="500" fill="hold"/>
                                        <p:tgtEl>
                                          <p:spTgt spid="66"/>
                                        </p:tgtEl>
                                        <p:attrNameLst>
                                          <p:attrName>ppt_x</p:attrName>
                                        </p:attrNameLst>
                                      </p:cBhvr>
                                      <p:tavLst>
                                        <p:tav tm="0">
                                          <p:val>
                                            <p:strVal val="#ppt_x"/>
                                          </p:val>
                                        </p:tav>
                                        <p:tav tm="100000">
                                          <p:val>
                                            <p:strVal val="#ppt_x"/>
                                          </p:val>
                                        </p:tav>
                                      </p:tavLst>
                                    </p:anim>
                                    <p:anim calcmode="lin" valueType="num">
                                      <p:cBhvr additive="base">
                                        <p:cTn id="240" dur="500" fill="hold"/>
                                        <p:tgtEl>
                                          <p:spTgt spid="66"/>
                                        </p:tgtEl>
                                        <p:attrNameLst>
                                          <p:attrName>ppt_y</p:attrName>
                                        </p:attrNameLst>
                                      </p:cBhvr>
                                      <p:tavLst>
                                        <p:tav tm="0">
                                          <p:val>
                                            <p:strVal val="#ppt_y+0.1"/>
                                          </p:val>
                                        </p:tav>
                                        <p:tav tm="100000">
                                          <p:val>
                                            <p:strVal val="#ppt_y"/>
                                          </p:val>
                                        </p:tav>
                                      </p:tavLst>
                                    </p:anim>
                                    <p:animEffect transition="in" filter="fade">
                                      <p:cBhvr>
                                        <p:cTn id="241"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Hundreds, Thousands - Millions of Partitions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Three partitions is just the example - topics can get very, very large</a:t>
            </a:r>
          </a:p>
        </p:txBody>
      </p:sp>
      <p:sp>
        <p:nvSpPr>
          <p:cNvPr id="11" name="a1u_card10"/>
          <p:cNvSpPr/>
          <p:nvPr/>
        </p:nvSpPr>
        <p:spPr>
          <a:xfrm>
            <a:off x="457200" y="1325880"/>
            <a:ext cx="1956816" cy="192024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325880"/>
            <a:ext cx="1956816"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big12"/>
          <p:cNvSpPr txBox="1"/>
          <p:nvPr/>
        </p:nvSpPr>
        <p:spPr>
          <a:xfrm>
            <a:off x="548640" y="1481328"/>
            <a:ext cx="1773936" cy="566928"/>
          </a:xfrm>
          <a:prstGeom prst="rect">
            <a:avLst/>
          </a:prstGeom>
          <a:noFill/>
        </p:spPr>
        <p:txBody>
          <a:bodyPr wrap="square" lIns="0" tIns="0" rIns="0" bIns="0" anchor="ctr">
            <a:spAutoFit/>
          </a:bodyPr>
          <a:lstStyle/>
          <a:p>
            <a:pPr algn="ctr"/>
            <a:r>
              <a:rPr sz="2650" b="0">
                <a:solidFill>
                  <a:srgbClr val="0E7490"/>
                </a:solidFill>
                <a:latin typeface="Bahnschrift SemiBold"/>
              </a:rPr>
              <a:t>3</a:t>
            </a:r>
          </a:p>
        </p:txBody>
      </p:sp>
      <p:sp>
        <p:nvSpPr>
          <p:cNvPr id="14" name="a1ud100_cap13"/>
          <p:cNvSpPr txBox="1"/>
          <p:nvPr/>
        </p:nvSpPr>
        <p:spPr>
          <a:xfrm>
            <a:off x="594360" y="2194560"/>
            <a:ext cx="1682496" cy="914400"/>
          </a:xfrm>
          <a:prstGeom prst="rect">
            <a:avLst/>
          </a:prstGeom>
          <a:noFill/>
        </p:spPr>
        <p:txBody>
          <a:bodyPr wrap="square" lIns="0" tIns="0" rIns="0" bIns="0" anchor="t">
            <a:spAutoFit/>
          </a:bodyPr>
          <a:lstStyle/>
          <a:p>
            <a:pPr algn="ctr"/>
            <a:r>
              <a:rPr sz="950" b="0">
                <a:solidFill>
                  <a:srgbClr val="44403C"/>
                </a:solidFill>
                <a:latin typeface="Segoe UI"/>
              </a:rPr>
              <a:t>partitions in our examples</a:t>
            </a:r>
          </a:p>
        </p:txBody>
      </p:sp>
      <p:sp>
        <p:nvSpPr>
          <p:cNvPr id="15" name="a2u_card14"/>
          <p:cNvSpPr/>
          <p:nvPr/>
        </p:nvSpPr>
        <p:spPr>
          <a:xfrm>
            <a:off x="2551176" y="1325880"/>
            <a:ext cx="1956816" cy="192024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2551176" y="1325880"/>
            <a:ext cx="1956816" cy="640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big16"/>
          <p:cNvSpPr txBox="1"/>
          <p:nvPr/>
        </p:nvSpPr>
        <p:spPr>
          <a:xfrm>
            <a:off x="2642616" y="1481328"/>
            <a:ext cx="1773936" cy="566928"/>
          </a:xfrm>
          <a:prstGeom prst="rect">
            <a:avLst/>
          </a:prstGeom>
          <a:noFill/>
        </p:spPr>
        <p:txBody>
          <a:bodyPr wrap="square" lIns="0" tIns="0" rIns="0" bIns="0" anchor="ctr">
            <a:spAutoFit/>
          </a:bodyPr>
          <a:lstStyle/>
          <a:p>
            <a:pPr algn="ctr"/>
            <a:r>
              <a:rPr sz="2650" b="0">
                <a:solidFill>
                  <a:srgbClr val="4F46E5"/>
                </a:solidFill>
                <a:latin typeface="Bahnschrift SemiBold"/>
              </a:rPr>
              <a:t>100s</a:t>
            </a:r>
          </a:p>
        </p:txBody>
      </p:sp>
      <p:sp>
        <p:nvSpPr>
          <p:cNvPr id="18" name="a2ud100_cap17"/>
          <p:cNvSpPr txBox="1"/>
          <p:nvPr/>
        </p:nvSpPr>
        <p:spPr>
          <a:xfrm>
            <a:off x="2688336" y="2194560"/>
            <a:ext cx="1682496" cy="914400"/>
          </a:xfrm>
          <a:prstGeom prst="rect">
            <a:avLst/>
          </a:prstGeom>
          <a:noFill/>
        </p:spPr>
        <p:txBody>
          <a:bodyPr wrap="square" lIns="0" tIns="0" rIns="0" bIns="0" anchor="t">
            <a:spAutoFit/>
          </a:bodyPr>
          <a:lstStyle/>
          <a:p>
            <a:pPr algn="ctr"/>
            <a:r>
              <a:rPr sz="950" b="0">
                <a:solidFill>
                  <a:srgbClr val="44403C"/>
                </a:solidFill>
                <a:latin typeface="Segoe UI"/>
              </a:rPr>
              <a:t>you can have hundreds in a topic</a:t>
            </a:r>
          </a:p>
        </p:txBody>
      </p:sp>
      <p:cxnSp>
        <p:nvCxnSpPr>
          <p:cNvPr id="19" name="a2u_ar18"/>
          <p:cNvCxnSpPr/>
          <p:nvPr/>
        </p:nvCxnSpPr>
        <p:spPr>
          <a:xfrm>
            <a:off x="2423160" y="2176272"/>
            <a:ext cx="109728" cy="0"/>
          </a:xfrm>
          <a:prstGeom prst="line">
            <a:avLst/>
          </a:prstGeom>
          <a:ln w="15875">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3u_card19"/>
          <p:cNvSpPr/>
          <p:nvPr/>
        </p:nvSpPr>
        <p:spPr>
          <a:xfrm>
            <a:off x="4645152" y="1325880"/>
            <a:ext cx="1956816" cy="192024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acc20"/>
          <p:cNvSpPr/>
          <p:nvPr/>
        </p:nvSpPr>
        <p:spPr>
          <a:xfrm>
            <a:off x="4645152" y="1325880"/>
            <a:ext cx="1956816"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_big21"/>
          <p:cNvSpPr txBox="1"/>
          <p:nvPr/>
        </p:nvSpPr>
        <p:spPr>
          <a:xfrm>
            <a:off x="4736592" y="1481328"/>
            <a:ext cx="1773936" cy="566928"/>
          </a:xfrm>
          <a:prstGeom prst="rect">
            <a:avLst/>
          </a:prstGeom>
          <a:noFill/>
        </p:spPr>
        <p:txBody>
          <a:bodyPr wrap="square" lIns="0" tIns="0" rIns="0" bIns="0" anchor="ctr">
            <a:spAutoFit/>
          </a:bodyPr>
          <a:lstStyle/>
          <a:p>
            <a:pPr algn="ctr"/>
            <a:r>
              <a:rPr sz="2300" b="0">
                <a:solidFill>
                  <a:srgbClr val="EA580C"/>
                </a:solidFill>
                <a:latin typeface="Bahnschrift SemiBold"/>
              </a:rPr>
              <a:t>1,000s</a:t>
            </a:r>
          </a:p>
        </p:txBody>
      </p:sp>
      <p:sp>
        <p:nvSpPr>
          <p:cNvPr id="23" name="a3ud100_cap22"/>
          <p:cNvSpPr txBox="1"/>
          <p:nvPr/>
        </p:nvSpPr>
        <p:spPr>
          <a:xfrm>
            <a:off x="4782312" y="2194560"/>
            <a:ext cx="1682496" cy="914400"/>
          </a:xfrm>
          <a:prstGeom prst="rect">
            <a:avLst/>
          </a:prstGeom>
          <a:noFill/>
        </p:spPr>
        <p:txBody>
          <a:bodyPr wrap="square" lIns="0" tIns="0" rIns="0" bIns="0" anchor="t">
            <a:spAutoFit/>
          </a:bodyPr>
          <a:lstStyle/>
          <a:p>
            <a:pPr algn="ctr"/>
            <a:r>
              <a:rPr sz="950" b="0">
                <a:solidFill>
                  <a:srgbClr val="44403C"/>
                </a:solidFill>
                <a:latin typeface="Segoe UI"/>
              </a:rPr>
              <a:t>or thousands</a:t>
            </a:r>
          </a:p>
        </p:txBody>
      </p:sp>
      <p:cxnSp>
        <p:nvCxnSpPr>
          <p:cNvPr id="24" name="a3u_ar23"/>
          <p:cNvCxnSpPr/>
          <p:nvPr/>
        </p:nvCxnSpPr>
        <p:spPr>
          <a:xfrm>
            <a:off x="4517136" y="2176272"/>
            <a:ext cx="109728" cy="0"/>
          </a:xfrm>
          <a:prstGeom prst="line">
            <a:avLst/>
          </a:prstGeom>
          <a:ln w="15875">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4u_card24"/>
          <p:cNvSpPr/>
          <p:nvPr/>
        </p:nvSpPr>
        <p:spPr>
          <a:xfrm>
            <a:off x="6739128" y="1325880"/>
            <a:ext cx="1956816" cy="192024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4u_acc25"/>
          <p:cNvSpPr/>
          <p:nvPr/>
        </p:nvSpPr>
        <p:spPr>
          <a:xfrm>
            <a:off x="6739128" y="1325880"/>
            <a:ext cx="1956816" cy="6400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4u_big26"/>
          <p:cNvSpPr txBox="1"/>
          <p:nvPr/>
        </p:nvSpPr>
        <p:spPr>
          <a:xfrm>
            <a:off x="6830568" y="1481328"/>
            <a:ext cx="1773936" cy="566928"/>
          </a:xfrm>
          <a:prstGeom prst="rect">
            <a:avLst/>
          </a:prstGeom>
          <a:noFill/>
        </p:spPr>
        <p:txBody>
          <a:bodyPr wrap="square" lIns="0" tIns="0" rIns="0" bIns="0" anchor="ctr">
            <a:spAutoFit/>
          </a:bodyPr>
          <a:lstStyle/>
          <a:p>
            <a:pPr algn="ctr"/>
            <a:r>
              <a:rPr sz="2300" b="0">
                <a:solidFill>
                  <a:srgbClr val="A16207"/>
                </a:solidFill>
                <a:latin typeface="Bahnschrift SemiBold"/>
              </a:rPr>
              <a:t>~2 million</a:t>
            </a:r>
          </a:p>
        </p:txBody>
      </p:sp>
      <p:sp>
        <p:nvSpPr>
          <p:cNvPr id="28" name="a4ud100_cap27"/>
          <p:cNvSpPr txBox="1"/>
          <p:nvPr/>
        </p:nvSpPr>
        <p:spPr>
          <a:xfrm>
            <a:off x="6876288" y="2194560"/>
            <a:ext cx="1682496" cy="914400"/>
          </a:xfrm>
          <a:prstGeom prst="rect">
            <a:avLst/>
          </a:prstGeom>
          <a:noFill/>
        </p:spPr>
        <p:txBody>
          <a:bodyPr wrap="square" lIns="0" tIns="0" rIns="0" bIns="0" anchor="t">
            <a:spAutoFit/>
          </a:bodyPr>
          <a:lstStyle/>
          <a:p>
            <a:pPr algn="ctr"/>
            <a:r>
              <a:rPr sz="950" b="0">
                <a:solidFill>
                  <a:srgbClr val="44403C"/>
                </a:solidFill>
                <a:latin typeface="Segoe UI"/>
              </a:rPr>
              <a:t>partitions in Apache Kafka, around version 4.0 - the lesson's figure</a:t>
            </a:r>
          </a:p>
        </p:txBody>
      </p:sp>
      <p:cxnSp>
        <p:nvCxnSpPr>
          <p:cNvPr id="29" name="a4u_ar28"/>
          <p:cNvCxnSpPr/>
          <p:nvPr/>
        </p:nvCxnSpPr>
        <p:spPr>
          <a:xfrm>
            <a:off x="6611112" y="2176272"/>
            <a:ext cx="109728" cy="0"/>
          </a:xfrm>
          <a:prstGeom prst="line">
            <a:avLst/>
          </a:prstGeom>
          <a:ln w="15875">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5u_nb29"/>
          <p:cNvSpPr/>
          <p:nvPr/>
        </p:nvSpPr>
        <p:spPr>
          <a:xfrm>
            <a:off x="457200" y="3520440"/>
            <a:ext cx="8229600" cy="566928"/>
          </a:xfrm>
          <a:prstGeom prst="roundRect">
            <a:avLst>
              <a:gd name="adj" fmla="val 1290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5u_nacc30"/>
          <p:cNvSpPr/>
          <p:nvPr/>
        </p:nvSpPr>
        <p:spPr>
          <a:xfrm>
            <a:off x="457200" y="3520440"/>
            <a:ext cx="54864"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5u_nt31"/>
          <p:cNvSpPr txBox="1"/>
          <p:nvPr/>
        </p:nvSpPr>
        <p:spPr>
          <a:xfrm>
            <a:off x="658368" y="3520440"/>
            <a:ext cx="7827264" cy="566928"/>
          </a:xfrm>
          <a:prstGeom prst="rect">
            <a:avLst/>
          </a:prstGeom>
          <a:noFill/>
        </p:spPr>
        <p:txBody>
          <a:bodyPr wrap="square" lIns="0" tIns="0" rIns="0" bIns="0" anchor="ctr">
            <a:spAutoFit/>
          </a:bodyPr>
          <a:lstStyle/>
          <a:p>
            <a:pPr algn="l"/>
            <a:r>
              <a:rPr sz="950" b="1">
                <a:solidFill>
                  <a:srgbClr val="A16207"/>
                </a:solidFill>
                <a:latin typeface="Segoe UI"/>
              </a:rPr>
              <a:t>SCALE  </a:t>
            </a:r>
            <a:r>
              <a:rPr sz="950" b="0">
                <a:solidFill>
                  <a:srgbClr val="44403C"/>
                </a:solidFill>
                <a:latin typeface="Segoe UI"/>
              </a:rPr>
              <a:t>That is how far a single Kafka cluster can scale - one topic, spread over many partitions and many nodes.</a:t>
            </a:r>
          </a:p>
        </p:txBody>
      </p:sp>
      <p:sp>
        <p:nvSpPr>
          <p:cNvPr id="33" name="ft3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34" name="ft3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ft3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36" name="ft3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ppt_y+0.1"/>
                                          </p:val>
                                        </p:tav>
                                        <p:tav tm="100000">
                                          <p:val>
                                            <p:strVal val="#ppt_y"/>
                                          </p:val>
                                        </p:tav>
                                      </p:tavLst>
                                    </p:anim>
                                    <p:animEffect transition="in" filter="fade">
                                      <p:cBhvr>
                                        <p:cTn id="45" dur="500"/>
                                        <p:tgtEl>
                                          <p:spTgt spid="19"/>
                                        </p:tgtEl>
                                      </p:cBhvr>
                                    </p:animEffect>
                                  </p:childTnLst>
                                </p:cTn>
                              </p:par>
                              <p:par>
                                <p:cTn id="51" presetID="2" presetClass="entr" presetSubtype="4" fill="hold" grpId="0" nodeType="withEffect">
                                  <p:stCondLst>
                                    <p:cond delay="1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ppt_y+0.1"/>
                                          </p:val>
                                        </p:tav>
                                        <p:tav tm="100000">
                                          <p:val>
                                            <p:strVal val="#ppt_y"/>
                                          </p:val>
                                        </p:tav>
                                      </p:tavLst>
                                    </p:anim>
                                    <p:animEffect transition="in" filter="fade">
                                      <p:cBhvr>
                                        <p:cTn id="50"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8" presetID="2" presetClass="entr" presetSubtype="4"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par>
                                <p:cTn id="73" presetID="2" presetClass="entr" presetSubtype="4"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fill="hold"/>
                                        <p:tgtEl>
                                          <p:spTgt spid="24"/>
                                        </p:tgtEl>
                                        <p:attrNameLst>
                                          <p:attrName>ppt_x</p:attrName>
                                        </p:attrNameLst>
                                      </p:cBhvr>
                                      <p:tavLst>
                                        <p:tav tm="0">
                                          <p:val>
                                            <p:strVal val="#ppt_x"/>
                                          </p:val>
                                        </p:tav>
                                        <p:tav tm="100000">
                                          <p:val>
                                            <p:strVal val="#ppt_x"/>
                                          </p:val>
                                        </p:tav>
                                      </p:tavLst>
                                    </p:anim>
                                    <p:anim calcmode="lin" valueType="num">
                                      <p:cBhvr additive="base">
                                        <p:cTn id="71" dur="500" fill="hold"/>
                                        <p:tgtEl>
                                          <p:spTgt spid="24"/>
                                        </p:tgtEl>
                                        <p:attrNameLst>
                                          <p:attrName>ppt_y</p:attrName>
                                        </p:attrNameLst>
                                      </p:cBhvr>
                                      <p:tavLst>
                                        <p:tav tm="0">
                                          <p:val>
                                            <p:strVal val="#ppt_y+0.1"/>
                                          </p:val>
                                        </p:tav>
                                        <p:tav tm="100000">
                                          <p:val>
                                            <p:strVal val="#ppt_y"/>
                                          </p:val>
                                        </p:tav>
                                      </p:tavLst>
                                    </p:anim>
                                    <p:animEffect transition="in" filter="fade">
                                      <p:cBhvr>
                                        <p:cTn id="72" dur="500"/>
                                        <p:tgtEl>
                                          <p:spTgt spid="24"/>
                                        </p:tgtEl>
                                      </p:cBhvr>
                                    </p:animEffect>
                                  </p:childTnLst>
                                </p:cTn>
                              </p:par>
                              <p:par>
                                <p:cTn id="78" presetID="2" presetClass="entr" presetSubtype="4" fill="hold" grpId="0" nodeType="withEffect">
                                  <p:stCondLst>
                                    <p:cond delay="10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ppt_y+0.1"/>
                                          </p:val>
                                        </p:tav>
                                        <p:tav tm="100000">
                                          <p:val>
                                            <p:strVal val="#ppt_y"/>
                                          </p:val>
                                        </p:tav>
                                      </p:tavLst>
                                    </p:anim>
                                    <p:animEffect transition="in" filter="fade">
                                      <p:cBhvr>
                                        <p:cTn id="77"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5" presetID="2" presetClass="entr" presetSubtype="4"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100" presetID="2" presetClass="entr" presetSubtype="4"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500" fill="hold"/>
                                        <p:tgtEl>
                                          <p:spTgt spid="29"/>
                                        </p:tgtEl>
                                        <p:attrNameLst>
                                          <p:attrName>ppt_x</p:attrName>
                                        </p:attrNameLst>
                                      </p:cBhvr>
                                      <p:tavLst>
                                        <p:tav tm="0">
                                          <p:val>
                                            <p:strVal val="#ppt_x"/>
                                          </p:val>
                                        </p:tav>
                                        <p:tav tm="100000">
                                          <p:val>
                                            <p:strVal val="#ppt_x"/>
                                          </p:val>
                                        </p:tav>
                                      </p:tavLst>
                                    </p:anim>
                                    <p:anim calcmode="lin" valueType="num">
                                      <p:cBhvr additive="base">
                                        <p:cTn id="98" dur="500" fill="hold"/>
                                        <p:tgtEl>
                                          <p:spTgt spid="29"/>
                                        </p:tgtEl>
                                        <p:attrNameLst>
                                          <p:attrName>ppt_y</p:attrName>
                                        </p:attrNameLst>
                                      </p:cBhvr>
                                      <p:tavLst>
                                        <p:tav tm="0">
                                          <p:val>
                                            <p:strVal val="#ppt_y+0.1"/>
                                          </p:val>
                                        </p:tav>
                                        <p:tav tm="100000">
                                          <p:val>
                                            <p:strVal val="#ppt_y"/>
                                          </p:val>
                                        </p:tav>
                                      </p:tavLst>
                                    </p:anim>
                                    <p:animEffect transition="in" filter="fade">
                                      <p:cBhvr>
                                        <p:cTn id="99" dur="500"/>
                                        <p:tgtEl>
                                          <p:spTgt spid="29"/>
                                        </p:tgtEl>
                                      </p:cBhvr>
                                    </p:animEffect>
                                  </p:childTnLst>
                                </p:cTn>
                              </p:par>
                              <p:par>
                                <p:cTn id="105" presetID="2" presetClass="entr" presetSubtype="4" fill="hold" grpId="0" nodeType="withEffect">
                                  <p:stCondLst>
                                    <p:cond delay="10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1"/>
                                          </p:val>
                                        </p:tav>
                                        <p:tav tm="100000">
                                          <p:val>
                                            <p:strVal val="#ppt_y"/>
                                          </p:val>
                                        </p:tav>
                                      </p:tavLst>
                                    </p:anim>
                                    <p:animEffect transition="in" filter="fade">
                                      <p:cBhvr>
                                        <p:cTn id="104" dur="500"/>
                                        <p:tgtEl>
                                          <p:spTgt spid="28"/>
                                        </p:tgtEl>
                                      </p:cBhvr>
                                    </p:animEffect>
                                  </p:childTnLst>
                                </p:cTn>
                              </p:par>
                            </p:childTnLst>
                          </p:cTn>
                        </p:par>
                      </p:childTnLst>
                    </p:cTn>
                  </p:par>
                  <p:par>
                    <p:cTn id="106" fill="hold">
                      <p:stCondLst>
                        <p:cond delay="indefinite"/>
                      </p:stCondLst>
                      <p:childTnLst>
                        <p:par>
                          <p:cTn id="107" fill="hold">
                            <p:stCondLst>
                              <p:cond delay="0"/>
                            </p:stCondLst>
                            <p:childTnLst>
                              <p:par>
                                <p:cTn id="112" presetID="2" presetClass="entr" presetSubtype="4"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ppt_y+0.1"/>
                                          </p:val>
                                        </p:tav>
                                        <p:tav tm="100000">
                                          <p:val>
                                            <p:strVal val="#ppt_y"/>
                                          </p:val>
                                        </p:tav>
                                      </p:tavLst>
                                    </p:anim>
                                    <p:animEffect transition="in" filter="fade">
                                      <p:cBhvr>
                                        <p:cTn id="111" dur="500"/>
                                        <p:tgtEl>
                                          <p:spTgt spid="30"/>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1"/>
                                        </p:tgtEl>
                                        <p:attrNameLst>
                                          <p:attrName>style.visibility</p:attrName>
                                        </p:attrNameLst>
                                      </p:cBhvr>
                                      <p:to>
                                        <p:strVal val="visible"/>
                                      </p:to>
                                    </p:set>
                                    <p:anim calcmode="lin" valueType="num">
                                      <p:cBhvr additive="base">
                                        <p:cTn id="114" dur="500" fill="hold"/>
                                        <p:tgtEl>
                                          <p:spTgt spid="31"/>
                                        </p:tgtEl>
                                        <p:attrNameLst>
                                          <p:attrName>ppt_x</p:attrName>
                                        </p:attrNameLst>
                                      </p:cBhvr>
                                      <p:tavLst>
                                        <p:tav tm="0">
                                          <p:val>
                                            <p:strVal val="#ppt_x"/>
                                          </p:val>
                                        </p:tav>
                                        <p:tav tm="100000">
                                          <p:val>
                                            <p:strVal val="#ppt_x"/>
                                          </p:val>
                                        </p:tav>
                                      </p:tavLst>
                                    </p:anim>
                                    <p:anim calcmode="lin" valueType="num">
                                      <p:cBhvr additive="base">
                                        <p:cTn id="115" dur="500" fill="hold"/>
                                        <p:tgtEl>
                                          <p:spTgt spid="31"/>
                                        </p:tgtEl>
                                        <p:attrNameLst>
                                          <p:attrName>ppt_y</p:attrName>
                                        </p:attrNameLst>
                                      </p:cBhvr>
                                      <p:tavLst>
                                        <p:tav tm="0">
                                          <p:val>
                                            <p:strVal val="#ppt_y+0.1"/>
                                          </p:val>
                                        </p:tav>
                                        <p:tav tm="100000">
                                          <p:val>
                                            <p:strVal val="#ppt_y"/>
                                          </p:val>
                                        </p:tav>
                                      </p:tavLst>
                                    </p:anim>
                                    <p:animEffect transition="in" filter="fade">
                                      <p:cBhvr>
                                        <p:cTn id="116" dur="500"/>
                                        <p:tgtEl>
                                          <p:spTgt spid="31"/>
                                        </p:tgtEl>
                                      </p:cBhvr>
                                    </p:animEffect>
                                  </p:childTnLst>
                                </p:cTn>
                              </p:par>
                              <p:par>
                                <p:cTn id="122" presetID="2" presetClass="entr" presetSubtype="4" fill="hold" grpId="0" nodeType="withEffect">
                                  <p:stCondLst>
                                    <p:cond delay="0"/>
                                  </p:stCondLst>
                                  <p:childTnLst>
                                    <p:set>
                                      <p:cBhvr>
                                        <p:cTn id="118" dur="1" fill="hold">
                                          <p:stCondLst>
                                            <p:cond delay="0"/>
                                          </p:stCondLst>
                                        </p:cTn>
                                        <p:tgtEl>
                                          <p:spTgt spid="32"/>
                                        </p:tgtEl>
                                        <p:attrNameLst>
                                          <p:attrName>style.visibility</p:attrName>
                                        </p:attrNameLst>
                                      </p:cBhvr>
                                      <p:to>
                                        <p:strVal val="visible"/>
                                      </p:to>
                                    </p:set>
                                    <p:anim calcmode="lin" valueType="num">
                                      <p:cBhvr additive="base">
                                        <p:cTn id="119" dur="500" fill="hold"/>
                                        <p:tgtEl>
                                          <p:spTgt spid="32"/>
                                        </p:tgtEl>
                                        <p:attrNameLst>
                                          <p:attrName>ppt_x</p:attrName>
                                        </p:attrNameLst>
                                      </p:cBhvr>
                                      <p:tavLst>
                                        <p:tav tm="0">
                                          <p:val>
                                            <p:strVal val="#ppt_x"/>
                                          </p:val>
                                        </p:tav>
                                        <p:tav tm="100000">
                                          <p:val>
                                            <p:strVal val="#ppt_x"/>
                                          </p:val>
                                        </p:tav>
                                      </p:tavLst>
                                    </p:anim>
                                    <p:anim calcmode="lin" valueType="num">
                                      <p:cBhvr additive="base">
                                        <p:cTn id="120" dur="500" fill="hold"/>
                                        <p:tgtEl>
                                          <p:spTgt spid="32"/>
                                        </p:tgtEl>
                                        <p:attrNameLst>
                                          <p:attrName>ppt_y</p:attrName>
                                        </p:attrNameLst>
                                      </p:cBhvr>
                                      <p:tavLst>
                                        <p:tav tm="0">
                                          <p:val>
                                            <p:strVal val="#ppt_y+0.1"/>
                                          </p:val>
                                        </p:tav>
                                        <p:tav tm="100000">
                                          <p:val>
                                            <p:strVal val="#ppt_y"/>
                                          </p:val>
                                        </p:tav>
                                      </p:tavLst>
                                    </p:anim>
                                    <p:animEffect transition="in" filter="fade">
                                      <p:cBhvr>
                                        <p:cTn id="1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Which Partition? With No Key: Round Robin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split topic needs a rule for where each message goes</a:t>
            </a:r>
          </a:p>
        </p:txBody>
      </p:sp>
      <p:sp>
        <p:nvSpPr>
          <p:cNvPr id="11" name="a1u_nd10"/>
          <p:cNvSpPr/>
          <p:nvPr/>
        </p:nvSpPr>
        <p:spPr>
          <a:xfrm>
            <a:off x="457200" y="1828800"/>
            <a:ext cx="1463040" cy="868680"/>
          </a:xfrm>
          <a:prstGeom prst="roundRect">
            <a:avLst>
              <a:gd name="adj" fmla="val 842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865376"/>
            <a:ext cx="1371600" cy="416051"/>
          </a:xfrm>
          <a:prstGeom prst="rect">
            <a:avLst/>
          </a:prstGeom>
          <a:noFill/>
        </p:spPr>
        <p:txBody>
          <a:bodyPr wrap="square" lIns="0" tIns="0" rIns="0" bIns="0" anchor="b">
            <a:spAutoFit/>
          </a:bodyPr>
          <a:lstStyle/>
          <a:p>
            <a:pPr algn="ctr"/>
            <a:r>
              <a:rPr sz="1100" b="1">
                <a:solidFill>
                  <a:srgbClr val="1C1917"/>
                </a:solidFill>
                <a:latin typeface="Segoe UI"/>
              </a:rPr>
              <a:t>Producer</a:t>
            </a:r>
          </a:p>
        </p:txBody>
      </p:sp>
      <p:sp>
        <p:nvSpPr>
          <p:cNvPr id="13" name="a1u_nds12"/>
          <p:cNvSpPr txBox="1"/>
          <p:nvPr/>
        </p:nvSpPr>
        <p:spPr>
          <a:xfrm>
            <a:off x="502920" y="2290572"/>
            <a:ext cx="1371600" cy="370332"/>
          </a:xfrm>
          <a:prstGeom prst="rect">
            <a:avLst/>
          </a:prstGeom>
          <a:noFill/>
        </p:spPr>
        <p:txBody>
          <a:bodyPr wrap="square" lIns="0" tIns="0" rIns="0" bIns="0" anchor="t">
            <a:spAutoFit/>
          </a:bodyPr>
          <a:lstStyle/>
          <a:p>
            <a:pPr algn="ctr"/>
            <a:r>
              <a:rPr sz="850" b="0">
                <a:solidFill>
                  <a:srgbClr val="EA580C"/>
                </a:solidFill>
                <a:latin typeface="Segoe UI"/>
              </a:rPr>
              <a:t>key = null</a:t>
            </a:r>
          </a:p>
        </p:txBody>
      </p:sp>
      <p:cxnSp>
        <p:nvCxnSpPr>
          <p:cNvPr id="14" name="a1ud150_ar13"/>
          <p:cNvCxnSpPr/>
          <p:nvPr/>
        </p:nvCxnSpPr>
        <p:spPr>
          <a:xfrm flipV="1">
            <a:off x="1947672" y="1563624"/>
            <a:ext cx="539496" cy="694944"/>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50_ln14"/>
          <p:cNvSpPr txBox="1"/>
          <p:nvPr/>
        </p:nvSpPr>
        <p:spPr>
          <a:xfrm>
            <a:off x="2514600" y="1325880"/>
            <a:ext cx="502920" cy="475488"/>
          </a:xfrm>
          <a:prstGeom prst="rect">
            <a:avLst/>
          </a:prstGeom>
          <a:noFill/>
        </p:spPr>
        <p:txBody>
          <a:bodyPr wrap="square" lIns="0" tIns="0" rIns="0" bIns="0" anchor="ctr">
            <a:spAutoFit/>
          </a:bodyPr>
          <a:lstStyle/>
          <a:p>
            <a:pPr algn="l"/>
            <a:r>
              <a:rPr sz="1050" b="1">
                <a:solidFill>
                  <a:srgbClr val="1C1917"/>
                </a:solidFill>
                <a:latin typeface="Consolas"/>
              </a:rPr>
              <a:t>P0</a:t>
            </a:r>
          </a:p>
        </p:txBody>
      </p:sp>
      <p:sp>
        <p:nvSpPr>
          <p:cNvPr id="16" name="a1ud150_mc15"/>
          <p:cNvSpPr/>
          <p:nvPr/>
        </p:nvSpPr>
        <p:spPr>
          <a:xfrm>
            <a:off x="3017520" y="1325880"/>
            <a:ext cx="850392" cy="475488"/>
          </a:xfrm>
          <a:prstGeom prst="roundRect">
            <a:avLst>
              <a:gd name="adj" fmla="val 9615"/>
            </a:avLst>
          </a:prstGeom>
          <a:solidFill>
            <a:srgbClr val="D9F2F7"/>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50_mct16"/>
          <p:cNvSpPr txBox="1"/>
          <p:nvPr/>
        </p:nvSpPr>
        <p:spPr>
          <a:xfrm>
            <a:off x="3017520" y="1344168"/>
            <a:ext cx="850392" cy="438912"/>
          </a:xfrm>
          <a:prstGeom prst="rect">
            <a:avLst/>
          </a:prstGeom>
          <a:noFill/>
        </p:spPr>
        <p:txBody>
          <a:bodyPr wrap="square" lIns="0" tIns="0" rIns="0" bIns="0" anchor="ctr">
            <a:spAutoFit/>
          </a:bodyPr>
          <a:lstStyle/>
          <a:p>
            <a:pPr algn="ctr"/>
            <a:r>
              <a:rPr sz="750" b="0">
                <a:solidFill>
                  <a:srgbClr val="0E7490"/>
                </a:solidFill>
                <a:latin typeface="Consolas"/>
              </a:rPr>
              <a:t>msg 1</a:t>
            </a:r>
          </a:p>
          <a:p>
            <a:pPr algn="ctr"/>
            <a:r>
              <a:rPr sz="900" b="1">
                <a:solidFill>
                  <a:srgbClr val="0E7490"/>
                </a:solidFill>
                <a:latin typeface="Consolas"/>
              </a:rPr>
              <a:t>sensor 42</a:t>
            </a:r>
          </a:p>
        </p:txBody>
      </p:sp>
      <p:sp>
        <p:nvSpPr>
          <p:cNvPr id="18" name="a1ud240_mc17"/>
          <p:cNvSpPr/>
          <p:nvPr/>
        </p:nvSpPr>
        <p:spPr>
          <a:xfrm>
            <a:off x="3931920" y="1325880"/>
            <a:ext cx="850392" cy="475488"/>
          </a:xfrm>
          <a:prstGeom prst="roundRect">
            <a:avLst>
              <a:gd name="adj" fmla="val 9615"/>
            </a:avLst>
          </a:prstGeom>
          <a:solidFill>
            <a:srgbClr val="D9F2F7"/>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40_mct18"/>
          <p:cNvSpPr txBox="1"/>
          <p:nvPr/>
        </p:nvSpPr>
        <p:spPr>
          <a:xfrm>
            <a:off x="3931920" y="1344168"/>
            <a:ext cx="850392" cy="438912"/>
          </a:xfrm>
          <a:prstGeom prst="rect">
            <a:avLst/>
          </a:prstGeom>
          <a:noFill/>
        </p:spPr>
        <p:txBody>
          <a:bodyPr wrap="square" lIns="0" tIns="0" rIns="0" bIns="0" anchor="ctr">
            <a:spAutoFit/>
          </a:bodyPr>
          <a:lstStyle/>
          <a:p>
            <a:pPr algn="ctr"/>
            <a:r>
              <a:rPr sz="750" b="0">
                <a:solidFill>
                  <a:srgbClr val="0E7490"/>
                </a:solidFill>
                <a:latin typeface="Consolas"/>
              </a:rPr>
              <a:t>msg 4</a:t>
            </a:r>
          </a:p>
          <a:p>
            <a:pPr algn="ctr"/>
            <a:r>
              <a:rPr sz="900" b="1">
                <a:solidFill>
                  <a:srgbClr val="0E7490"/>
                </a:solidFill>
                <a:latin typeface="Consolas"/>
              </a:rPr>
              <a:t>sensor 8</a:t>
            </a:r>
          </a:p>
        </p:txBody>
      </p:sp>
      <p:cxnSp>
        <p:nvCxnSpPr>
          <p:cNvPr id="20" name="a1ud270_ar19"/>
          <p:cNvCxnSpPr/>
          <p:nvPr/>
        </p:nvCxnSpPr>
        <p:spPr>
          <a:xfrm>
            <a:off x="1947672" y="2258568"/>
            <a:ext cx="539496" cy="18288"/>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1ud270_ln20"/>
          <p:cNvSpPr txBox="1"/>
          <p:nvPr/>
        </p:nvSpPr>
        <p:spPr>
          <a:xfrm>
            <a:off x="2514600" y="2039112"/>
            <a:ext cx="502920" cy="475488"/>
          </a:xfrm>
          <a:prstGeom prst="rect">
            <a:avLst/>
          </a:prstGeom>
          <a:noFill/>
        </p:spPr>
        <p:txBody>
          <a:bodyPr wrap="square" lIns="0" tIns="0" rIns="0" bIns="0" anchor="ctr">
            <a:spAutoFit/>
          </a:bodyPr>
          <a:lstStyle/>
          <a:p>
            <a:pPr algn="l"/>
            <a:r>
              <a:rPr sz="1050" b="1">
                <a:solidFill>
                  <a:srgbClr val="1C1917"/>
                </a:solidFill>
                <a:latin typeface="Consolas"/>
              </a:rPr>
              <a:t>P1</a:t>
            </a:r>
          </a:p>
        </p:txBody>
      </p:sp>
      <p:sp>
        <p:nvSpPr>
          <p:cNvPr id="22" name="a1ud270_mc21"/>
          <p:cNvSpPr/>
          <p:nvPr/>
        </p:nvSpPr>
        <p:spPr>
          <a:xfrm>
            <a:off x="3017520" y="2039112"/>
            <a:ext cx="850392" cy="475488"/>
          </a:xfrm>
          <a:prstGeom prst="roundRect">
            <a:avLst>
              <a:gd name="adj" fmla="val 9615"/>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270_mct22"/>
          <p:cNvSpPr txBox="1"/>
          <p:nvPr/>
        </p:nvSpPr>
        <p:spPr>
          <a:xfrm>
            <a:off x="3017520" y="2057400"/>
            <a:ext cx="850392" cy="438912"/>
          </a:xfrm>
          <a:prstGeom prst="rect">
            <a:avLst/>
          </a:prstGeom>
          <a:noFill/>
        </p:spPr>
        <p:txBody>
          <a:bodyPr wrap="square" lIns="0" tIns="0" rIns="0" bIns="0" anchor="ctr">
            <a:spAutoFit/>
          </a:bodyPr>
          <a:lstStyle/>
          <a:p>
            <a:pPr algn="ctr"/>
            <a:r>
              <a:rPr sz="750" b="0">
                <a:solidFill>
                  <a:srgbClr val="4F46E5"/>
                </a:solidFill>
                <a:latin typeface="Consolas"/>
              </a:rPr>
              <a:t>msg 2</a:t>
            </a:r>
          </a:p>
          <a:p>
            <a:pPr algn="ctr"/>
            <a:r>
              <a:rPr sz="900" b="1">
                <a:solidFill>
                  <a:srgbClr val="4F46E5"/>
                </a:solidFill>
                <a:latin typeface="Consolas"/>
              </a:rPr>
              <a:t>sensor 17</a:t>
            </a:r>
          </a:p>
        </p:txBody>
      </p:sp>
      <p:sp>
        <p:nvSpPr>
          <p:cNvPr id="24" name="a1ud360_mc23"/>
          <p:cNvSpPr/>
          <p:nvPr/>
        </p:nvSpPr>
        <p:spPr>
          <a:xfrm>
            <a:off x="3931920" y="2039112"/>
            <a:ext cx="850392" cy="475488"/>
          </a:xfrm>
          <a:prstGeom prst="roundRect">
            <a:avLst>
              <a:gd name="adj" fmla="val 9615"/>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360_mct24"/>
          <p:cNvSpPr txBox="1"/>
          <p:nvPr/>
        </p:nvSpPr>
        <p:spPr>
          <a:xfrm>
            <a:off x="3931920" y="2057400"/>
            <a:ext cx="850392" cy="438912"/>
          </a:xfrm>
          <a:prstGeom prst="rect">
            <a:avLst/>
          </a:prstGeom>
          <a:noFill/>
        </p:spPr>
        <p:txBody>
          <a:bodyPr wrap="square" lIns="0" tIns="0" rIns="0" bIns="0" anchor="ctr">
            <a:spAutoFit/>
          </a:bodyPr>
          <a:lstStyle/>
          <a:p>
            <a:pPr algn="ctr"/>
            <a:r>
              <a:rPr sz="750" b="0">
                <a:solidFill>
                  <a:srgbClr val="4F46E5"/>
                </a:solidFill>
                <a:latin typeface="Consolas"/>
              </a:rPr>
              <a:t>msg 5</a:t>
            </a:r>
          </a:p>
          <a:p>
            <a:pPr algn="ctr"/>
            <a:r>
              <a:rPr sz="900" b="1">
                <a:solidFill>
                  <a:srgbClr val="4F46E5"/>
                </a:solidFill>
                <a:latin typeface="Consolas"/>
              </a:rPr>
              <a:t>sensor 42</a:t>
            </a:r>
          </a:p>
        </p:txBody>
      </p:sp>
      <p:cxnSp>
        <p:nvCxnSpPr>
          <p:cNvPr id="26" name="a1ud390_ar25"/>
          <p:cNvCxnSpPr/>
          <p:nvPr/>
        </p:nvCxnSpPr>
        <p:spPr>
          <a:xfrm>
            <a:off x="1947672" y="2258568"/>
            <a:ext cx="539496" cy="731519"/>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1ud390_ln26"/>
          <p:cNvSpPr txBox="1"/>
          <p:nvPr/>
        </p:nvSpPr>
        <p:spPr>
          <a:xfrm>
            <a:off x="2514600" y="2752344"/>
            <a:ext cx="502920" cy="475488"/>
          </a:xfrm>
          <a:prstGeom prst="rect">
            <a:avLst/>
          </a:prstGeom>
          <a:noFill/>
        </p:spPr>
        <p:txBody>
          <a:bodyPr wrap="square" lIns="0" tIns="0" rIns="0" bIns="0" anchor="ctr">
            <a:spAutoFit/>
          </a:bodyPr>
          <a:lstStyle/>
          <a:p>
            <a:pPr algn="l"/>
            <a:r>
              <a:rPr sz="1050" b="1">
                <a:solidFill>
                  <a:srgbClr val="1C1917"/>
                </a:solidFill>
                <a:latin typeface="Consolas"/>
              </a:rPr>
              <a:t>P2</a:t>
            </a:r>
          </a:p>
        </p:txBody>
      </p:sp>
      <p:sp>
        <p:nvSpPr>
          <p:cNvPr id="28" name="a1ud390_mc27"/>
          <p:cNvSpPr/>
          <p:nvPr/>
        </p:nvSpPr>
        <p:spPr>
          <a:xfrm>
            <a:off x="3017520" y="2752344"/>
            <a:ext cx="850392" cy="475488"/>
          </a:xfrm>
          <a:prstGeom prst="roundRect">
            <a:avLst>
              <a:gd name="adj" fmla="val 9615"/>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390_mct28"/>
          <p:cNvSpPr txBox="1"/>
          <p:nvPr/>
        </p:nvSpPr>
        <p:spPr>
          <a:xfrm>
            <a:off x="3017520" y="2770632"/>
            <a:ext cx="850392" cy="438912"/>
          </a:xfrm>
          <a:prstGeom prst="rect">
            <a:avLst/>
          </a:prstGeom>
          <a:noFill/>
        </p:spPr>
        <p:txBody>
          <a:bodyPr wrap="square" lIns="0" tIns="0" rIns="0" bIns="0" anchor="ctr">
            <a:spAutoFit/>
          </a:bodyPr>
          <a:lstStyle/>
          <a:p>
            <a:pPr algn="ctr"/>
            <a:r>
              <a:rPr sz="750" b="0">
                <a:solidFill>
                  <a:srgbClr val="C2410C"/>
                </a:solidFill>
                <a:latin typeface="Consolas"/>
              </a:rPr>
              <a:t>msg 3</a:t>
            </a:r>
          </a:p>
          <a:p>
            <a:pPr algn="ctr"/>
            <a:r>
              <a:rPr sz="900" b="1">
                <a:solidFill>
                  <a:srgbClr val="C2410C"/>
                </a:solidFill>
                <a:latin typeface="Consolas"/>
              </a:rPr>
              <a:t>sensor 42</a:t>
            </a:r>
          </a:p>
        </p:txBody>
      </p:sp>
      <p:sp>
        <p:nvSpPr>
          <p:cNvPr id="30" name="a1ud480_mc29"/>
          <p:cNvSpPr/>
          <p:nvPr/>
        </p:nvSpPr>
        <p:spPr>
          <a:xfrm>
            <a:off x="3931920" y="2752344"/>
            <a:ext cx="850392" cy="475488"/>
          </a:xfrm>
          <a:prstGeom prst="roundRect">
            <a:avLst>
              <a:gd name="adj" fmla="val 9615"/>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ud480_mct30"/>
          <p:cNvSpPr txBox="1"/>
          <p:nvPr/>
        </p:nvSpPr>
        <p:spPr>
          <a:xfrm>
            <a:off x="3931920" y="2770632"/>
            <a:ext cx="850392" cy="438912"/>
          </a:xfrm>
          <a:prstGeom prst="rect">
            <a:avLst/>
          </a:prstGeom>
          <a:noFill/>
        </p:spPr>
        <p:txBody>
          <a:bodyPr wrap="square" lIns="0" tIns="0" rIns="0" bIns="0" anchor="ctr">
            <a:spAutoFit/>
          </a:bodyPr>
          <a:lstStyle/>
          <a:p>
            <a:pPr algn="ctr"/>
            <a:r>
              <a:rPr sz="750" b="0">
                <a:solidFill>
                  <a:srgbClr val="C2410C"/>
                </a:solidFill>
                <a:latin typeface="Consolas"/>
              </a:rPr>
              <a:t>msg 6</a:t>
            </a:r>
          </a:p>
          <a:p>
            <a:pPr algn="ctr"/>
            <a:r>
              <a:rPr sz="900" b="1">
                <a:solidFill>
                  <a:srgbClr val="C2410C"/>
                </a:solidFill>
                <a:latin typeface="Consolas"/>
              </a:rPr>
              <a:t>sensor 23</a:t>
            </a:r>
          </a:p>
        </p:txBody>
      </p:sp>
      <p:sp>
        <p:nvSpPr>
          <p:cNvPr id="32" name="a2f_sh31"/>
          <p:cNvSpPr txBox="1"/>
          <p:nvPr/>
        </p:nvSpPr>
        <p:spPr>
          <a:xfrm>
            <a:off x="5257800" y="1280160"/>
            <a:ext cx="3429000" cy="256032"/>
          </a:xfrm>
          <a:prstGeom prst="rect">
            <a:avLst/>
          </a:prstGeom>
          <a:noFill/>
        </p:spPr>
        <p:txBody>
          <a:bodyPr wrap="square" lIns="0" tIns="0" rIns="0" bIns="0" anchor="ctr">
            <a:spAutoFit/>
          </a:bodyPr>
          <a:lstStyle/>
          <a:p>
            <a:pPr algn="l"/>
            <a:r>
              <a:rPr sz="950" b="1" spc="120">
                <a:solidFill>
                  <a:srgbClr val="C2410C"/>
                </a:solidFill>
                <a:latin typeface="Segoe UI"/>
              </a:rPr>
              <a:t>NO KEY  ·  ROUND ROBIN</a:t>
            </a:r>
          </a:p>
        </p:txBody>
      </p:sp>
      <p:sp>
        <p:nvSpPr>
          <p:cNvPr id="33" name="a2ud100_dot32"/>
          <p:cNvSpPr/>
          <p:nvPr/>
        </p:nvSpPr>
        <p:spPr>
          <a:xfrm>
            <a:off x="5257800" y="17419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d100_b33"/>
          <p:cNvSpPr txBox="1"/>
          <p:nvPr/>
        </p:nvSpPr>
        <p:spPr>
          <a:xfrm>
            <a:off x="5477256" y="1645920"/>
            <a:ext cx="3209544" cy="420624"/>
          </a:xfrm>
          <a:prstGeom prst="rect">
            <a:avLst/>
          </a:prstGeom>
          <a:noFill/>
        </p:spPr>
        <p:txBody>
          <a:bodyPr wrap="square" lIns="0" tIns="0" rIns="0" bIns="0" anchor="t">
            <a:spAutoFit/>
          </a:bodyPr>
          <a:lstStyle/>
          <a:p>
            <a:pPr algn="l"/>
            <a:r>
              <a:rPr sz="950" b="1">
                <a:solidFill>
                  <a:srgbClr val="1C1917"/>
                </a:solidFill>
                <a:latin typeface="Segoe UI"/>
              </a:rPr>
              <a:t>Key is null  </a:t>
            </a:r>
            <a:r>
              <a:rPr sz="950" b="0">
                <a:solidFill>
                  <a:srgbClr val="44403C"/>
                </a:solidFill>
                <a:latin typeface="Segoe UI"/>
              </a:rPr>
              <a:t>the message has no key at all</a:t>
            </a:r>
          </a:p>
        </p:txBody>
      </p:sp>
      <p:sp>
        <p:nvSpPr>
          <p:cNvPr id="35" name="a2ud220_dot34"/>
          <p:cNvSpPr/>
          <p:nvPr/>
        </p:nvSpPr>
        <p:spPr>
          <a:xfrm>
            <a:off x="5257800" y="21991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220_b35"/>
          <p:cNvSpPr txBox="1"/>
          <p:nvPr/>
        </p:nvSpPr>
        <p:spPr>
          <a:xfrm>
            <a:off x="5477256" y="2103120"/>
            <a:ext cx="3209544" cy="420624"/>
          </a:xfrm>
          <a:prstGeom prst="rect">
            <a:avLst/>
          </a:prstGeom>
          <a:noFill/>
        </p:spPr>
        <p:txBody>
          <a:bodyPr wrap="square" lIns="0" tIns="0" rIns="0" bIns="0" anchor="t">
            <a:spAutoFit/>
          </a:bodyPr>
          <a:lstStyle/>
          <a:p>
            <a:pPr algn="l"/>
            <a:r>
              <a:rPr sz="950" b="1">
                <a:solidFill>
                  <a:srgbClr val="1C1917"/>
                </a:solidFill>
                <a:latin typeface="Segoe UI"/>
              </a:rPr>
              <a:t>Next partition  </a:t>
            </a:r>
            <a:r>
              <a:rPr sz="950" b="0">
                <a:solidFill>
                  <a:srgbClr val="44403C"/>
                </a:solidFill>
                <a:latin typeface="Segoe UI"/>
              </a:rPr>
              <a:t>each message goes to the next one in turn</a:t>
            </a:r>
          </a:p>
        </p:txBody>
      </p:sp>
      <p:sp>
        <p:nvSpPr>
          <p:cNvPr id="37" name="a2ud340_dot36"/>
          <p:cNvSpPr/>
          <p:nvPr/>
        </p:nvSpPr>
        <p:spPr>
          <a:xfrm>
            <a:off x="5257800" y="26563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d340_b37"/>
          <p:cNvSpPr txBox="1"/>
          <p:nvPr/>
        </p:nvSpPr>
        <p:spPr>
          <a:xfrm>
            <a:off x="5477256" y="2560320"/>
            <a:ext cx="3209544" cy="420624"/>
          </a:xfrm>
          <a:prstGeom prst="rect">
            <a:avLst/>
          </a:prstGeom>
          <a:noFill/>
        </p:spPr>
        <p:txBody>
          <a:bodyPr wrap="square" lIns="0" tIns="0" rIns="0" bIns="0" anchor="t">
            <a:spAutoFit/>
          </a:bodyPr>
          <a:lstStyle/>
          <a:p>
            <a:pPr algn="l"/>
            <a:r>
              <a:rPr sz="950" b="1">
                <a:solidFill>
                  <a:srgbClr val="1C1917"/>
                </a:solidFill>
                <a:latin typeface="Segoe UI"/>
              </a:rPr>
              <a:t>Even load  </a:t>
            </a:r>
            <a:r>
              <a:rPr sz="950" b="0">
                <a:solidFill>
                  <a:srgbClr val="44403C"/>
                </a:solidFill>
                <a:latin typeface="Segoe UI"/>
              </a:rPr>
              <a:t>the partitions fill up evenly</a:t>
            </a:r>
          </a:p>
        </p:txBody>
      </p:sp>
      <p:sp>
        <p:nvSpPr>
          <p:cNvPr id="39" name="a3u_nb38"/>
          <p:cNvSpPr/>
          <p:nvPr/>
        </p:nvSpPr>
        <p:spPr>
          <a:xfrm>
            <a:off x="457200" y="3611880"/>
            <a:ext cx="8229600" cy="731520"/>
          </a:xfrm>
          <a:prstGeom prst="roundRect">
            <a:avLst>
              <a:gd name="adj" fmla="val 1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_nacc39"/>
          <p:cNvSpPr/>
          <p:nvPr/>
        </p:nvSpPr>
        <p:spPr>
          <a:xfrm>
            <a:off x="457200" y="3611880"/>
            <a:ext cx="54864" cy="7315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_nt40"/>
          <p:cNvSpPr txBox="1"/>
          <p:nvPr/>
        </p:nvSpPr>
        <p:spPr>
          <a:xfrm>
            <a:off x="658368" y="3611880"/>
            <a:ext cx="7827264" cy="731520"/>
          </a:xfrm>
          <a:prstGeom prst="rect">
            <a:avLst/>
          </a:prstGeom>
          <a:noFill/>
        </p:spPr>
        <p:txBody>
          <a:bodyPr wrap="square" lIns="0" tIns="0" rIns="0" bIns="0" anchor="ctr">
            <a:spAutoFit/>
          </a:bodyPr>
          <a:lstStyle/>
          <a:p>
            <a:pPr algn="l"/>
            <a:r>
              <a:rPr sz="900" b="1">
                <a:solidFill>
                  <a:srgbClr val="4F46E5"/>
                </a:solidFill>
                <a:latin typeface="Segoe UI"/>
              </a:rPr>
              <a:t>NOTE  </a:t>
            </a:r>
            <a:r>
              <a:rPr sz="900" b="0">
                <a:solidFill>
                  <a:srgbClr val="44403C"/>
                </a:solidFill>
                <a:latin typeface="Segoe UI"/>
              </a:rPr>
              <a:t>In today's clients the producer fills one partition with a small batch before moving to the next (the 'sticky' partitioner). Over time the spread is still even.</a:t>
            </a:r>
          </a:p>
        </p:txBody>
      </p:sp>
      <p:sp>
        <p:nvSpPr>
          <p:cNvPr id="42" name="ft4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43" name="ft4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ft4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4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7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7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27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27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6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6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39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39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39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39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48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48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4" presetID="10" presetClass="entr" presetSubtype="0"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Effect transition="in" filter="fade">
                                      <p:cBhvr>
                                        <p:cTn id="113" dur="500"/>
                                        <p:tgtEl>
                                          <p:spTgt spid="32"/>
                                        </p:tgtEl>
                                      </p:cBhvr>
                                    </p:animEffect>
                                  </p:childTnLst>
                                </p:cTn>
                              </p:par>
                              <p:par>
                                <p:cTn id="119" presetID="2" presetClass="entr" presetSubtype="4" fill="hold" grpId="0" nodeType="withEffect">
                                  <p:stCondLst>
                                    <p:cond delay="10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10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22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22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par>
                                <p:cTn id="139" presetID="2" presetClass="entr" presetSubtype="4" fill="hold" grpId="0" nodeType="withEffect">
                                  <p:stCondLst>
                                    <p:cond delay="34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ppt_y+0.1"/>
                                          </p:val>
                                        </p:tav>
                                        <p:tav tm="100000">
                                          <p:val>
                                            <p:strVal val="#ppt_y"/>
                                          </p:val>
                                        </p:tav>
                                      </p:tavLst>
                                    </p:anim>
                                    <p:animEffect transition="in" filter="fade">
                                      <p:cBhvr>
                                        <p:cTn id="138" dur="500"/>
                                        <p:tgtEl>
                                          <p:spTgt spid="37"/>
                                        </p:tgtEl>
                                      </p:cBhvr>
                                    </p:animEffect>
                                  </p:childTnLst>
                                </p:cTn>
                              </p:par>
                              <p:par>
                                <p:cTn id="144" presetID="2" presetClass="entr" presetSubtype="4" fill="hold" grpId="0" nodeType="withEffect">
                                  <p:stCondLst>
                                    <p:cond delay="340"/>
                                  </p:stCondLst>
                                  <p:childTnLst>
                                    <p:set>
                                      <p:cBhvr>
                                        <p:cTn id="140" dur="1" fill="hold">
                                          <p:stCondLst>
                                            <p:cond delay="0"/>
                                          </p:stCondLst>
                                        </p:cTn>
                                        <p:tgtEl>
                                          <p:spTgt spid="38"/>
                                        </p:tgtEl>
                                        <p:attrNameLst>
                                          <p:attrName>style.visibility</p:attrName>
                                        </p:attrNameLst>
                                      </p:cBhvr>
                                      <p:to>
                                        <p:strVal val="visible"/>
                                      </p:to>
                                    </p:set>
                                    <p:anim calcmode="lin" valueType="num">
                                      <p:cBhvr additive="base">
                                        <p:cTn id="141" dur="500" fill="hold"/>
                                        <p:tgtEl>
                                          <p:spTgt spid="38"/>
                                        </p:tgtEl>
                                        <p:attrNameLst>
                                          <p:attrName>ppt_x</p:attrName>
                                        </p:attrNameLst>
                                      </p:cBhvr>
                                      <p:tavLst>
                                        <p:tav tm="0">
                                          <p:val>
                                            <p:strVal val="#ppt_x"/>
                                          </p:val>
                                        </p:tav>
                                        <p:tav tm="100000">
                                          <p:val>
                                            <p:strVal val="#ppt_x"/>
                                          </p:val>
                                        </p:tav>
                                      </p:tavLst>
                                    </p:anim>
                                    <p:anim calcmode="lin" valueType="num">
                                      <p:cBhvr additive="base">
                                        <p:cTn id="142" dur="500" fill="hold"/>
                                        <p:tgtEl>
                                          <p:spTgt spid="38"/>
                                        </p:tgtEl>
                                        <p:attrNameLst>
                                          <p:attrName>ppt_y</p:attrName>
                                        </p:attrNameLst>
                                      </p:cBhvr>
                                      <p:tavLst>
                                        <p:tav tm="0">
                                          <p:val>
                                            <p:strVal val="#ppt_y+0.1"/>
                                          </p:val>
                                        </p:tav>
                                        <p:tav tm="100000">
                                          <p:val>
                                            <p:strVal val="#ppt_y"/>
                                          </p:val>
                                        </p:tav>
                                      </p:tavLst>
                                    </p:anim>
                                    <p:animEffect transition="in" filter="fade">
                                      <p:cBhvr>
                                        <p:cTn id="143" dur="500"/>
                                        <p:tgtEl>
                                          <p:spTgt spid="38"/>
                                        </p:tgtEl>
                                      </p:cBhvr>
                                    </p:animEffect>
                                  </p:childTnLst>
                                </p:cTn>
                              </p:par>
                            </p:childTnLst>
                          </p:cTn>
                        </p:par>
                      </p:childTnLst>
                    </p:cTn>
                  </p:par>
                  <p:par>
                    <p:cTn id="145" fill="hold">
                      <p:stCondLst>
                        <p:cond delay="indefinite"/>
                      </p:stCondLst>
                      <p:childTnLst>
                        <p:par>
                          <p:cTn id="146" fill="hold">
                            <p:stCondLst>
                              <p:cond delay="0"/>
                            </p:stCondLst>
                            <p:childTnLst>
                              <p:par>
                                <p:cTn id="151" presetID="2" presetClass="entr" presetSubtype="4" fill="hold" grpId="0" nodeType="clickEffect">
                                  <p:stCondLst>
                                    <p:cond delay="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Catch: Sensor 42 Is Out of Order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Round robin spread one sensor's readings over every partition</a:t>
            </a:r>
          </a:p>
        </p:txBody>
      </p:sp>
      <p:sp>
        <p:nvSpPr>
          <p:cNvPr id="11" name="a0u_nd10"/>
          <p:cNvSpPr/>
          <p:nvPr/>
        </p:nvSpPr>
        <p:spPr>
          <a:xfrm>
            <a:off x="457200" y="1828800"/>
            <a:ext cx="1463040" cy="868680"/>
          </a:xfrm>
          <a:prstGeom prst="roundRect">
            <a:avLst>
              <a:gd name="adj" fmla="val 842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u_ndt11"/>
          <p:cNvSpPr txBox="1"/>
          <p:nvPr/>
        </p:nvSpPr>
        <p:spPr>
          <a:xfrm>
            <a:off x="502920" y="1865376"/>
            <a:ext cx="1371600" cy="416051"/>
          </a:xfrm>
          <a:prstGeom prst="rect">
            <a:avLst/>
          </a:prstGeom>
          <a:noFill/>
        </p:spPr>
        <p:txBody>
          <a:bodyPr wrap="square" lIns="0" tIns="0" rIns="0" bIns="0" anchor="b">
            <a:spAutoFit/>
          </a:bodyPr>
          <a:lstStyle/>
          <a:p>
            <a:pPr algn="ctr"/>
            <a:r>
              <a:rPr sz="1100" b="1">
                <a:solidFill>
                  <a:srgbClr val="1C1917"/>
                </a:solidFill>
                <a:latin typeface="Segoe UI"/>
              </a:rPr>
              <a:t>Producer</a:t>
            </a:r>
          </a:p>
        </p:txBody>
      </p:sp>
      <p:sp>
        <p:nvSpPr>
          <p:cNvPr id="13" name="a0u_nds12"/>
          <p:cNvSpPr txBox="1"/>
          <p:nvPr/>
        </p:nvSpPr>
        <p:spPr>
          <a:xfrm>
            <a:off x="502920" y="2290572"/>
            <a:ext cx="1371600" cy="370332"/>
          </a:xfrm>
          <a:prstGeom prst="rect">
            <a:avLst/>
          </a:prstGeom>
          <a:noFill/>
        </p:spPr>
        <p:txBody>
          <a:bodyPr wrap="square" lIns="0" tIns="0" rIns="0" bIns="0" anchor="t">
            <a:spAutoFit/>
          </a:bodyPr>
          <a:lstStyle/>
          <a:p>
            <a:pPr algn="ctr"/>
            <a:r>
              <a:rPr sz="850" b="0">
                <a:solidFill>
                  <a:srgbClr val="EA580C"/>
                </a:solidFill>
                <a:latin typeface="Segoe UI"/>
              </a:rPr>
              <a:t>key = null</a:t>
            </a:r>
          </a:p>
        </p:txBody>
      </p:sp>
      <p:cxnSp>
        <p:nvCxnSpPr>
          <p:cNvPr id="14" name="a0ud150_ar13"/>
          <p:cNvCxnSpPr/>
          <p:nvPr/>
        </p:nvCxnSpPr>
        <p:spPr>
          <a:xfrm flipV="1">
            <a:off x="1947672" y="1563624"/>
            <a:ext cx="539496" cy="694944"/>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0ud150_ln14"/>
          <p:cNvSpPr txBox="1"/>
          <p:nvPr/>
        </p:nvSpPr>
        <p:spPr>
          <a:xfrm>
            <a:off x="2514600" y="1325880"/>
            <a:ext cx="502920" cy="475488"/>
          </a:xfrm>
          <a:prstGeom prst="rect">
            <a:avLst/>
          </a:prstGeom>
          <a:noFill/>
        </p:spPr>
        <p:txBody>
          <a:bodyPr wrap="square" lIns="0" tIns="0" rIns="0" bIns="0" anchor="ctr">
            <a:spAutoFit/>
          </a:bodyPr>
          <a:lstStyle/>
          <a:p>
            <a:pPr algn="l"/>
            <a:r>
              <a:rPr sz="1050" b="1">
                <a:solidFill>
                  <a:srgbClr val="1C1917"/>
                </a:solidFill>
                <a:latin typeface="Consolas"/>
              </a:rPr>
              <a:t>P0</a:t>
            </a:r>
          </a:p>
        </p:txBody>
      </p:sp>
      <p:sp>
        <p:nvSpPr>
          <p:cNvPr id="16" name="a0ud150_mc15"/>
          <p:cNvSpPr/>
          <p:nvPr/>
        </p:nvSpPr>
        <p:spPr>
          <a:xfrm>
            <a:off x="3017520" y="1325880"/>
            <a:ext cx="850392" cy="475488"/>
          </a:xfrm>
          <a:prstGeom prst="roundRect">
            <a:avLst>
              <a:gd name="adj" fmla="val 9615"/>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ud150_mct16"/>
          <p:cNvSpPr txBox="1"/>
          <p:nvPr/>
        </p:nvSpPr>
        <p:spPr>
          <a:xfrm>
            <a:off x="3017520" y="1344168"/>
            <a:ext cx="850392" cy="438912"/>
          </a:xfrm>
          <a:prstGeom prst="rect">
            <a:avLst/>
          </a:prstGeom>
          <a:noFill/>
        </p:spPr>
        <p:txBody>
          <a:bodyPr wrap="square" lIns="0" tIns="0" rIns="0" bIns="0" anchor="ctr">
            <a:spAutoFit/>
          </a:bodyPr>
          <a:lstStyle/>
          <a:p>
            <a:pPr algn="ctr"/>
            <a:r>
              <a:rPr sz="750" b="0">
                <a:solidFill>
                  <a:srgbClr val="A16207"/>
                </a:solidFill>
                <a:latin typeface="Consolas"/>
              </a:rPr>
              <a:t>msg 1</a:t>
            </a:r>
          </a:p>
          <a:p>
            <a:pPr algn="ctr"/>
            <a:r>
              <a:rPr sz="900" b="1">
                <a:solidFill>
                  <a:srgbClr val="A16207"/>
                </a:solidFill>
                <a:latin typeface="Consolas"/>
              </a:rPr>
              <a:t>sensor 42</a:t>
            </a:r>
          </a:p>
        </p:txBody>
      </p:sp>
      <p:sp>
        <p:nvSpPr>
          <p:cNvPr id="18" name="a0ud240_mc17"/>
          <p:cNvSpPr/>
          <p:nvPr/>
        </p:nvSpPr>
        <p:spPr>
          <a:xfrm>
            <a:off x="3931920" y="1325880"/>
            <a:ext cx="850392" cy="475488"/>
          </a:xfrm>
          <a:prstGeom prst="roundRect">
            <a:avLst>
              <a:gd name="adj" fmla="val 96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ud240_mct18"/>
          <p:cNvSpPr txBox="1"/>
          <p:nvPr/>
        </p:nvSpPr>
        <p:spPr>
          <a:xfrm>
            <a:off x="3931920" y="1344168"/>
            <a:ext cx="850392" cy="438912"/>
          </a:xfrm>
          <a:prstGeom prst="rect">
            <a:avLst/>
          </a:prstGeom>
          <a:noFill/>
        </p:spPr>
        <p:txBody>
          <a:bodyPr wrap="square" lIns="0" tIns="0" rIns="0" bIns="0" anchor="ctr">
            <a:spAutoFit/>
          </a:bodyPr>
          <a:lstStyle/>
          <a:p>
            <a:pPr algn="ctr"/>
            <a:r>
              <a:rPr sz="750" b="0">
                <a:solidFill>
                  <a:srgbClr val="A8A29E"/>
                </a:solidFill>
                <a:latin typeface="Consolas"/>
              </a:rPr>
              <a:t>msg 4</a:t>
            </a:r>
          </a:p>
          <a:p>
            <a:pPr algn="ctr"/>
            <a:r>
              <a:rPr sz="900" b="1">
                <a:solidFill>
                  <a:srgbClr val="A8A29E"/>
                </a:solidFill>
                <a:latin typeface="Consolas"/>
              </a:rPr>
              <a:t>sensor 8</a:t>
            </a:r>
          </a:p>
        </p:txBody>
      </p:sp>
      <p:cxnSp>
        <p:nvCxnSpPr>
          <p:cNvPr id="20" name="a0ud270_ar19"/>
          <p:cNvCxnSpPr/>
          <p:nvPr/>
        </p:nvCxnSpPr>
        <p:spPr>
          <a:xfrm>
            <a:off x="1947672" y="2258568"/>
            <a:ext cx="539496" cy="18288"/>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0ud270_ln20"/>
          <p:cNvSpPr txBox="1"/>
          <p:nvPr/>
        </p:nvSpPr>
        <p:spPr>
          <a:xfrm>
            <a:off x="2514600" y="2039112"/>
            <a:ext cx="502920" cy="475488"/>
          </a:xfrm>
          <a:prstGeom prst="rect">
            <a:avLst/>
          </a:prstGeom>
          <a:noFill/>
        </p:spPr>
        <p:txBody>
          <a:bodyPr wrap="square" lIns="0" tIns="0" rIns="0" bIns="0" anchor="ctr">
            <a:spAutoFit/>
          </a:bodyPr>
          <a:lstStyle/>
          <a:p>
            <a:pPr algn="l"/>
            <a:r>
              <a:rPr sz="1050" b="1">
                <a:solidFill>
                  <a:srgbClr val="1C1917"/>
                </a:solidFill>
                <a:latin typeface="Consolas"/>
              </a:rPr>
              <a:t>P1</a:t>
            </a:r>
          </a:p>
        </p:txBody>
      </p:sp>
      <p:sp>
        <p:nvSpPr>
          <p:cNvPr id="22" name="a0ud270_mc21"/>
          <p:cNvSpPr/>
          <p:nvPr/>
        </p:nvSpPr>
        <p:spPr>
          <a:xfrm>
            <a:off x="3017520" y="2039112"/>
            <a:ext cx="850392" cy="475488"/>
          </a:xfrm>
          <a:prstGeom prst="roundRect">
            <a:avLst>
              <a:gd name="adj" fmla="val 96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ud270_mct22"/>
          <p:cNvSpPr txBox="1"/>
          <p:nvPr/>
        </p:nvSpPr>
        <p:spPr>
          <a:xfrm>
            <a:off x="3017520" y="2057400"/>
            <a:ext cx="850392" cy="438912"/>
          </a:xfrm>
          <a:prstGeom prst="rect">
            <a:avLst/>
          </a:prstGeom>
          <a:noFill/>
        </p:spPr>
        <p:txBody>
          <a:bodyPr wrap="square" lIns="0" tIns="0" rIns="0" bIns="0" anchor="ctr">
            <a:spAutoFit/>
          </a:bodyPr>
          <a:lstStyle/>
          <a:p>
            <a:pPr algn="ctr"/>
            <a:r>
              <a:rPr sz="750" b="0">
                <a:solidFill>
                  <a:srgbClr val="A8A29E"/>
                </a:solidFill>
                <a:latin typeface="Consolas"/>
              </a:rPr>
              <a:t>msg 2</a:t>
            </a:r>
          </a:p>
          <a:p>
            <a:pPr algn="ctr"/>
            <a:r>
              <a:rPr sz="900" b="1">
                <a:solidFill>
                  <a:srgbClr val="A8A29E"/>
                </a:solidFill>
                <a:latin typeface="Consolas"/>
              </a:rPr>
              <a:t>sensor 17</a:t>
            </a:r>
          </a:p>
        </p:txBody>
      </p:sp>
      <p:sp>
        <p:nvSpPr>
          <p:cNvPr id="24" name="a0ud360_mc23"/>
          <p:cNvSpPr/>
          <p:nvPr/>
        </p:nvSpPr>
        <p:spPr>
          <a:xfrm>
            <a:off x="3931920" y="2039112"/>
            <a:ext cx="850392" cy="475488"/>
          </a:xfrm>
          <a:prstGeom prst="roundRect">
            <a:avLst>
              <a:gd name="adj" fmla="val 9615"/>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ud360_mct24"/>
          <p:cNvSpPr txBox="1"/>
          <p:nvPr/>
        </p:nvSpPr>
        <p:spPr>
          <a:xfrm>
            <a:off x="3931920" y="2057400"/>
            <a:ext cx="850392" cy="438912"/>
          </a:xfrm>
          <a:prstGeom prst="rect">
            <a:avLst/>
          </a:prstGeom>
          <a:noFill/>
        </p:spPr>
        <p:txBody>
          <a:bodyPr wrap="square" lIns="0" tIns="0" rIns="0" bIns="0" anchor="ctr">
            <a:spAutoFit/>
          </a:bodyPr>
          <a:lstStyle/>
          <a:p>
            <a:pPr algn="ctr"/>
            <a:r>
              <a:rPr sz="750" b="0">
                <a:solidFill>
                  <a:srgbClr val="A16207"/>
                </a:solidFill>
                <a:latin typeface="Consolas"/>
              </a:rPr>
              <a:t>msg 5</a:t>
            </a:r>
          </a:p>
          <a:p>
            <a:pPr algn="ctr"/>
            <a:r>
              <a:rPr sz="900" b="1">
                <a:solidFill>
                  <a:srgbClr val="A16207"/>
                </a:solidFill>
                <a:latin typeface="Consolas"/>
              </a:rPr>
              <a:t>sensor 42</a:t>
            </a:r>
          </a:p>
        </p:txBody>
      </p:sp>
      <p:cxnSp>
        <p:nvCxnSpPr>
          <p:cNvPr id="26" name="a0ud390_ar25"/>
          <p:cNvCxnSpPr/>
          <p:nvPr/>
        </p:nvCxnSpPr>
        <p:spPr>
          <a:xfrm>
            <a:off x="1947672" y="2258568"/>
            <a:ext cx="539496" cy="731519"/>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0ud390_ln26"/>
          <p:cNvSpPr txBox="1"/>
          <p:nvPr/>
        </p:nvSpPr>
        <p:spPr>
          <a:xfrm>
            <a:off x="2514600" y="2752344"/>
            <a:ext cx="502920" cy="475488"/>
          </a:xfrm>
          <a:prstGeom prst="rect">
            <a:avLst/>
          </a:prstGeom>
          <a:noFill/>
        </p:spPr>
        <p:txBody>
          <a:bodyPr wrap="square" lIns="0" tIns="0" rIns="0" bIns="0" anchor="ctr">
            <a:spAutoFit/>
          </a:bodyPr>
          <a:lstStyle/>
          <a:p>
            <a:pPr algn="l"/>
            <a:r>
              <a:rPr sz="1050" b="1">
                <a:solidFill>
                  <a:srgbClr val="1C1917"/>
                </a:solidFill>
                <a:latin typeface="Consolas"/>
              </a:rPr>
              <a:t>P2</a:t>
            </a:r>
          </a:p>
        </p:txBody>
      </p:sp>
      <p:sp>
        <p:nvSpPr>
          <p:cNvPr id="28" name="a0ud390_mc27"/>
          <p:cNvSpPr/>
          <p:nvPr/>
        </p:nvSpPr>
        <p:spPr>
          <a:xfrm>
            <a:off x="3017520" y="2752344"/>
            <a:ext cx="850392" cy="475488"/>
          </a:xfrm>
          <a:prstGeom prst="roundRect">
            <a:avLst>
              <a:gd name="adj" fmla="val 9615"/>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ud390_mct28"/>
          <p:cNvSpPr txBox="1"/>
          <p:nvPr/>
        </p:nvSpPr>
        <p:spPr>
          <a:xfrm>
            <a:off x="3017520" y="2770632"/>
            <a:ext cx="850392" cy="438912"/>
          </a:xfrm>
          <a:prstGeom prst="rect">
            <a:avLst/>
          </a:prstGeom>
          <a:noFill/>
        </p:spPr>
        <p:txBody>
          <a:bodyPr wrap="square" lIns="0" tIns="0" rIns="0" bIns="0" anchor="ctr">
            <a:spAutoFit/>
          </a:bodyPr>
          <a:lstStyle/>
          <a:p>
            <a:pPr algn="ctr"/>
            <a:r>
              <a:rPr sz="750" b="0">
                <a:solidFill>
                  <a:srgbClr val="A16207"/>
                </a:solidFill>
                <a:latin typeface="Consolas"/>
              </a:rPr>
              <a:t>msg 3</a:t>
            </a:r>
          </a:p>
          <a:p>
            <a:pPr algn="ctr"/>
            <a:r>
              <a:rPr sz="900" b="1">
                <a:solidFill>
                  <a:srgbClr val="A16207"/>
                </a:solidFill>
                <a:latin typeface="Consolas"/>
              </a:rPr>
              <a:t>sensor 42</a:t>
            </a:r>
          </a:p>
        </p:txBody>
      </p:sp>
      <p:sp>
        <p:nvSpPr>
          <p:cNvPr id="30" name="a0ud480_mc29"/>
          <p:cNvSpPr/>
          <p:nvPr/>
        </p:nvSpPr>
        <p:spPr>
          <a:xfrm>
            <a:off x="3931920" y="2752344"/>
            <a:ext cx="850392" cy="475488"/>
          </a:xfrm>
          <a:prstGeom prst="roundRect">
            <a:avLst>
              <a:gd name="adj" fmla="val 96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ud480_mct30"/>
          <p:cNvSpPr txBox="1"/>
          <p:nvPr/>
        </p:nvSpPr>
        <p:spPr>
          <a:xfrm>
            <a:off x="3931920" y="2770632"/>
            <a:ext cx="850392" cy="438912"/>
          </a:xfrm>
          <a:prstGeom prst="rect">
            <a:avLst/>
          </a:prstGeom>
          <a:noFill/>
        </p:spPr>
        <p:txBody>
          <a:bodyPr wrap="square" lIns="0" tIns="0" rIns="0" bIns="0" anchor="ctr">
            <a:spAutoFit/>
          </a:bodyPr>
          <a:lstStyle/>
          <a:p>
            <a:pPr algn="ctr"/>
            <a:r>
              <a:rPr sz="750" b="0">
                <a:solidFill>
                  <a:srgbClr val="A8A29E"/>
                </a:solidFill>
                <a:latin typeface="Consolas"/>
              </a:rPr>
              <a:t>msg 6</a:t>
            </a:r>
          </a:p>
          <a:p>
            <a:pPr algn="ctr"/>
            <a:r>
              <a:rPr sz="900" b="1">
                <a:solidFill>
                  <a:srgbClr val="A8A29E"/>
                </a:solidFill>
                <a:latin typeface="Consolas"/>
              </a:rPr>
              <a:t>sensor 23</a:t>
            </a:r>
          </a:p>
        </p:txBody>
      </p:sp>
      <p:sp>
        <p:nvSpPr>
          <p:cNvPr id="32" name="a1u_card31"/>
          <p:cNvSpPr/>
          <p:nvPr/>
        </p:nvSpPr>
        <p:spPr>
          <a:xfrm>
            <a:off x="5257800" y="1280160"/>
            <a:ext cx="3429000"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u_acc32"/>
          <p:cNvSpPr/>
          <p:nvPr/>
        </p:nvSpPr>
        <p:spPr>
          <a:xfrm>
            <a:off x="5257800" y="1280160"/>
            <a:ext cx="50292" cy="21031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u_hh33"/>
          <p:cNvSpPr txBox="1"/>
          <p:nvPr/>
        </p:nvSpPr>
        <p:spPr>
          <a:xfrm>
            <a:off x="5458968" y="1389888"/>
            <a:ext cx="3063240" cy="237744"/>
          </a:xfrm>
          <a:prstGeom prst="rect">
            <a:avLst/>
          </a:prstGeom>
          <a:noFill/>
        </p:spPr>
        <p:txBody>
          <a:bodyPr wrap="square" lIns="0" tIns="0" rIns="0" bIns="0" anchor="ctr">
            <a:spAutoFit/>
          </a:bodyPr>
          <a:lstStyle/>
          <a:p>
            <a:pPr algn="l"/>
            <a:r>
              <a:rPr sz="900" b="1">
                <a:solidFill>
                  <a:srgbClr val="A16207"/>
                </a:solidFill>
                <a:latin typeface="Segoe UI"/>
              </a:rPr>
              <a:t>SENSOR 42</a:t>
            </a:r>
          </a:p>
        </p:txBody>
      </p:sp>
      <p:sp>
        <p:nvSpPr>
          <p:cNvPr id="35" name="a1ud80_k34"/>
          <p:cNvSpPr txBox="1"/>
          <p:nvPr/>
        </p:nvSpPr>
        <p:spPr>
          <a:xfrm>
            <a:off x="5458968" y="1645920"/>
            <a:ext cx="914400" cy="274320"/>
          </a:xfrm>
          <a:prstGeom prst="rect">
            <a:avLst/>
          </a:prstGeom>
          <a:noFill/>
        </p:spPr>
        <p:txBody>
          <a:bodyPr wrap="square" lIns="0" tIns="0" rIns="0" bIns="0" anchor="ctr">
            <a:spAutoFit/>
          </a:bodyPr>
          <a:lstStyle/>
          <a:p>
            <a:pPr algn="l"/>
            <a:r>
              <a:rPr sz="850" b="1">
                <a:solidFill>
                  <a:srgbClr val="A16207"/>
                </a:solidFill>
                <a:latin typeface="Segoe UI"/>
              </a:rPr>
              <a:t>written</a:t>
            </a:r>
          </a:p>
        </p:txBody>
      </p:sp>
      <p:sp>
        <p:nvSpPr>
          <p:cNvPr id="36" name="a1ud80_v35"/>
          <p:cNvSpPr txBox="1"/>
          <p:nvPr/>
        </p:nvSpPr>
        <p:spPr>
          <a:xfrm>
            <a:off x="6373368" y="1645920"/>
            <a:ext cx="2240280" cy="274320"/>
          </a:xfrm>
          <a:prstGeom prst="rect">
            <a:avLst/>
          </a:prstGeom>
          <a:noFill/>
        </p:spPr>
        <p:txBody>
          <a:bodyPr wrap="square" lIns="0" tIns="0" rIns="0" bIns="0" anchor="ctr">
            <a:spAutoFit/>
          </a:bodyPr>
          <a:lstStyle/>
          <a:p>
            <a:pPr algn="l"/>
            <a:r>
              <a:rPr sz="900" b="0">
                <a:solidFill>
                  <a:srgbClr val="44403C"/>
                </a:solidFill>
                <a:latin typeface="Segoe UI"/>
              </a:rPr>
              <a:t>msg 1, then msg 3, then msg 5</a:t>
            </a:r>
          </a:p>
        </p:txBody>
      </p:sp>
      <p:sp>
        <p:nvSpPr>
          <p:cNvPr id="37" name="a1ud160_k36"/>
          <p:cNvSpPr txBox="1"/>
          <p:nvPr/>
        </p:nvSpPr>
        <p:spPr>
          <a:xfrm>
            <a:off x="5458968" y="2011680"/>
            <a:ext cx="914400" cy="274320"/>
          </a:xfrm>
          <a:prstGeom prst="rect">
            <a:avLst/>
          </a:prstGeom>
          <a:noFill/>
        </p:spPr>
        <p:txBody>
          <a:bodyPr wrap="square" lIns="0" tIns="0" rIns="0" bIns="0" anchor="ctr">
            <a:spAutoFit/>
          </a:bodyPr>
          <a:lstStyle/>
          <a:p>
            <a:pPr algn="l"/>
            <a:r>
              <a:rPr sz="850" b="1">
                <a:solidFill>
                  <a:srgbClr val="A16207"/>
                </a:solidFill>
                <a:latin typeface="Segoe UI"/>
              </a:rPr>
              <a:t>stored in</a:t>
            </a:r>
          </a:p>
        </p:txBody>
      </p:sp>
      <p:sp>
        <p:nvSpPr>
          <p:cNvPr id="38" name="a1ud160_v37"/>
          <p:cNvSpPr txBox="1"/>
          <p:nvPr/>
        </p:nvSpPr>
        <p:spPr>
          <a:xfrm>
            <a:off x="6373368" y="2011680"/>
            <a:ext cx="2240280" cy="274320"/>
          </a:xfrm>
          <a:prstGeom prst="rect">
            <a:avLst/>
          </a:prstGeom>
          <a:noFill/>
        </p:spPr>
        <p:txBody>
          <a:bodyPr wrap="square" lIns="0" tIns="0" rIns="0" bIns="0" anchor="ctr">
            <a:spAutoFit/>
          </a:bodyPr>
          <a:lstStyle/>
          <a:p>
            <a:pPr algn="l"/>
            <a:r>
              <a:rPr sz="900" b="0">
                <a:solidFill>
                  <a:srgbClr val="44403C"/>
                </a:solidFill>
                <a:latin typeface="Segoe UI"/>
              </a:rPr>
              <a:t>P0, P2 and P1</a:t>
            </a:r>
          </a:p>
        </p:txBody>
      </p:sp>
      <p:sp>
        <p:nvSpPr>
          <p:cNvPr id="39" name="a1ud240_k38"/>
          <p:cNvSpPr txBox="1"/>
          <p:nvPr/>
        </p:nvSpPr>
        <p:spPr>
          <a:xfrm>
            <a:off x="5458968" y="2377440"/>
            <a:ext cx="914400" cy="274320"/>
          </a:xfrm>
          <a:prstGeom prst="rect">
            <a:avLst/>
          </a:prstGeom>
          <a:noFill/>
        </p:spPr>
        <p:txBody>
          <a:bodyPr wrap="square" lIns="0" tIns="0" rIns="0" bIns="0" anchor="ctr">
            <a:spAutoFit/>
          </a:bodyPr>
          <a:lstStyle/>
          <a:p>
            <a:pPr algn="l"/>
            <a:r>
              <a:rPr sz="850" b="1">
                <a:solidFill>
                  <a:srgbClr val="A16207"/>
                </a:solidFill>
                <a:latin typeface="Segoe UI"/>
              </a:rPr>
              <a:t>read back</a:t>
            </a:r>
          </a:p>
        </p:txBody>
      </p:sp>
      <p:sp>
        <p:nvSpPr>
          <p:cNvPr id="40" name="a1ud240_v39"/>
          <p:cNvSpPr txBox="1"/>
          <p:nvPr/>
        </p:nvSpPr>
        <p:spPr>
          <a:xfrm>
            <a:off x="6373368" y="2377440"/>
            <a:ext cx="2240280" cy="274320"/>
          </a:xfrm>
          <a:prstGeom prst="rect">
            <a:avLst/>
          </a:prstGeom>
          <a:noFill/>
        </p:spPr>
        <p:txBody>
          <a:bodyPr wrap="square" lIns="0" tIns="0" rIns="0" bIns="0" anchor="ctr">
            <a:spAutoFit/>
          </a:bodyPr>
          <a:lstStyle/>
          <a:p>
            <a:pPr algn="l"/>
            <a:r>
              <a:rPr sz="900" b="0">
                <a:solidFill>
                  <a:srgbClr val="44403C"/>
                </a:solidFill>
                <a:latin typeface="Segoe UI"/>
              </a:rPr>
              <a:t>in no guaranteed order</a:t>
            </a:r>
          </a:p>
        </p:txBody>
      </p:sp>
      <p:sp>
        <p:nvSpPr>
          <p:cNvPr id="41" name="a2u_r40"/>
          <p:cNvSpPr txBox="1"/>
          <p:nvPr/>
        </p:nvSpPr>
        <p:spPr>
          <a:xfrm>
            <a:off x="5458968" y="2761488"/>
            <a:ext cx="3063240" cy="548640"/>
          </a:xfrm>
          <a:prstGeom prst="rect">
            <a:avLst/>
          </a:prstGeom>
          <a:noFill/>
        </p:spPr>
        <p:txBody>
          <a:bodyPr wrap="square" lIns="0" tIns="0" rIns="0" bIns="0" anchor="t">
            <a:spAutoFit/>
          </a:bodyPr>
          <a:lstStyle/>
          <a:p>
            <a:pPr algn="l"/>
            <a:r>
              <a:rPr sz="850" b="0">
                <a:solidFill>
                  <a:srgbClr val="78716C"/>
                </a:solidFill>
                <a:latin typeface="Segoe UI"/>
              </a:rPr>
              <a:t>Roughly in order - earlier in a partition means older - but nothing is guaranteed.</a:t>
            </a:r>
          </a:p>
        </p:txBody>
      </p:sp>
      <p:sp>
        <p:nvSpPr>
          <p:cNvPr id="42" name="a3u_nb41"/>
          <p:cNvSpPr/>
          <p:nvPr/>
        </p:nvSpPr>
        <p:spPr>
          <a:xfrm>
            <a:off x="457200" y="361188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nacc42"/>
          <p:cNvSpPr/>
          <p:nvPr/>
        </p:nvSpPr>
        <p:spPr>
          <a:xfrm>
            <a:off x="457200" y="361188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_nt43"/>
          <p:cNvSpPr txBox="1"/>
          <p:nvPr/>
        </p:nvSpPr>
        <p:spPr>
          <a:xfrm>
            <a:off x="658368" y="3611880"/>
            <a:ext cx="7827264" cy="566928"/>
          </a:xfrm>
          <a:prstGeom prst="rect">
            <a:avLst/>
          </a:prstGeom>
          <a:noFill/>
        </p:spPr>
        <p:txBody>
          <a:bodyPr wrap="square" lIns="0" tIns="0" rIns="0" bIns="0" anchor="ctr">
            <a:spAutoFit/>
          </a:bodyPr>
          <a:lstStyle/>
          <a:p>
            <a:pPr algn="l"/>
            <a:r>
              <a:rPr sz="950" b="1">
                <a:solidFill>
                  <a:srgbClr val="C2410C"/>
                </a:solidFill>
                <a:latin typeface="Segoe UI"/>
              </a:rPr>
              <a:t>NEXT  </a:t>
            </a:r>
            <a:r>
              <a:rPr sz="950" b="0">
                <a:solidFill>
                  <a:srgbClr val="44403C"/>
                </a:solidFill>
                <a:latin typeface="Segoe UI"/>
              </a:rPr>
              <a:t>Need one sensor's readings in order? Make the sensor id the message key.</a:t>
            </a:r>
          </a:p>
        </p:txBody>
      </p:sp>
      <p:sp>
        <p:nvSpPr>
          <p:cNvPr id="45" name="ft4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46" name="ft4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ft4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48" name="ft4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2" presetClass="entr" presetSubtype="4"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4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7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7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27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27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6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6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39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39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39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39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48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48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8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8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16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16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24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24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childTnLst>
                          </p:cTn>
                        </p:par>
                      </p:childTnLst>
                    </p:cTn>
                  </p:par>
                  <p:par>
                    <p:cTn id="157" fill="hold">
                      <p:stCondLst>
                        <p:cond delay="indefinite"/>
                      </p:stCondLst>
                      <p:childTnLst>
                        <p:par>
                          <p:cTn id="158" fill="hold">
                            <p:stCondLst>
                              <p:cond delay="0"/>
                            </p:stCondLst>
                            <p:childTnLst>
                              <p:par>
                                <p:cTn id="163" presetID="2" presetClass="entr" presetSubtype="4" fill="hold" grpId="0" nodeType="click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childTnLst>
                          </p:cTn>
                        </p:par>
                      </p:childTnLst>
                    </p:cTn>
                  </p:par>
                  <p:par>
                    <p:cTn id="164" fill="hold">
                      <p:stCondLst>
                        <p:cond delay="indefinite"/>
                      </p:stCondLst>
                      <p:childTnLst>
                        <p:par>
                          <p:cTn id="165" fill="hold">
                            <p:stCondLst>
                              <p:cond delay="0"/>
                            </p:stCondLst>
                            <p:childTnLst>
                              <p:par>
                                <p:cTn id="170" presetID="2" presetClass="entr" presetSubtype="4" fill="hold" grpId="0" nodeType="click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00" fill="hold"/>
                                        <p:tgtEl>
                                          <p:spTgt spid="42"/>
                                        </p:tgtEl>
                                        <p:attrNameLst>
                                          <p:attrName>ppt_x</p:attrName>
                                        </p:attrNameLst>
                                      </p:cBhvr>
                                      <p:tavLst>
                                        <p:tav tm="0">
                                          <p:val>
                                            <p:strVal val="#ppt_x"/>
                                          </p:val>
                                        </p:tav>
                                        <p:tav tm="100000">
                                          <p:val>
                                            <p:strVal val="#ppt_x"/>
                                          </p:val>
                                        </p:tav>
                                      </p:tavLst>
                                    </p:anim>
                                    <p:anim calcmode="lin" valueType="num">
                                      <p:cBhvr additive="base">
                                        <p:cTn id="168" dur="500" fill="hold"/>
                                        <p:tgtEl>
                                          <p:spTgt spid="42"/>
                                        </p:tgtEl>
                                        <p:attrNameLst>
                                          <p:attrName>ppt_y</p:attrName>
                                        </p:attrNameLst>
                                      </p:cBhvr>
                                      <p:tavLst>
                                        <p:tav tm="0">
                                          <p:val>
                                            <p:strVal val="#ppt_y+0.1"/>
                                          </p:val>
                                        </p:tav>
                                        <p:tav tm="100000">
                                          <p:val>
                                            <p:strVal val="#ppt_y"/>
                                          </p:val>
                                        </p:tav>
                                      </p:tavLst>
                                    </p:anim>
                                    <p:animEffect transition="in" filter="fade">
                                      <p:cBhvr>
                                        <p:cTn id="169" dur="500"/>
                                        <p:tgtEl>
                                          <p:spTgt spid="42"/>
                                        </p:tgtEl>
                                      </p:cBhvr>
                                    </p:animEffect>
                                  </p:childTnLst>
                                </p:cTn>
                              </p:par>
                              <p:par>
                                <p:cTn id="175" presetID="2" presetClass="entr" presetSubtype="4" fill="hold" grpId="0" nodeType="with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2" dur="500" fill="hold"/>
                                        <p:tgtEl>
                                          <p:spTgt spid="43"/>
                                        </p:tgtEl>
                                        <p:attrNameLst>
                                          <p:attrName>ppt_x</p:attrName>
                                        </p:attrNameLst>
                                      </p:cBhvr>
                                      <p:tavLst>
                                        <p:tav tm="0">
                                          <p:val>
                                            <p:strVal val="#ppt_x"/>
                                          </p:val>
                                        </p:tav>
                                        <p:tav tm="100000">
                                          <p:val>
                                            <p:strVal val="#ppt_x"/>
                                          </p:val>
                                        </p:tav>
                                      </p:tavLst>
                                    </p:anim>
                                    <p:anim calcmode="lin" valueType="num">
                                      <p:cBhvr additive="base">
                                        <p:cTn id="173" dur="500" fill="hold"/>
                                        <p:tgtEl>
                                          <p:spTgt spid="43"/>
                                        </p:tgtEl>
                                        <p:attrNameLst>
                                          <p:attrName>ppt_y</p:attrName>
                                        </p:attrNameLst>
                                      </p:cBhvr>
                                      <p:tavLst>
                                        <p:tav tm="0">
                                          <p:val>
                                            <p:strVal val="#ppt_y+0.1"/>
                                          </p:val>
                                        </p:tav>
                                        <p:tav tm="100000">
                                          <p:val>
                                            <p:strVal val="#ppt_y"/>
                                          </p:val>
                                        </p:tav>
                                      </p:tavLst>
                                    </p:anim>
                                    <p:animEffect transition="in" filter="fade">
                                      <p:cBhvr>
                                        <p:cTn id="174" dur="500"/>
                                        <p:tgtEl>
                                          <p:spTgt spid="43"/>
                                        </p:tgtEl>
                                      </p:cBhvr>
                                    </p:animEffect>
                                  </p:childTnLst>
                                </p:cTn>
                              </p:par>
                              <p:par>
                                <p:cTn id="180" presetID="2" presetClass="entr" presetSubtype="4" fill="hold" grpId="0" nodeType="withEffect">
                                  <p:stCondLst>
                                    <p:cond delay="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ppt_x"/>
                                          </p:val>
                                        </p:tav>
                                        <p:tav tm="100000">
                                          <p:val>
                                            <p:strVal val="#ppt_x"/>
                                          </p:val>
                                        </p:tav>
                                      </p:tavLst>
                                    </p:anim>
                                    <p:anim calcmode="lin" valueType="num">
                                      <p:cBhvr additive="base">
                                        <p:cTn id="178" dur="500" fill="hold"/>
                                        <p:tgtEl>
                                          <p:spTgt spid="44"/>
                                        </p:tgtEl>
                                        <p:attrNameLst>
                                          <p:attrName>ppt_y</p:attrName>
                                        </p:attrNameLst>
                                      </p:cBhvr>
                                      <p:tavLst>
                                        <p:tav tm="0">
                                          <p:val>
                                            <p:strVal val="#ppt_y+0.1"/>
                                          </p:val>
                                        </p:tav>
                                        <p:tav tm="100000">
                                          <p:val>
                                            <p:strVal val="#ppt_y"/>
                                          </p:val>
                                        </p:tav>
                                      </p:tavLst>
                                    </p:anim>
                                    <p:animEffect transition="in" filter="fade">
                                      <p:cBhvr>
                                        <p:cTn id="17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With a Key: Hash It, Then Mod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key decides the partition - the same key always lands in the same place</a:t>
            </a:r>
          </a:p>
        </p:txBody>
      </p:sp>
      <p:sp>
        <p:nvSpPr>
          <p:cNvPr id="11" name="a1u_nd10"/>
          <p:cNvSpPr/>
          <p:nvPr/>
        </p:nvSpPr>
        <p:spPr>
          <a:xfrm>
            <a:off x="457200" y="1298448"/>
            <a:ext cx="114300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35024"/>
            <a:ext cx="1051560" cy="310896"/>
          </a:xfrm>
          <a:prstGeom prst="rect">
            <a:avLst/>
          </a:prstGeom>
          <a:noFill/>
        </p:spPr>
        <p:txBody>
          <a:bodyPr wrap="square" lIns="0" tIns="0" rIns="0" bIns="0" anchor="b">
            <a:spAutoFit/>
          </a:bodyPr>
          <a:lstStyle/>
          <a:p>
            <a:pPr algn="ctr"/>
            <a:r>
              <a:rPr sz="1100" b="1">
                <a:solidFill>
                  <a:srgbClr val="1C1917"/>
                </a:solidFill>
                <a:latin typeface="Segoe UI"/>
              </a:rPr>
              <a:t>key</a:t>
            </a:r>
          </a:p>
        </p:txBody>
      </p:sp>
      <p:sp>
        <p:nvSpPr>
          <p:cNvPr id="13" name="a1u_nds12"/>
          <p:cNvSpPr txBox="1"/>
          <p:nvPr/>
        </p:nvSpPr>
        <p:spPr>
          <a:xfrm>
            <a:off x="502920" y="1655063"/>
            <a:ext cx="1051560" cy="265176"/>
          </a:xfrm>
          <a:prstGeom prst="rect">
            <a:avLst/>
          </a:prstGeom>
          <a:noFill/>
        </p:spPr>
        <p:txBody>
          <a:bodyPr wrap="square" lIns="0" tIns="0" rIns="0" bIns="0" anchor="t">
            <a:spAutoFit/>
          </a:bodyPr>
          <a:lstStyle/>
          <a:p>
            <a:pPr algn="ctr"/>
            <a:r>
              <a:rPr sz="800" b="0">
                <a:solidFill>
                  <a:srgbClr val="EA580C"/>
                </a:solidFill>
                <a:latin typeface="Segoe UI"/>
              </a:rPr>
              <a:t>"42"</a:t>
            </a:r>
          </a:p>
        </p:txBody>
      </p:sp>
      <p:sp>
        <p:nvSpPr>
          <p:cNvPr id="14" name="a2u_nd13"/>
          <p:cNvSpPr/>
          <p:nvPr/>
        </p:nvSpPr>
        <p:spPr>
          <a:xfrm>
            <a:off x="1947672" y="1298448"/>
            <a:ext cx="132588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ndt14"/>
          <p:cNvSpPr txBox="1"/>
          <p:nvPr/>
        </p:nvSpPr>
        <p:spPr>
          <a:xfrm>
            <a:off x="1993391" y="1335024"/>
            <a:ext cx="1234439" cy="310896"/>
          </a:xfrm>
          <a:prstGeom prst="rect">
            <a:avLst/>
          </a:prstGeom>
          <a:noFill/>
        </p:spPr>
        <p:txBody>
          <a:bodyPr wrap="square" lIns="0" tIns="0" rIns="0" bIns="0" anchor="b">
            <a:spAutoFit/>
          </a:bodyPr>
          <a:lstStyle/>
          <a:p>
            <a:pPr algn="ctr"/>
            <a:r>
              <a:rPr sz="1100" b="1">
                <a:solidFill>
                  <a:srgbClr val="1C1917"/>
                </a:solidFill>
                <a:latin typeface="Segoe UI"/>
              </a:rPr>
              <a:t>hash( )</a:t>
            </a:r>
          </a:p>
        </p:txBody>
      </p:sp>
      <p:sp>
        <p:nvSpPr>
          <p:cNvPr id="16" name="a2u_nds15"/>
          <p:cNvSpPr txBox="1"/>
          <p:nvPr/>
        </p:nvSpPr>
        <p:spPr>
          <a:xfrm>
            <a:off x="1993391" y="1655063"/>
            <a:ext cx="1234439" cy="265176"/>
          </a:xfrm>
          <a:prstGeom prst="rect">
            <a:avLst/>
          </a:prstGeom>
          <a:noFill/>
        </p:spPr>
        <p:txBody>
          <a:bodyPr wrap="square" lIns="0" tIns="0" rIns="0" bIns="0" anchor="t">
            <a:spAutoFit/>
          </a:bodyPr>
          <a:lstStyle/>
          <a:p>
            <a:pPr algn="ctr"/>
            <a:r>
              <a:rPr sz="800" b="0">
                <a:solidFill>
                  <a:srgbClr val="EA580C"/>
                </a:solidFill>
                <a:latin typeface="Segoe UI"/>
              </a:rPr>
              <a:t>murmur2 by default</a:t>
            </a:r>
          </a:p>
        </p:txBody>
      </p:sp>
      <p:cxnSp>
        <p:nvCxnSpPr>
          <p:cNvPr id="17" name="a2u_ar16"/>
          <p:cNvCxnSpPr/>
          <p:nvPr/>
        </p:nvCxnSpPr>
        <p:spPr>
          <a:xfrm>
            <a:off x="1655063" y="1627632"/>
            <a:ext cx="265177"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3u_nd17"/>
          <p:cNvSpPr/>
          <p:nvPr/>
        </p:nvSpPr>
        <p:spPr>
          <a:xfrm>
            <a:off x="3621024" y="1298448"/>
            <a:ext cx="169164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3u_ndt18"/>
          <p:cNvSpPr txBox="1"/>
          <p:nvPr/>
        </p:nvSpPr>
        <p:spPr>
          <a:xfrm>
            <a:off x="3666744" y="1335024"/>
            <a:ext cx="1600200" cy="310896"/>
          </a:xfrm>
          <a:prstGeom prst="rect">
            <a:avLst/>
          </a:prstGeom>
          <a:noFill/>
        </p:spPr>
        <p:txBody>
          <a:bodyPr wrap="square" lIns="0" tIns="0" rIns="0" bIns="0" anchor="b">
            <a:spAutoFit/>
          </a:bodyPr>
          <a:lstStyle/>
          <a:p>
            <a:pPr algn="ctr"/>
            <a:r>
              <a:rPr sz="1000" b="1">
                <a:solidFill>
                  <a:srgbClr val="1C1917"/>
                </a:solidFill>
                <a:latin typeface="Segoe UI"/>
              </a:rPr>
              <a:t>2,583,111,917</a:t>
            </a:r>
          </a:p>
        </p:txBody>
      </p:sp>
      <p:sp>
        <p:nvSpPr>
          <p:cNvPr id="20" name="a3u_nds19"/>
          <p:cNvSpPr txBox="1"/>
          <p:nvPr/>
        </p:nvSpPr>
        <p:spPr>
          <a:xfrm>
            <a:off x="3666744" y="1655063"/>
            <a:ext cx="1600200" cy="265176"/>
          </a:xfrm>
          <a:prstGeom prst="rect">
            <a:avLst/>
          </a:prstGeom>
          <a:noFill/>
        </p:spPr>
        <p:txBody>
          <a:bodyPr wrap="square" lIns="0" tIns="0" rIns="0" bIns="0" anchor="t">
            <a:spAutoFit/>
          </a:bodyPr>
          <a:lstStyle/>
          <a:p>
            <a:pPr algn="ctr"/>
            <a:r>
              <a:rPr sz="800" b="0">
                <a:solidFill>
                  <a:srgbClr val="EA580C"/>
                </a:solidFill>
                <a:latin typeface="Segoe UI"/>
              </a:rPr>
              <a:t>a big number</a:t>
            </a:r>
          </a:p>
        </p:txBody>
      </p:sp>
      <p:cxnSp>
        <p:nvCxnSpPr>
          <p:cNvPr id="21" name="a3u_ar20"/>
          <p:cNvCxnSpPr/>
          <p:nvPr/>
        </p:nvCxnSpPr>
        <p:spPr>
          <a:xfrm>
            <a:off x="3328416" y="1627632"/>
            <a:ext cx="265176"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4u_nd21"/>
          <p:cNvSpPr/>
          <p:nvPr/>
        </p:nvSpPr>
        <p:spPr>
          <a:xfrm>
            <a:off x="5660136" y="1298448"/>
            <a:ext cx="123444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4u_ndt22"/>
          <p:cNvSpPr txBox="1"/>
          <p:nvPr/>
        </p:nvSpPr>
        <p:spPr>
          <a:xfrm>
            <a:off x="5705856" y="1335024"/>
            <a:ext cx="1143000" cy="310896"/>
          </a:xfrm>
          <a:prstGeom prst="rect">
            <a:avLst/>
          </a:prstGeom>
          <a:noFill/>
        </p:spPr>
        <p:txBody>
          <a:bodyPr wrap="square" lIns="0" tIns="0" rIns="0" bIns="0" anchor="b">
            <a:spAutoFit/>
          </a:bodyPr>
          <a:lstStyle/>
          <a:p>
            <a:pPr algn="ctr"/>
            <a:r>
              <a:rPr sz="1100" b="1">
                <a:solidFill>
                  <a:srgbClr val="1C1917"/>
                </a:solidFill>
                <a:latin typeface="Segoe UI"/>
              </a:rPr>
              <a:t>mod 3</a:t>
            </a:r>
          </a:p>
        </p:txBody>
      </p:sp>
      <p:sp>
        <p:nvSpPr>
          <p:cNvPr id="24" name="a4u_nds23"/>
          <p:cNvSpPr txBox="1"/>
          <p:nvPr/>
        </p:nvSpPr>
        <p:spPr>
          <a:xfrm>
            <a:off x="5705856" y="1655063"/>
            <a:ext cx="1143000" cy="265176"/>
          </a:xfrm>
          <a:prstGeom prst="rect">
            <a:avLst/>
          </a:prstGeom>
          <a:noFill/>
        </p:spPr>
        <p:txBody>
          <a:bodyPr wrap="square" lIns="0" tIns="0" rIns="0" bIns="0" anchor="t">
            <a:spAutoFit/>
          </a:bodyPr>
          <a:lstStyle/>
          <a:p>
            <a:pPr algn="ctr"/>
            <a:r>
              <a:rPr sz="800" b="0">
                <a:solidFill>
                  <a:srgbClr val="EA580C"/>
                </a:solidFill>
                <a:latin typeface="Segoe UI"/>
              </a:rPr>
              <a:t>3 partitions</a:t>
            </a:r>
          </a:p>
        </p:txBody>
      </p:sp>
      <p:cxnSp>
        <p:nvCxnSpPr>
          <p:cNvPr id="25" name="a4u_ar24"/>
          <p:cNvCxnSpPr/>
          <p:nvPr/>
        </p:nvCxnSpPr>
        <p:spPr>
          <a:xfrm>
            <a:off x="5367528" y="1627632"/>
            <a:ext cx="265176"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5u_nd25"/>
          <p:cNvSpPr/>
          <p:nvPr/>
        </p:nvSpPr>
        <p:spPr>
          <a:xfrm>
            <a:off x="7242048" y="1298448"/>
            <a:ext cx="1444752" cy="658368"/>
          </a:xfrm>
          <a:prstGeom prst="roundRect">
            <a:avLst>
              <a:gd name="adj" fmla="val 11111"/>
            </a:avLst>
          </a:prstGeom>
          <a:solidFill>
            <a:srgbClr val="FEF9C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5u_ndt26"/>
          <p:cNvSpPr txBox="1"/>
          <p:nvPr/>
        </p:nvSpPr>
        <p:spPr>
          <a:xfrm>
            <a:off x="7287768" y="1335024"/>
            <a:ext cx="1353312" cy="310896"/>
          </a:xfrm>
          <a:prstGeom prst="rect">
            <a:avLst/>
          </a:prstGeom>
          <a:noFill/>
        </p:spPr>
        <p:txBody>
          <a:bodyPr wrap="square" lIns="0" tIns="0" rIns="0" bIns="0" anchor="b">
            <a:spAutoFit/>
          </a:bodyPr>
          <a:lstStyle/>
          <a:p>
            <a:pPr algn="ctr"/>
            <a:r>
              <a:rPr sz="1100" b="1">
                <a:solidFill>
                  <a:srgbClr val="1C1917"/>
                </a:solidFill>
                <a:latin typeface="Segoe UI"/>
              </a:rPr>
              <a:t>partition 2</a:t>
            </a:r>
          </a:p>
        </p:txBody>
      </p:sp>
      <p:sp>
        <p:nvSpPr>
          <p:cNvPr id="28" name="a5u_nds27"/>
          <p:cNvSpPr txBox="1"/>
          <p:nvPr/>
        </p:nvSpPr>
        <p:spPr>
          <a:xfrm>
            <a:off x="7287768" y="1655063"/>
            <a:ext cx="1353312" cy="265176"/>
          </a:xfrm>
          <a:prstGeom prst="rect">
            <a:avLst/>
          </a:prstGeom>
          <a:noFill/>
        </p:spPr>
        <p:txBody>
          <a:bodyPr wrap="square" lIns="0" tIns="0" rIns="0" bIns="0" anchor="t">
            <a:spAutoFit/>
          </a:bodyPr>
          <a:lstStyle/>
          <a:p>
            <a:pPr algn="ctr"/>
            <a:r>
              <a:rPr sz="800" b="0">
                <a:solidFill>
                  <a:srgbClr val="A16207"/>
                </a:solidFill>
                <a:latin typeface="Segoe UI"/>
              </a:rPr>
              <a:t>the remainder</a:t>
            </a:r>
          </a:p>
        </p:txBody>
      </p:sp>
      <p:cxnSp>
        <p:nvCxnSpPr>
          <p:cNvPr id="29" name="a5u_ar28"/>
          <p:cNvCxnSpPr/>
          <p:nvPr/>
        </p:nvCxnSpPr>
        <p:spPr>
          <a:xfrm>
            <a:off x="6949440" y="1627632"/>
            <a:ext cx="265176"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3ud100_lb29"/>
          <p:cNvSpPr txBox="1"/>
          <p:nvPr/>
        </p:nvSpPr>
        <p:spPr>
          <a:xfrm>
            <a:off x="3621024" y="1975104"/>
            <a:ext cx="1691640" cy="201168"/>
          </a:xfrm>
          <a:prstGeom prst="rect">
            <a:avLst/>
          </a:prstGeom>
          <a:noFill/>
        </p:spPr>
        <p:txBody>
          <a:bodyPr wrap="square" lIns="0" tIns="0" rIns="0" bIns="0" anchor="ctr">
            <a:spAutoFit/>
          </a:bodyPr>
          <a:lstStyle/>
          <a:p>
            <a:pPr algn="ctr"/>
            <a:r>
              <a:rPr sz="750" b="0">
                <a:solidFill>
                  <a:srgbClr val="A8A29E"/>
                </a:solidFill>
                <a:latin typeface="Segoe UI"/>
              </a:rPr>
              <a:t>illustrative number</a:t>
            </a:r>
          </a:p>
        </p:txBody>
      </p:sp>
      <p:sp>
        <p:nvSpPr>
          <p:cNvPr id="31" name="a6u_ln30"/>
          <p:cNvSpPr txBox="1"/>
          <p:nvPr/>
        </p:nvSpPr>
        <p:spPr>
          <a:xfrm>
            <a:off x="457200" y="2286000"/>
            <a:ext cx="502920" cy="457200"/>
          </a:xfrm>
          <a:prstGeom prst="rect">
            <a:avLst/>
          </a:prstGeom>
          <a:noFill/>
        </p:spPr>
        <p:txBody>
          <a:bodyPr wrap="square" lIns="0" tIns="0" rIns="0" bIns="0" anchor="ctr">
            <a:spAutoFit/>
          </a:bodyPr>
          <a:lstStyle/>
          <a:p>
            <a:pPr algn="l"/>
            <a:r>
              <a:rPr sz="1050" b="1">
                <a:solidFill>
                  <a:srgbClr val="1C1917"/>
                </a:solidFill>
                <a:latin typeface="Consolas"/>
              </a:rPr>
              <a:t>P0</a:t>
            </a:r>
          </a:p>
        </p:txBody>
      </p:sp>
      <p:sp>
        <p:nvSpPr>
          <p:cNvPr id="32" name="a6u_mc31"/>
          <p:cNvSpPr/>
          <p:nvPr/>
        </p:nvSpPr>
        <p:spPr>
          <a:xfrm>
            <a:off x="960120" y="2286000"/>
            <a:ext cx="850392" cy="457200"/>
          </a:xfrm>
          <a:prstGeom prst="roundRect">
            <a:avLst>
              <a:gd name="adj" fmla="val 10000"/>
            </a:avLst>
          </a:prstGeom>
          <a:solidFill>
            <a:srgbClr val="D9F2F7"/>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6u_mct32"/>
          <p:cNvSpPr txBox="1"/>
          <p:nvPr/>
        </p:nvSpPr>
        <p:spPr>
          <a:xfrm>
            <a:off x="960120" y="2304288"/>
            <a:ext cx="850392" cy="420624"/>
          </a:xfrm>
          <a:prstGeom prst="rect">
            <a:avLst/>
          </a:prstGeom>
          <a:noFill/>
        </p:spPr>
        <p:txBody>
          <a:bodyPr wrap="square" lIns="0" tIns="0" rIns="0" bIns="0" anchor="ctr">
            <a:spAutoFit/>
          </a:bodyPr>
          <a:lstStyle/>
          <a:p>
            <a:pPr algn="ctr"/>
            <a:r>
              <a:rPr sz="750" b="0">
                <a:solidFill>
                  <a:srgbClr val="0E7490"/>
                </a:solidFill>
                <a:latin typeface="Consolas"/>
              </a:rPr>
              <a:t>msg 2</a:t>
            </a:r>
          </a:p>
          <a:p>
            <a:pPr algn="ctr"/>
            <a:r>
              <a:rPr sz="900" b="1">
                <a:solidFill>
                  <a:srgbClr val="0E7490"/>
                </a:solidFill>
                <a:latin typeface="Consolas"/>
              </a:rPr>
              <a:t>sensor 17</a:t>
            </a:r>
          </a:p>
        </p:txBody>
      </p:sp>
      <p:sp>
        <p:nvSpPr>
          <p:cNvPr id="34" name="a6ud100_ln33"/>
          <p:cNvSpPr txBox="1"/>
          <p:nvPr/>
        </p:nvSpPr>
        <p:spPr>
          <a:xfrm>
            <a:off x="457200" y="2852928"/>
            <a:ext cx="502920" cy="457200"/>
          </a:xfrm>
          <a:prstGeom prst="rect">
            <a:avLst/>
          </a:prstGeom>
          <a:noFill/>
        </p:spPr>
        <p:txBody>
          <a:bodyPr wrap="square" lIns="0" tIns="0" rIns="0" bIns="0" anchor="ctr">
            <a:spAutoFit/>
          </a:bodyPr>
          <a:lstStyle/>
          <a:p>
            <a:pPr algn="l"/>
            <a:r>
              <a:rPr sz="1050" b="1">
                <a:solidFill>
                  <a:srgbClr val="1C1917"/>
                </a:solidFill>
                <a:latin typeface="Consolas"/>
              </a:rPr>
              <a:t>P1</a:t>
            </a:r>
          </a:p>
        </p:txBody>
      </p:sp>
      <p:sp>
        <p:nvSpPr>
          <p:cNvPr id="35" name="a6ud100_mc34"/>
          <p:cNvSpPr/>
          <p:nvPr/>
        </p:nvSpPr>
        <p:spPr>
          <a:xfrm>
            <a:off x="960120" y="2852928"/>
            <a:ext cx="850392" cy="457200"/>
          </a:xfrm>
          <a:prstGeom prst="roundRect">
            <a:avLst>
              <a:gd name="adj" fmla="val 1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6ud100_mct35"/>
          <p:cNvSpPr txBox="1"/>
          <p:nvPr/>
        </p:nvSpPr>
        <p:spPr>
          <a:xfrm>
            <a:off x="960120" y="2871216"/>
            <a:ext cx="850392" cy="420624"/>
          </a:xfrm>
          <a:prstGeom prst="rect">
            <a:avLst/>
          </a:prstGeom>
          <a:noFill/>
        </p:spPr>
        <p:txBody>
          <a:bodyPr wrap="square" lIns="0" tIns="0" rIns="0" bIns="0" anchor="ctr">
            <a:spAutoFit/>
          </a:bodyPr>
          <a:lstStyle/>
          <a:p>
            <a:pPr algn="ctr"/>
            <a:r>
              <a:rPr sz="750" b="0">
                <a:solidFill>
                  <a:srgbClr val="4F46E5"/>
                </a:solidFill>
                <a:latin typeface="Consolas"/>
              </a:rPr>
              <a:t>msg 4</a:t>
            </a:r>
          </a:p>
          <a:p>
            <a:pPr algn="ctr"/>
            <a:r>
              <a:rPr sz="900" b="1">
                <a:solidFill>
                  <a:srgbClr val="4F46E5"/>
                </a:solidFill>
                <a:latin typeface="Consolas"/>
              </a:rPr>
              <a:t>sensor 8</a:t>
            </a:r>
          </a:p>
        </p:txBody>
      </p:sp>
      <p:sp>
        <p:nvSpPr>
          <p:cNvPr id="37" name="a6ud190_mc36"/>
          <p:cNvSpPr/>
          <p:nvPr/>
        </p:nvSpPr>
        <p:spPr>
          <a:xfrm>
            <a:off x="1874519" y="2852928"/>
            <a:ext cx="850392" cy="457200"/>
          </a:xfrm>
          <a:prstGeom prst="roundRect">
            <a:avLst>
              <a:gd name="adj" fmla="val 1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6ud190_mct37"/>
          <p:cNvSpPr txBox="1"/>
          <p:nvPr/>
        </p:nvSpPr>
        <p:spPr>
          <a:xfrm>
            <a:off x="1874519" y="2871216"/>
            <a:ext cx="850392" cy="420624"/>
          </a:xfrm>
          <a:prstGeom prst="rect">
            <a:avLst/>
          </a:prstGeom>
          <a:noFill/>
        </p:spPr>
        <p:txBody>
          <a:bodyPr wrap="square" lIns="0" tIns="0" rIns="0" bIns="0" anchor="ctr">
            <a:spAutoFit/>
          </a:bodyPr>
          <a:lstStyle/>
          <a:p>
            <a:pPr algn="ctr"/>
            <a:r>
              <a:rPr sz="750" b="0">
                <a:solidFill>
                  <a:srgbClr val="4F46E5"/>
                </a:solidFill>
                <a:latin typeface="Consolas"/>
              </a:rPr>
              <a:t>msg 6</a:t>
            </a:r>
          </a:p>
          <a:p>
            <a:pPr algn="ctr"/>
            <a:r>
              <a:rPr sz="900" b="1">
                <a:solidFill>
                  <a:srgbClr val="4F46E5"/>
                </a:solidFill>
                <a:latin typeface="Consolas"/>
              </a:rPr>
              <a:t>sensor 23</a:t>
            </a:r>
          </a:p>
        </p:txBody>
      </p:sp>
      <p:sp>
        <p:nvSpPr>
          <p:cNvPr id="39" name="a6ud200_ln38"/>
          <p:cNvSpPr txBox="1"/>
          <p:nvPr/>
        </p:nvSpPr>
        <p:spPr>
          <a:xfrm>
            <a:off x="457200" y="3419856"/>
            <a:ext cx="502920" cy="457200"/>
          </a:xfrm>
          <a:prstGeom prst="rect">
            <a:avLst/>
          </a:prstGeom>
          <a:noFill/>
        </p:spPr>
        <p:txBody>
          <a:bodyPr wrap="square" lIns="0" tIns="0" rIns="0" bIns="0" anchor="ctr">
            <a:spAutoFit/>
          </a:bodyPr>
          <a:lstStyle/>
          <a:p>
            <a:pPr algn="l"/>
            <a:r>
              <a:rPr sz="1050" b="1">
                <a:solidFill>
                  <a:srgbClr val="1C1917"/>
                </a:solidFill>
                <a:latin typeface="Consolas"/>
              </a:rPr>
              <a:t>P2</a:t>
            </a:r>
          </a:p>
        </p:txBody>
      </p:sp>
      <p:sp>
        <p:nvSpPr>
          <p:cNvPr id="40" name="a6ud200_mc39"/>
          <p:cNvSpPr/>
          <p:nvPr/>
        </p:nvSpPr>
        <p:spPr>
          <a:xfrm>
            <a:off x="960120" y="3419856"/>
            <a:ext cx="850392" cy="457200"/>
          </a:xfrm>
          <a:prstGeom prst="roundRect">
            <a:avLst>
              <a:gd name="adj" fmla="val 10000"/>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6ud200_mct40"/>
          <p:cNvSpPr txBox="1"/>
          <p:nvPr/>
        </p:nvSpPr>
        <p:spPr>
          <a:xfrm>
            <a:off x="960120" y="3438144"/>
            <a:ext cx="850392" cy="420624"/>
          </a:xfrm>
          <a:prstGeom prst="rect">
            <a:avLst/>
          </a:prstGeom>
          <a:noFill/>
        </p:spPr>
        <p:txBody>
          <a:bodyPr wrap="square" lIns="0" tIns="0" rIns="0" bIns="0" anchor="ctr">
            <a:spAutoFit/>
          </a:bodyPr>
          <a:lstStyle/>
          <a:p>
            <a:pPr algn="ctr"/>
            <a:r>
              <a:rPr sz="750" b="0">
                <a:solidFill>
                  <a:srgbClr val="A16207"/>
                </a:solidFill>
                <a:latin typeface="Consolas"/>
              </a:rPr>
              <a:t>msg 1</a:t>
            </a:r>
          </a:p>
          <a:p>
            <a:pPr algn="ctr"/>
            <a:r>
              <a:rPr sz="900" b="1">
                <a:solidFill>
                  <a:srgbClr val="A16207"/>
                </a:solidFill>
                <a:latin typeface="Consolas"/>
              </a:rPr>
              <a:t>sensor 42</a:t>
            </a:r>
          </a:p>
        </p:txBody>
      </p:sp>
      <p:sp>
        <p:nvSpPr>
          <p:cNvPr id="42" name="a6ud290_mc41"/>
          <p:cNvSpPr/>
          <p:nvPr/>
        </p:nvSpPr>
        <p:spPr>
          <a:xfrm>
            <a:off x="1874519" y="3419856"/>
            <a:ext cx="850392" cy="457200"/>
          </a:xfrm>
          <a:prstGeom prst="roundRect">
            <a:avLst>
              <a:gd name="adj" fmla="val 10000"/>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6ud290_mct42"/>
          <p:cNvSpPr txBox="1"/>
          <p:nvPr/>
        </p:nvSpPr>
        <p:spPr>
          <a:xfrm>
            <a:off x="1874519" y="3438144"/>
            <a:ext cx="850392" cy="420624"/>
          </a:xfrm>
          <a:prstGeom prst="rect">
            <a:avLst/>
          </a:prstGeom>
          <a:noFill/>
        </p:spPr>
        <p:txBody>
          <a:bodyPr wrap="square" lIns="0" tIns="0" rIns="0" bIns="0" anchor="ctr">
            <a:spAutoFit/>
          </a:bodyPr>
          <a:lstStyle/>
          <a:p>
            <a:pPr algn="ctr"/>
            <a:r>
              <a:rPr sz="750" b="0">
                <a:solidFill>
                  <a:srgbClr val="A16207"/>
                </a:solidFill>
                <a:latin typeface="Consolas"/>
              </a:rPr>
              <a:t>msg 3</a:t>
            </a:r>
          </a:p>
          <a:p>
            <a:pPr algn="ctr"/>
            <a:r>
              <a:rPr sz="900" b="1">
                <a:solidFill>
                  <a:srgbClr val="A16207"/>
                </a:solidFill>
                <a:latin typeface="Consolas"/>
              </a:rPr>
              <a:t>sensor 42</a:t>
            </a:r>
          </a:p>
        </p:txBody>
      </p:sp>
      <p:sp>
        <p:nvSpPr>
          <p:cNvPr id="44" name="a6ud380_mc43"/>
          <p:cNvSpPr/>
          <p:nvPr/>
        </p:nvSpPr>
        <p:spPr>
          <a:xfrm>
            <a:off x="2788920" y="3419856"/>
            <a:ext cx="850392" cy="457200"/>
          </a:xfrm>
          <a:prstGeom prst="roundRect">
            <a:avLst>
              <a:gd name="adj" fmla="val 10000"/>
            </a:avLst>
          </a:prstGeom>
          <a:solidFill>
            <a:srgbClr val="FEF9C3"/>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6ud380_mct44"/>
          <p:cNvSpPr txBox="1"/>
          <p:nvPr/>
        </p:nvSpPr>
        <p:spPr>
          <a:xfrm>
            <a:off x="2788920" y="3438144"/>
            <a:ext cx="850392" cy="420624"/>
          </a:xfrm>
          <a:prstGeom prst="rect">
            <a:avLst/>
          </a:prstGeom>
          <a:noFill/>
        </p:spPr>
        <p:txBody>
          <a:bodyPr wrap="square" lIns="0" tIns="0" rIns="0" bIns="0" anchor="ctr">
            <a:spAutoFit/>
          </a:bodyPr>
          <a:lstStyle/>
          <a:p>
            <a:pPr algn="ctr"/>
            <a:r>
              <a:rPr sz="750" b="0">
                <a:solidFill>
                  <a:srgbClr val="A16207"/>
                </a:solidFill>
                <a:latin typeface="Consolas"/>
              </a:rPr>
              <a:t>msg 5</a:t>
            </a:r>
          </a:p>
          <a:p>
            <a:pPr algn="ctr"/>
            <a:r>
              <a:rPr sz="900" b="1">
                <a:solidFill>
                  <a:srgbClr val="A16207"/>
                </a:solidFill>
                <a:latin typeface="Consolas"/>
              </a:rPr>
              <a:t>sensor 42</a:t>
            </a:r>
          </a:p>
        </p:txBody>
      </p:sp>
      <p:sp>
        <p:nvSpPr>
          <p:cNvPr id="46" name="a7u_dot45"/>
          <p:cNvSpPr/>
          <p:nvPr/>
        </p:nvSpPr>
        <p:spPr>
          <a:xfrm>
            <a:off x="4160520" y="240944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7u_b46"/>
          <p:cNvSpPr txBox="1"/>
          <p:nvPr/>
        </p:nvSpPr>
        <p:spPr>
          <a:xfrm>
            <a:off x="4379976" y="2313432"/>
            <a:ext cx="4306824" cy="438912"/>
          </a:xfrm>
          <a:prstGeom prst="rect">
            <a:avLst/>
          </a:prstGeom>
          <a:noFill/>
        </p:spPr>
        <p:txBody>
          <a:bodyPr wrap="square" lIns="0" tIns="0" rIns="0" bIns="0" anchor="t">
            <a:spAutoFit/>
          </a:bodyPr>
          <a:lstStyle/>
          <a:p>
            <a:pPr algn="l"/>
            <a:r>
              <a:rPr sz="950" b="1">
                <a:solidFill>
                  <a:srgbClr val="1C1917"/>
                </a:solidFill>
                <a:latin typeface="Segoe UI"/>
              </a:rPr>
              <a:t>Key 42  </a:t>
            </a:r>
            <a:r>
              <a:rPr sz="950" b="0">
                <a:solidFill>
                  <a:srgbClr val="44403C"/>
                </a:solidFill>
                <a:latin typeface="Segoe UI"/>
              </a:rPr>
              <a:t>hashes to partition 2 - every time</a:t>
            </a:r>
          </a:p>
        </p:txBody>
      </p:sp>
      <p:sp>
        <p:nvSpPr>
          <p:cNvPr id="48" name="a7ud120_dot47"/>
          <p:cNvSpPr/>
          <p:nvPr/>
        </p:nvSpPr>
        <p:spPr>
          <a:xfrm>
            <a:off x="4160520" y="2884932"/>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7ud120_b48"/>
          <p:cNvSpPr txBox="1"/>
          <p:nvPr/>
        </p:nvSpPr>
        <p:spPr>
          <a:xfrm>
            <a:off x="4379976" y="2788920"/>
            <a:ext cx="4306824" cy="438912"/>
          </a:xfrm>
          <a:prstGeom prst="rect">
            <a:avLst/>
          </a:prstGeom>
          <a:noFill/>
        </p:spPr>
        <p:txBody>
          <a:bodyPr wrap="square" lIns="0" tIns="0" rIns="0" bIns="0" anchor="t">
            <a:spAutoFit/>
          </a:bodyPr>
          <a:lstStyle/>
          <a:p>
            <a:pPr algn="l"/>
            <a:r>
              <a:rPr sz="950" b="1">
                <a:solidFill>
                  <a:srgbClr val="1C1917"/>
                </a:solidFill>
                <a:latin typeface="Segoe UI"/>
              </a:rPr>
              <a:t>So  </a:t>
            </a:r>
            <a:r>
              <a:rPr sz="950" b="0">
                <a:solidFill>
                  <a:srgbClr val="44403C"/>
                </a:solidFill>
                <a:latin typeface="Segoe UI"/>
              </a:rPr>
              <a:t>all of sensor 42's readings sit in one log, in the order they were written</a:t>
            </a:r>
          </a:p>
        </p:txBody>
      </p:sp>
      <p:sp>
        <p:nvSpPr>
          <p:cNvPr id="50" name="a7ud240_dot49"/>
          <p:cNvSpPr/>
          <p:nvPr/>
        </p:nvSpPr>
        <p:spPr>
          <a:xfrm>
            <a:off x="4160520" y="3360420"/>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7ud240_b50"/>
          <p:cNvSpPr txBox="1"/>
          <p:nvPr/>
        </p:nvSpPr>
        <p:spPr>
          <a:xfrm>
            <a:off x="4379976" y="3264408"/>
            <a:ext cx="4306824" cy="438912"/>
          </a:xfrm>
          <a:prstGeom prst="rect">
            <a:avLst/>
          </a:prstGeom>
          <a:noFill/>
        </p:spPr>
        <p:txBody>
          <a:bodyPr wrap="square" lIns="0" tIns="0" rIns="0" bIns="0" anchor="t">
            <a:spAutoFit/>
          </a:bodyPr>
          <a:lstStyle/>
          <a:p>
            <a:pPr algn="l"/>
            <a:r>
              <a:rPr sz="950" b="1">
                <a:solidFill>
                  <a:srgbClr val="1C1917"/>
                </a:solidFill>
                <a:latin typeface="Segoe UI"/>
              </a:rPr>
              <a:t>Other keys  </a:t>
            </a:r>
            <a:r>
              <a:rPr sz="950" b="0">
                <a:solidFill>
                  <a:srgbClr val="44403C"/>
                </a:solidFill>
                <a:latin typeface="Segoe UI"/>
              </a:rPr>
              <a:t>land wherever the hash sends them</a:t>
            </a:r>
          </a:p>
        </p:txBody>
      </p:sp>
      <p:sp>
        <p:nvSpPr>
          <p:cNvPr id="52" name="a8u_nb51"/>
          <p:cNvSpPr/>
          <p:nvPr/>
        </p:nvSpPr>
        <p:spPr>
          <a:xfrm>
            <a:off x="457200" y="4069080"/>
            <a:ext cx="8229600" cy="502920"/>
          </a:xfrm>
          <a:prstGeom prst="roundRect">
            <a:avLst>
              <a:gd name="adj" fmla="val 14545"/>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8u_nacc52"/>
          <p:cNvSpPr/>
          <p:nvPr/>
        </p:nvSpPr>
        <p:spPr>
          <a:xfrm>
            <a:off x="457200" y="4069080"/>
            <a:ext cx="54864" cy="5029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8u_nt53"/>
          <p:cNvSpPr txBox="1"/>
          <p:nvPr/>
        </p:nvSpPr>
        <p:spPr>
          <a:xfrm>
            <a:off x="658368" y="4069080"/>
            <a:ext cx="7827264" cy="502920"/>
          </a:xfrm>
          <a:prstGeom prst="rect">
            <a:avLst/>
          </a:prstGeom>
          <a:noFill/>
        </p:spPr>
        <p:txBody>
          <a:bodyPr wrap="square" lIns="0" tIns="0" rIns="0" bIns="0" anchor="ctr">
            <a:spAutoFit/>
          </a:bodyPr>
          <a:lstStyle/>
          <a:p>
            <a:pPr algn="l"/>
            <a:r>
              <a:rPr sz="1000" b="1">
                <a:solidFill>
                  <a:srgbClr val="A16207"/>
                </a:solidFill>
                <a:latin typeface="Segoe UI"/>
              </a:rPr>
              <a:t>RULE  </a:t>
            </a:r>
            <a:r>
              <a:rPr sz="1000" b="0">
                <a:solidFill>
                  <a:srgbClr val="44403C"/>
                </a:solidFill>
                <a:latin typeface="Segoe UI"/>
              </a:rPr>
              <a:t>hash(key) mod (number of partitions) = the partition to write to.</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8"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10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ppt_x"/>
                                          </p:val>
                                        </p:tav>
                                        <p:tav tm="100000">
                                          <p:val>
                                            <p:strVal val="#ppt_x"/>
                                          </p:val>
                                        </p:tav>
                                      </p:tavLst>
                                    </p:anim>
                                    <p:anim calcmode="lin" valueType="num">
                                      <p:cBhvr additive="base">
                                        <p:cTn id="66" dur="500" fill="hold"/>
                                        <p:tgtEl>
                                          <p:spTgt spid="30"/>
                                        </p:tgtEl>
                                        <p:attrNameLst>
                                          <p:attrName>ppt_y</p:attrName>
                                        </p:attrNameLst>
                                      </p:cBhvr>
                                      <p:tavLst>
                                        <p:tav tm="0">
                                          <p:val>
                                            <p:strVal val="#ppt_y+0.1"/>
                                          </p:val>
                                        </p:tav>
                                        <p:tav tm="100000">
                                          <p:val>
                                            <p:strVal val="#ppt_y"/>
                                          </p:val>
                                        </p:tav>
                                      </p:tavLst>
                                    </p:anim>
                                    <p:animEffect transition="in" filter="fade">
                                      <p:cBhvr>
                                        <p:cTn id="67"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1"/>
                                          </p:val>
                                        </p:tav>
                                        <p:tav tm="100000">
                                          <p:val>
                                            <p:strVal val="#ppt_y"/>
                                          </p:val>
                                        </p:tav>
                                      </p:tavLst>
                                    </p:anim>
                                    <p:animEffect transition="in" filter="fade">
                                      <p:cBhvr>
                                        <p:cTn id="74" dur="500"/>
                                        <p:tgtEl>
                                          <p:spTgt spid="22"/>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1"/>
                                          </p:val>
                                        </p:tav>
                                        <p:tav tm="100000">
                                          <p:val>
                                            <p:strVal val="#ppt_y"/>
                                          </p:val>
                                        </p:tav>
                                      </p:tavLst>
                                    </p:anim>
                                    <p:animEffect transition="in" filter="fade">
                                      <p:cBhvr>
                                        <p:cTn id="79" dur="500"/>
                                        <p:tgtEl>
                                          <p:spTgt spid="23"/>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1"/>
                                          </p:val>
                                        </p:tav>
                                        <p:tav tm="100000">
                                          <p:val>
                                            <p:strVal val="#ppt_y"/>
                                          </p:val>
                                        </p:tav>
                                      </p:tavLst>
                                    </p:anim>
                                    <p:animEffect transition="in" filter="fade">
                                      <p:cBhvr>
                                        <p:cTn id="84" dur="500"/>
                                        <p:tgtEl>
                                          <p:spTgt spid="24"/>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1"/>
                                          </p:val>
                                        </p:tav>
                                        <p:tav tm="100000">
                                          <p:val>
                                            <p:strVal val="#ppt_y"/>
                                          </p:val>
                                        </p:tav>
                                      </p:tavLst>
                                    </p:anim>
                                    <p:animEffect transition="in" filter="fade">
                                      <p:cBhvr>
                                        <p:cTn id="89"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00" fill="hold"/>
                                        <p:tgtEl>
                                          <p:spTgt spid="26"/>
                                        </p:tgtEl>
                                        <p:attrNameLst>
                                          <p:attrName>ppt_x</p:attrName>
                                        </p:attrNameLst>
                                      </p:cBhvr>
                                      <p:tavLst>
                                        <p:tav tm="0">
                                          <p:val>
                                            <p:strVal val="#ppt_x"/>
                                          </p:val>
                                        </p:tav>
                                        <p:tav tm="100000">
                                          <p:val>
                                            <p:strVal val="#ppt_x"/>
                                          </p:val>
                                        </p:tav>
                                      </p:tavLst>
                                    </p:anim>
                                    <p:anim calcmode="lin" valueType="num">
                                      <p:cBhvr additive="base">
                                        <p:cTn id="95" dur="500" fill="hold"/>
                                        <p:tgtEl>
                                          <p:spTgt spid="26"/>
                                        </p:tgtEl>
                                        <p:attrNameLst>
                                          <p:attrName>ppt_y</p:attrName>
                                        </p:attrNameLst>
                                      </p:cBhvr>
                                      <p:tavLst>
                                        <p:tav tm="0">
                                          <p:val>
                                            <p:strVal val="#ppt_y+0.1"/>
                                          </p:val>
                                        </p:tav>
                                        <p:tav tm="100000">
                                          <p:val>
                                            <p:strVal val="#ppt_y"/>
                                          </p:val>
                                        </p:tav>
                                      </p:tavLst>
                                    </p:anim>
                                    <p:animEffect transition="in" filter="fade">
                                      <p:cBhvr>
                                        <p:cTn id="96" dur="500"/>
                                        <p:tgtEl>
                                          <p:spTgt spid="26"/>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00" fill="hold"/>
                                        <p:tgtEl>
                                          <p:spTgt spid="27"/>
                                        </p:tgtEl>
                                        <p:attrNameLst>
                                          <p:attrName>ppt_x</p:attrName>
                                        </p:attrNameLst>
                                      </p:cBhvr>
                                      <p:tavLst>
                                        <p:tav tm="0">
                                          <p:val>
                                            <p:strVal val="#ppt_x"/>
                                          </p:val>
                                        </p:tav>
                                        <p:tav tm="100000">
                                          <p:val>
                                            <p:strVal val="#ppt_x"/>
                                          </p:val>
                                        </p:tav>
                                      </p:tavLst>
                                    </p:anim>
                                    <p:anim calcmode="lin" valueType="num">
                                      <p:cBhvr additive="base">
                                        <p:cTn id="100" dur="500" fill="hold"/>
                                        <p:tgtEl>
                                          <p:spTgt spid="27"/>
                                        </p:tgtEl>
                                        <p:attrNameLst>
                                          <p:attrName>ppt_y</p:attrName>
                                        </p:attrNameLst>
                                      </p:cBhvr>
                                      <p:tavLst>
                                        <p:tav tm="0">
                                          <p:val>
                                            <p:strVal val="#ppt_y+0.1"/>
                                          </p:val>
                                        </p:tav>
                                        <p:tav tm="100000">
                                          <p:val>
                                            <p:strVal val="#ppt_y"/>
                                          </p:val>
                                        </p:tav>
                                      </p:tavLst>
                                    </p:anim>
                                    <p:animEffect transition="in" filter="fade">
                                      <p:cBhvr>
                                        <p:cTn id="101" dur="500"/>
                                        <p:tgtEl>
                                          <p:spTgt spid="27"/>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anim calcmode="lin" valueType="num">
                                      <p:cBhvr additive="base">
                                        <p:cTn id="104" dur="500" fill="hold"/>
                                        <p:tgtEl>
                                          <p:spTgt spid="28"/>
                                        </p:tgtEl>
                                        <p:attrNameLst>
                                          <p:attrName>ppt_x</p:attrName>
                                        </p:attrNameLst>
                                      </p:cBhvr>
                                      <p:tavLst>
                                        <p:tav tm="0">
                                          <p:val>
                                            <p:strVal val="#ppt_x"/>
                                          </p:val>
                                        </p:tav>
                                        <p:tav tm="100000">
                                          <p:val>
                                            <p:strVal val="#ppt_x"/>
                                          </p:val>
                                        </p:tav>
                                      </p:tavLst>
                                    </p:anim>
                                    <p:anim calcmode="lin" valueType="num">
                                      <p:cBhvr additive="base">
                                        <p:cTn id="105" dur="500" fill="hold"/>
                                        <p:tgtEl>
                                          <p:spTgt spid="28"/>
                                        </p:tgtEl>
                                        <p:attrNameLst>
                                          <p:attrName>ppt_y</p:attrName>
                                        </p:attrNameLst>
                                      </p:cBhvr>
                                      <p:tavLst>
                                        <p:tav tm="0">
                                          <p:val>
                                            <p:strVal val="#ppt_y+0.1"/>
                                          </p:val>
                                        </p:tav>
                                        <p:tav tm="100000">
                                          <p:val>
                                            <p:strVal val="#ppt_y"/>
                                          </p:val>
                                        </p:tav>
                                      </p:tavLst>
                                    </p:anim>
                                    <p:animEffect transition="in" filter="fade">
                                      <p:cBhvr>
                                        <p:cTn id="106" dur="500"/>
                                        <p:tgtEl>
                                          <p:spTgt spid="28"/>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00" fill="hold"/>
                                        <p:tgtEl>
                                          <p:spTgt spid="29"/>
                                        </p:tgtEl>
                                        <p:attrNameLst>
                                          <p:attrName>ppt_x</p:attrName>
                                        </p:attrNameLst>
                                      </p:cBhvr>
                                      <p:tavLst>
                                        <p:tav tm="0">
                                          <p:val>
                                            <p:strVal val="#ppt_x"/>
                                          </p:val>
                                        </p:tav>
                                        <p:tav tm="100000">
                                          <p:val>
                                            <p:strVal val="#ppt_x"/>
                                          </p:val>
                                        </p:tav>
                                      </p:tavLst>
                                    </p:anim>
                                    <p:anim calcmode="lin" valueType="num">
                                      <p:cBhvr additive="base">
                                        <p:cTn id="110" dur="500" fill="hold"/>
                                        <p:tgtEl>
                                          <p:spTgt spid="29"/>
                                        </p:tgtEl>
                                        <p:attrNameLst>
                                          <p:attrName>ppt_y</p:attrName>
                                        </p:attrNameLst>
                                      </p:cBhvr>
                                      <p:tavLst>
                                        <p:tav tm="0">
                                          <p:val>
                                            <p:strVal val="#ppt_y+0.1"/>
                                          </p:val>
                                        </p:tav>
                                        <p:tav tm="100000">
                                          <p:val>
                                            <p:strVal val="#ppt_y"/>
                                          </p:val>
                                        </p:tav>
                                      </p:tavLst>
                                    </p:anim>
                                    <p:animEffect transition="in" filter="fade">
                                      <p:cBhvr>
                                        <p:cTn id="111" dur="500"/>
                                        <p:tgtEl>
                                          <p:spTgt spid="29"/>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additive="base">
                                        <p:cTn id="116" dur="500" fill="hold"/>
                                        <p:tgtEl>
                                          <p:spTgt spid="31"/>
                                        </p:tgtEl>
                                        <p:attrNameLst>
                                          <p:attrName>ppt_x</p:attrName>
                                        </p:attrNameLst>
                                      </p:cBhvr>
                                      <p:tavLst>
                                        <p:tav tm="0">
                                          <p:val>
                                            <p:strVal val="#ppt_x"/>
                                          </p:val>
                                        </p:tav>
                                        <p:tav tm="100000">
                                          <p:val>
                                            <p:strVal val="#ppt_x"/>
                                          </p:val>
                                        </p:tav>
                                      </p:tavLst>
                                    </p:anim>
                                    <p:anim calcmode="lin" valueType="num">
                                      <p:cBhvr additive="base">
                                        <p:cTn id="117" dur="500" fill="hold"/>
                                        <p:tgtEl>
                                          <p:spTgt spid="31"/>
                                        </p:tgtEl>
                                        <p:attrNameLst>
                                          <p:attrName>ppt_y</p:attrName>
                                        </p:attrNameLst>
                                      </p:cBhvr>
                                      <p:tavLst>
                                        <p:tav tm="0">
                                          <p:val>
                                            <p:strVal val="#ppt_y+0.1"/>
                                          </p:val>
                                        </p:tav>
                                        <p:tav tm="100000">
                                          <p:val>
                                            <p:strVal val="#ppt_y"/>
                                          </p:val>
                                        </p:tav>
                                      </p:tavLst>
                                    </p:anim>
                                    <p:animEffect transition="in" filter="fade">
                                      <p:cBhvr>
                                        <p:cTn id="118" dur="500"/>
                                        <p:tgtEl>
                                          <p:spTgt spid="31"/>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00" fill="hold"/>
                                        <p:tgtEl>
                                          <p:spTgt spid="32"/>
                                        </p:tgtEl>
                                        <p:attrNameLst>
                                          <p:attrName>ppt_x</p:attrName>
                                        </p:attrNameLst>
                                      </p:cBhvr>
                                      <p:tavLst>
                                        <p:tav tm="0">
                                          <p:val>
                                            <p:strVal val="#ppt_x"/>
                                          </p:val>
                                        </p:tav>
                                        <p:tav tm="100000">
                                          <p:val>
                                            <p:strVal val="#ppt_x"/>
                                          </p:val>
                                        </p:tav>
                                      </p:tavLst>
                                    </p:anim>
                                    <p:anim calcmode="lin" valueType="num">
                                      <p:cBhvr additive="base">
                                        <p:cTn id="122" dur="500" fill="hold"/>
                                        <p:tgtEl>
                                          <p:spTgt spid="32"/>
                                        </p:tgtEl>
                                        <p:attrNameLst>
                                          <p:attrName>ppt_y</p:attrName>
                                        </p:attrNameLst>
                                      </p:cBhvr>
                                      <p:tavLst>
                                        <p:tav tm="0">
                                          <p:val>
                                            <p:strVal val="#ppt_y+0.1"/>
                                          </p:val>
                                        </p:tav>
                                        <p:tav tm="100000">
                                          <p:val>
                                            <p:strVal val="#ppt_y"/>
                                          </p:val>
                                        </p:tav>
                                      </p:tavLst>
                                    </p:anim>
                                    <p:animEffect transition="in" filter="fade">
                                      <p:cBhvr>
                                        <p:cTn id="123" dur="500"/>
                                        <p:tgtEl>
                                          <p:spTgt spid="32"/>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33"/>
                                        </p:tgtEl>
                                        <p:attrNameLst>
                                          <p:attrName>style.visibility</p:attrName>
                                        </p:attrNameLst>
                                      </p:cBhvr>
                                      <p:to>
                                        <p:strVal val="visible"/>
                                      </p:to>
                                    </p:set>
                                    <p:anim calcmode="lin" valueType="num">
                                      <p:cBhvr additive="base">
                                        <p:cTn id="126" dur="500" fill="hold"/>
                                        <p:tgtEl>
                                          <p:spTgt spid="33"/>
                                        </p:tgtEl>
                                        <p:attrNameLst>
                                          <p:attrName>ppt_x</p:attrName>
                                        </p:attrNameLst>
                                      </p:cBhvr>
                                      <p:tavLst>
                                        <p:tav tm="0">
                                          <p:val>
                                            <p:strVal val="#ppt_x"/>
                                          </p:val>
                                        </p:tav>
                                        <p:tav tm="100000">
                                          <p:val>
                                            <p:strVal val="#ppt_x"/>
                                          </p:val>
                                        </p:tav>
                                      </p:tavLst>
                                    </p:anim>
                                    <p:anim calcmode="lin" valueType="num">
                                      <p:cBhvr additive="base">
                                        <p:cTn id="127" dur="500" fill="hold"/>
                                        <p:tgtEl>
                                          <p:spTgt spid="33"/>
                                        </p:tgtEl>
                                        <p:attrNameLst>
                                          <p:attrName>ppt_y</p:attrName>
                                        </p:attrNameLst>
                                      </p:cBhvr>
                                      <p:tavLst>
                                        <p:tav tm="0">
                                          <p:val>
                                            <p:strVal val="#ppt_y+0.1"/>
                                          </p:val>
                                        </p:tav>
                                        <p:tav tm="100000">
                                          <p:val>
                                            <p:strVal val="#ppt_y"/>
                                          </p:val>
                                        </p:tav>
                                      </p:tavLst>
                                    </p:anim>
                                    <p:animEffect transition="in" filter="fade">
                                      <p:cBhvr>
                                        <p:cTn id="128" dur="500"/>
                                        <p:tgtEl>
                                          <p:spTgt spid="33"/>
                                        </p:tgtEl>
                                      </p:cBhvr>
                                    </p:animEffect>
                                  </p:childTnLst>
                                </p:cTn>
                              </p:par>
                              <p:par>
                                <p:cTn id="134" presetID="2" presetClass="entr" presetSubtype="4" fill="hold" grpId="0" nodeType="withEffect">
                                  <p:stCondLst>
                                    <p:cond delay="10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00" fill="hold"/>
                                        <p:tgtEl>
                                          <p:spTgt spid="34"/>
                                        </p:tgtEl>
                                        <p:attrNameLst>
                                          <p:attrName>ppt_x</p:attrName>
                                        </p:attrNameLst>
                                      </p:cBhvr>
                                      <p:tavLst>
                                        <p:tav tm="0">
                                          <p:val>
                                            <p:strVal val="#ppt_x"/>
                                          </p:val>
                                        </p:tav>
                                        <p:tav tm="100000">
                                          <p:val>
                                            <p:strVal val="#ppt_x"/>
                                          </p:val>
                                        </p:tav>
                                      </p:tavLst>
                                    </p:anim>
                                    <p:anim calcmode="lin" valueType="num">
                                      <p:cBhvr additive="base">
                                        <p:cTn id="132" dur="500" fill="hold"/>
                                        <p:tgtEl>
                                          <p:spTgt spid="34"/>
                                        </p:tgtEl>
                                        <p:attrNameLst>
                                          <p:attrName>ppt_y</p:attrName>
                                        </p:attrNameLst>
                                      </p:cBhvr>
                                      <p:tavLst>
                                        <p:tav tm="0">
                                          <p:val>
                                            <p:strVal val="#ppt_y+0.1"/>
                                          </p:val>
                                        </p:tav>
                                        <p:tav tm="100000">
                                          <p:val>
                                            <p:strVal val="#ppt_y"/>
                                          </p:val>
                                        </p:tav>
                                      </p:tavLst>
                                    </p:anim>
                                    <p:animEffect transition="in" filter="fade">
                                      <p:cBhvr>
                                        <p:cTn id="133" dur="500"/>
                                        <p:tgtEl>
                                          <p:spTgt spid="34"/>
                                        </p:tgtEl>
                                      </p:cBhvr>
                                    </p:animEffect>
                                  </p:childTnLst>
                                </p:cTn>
                              </p:par>
                              <p:par>
                                <p:cTn id="139" presetID="2" presetClass="entr" presetSubtype="4" fill="hold" grpId="0" nodeType="withEffect">
                                  <p:stCondLst>
                                    <p:cond delay="100"/>
                                  </p:stCondLst>
                                  <p:childTnLst>
                                    <p:set>
                                      <p:cBhvr>
                                        <p:cTn id="135" dur="1" fill="hold">
                                          <p:stCondLst>
                                            <p:cond delay="0"/>
                                          </p:stCondLst>
                                        </p:cTn>
                                        <p:tgtEl>
                                          <p:spTgt spid="35"/>
                                        </p:tgtEl>
                                        <p:attrNameLst>
                                          <p:attrName>style.visibility</p:attrName>
                                        </p:attrNameLst>
                                      </p:cBhvr>
                                      <p:to>
                                        <p:strVal val="visible"/>
                                      </p:to>
                                    </p:set>
                                    <p:anim calcmode="lin" valueType="num">
                                      <p:cBhvr additive="base">
                                        <p:cTn id="136" dur="500" fill="hold"/>
                                        <p:tgtEl>
                                          <p:spTgt spid="35"/>
                                        </p:tgtEl>
                                        <p:attrNameLst>
                                          <p:attrName>ppt_x</p:attrName>
                                        </p:attrNameLst>
                                      </p:cBhvr>
                                      <p:tavLst>
                                        <p:tav tm="0">
                                          <p:val>
                                            <p:strVal val="#ppt_x"/>
                                          </p:val>
                                        </p:tav>
                                        <p:tav tm="100000">
                                          <p:val>
                                            <p:strVal val="#ppt_x"/>
                                          </p:val>
                                        </p:tav>
                                      </p:tavLst>
                                    </p:anim>
                                    <p:anim calcmode="lin" valueType="num">
                                      <p:cBhvr additive="base">
                                        <p:cTn id="137" dur="500" fill="hold"/>
                                        <p:tgtEl>
                                          <p:spTgt spid="35"/>
                                        </p:tgtEl>
                                        <p:attrNameLst>
                                          <p:attrName>ppt_y</p:attrName>
                                        </p:attrNameLst>
                                      </p:cBhvr>
                                      <p:tavLst>
                                        <p:tav tm="0">
                                          <p:val>
                                            <p:strVal val="#ppt_y+0.1"/>
                                          </p:val>
                                        </p:tav>
                                        <p:tav tm="100000">
                                          <p:val>
                                            <p:strVal val="#ppt_y"/>
                                          </p:val>
                                        </p:tav>
                                      </p:tavLst>
                                    </p:anim>
                                    <p:animEffect transition="in" filter="fade">
                                      <p:cBhvr>
                                        <p:cTn id="138" dur="500"/>
                                        <p:tgtEl>
                                          <p:spTgt spid="35"/>
                                        </p:tgtEl>
                                      </p:cBhvr>
                                    </p:animEffect>
                                  </p:childTnLst>
                                </p:cTn>
                              </p:par>
                              <p:par>
                                <p:cTn id="144" presetID="2" presetClass="entr" presetSubtype="4" fill="hold" grpId="0" nodeType="withEffect">
                                  <p:stCondLst>
                                    <p:cond delay="100"/>
                                  </p:stCondLst>
                                  <p:childTnLst>
                                    <p:set>
                                      <p:cBhvr>
                                        <p:cTn id="140" dur="1" fill="hold">
                                          <p:stCondLst>
                                            <p:cond delay="0"/>
                                          </p:stCondLst>
                                        </p:cTn>
                                        <p:tgtEl>
                                          <p:spTgt spid="36"/>
                                        </p:tgtEl>
                                        <p:attrNameLst>
                                          <p:attrName>style.visibility</p:attrName>
                                        </p:attrNameLst>
                                      </p:cBhvr>
                                      <p:to>
                                        <p:strVal val="visible"/>
                                      </p:to>
                                    </p:set>
                                    <p:anim calcmode="lin" valueType="num">
                                      <p:cBhvr additive="base">
                                        <p:cTn id="141" dur="500" fill="hold"/>
                                        <p:tgtEl>
                                          <p:spTgt spid="36"/>
                                        </p:tgtEl>
                                        <p:attrNameLst>
                                          <p:attrName>ppt_x</p:attrName>
                                        </p:attrNameLst>
                                      </p:cBhvr>
                                      <p:tavLst>
                                        <p:tav tm="0">
                                          <p:val>
                                            <p:strVal val="#ppt_x"/>
                                          </p:val>
                                        </p:tav>
                                        <p:tav tm="100000">
                                          <p:val>
                                            <p:strVal val="#ppt_x"/>
                                          </p:val>
                                        </p:tav>
                                      </p:tavLst>
                                    </p:anim>
                                    <p:anim calcmode="lin" valueType="num">
                                      <p:cBhvr additive="base">
                                        <p:cTn id="142" dur="500" fill="hold"/>
                                        <p:tgtEl>
                                          <p:spTgt spid="36"/>
                                        </p:tgtEl>
                                        <p:attrNameLst>
                                          <p:attrName>ppt_y</p:attrName>
                                        </p:attrNameLst>
                                      </p:cBhvr>
                                      <p:tavLst>
                                        <p:tav tm="0">
                                          <p:val>
                                            <p:strVal val="#ppt_y+0.1"/>
                                          </p:val>
                                        </p:tav>
                                        <p:tav tm="100000">
                                          <p:val>
                                            <p:strVal val="#ppt_y"/>
                                          </p:val>
                                        </p:tav>
                                      </p:tavLst>
                                    </p:anim>
                                    <p:animEffect transition="in" filter="fade">
                                      <p:cBhvr>
                                        <p:cTn id="143" dur="500"/>
                                        <p:tgtEl>
                                          <p:spTgt spid="36"/>
                                        </p:tgtEl>
                                      </p:cBhvr>
                                    </p:animEffect>
                                  </p:childTnLst>
                                </p:cTn>
                              </p:par>
                              <p:par>
                                <p:cTn id="149" presetID="2" presetClass="entr" presetSubtype="4" fill="hold" grpId="0" nodeType="withEffect">
                                  <p:stCondLst>
                                    <p:cond delay="190"/>
                                  </p:stCondLst>
                                  <p:childTnLst>
                                    <p:set>
                                      <p:cBhvr>
                                        <p:cTn id="145" dur="1" fill="hold">
                                          <p:stCondLst>
                                            <p:cond delay="0"/>
                                          </p:stCondLst>
                                        </p:cTn>
                                        <p:tgtEl>
                                          <p:spTgt spid="37"/>
                                        </p:tgtEl>
                                        <p:attrNameLst>
                                          <p:attrName>style.visibility</p:attrName>
                                        </p:attrNameLst>
                                      </p:cBhvr>
                                      <p:to>
                                        <p:strVal val="visible"/>
                                      </p:to>
                                    </p:set>
                                    <p:anim calcmode="lin" valueType="num">
                                      <p:cBhvr additive="base">
                                        <p:cTn id="146" dur="500" fill="hold"/>
                                        <p:tgtEl>
                                          <p:spTgt spid="37"/>
                                        </p:tgtEl>
                                        <p:attrNameLst>
                                          <p:attrName>ppt_x</p:attrName>
                                        </p:attrNameLst>
                                      </p:cBhvr>
                                      <p:tavLst>
                                        <p:tav tm="0">
                                          <p:val>
                                            <p:strVal val="#ppt_x"/>
                                          </p:val>
                                        </p:tav>
                                        <p:tav tm="100000">
                                          <p:val>
                                            <p:strVal val="#ppt_x"/>
                                          </p:val>
                                        </p:tav>
                                      </p:tavLst>
                                    </p:anim>
                                    <p:anim calcmode="lin" valueType="num">
                                      <p:cBhvr additive="base">
                                        <p:cTn id="147" dur="500" fill="hold"/>
                                        <p:tgtEl>
                                          <p:spTgt spid="37"/>
                                        </p:tgtEl>
                                        <p:attrNameLst>
                                          <p:attrName>ppt_y</p:attrName>
                                        </p:attrNameLst>
                                      </p:cBhvr>
                                      <p:tavLst>
                                        <p:tav tm="0">
                                          <p:val>
                                            <p:strVal val="#ppt_y+0.1"/>
                                          </p:val>
                                        </p:tav>
                                        <p:tav tm="100000">
                                          <p:val>
                                            <p:strVal val="#ppt_y"/>
                                          </p:val>
                                        </p:tav>
                                      </p:tavLst>
                                    </p:anim>
                                    <p:animEffect transition="in" filter="fade">
                                      <p:cBhvr>
                                        <p:cTn id="148" dur="500"/>
                                        <p:tgtEl>
                                          <p:spTgt spid="37"/>
                                        </p:tgtEl>
                                      </p:cBhvr>
                                    </p:animEffect>
                                  </p:childTnLst>
                                </p:cTn>
                              </p:par>
                              <p:par>
                                <p:cTn id="154" presetID="2" presetClass="entr" presetSubtype="4" fill="hold" grpId="0" nodeType="withEffect">
                                  <p:stCondLst>
                                    <p:cond delay="190"/>
                                  </p:stCondLst>
                                  <p:childTnLst>
                                    <p:set>
                                      <p:cBhvr>
                                        <p:cTn id="150" dur="1" fill="hold">
                                          <p:stCondLst>
                                            <p:cond delay="0"/>
                                          </p:stCondLst>
                                        </p:cTn>
                                        <p:tgtEl>
                                          <p:spTgt spid="38"/>
                                        </p:tgtEl>
                                        <p:attrNameLst>
                                          <p:attrName>style.visibility</p:attrName>
                                        </p:attrNameLst>
                                      </p:cBhvr>
                                      <p:to>
                                        <p:strVal val="visible"/>
                                      </p:to>
                                    </p:set>
                                    <p:anim calcmode="lin" valueType="num">
                                      <p:cBhvr additive="base">
                                        <p:cTn id="151" dur="500" fill="hold"/>
                                        <p:tgtEl>
                                          <p:spTgt spid="38"/>
                                        </p:tgtEl>
                                        <p:attrNameLst>
                                          <p:attrName>ppt_x</p:attrName>
                                        </p:attrNameLst>
                                      </p:cBhvr>
                                      <p:tavLst>
                                        <p:tav tm="0">
                                          <p:val>
                                            <p:strVal val="#ppt_x"/>
                                          </p:val>
                                        </p:tav>
                                        <p:tav tm="100000">
                                          <p:val>
                                            <p:strVal val="#ppt_x"/>
                                          </p:val>
                                        </p:tav>
                                      </p:tavLst>
                                    </p:anim>
                                    <p:anim calcmode="lin" valueType="num">
                                      <p:cBhvr additive="base">
                                        <p:cTn id="152" dur="500" fill="hold"/>
                                        <p:tgtEl>
                                          <p:spTgt spid="38"/>
                                        </p:tgtEl>
                                        <p:attrNameLst>
                                          <p:attrName>ppt_y</p:attrName>
                                        </p:attrNameLst>
                                      </p:cBhvr>
                                      <p:tavLst>
                                        <p:tav tm="0">
                                          <p:val>
                                            <p:strVal val="#ppt_y+0.1"/>
                                          </p:val>
                                        </p:tav>
                                        <p:tav tm="100000">
                                          <p:val>
                                            <p:strVal val="#ppt_y"/>
                                          </p:val>
                                        </p:tav>
                                      </p:tavLst>
                                    </p:anim>
                                    <p:animEffect transition="in" filter="fade">
                                      <p:cBhvr>
                                        <p:cTn id="153" dur="500"/>
                                        <p:tgtEl>
                                          <p:spTgt spid="38"/>
                                        </p:tgtEl>
                                      </p:cBhvr>
                                    </p:animEffect>
                                  </p:childTnLst>
                                </p:cTn>
                              </p:par>
                              <p:par>
                                <p:cTn id="159" presetID="2" presetClass="entr" presetSubtype="4" fill="hold" grpId="0" nodeType="withEffect">
                                  <p:stCondLst>
                                    <p:cond delay="20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6" dur="500" fill="hold"/>
                                        <p:tgtEl>
                                          <p:spTgt spid="39"/>
                                        </p:tgtEl>
                                        <p:attrNameLst>
                                          <p:attrName>ppt_x</p:attrName>
                                        </p:attrNameLst>
                                      </p:cBhvr>
                                      <p:tavLst>
                                        <p:tav tm="0">
                                          <p:val>
                                            <p:strVal val="#ppt_x"/>
                                          </p:val>
                                        </p:tav>
                                        <p:tav tm="100000">
                                          <p:val>
                                            <p:strVal val="#ppt_x"/>
                                          </p:val>
                                        </p:tav>
                                      </p:tavLst>
                                    </p:anim>
                                    <p:anim calcmode="lin" valueType="num">
                                      <p:cBhvr additive="base">
                                        <p:cTn id="157" dur="500" fill="hold"/>
                                        <p:tgtEl>
                                          <p:spTgt spid="39"/>
                                        </p:tgtEl>
                                        <p:attrNameLst>
                                          <p:attrName>ppt_y</p:attrName>
                                        </p:attrNameLst>
                                      </p:cBhvr>
                                      <p:tavLst>
                                        <p:tav tm="0">
                                          <p:val>
                                            <p:strVal val="#ppt_y+0.1"/>
                                          </p:val>
                                        </p:tav>
                                        <p:tav tm="100000">
                                          <p:val>
                                            <p:strVal val="#ppt_y"/>
                                          </p:val>
                                        </p:tav>
                                      </p:tavLst>
                                    </p:anim>
                                    <p:animEffect transition="in" filter="fade">
                                      <p:cBhvr>
                                        <p:cTn id="158" dur="500"/>
                                        <p:tgtEl>
                                          <p:spTgt spid="39"/>
                                        </p:tgtEl>
                                      </p:cBhvr>
                                    </p:animEffect>
                                  </p:childTnLst>
                                </p:cTn>
                              </p:par>
                              <p:par>
                                <p:cTn id="164" presetID="2" presetClass="entr" presetSubtype="4" fill="hold" grpId="0" nodeType="withEffect">
                                  <p:stCondLst>
                                    <p:cond delay="200"/>
                                  </p:stCondLst>
                                  <p:childTnLst>
                                    <p:set>
                                      <p:cBhvr>
                                        <p:cTn id="160" dur="1" fill="hold">
                                          <p:stCondLst>
                                            <p:cond delay="0"/>
                                          </p:stCondLst>
                                        </p:cTn>
                                        <p:tgtEl>
                                          <p:spTgt spid="40"/>
                                        </p:tgtEl>
                                        <p:attrNameLst>
                                          <p:attrName>style.visibility</p:attrName>
                                        </p:attrNameLst>
                                      </p:cBhvr>
                                      <p:to>
                                        <p:strVal val="visible"/>
                                      </p:to>
                                    </p:set>
                                    <p:anim calcmode="lin" valueType="num">
                                      <p:cBhvr additive="base">
                                        <p:cTn id="161" dur="500" fill="hold"/>
                                        <p:tgtEl>
                                          <p:spTgt spid="40"/>
                                        </p:tgtEl>
                                        <p:attrNameLst>
                                          <p:attrName>ppt_x</p:attrName>
                                        </p:attrNameLst>
                                      </p:cBhvr>
                                      <p:tavLst>
                                        <p:tav tm="0">
                                          <p:val>
                                            <p:strVal val="#ppt_x"/>
                                          </p:val>
                                        </p:tav>
                                        <p:tav tm="100000">
                                          <p:val>
                                            <p:strVal val="#ppt_x"/>
                                          </p:val>
                                        </p:tav>
                                      </p:tavLst>
                                    </p:anim>
                                    <p:anim calcmode="lin" valueType="num">
                                      <p:cBhvr additive="base">
                                        <p:cTn id="162" dur="500" fill="hold"/>
                                        <p:tgtEl>
                                          <p:spTgt spid="40"/>
                                        </p:tgtEl>
                                        <p:attrNameLst>
                                          <p:attrName>ppt_y</p:attrName>
                                        </p:attrNameLst>
                                      </p:cBhvr>
                                      <p:tavLst>
                                        <p:tav tm="0">
                                          <p:val>
                                            <p:strVal val="#ppt_y+0.1"/>
                                          </p:val>
                                        </p:tav>
                                        <p:tav tm="100000">
                                          <p:val>
                                            <p:strVal val="#ppt_y"/>
                                          </p:val>
                                        </p:tav>
                                      </p:tavLst>
                                    </p:anim>
                                    <p:animEffect transition="in" filter="fade">
                                      <p:cBhvr>
                                        <p:cTn id="163" dur="500"/>
                                        <p:tgtEl>
                                          <p:spTgt spid="40"/>
                                        </p:tgtEl>
                                      </p:cBhvr>
                                    </p:animEffect>
                                  </p:childTnLst>
                                </p:cTn>
                              </p:par>
                              <p:par>
                                <p:cTn id="169" presetID="2" presetClass="entr" presetSubtype="4" fill="hold" grpId="0" nodeType="withEffect">
                                  <p:stCondLst>
                                    <p:cond delay="200"/>
                                  </p:stCondLst>
                                  <p:childTnLst>
                                    <p:set>
                                      <p:cBhvr>
                                        <p:cTn id="165" dur="1" fill="hold">
                                          <p:stCondLst>
                                            <p:cond delay="0"/>
                                          </p:stCondLst>
                                        </p:cTn>
                                        <p:tgtEl>
                                          <p:spTgt spid="41"/>
                                        </p:tgtEl>
                                        <p:attrNameLst>
                                          <p:attrName>style.visibility</p:attrName>
                                        </p:attrNameLst>
                                      </p:cBhvr>
                                      <p:to>
                                        <p:strVal val="visible"/>
                                      </p:to>
                                    </p:set>
                                    <p:anim calcmode="lin" valueType="num">
                                      <p:cBhvr additive="base">
                                        <p:cTn id="166" dur="500" fill="hold"/>
                                        <p:tgtEl>
                                          <p:spTgt spid="41"/>
                                        </p:tgtEl>
                                        <p:attrNameLst>
                                          <p:attrName>ppt_x</p:attrName>
                                        </p:attrNameLst>
                                      </p:cBhvr>
                                      <p:tavLst>
                                        <p:tav tm="0">
                                          <p:val>
                                            <p:strVal val="#ppt_x"/>
                                          </p:val>
                                        </p:tav>
                                        <p:tav tm="100000">
                                          <p:val>
                                            <p:strVal val="#ppt_x"/>
                                          </p:val>
                                        </p:tav>
                                      </p:tavLst>
                                    </p:anim>
                                    <p:anim calcmode="lin" valueType="num">
                                      <p:cBhvr additive="base">
                                        <p:cTn id="167" dur="500" fill="hold"/>
                                        <p:tgtEl>
                                          <p:spTgt spid="41"/>
                                        </p:tgtEl>
                                        <p:attrNameLst>
                                          <p:attrName>ppt_y</p:attrName>
                                        </p:attrNameLst>
                                      </p:cBhvr>
                                      <p:tavLst>
                                        <p:tav tm="0">
                                          <p:val>
                                            <p:strVal val="#ppt_y+0.1"/>
                                          </p:val>
                                        </p:tav>
                                        <p:tav tm="100000">
                                          <p:val>
                                            <p:strVal val="#ppt_y"/>
                                          </p:val>
                                        </p:tav>
                                      </p:tavLst>
                                    </p:anim>
                                    <p:animEffect transition="in" filter="fade">
                                      <p:cBhvr>
                                        <p:cTn id="168" dur="500"/>
                                        <p:tgtEl>
                                          <p:spTgt spid="41"/>
                                        </p:tgtEl>
                                      </p:cBhvr>
                                    </p:animEffect>
                                  </p:childTnLst>
                                </p:cTn>
                              </p:par>
                              <p:par>
                                <p:cTn id="174" presetID="2" presetClass="entr" presetSubtype="4" fill="hold" grpId="0" nodeType="withEffect">
                                  <p:stCondLst>
                                    <p:cond delay="290"/>
                                  </p:stCondLst>
                                  <p:childTnLst>
                                    <p:set>
                                      <p:cBhvr>
                                        <p:cTn id="170" dur="1" fill="hold">
                                          <p:stCondLst>
                                            <p:cond delay="0"/>
                                          </p:stCondLst>
                                        </p:cTn>
                                        <p:tgtEl>
                                          <p:spTgt spid="42"/>
                                        </p:tgtEl>
                                        <p:attrNameLst>
                                          <p:attrName>style.visibility</p:attrName>
                                        </p:attrNameLst>
                                      </p:cBhvr>
                                      <p:to>
                                        <p:strVal val="visible"/>
                                      </p:to>
                                    </p:set>
                                    <p:anim calcmode="lin" valueType="num">
                                      <p:cBhvr additive="base">
                                        <p:cTn id="171" dur="500" fill="hold"/>
                                        <p:tgtEl>
                                          <p:spTgt spid="42"/>
                                        </p:tgtEl>
                                        <p:attrNameLst>
                                          <p:attrName>ppt_x</p:attrName>
                                        </p:attrNameLst>
                                      </p:cBhvr>
                                      <p:tavLst>
                                        <p:tav tm="0">
                                          <p:val>
                                            <p:strVal val="#ppt_x"/>
                                          </p:val>
                                        </p:tav>
                                        <p:tav tm="100000">
                                          <p:val>
                                            <p:strVal val="#ppt_x"/>
                                          </p:val>
                                        </p:tav>
                                      </p:tavLst>
                                    </p:anim>
                                    <p:anim calcmode="lin" valueType="num">
                                      <p:cBhvr additive="base">
                                        <p:cTn id="172" dur="500" fill="hold"/>
                                        <p:tgtEl>
                                          <p:spTgt spid="42"/>
                                        </p:tgtEl>
                                        <p:attrNameLst>
                                          <p:attrName>ppt_y</p:attrName>
                                        </p:attrNameLst>
                                      </p:cBhvr>
                                      <p:tavLst>
                                        <p:tav tm="0">
                                          <p:val>
                                            <p:strVal val="#ppt_y+0.1"/>
                                          </p:val>
                                        </p:tav>
                                        <p:tav tm="100000">
                                          <p:val>
                                            <p:strVal val="#ppt_y"/>
                                          </p:val>
                                        </p:tav>
                                      </p:tavLst>
                                    </p:anim>
                                    <p:animEffect transition="in" filter="fade">
                                      <p:cBhvr>
                                        <p:cTn id="173" dur="500"/>
                                        <p:tgtEl>
                                          <p:spTgt spid="42"/>
                                        </p:tgtEl>
                                      </p:cBhvr>
                                    </p:animEffect>
                                  </p:childTnLst>
                                </p:cTn>
                              </p:par>
                              <p:par>
                                <p:cTn id="179" presetID="2" presetClass="entr" presetSubtype="4" fill="hold" grpId="0" nodeType="withEffect">
                                  <p:stCondLst>
                                    <p:cond delay="290"/>
                                  </p:stCondLst>
                                  <p:childTnLst>
                                    <p:set>
                                      <p:cBhvr>
                                        <p:cTn id="175" dur="1" fill="hold">
                                          <p:stCondLst>
                                            <p:cond delay="0"/>
                                          </p:stCondLst>
                                        </p:cTn>
                                        <p:tgtEl>
                                          <p:spTgt spid="43"/>
                                        </p:tgtEl>
                                        <p:attrNameLst>
                                          <p:attrName>style.visibility</p:attrName>
                                        </p:attrNameLst>
                                      </p:cBhvr>
                                      <p:to>
                                        <p:strVal val="visible"/>
                                      </p:to>
                                    </p:set>
                                    <p:anim calcmode="lin" valueType="num">
                                      <p:cBhvr additive="base">
                                        <p:cTn id="176" dur="500" fill="hold"/>
                                        <p:tgtEl>
                                          <p:spTgt spid="43"/>
                                        </p:tgtEl>
                                        <p:attrNameLst>
                                          <p:attrName>ppt_x</p:attrName>
                                        </p:attrNameLst>
                                      </p:cBhvr>
                                      <p:tavLst>
                                        <p:tav tm="0">
                                          <p:val>
                                            <p:strVal val="#ppt_x"/>
                                          </p:val>
                                        </p:tav>
                                        <p:tav tm="100000">
                                          <p:val>
                                            <p:strVal val="#ppt_x"/>
                                          </p:val>
                                        </p:tav>
                                      </p:tavLst>
                                    </p:anim>
                                    <p:anim calcmode="lin" valueType="num">
                                      <p:cBhvr additive="base">
                                        <p:cTn id="177" dur="500" fill="hold"/>
                                        <p:tgtEl>
                                          <p:spTgt spid="43"/>
                                        </p:tgtEl>
                                        <p:attrNameLst>
                                          <p:attrName>ppt_y</p:attrName>
                                        </p:attrNameLst>
                                      </p:cBhvr>
                                      <p:tavLst>
                                        <p:tav tm="0">
                                          <p:val>
                                            <p:strVal val="#ppt_y+0.1"/>
                                          </p:val>
                                        </p:tav>
                                        <p:tav tm="100000">
                                          <p:val>
                                            <p:strVal val="#ppt_y"/>
                                          </p:val>
                                        </p:tav>
                                      </p:tavLst>
                                    </p:anim>
                                    <p:animEffect transition="in" filter="fade">
                                      <p:cBhvr>
                                        <p:cTn id="178" dur="500"/>
                                        <p:tgtEl>
                                          <p:spTgt spid="43"/>
                                        </p:tgtEl>
                                      </p:cBhvr>
                                    </p:animEffect>
                                  </p:childTnLst>
                                </p:cTn>
                              </p:par>
                              <p:par>
                                <p:cTn id="184" presetID="2" presetClass="entr" presetSubtype="4" fill="hold" grpId="0" nodeType="withEffect">
                                  <p:stCondLst>
                                    <p:cond delay="380"/>
                                  </p:stCondLst>
                                  <p:childTnLst>
                                    <p:set>
                                      <p:cBhvr>
                                        <p:cTn id="180" dur="1" fill="hold">
                                          <p:stCondLst>
                                            <p:cond delay="0"/>
                                          </p:stCondLst>
                                        </p:cTn>
                                        <p:tgtEl>
                                          <p:spTgt spid="44"/>
                                        </p:tgtEl>
                                        <p:attrNameLst>
                                          <p:attrName>style.visibility</p:attrName>
                                        </p:attrNameLst>
                                      </p:cBhvr>
                                      <p:to>
                                        <p:strVal val="visible"/>
                                      </p:to>
                                    </p:set>
                                    <p:anim calcmode="lin" valueType="num">
                                      <p:cBhvr additive="base">
                                        <p:cTn id="181" dur="500" fill="hold"/>
                                        <p:tgtEl>
                                          <p:spTgt spid="44"/>
                                        </p:tgtEl>
                                        <p:attrNameLst>
                                          <p:attrName>ppt_x</p:attrName>
                                        </p:attrNameLst>
                                      </p:cBhvr>
                                      <p:tavLst>
                                        <p:tav tm="0">
                                          <p:val>
                                            <p:strVal val="#ppt_x"/>
                                          </p:val>
                                        </p:tav>
                                        <p:tav tm="100000">
                                          <p:val>
                                            <p:strVal val="#ppt_x"/>
                                          </p:val>
                                        </p:tav>
                                      </p:tavLst>
                                    </p:anim>
                                    <p:anim calcmode="lin" valueType="num">
                                      <p:cBhvr additive="base">
                                        <p:cTn id="182" dur="500" fill="hold"/>
                                        <p:tgtEl>
                                          <p:spTgt spid="44"/>
                                        </p:tgtEl>
                                        <p:attrNameLst>
                                          <p:attrName>ppt_y</p:attrName>
                                        </p:attrNameLst>
                                      </p:cBhvr>
                                      <p:tavLst>
                                        <p:tav tm="0">
                                          <p:val>
                                            <p:strVal val="#ppt_y+0.1"/>
                                          </p:val>
                                        </p:tav>
                                        <p:tav tm="100000">
                                          <p:val>
                                            <p:strVal val="#ppt_y"/>
                                          </p:val>
                                        </p:tav>
                                      </p:tavLst>
                                    </p:anim>
                                    <p:animEffect transition="in" filter="fade">
                                      <p:cBhvr>
                                        <p:cTn id="183" dur="500"/>
                                        <p:tgtEl>
                                          <p:spTgt spid="44"/>
                                        </p:tgtEl>
                                      </p:cBhvr>
                                    </p:animEffect>
                                  </p:childTnLst>
                                </p:cTn>
                              </p:par>
                              <p:par>
                                <p:cTn id="189" presetID="2" presetClass="entr" presetSubtype="4" fill="hold" grpId="0" nodeType="withEffect">
                                  <p:stCondLst>
                                    <p:cond delay="380"/>
                                  </p:stCondLst>
                                  <p:childTnLst>
                                    <p:set>
                                      <p:cBhvr>
                                        <p:cTn id="185" dur="1" fill="hold">
                                          <p:stCondLst>
                                            <p:cond delay="0"/>
                                          </p:stCondLst>
                                        </p:cTn>
                                        <p:tgtEl>
                                          <p:spTgt spid="45"/>
                                        </p:tgtEl>
                                        <p:attrNameLst>
                                          <p:attrName>style.visibility</p:attrName>
                                        </p:attrNameLst>
                                      </p:cBhvr>
                                      <p:to>
                                        <p:strVal val="visible"/>
                                      </p:to>
                                    </p:set>
                                    <p:anim calcmode="lin" valueType="num">
                                      <p:cBhvr additive="base">
                                        <p:cTn id="186" dur="500" fill="hold"/>
                                        <p:tgtEl>
                                          <p:spTgt spid="45"/>
                                        </p:tgtEl>
                                        <p:attrNameLst>
                                          <p:attrName>ppt_x</p:attrName>
                                        </p:attrNameLst>
                                      </p:cBhvr>
                                      <p:tavLst>
                                        <p:tav tm="0">
                                          <p:val>
                                            <p:strVal val="#ppt_x"/>
                                          </p:val>
                                        </p:tav>
                                        <p:tav tm="100000">
                                          <p:val>
                                            <p:strVal val="#ppt_x"/>
                                          </p:val>
                                        </p:tav>
                                      </p:tavLst>
                                    </p:anim>
                                    <p:anim calcmode="lin" valueType="num">
                                      <p:cBhvr additive="base">
                                        <p:cTn id="187" dur="500" fill="hold"/>
                                        <p:tgtEl>
                                          <p:spTgt spid="45"/>
                                        </p:tgtEl>
                                        <p:attrNameLst>
                                          <p:attrName>ppt_y</p:attrName>
                                        </p:attrNameLst>
                                      </p:cBhvr>
                                      <p:tavLst>
                                        <p:tav tm="0">
                                          <p:val>
                                            <p:strVal val="#ppt_y+0.1"/>
                                          </p:val>
                                        </p:tav>
                                        <p:tav tm="100000">
                                          <p:val>
                                            <p:strVal val="#ppt_y"/>
                                          </p:val>
                                        </p:tav>
                                      </p:tavLst>
                                    </p:anim>
                                    <p:animEffect transition="in" filter="fade">
                                      <p:cBhvr>
                                        <p:cTn id="188" dur="500"/>
                                        <p:tgtEl>
                                          <p:spTgt spid="45"/>
                                        </p:tgtEl>
                                      </p:cBhvr>
                                    </p:animEffect>
                                  </p:childTnLst>
                                </p:cTn>
                              </p:par>
                            </p:childTnLst>
                          </p:cTn>
                        </p:par>
                      </p:childTnLst>
                    </p:cTn>
                  </p:par>
                  <p:par>
                    <p:cTn id="190" fill="hold">
                      <p:stCondLst>
                        <p:cond delay="indefinite"/>
                      </p:stCondLst>
                      <p:childTnLst>
                        <p:par>
                          <p:cTn id="191" fill="hold">
                            <p:stCondLst>
                              <p:cond delay="0"/>
                            </p:stCondLst>
                            <p:childTnLst>
                              <p:par>
                                <p:cTn id="196" presetID="2" presetClass="entr" presetSubtype="4" fill="hold" grpId="0" nodeType="clickEffect">
                                  <p:stCondLst>
                                    <p:cond delay="0"/>
                                  </p:stCondLst>
                                  <p:childTnLst>
                                    <p:set>
                                      <p:cBhvr>
                                        <p:cTn id="192" dur="1" fill="hold">
                                          <p:stCondLst>
                                            <p:cond delay="0"/>
                                          </p:stCondLst>
                                        </p:cTn>
                                        <p:tgtEl>
                                          <p:spTgt spid="46"/>
                                        </p:tgtEl>
                                        <p:attrNameLst>
                                          <p:attrName>style.visibility</p:attrName>
                                        </p:attrNameLst>
                                      </p:cBhvr>
                                      <p:to>
                                        <p:strVal val="visible"/>
                                      </p:to>
                                    </p:set>
                                    <p:anim calcmode="lin" valueType="num">
                                      <p:cBhvr additive="base">
                                        <p:cTn id="193" dur="500" fill="hold"/>
                                        <p:tgtEl>
                                          <p:spTgt spid="46"/>
                                        </p:tgtEl>
                                        <p:attrNameLst>
                                          <p:attrName>ppt_x</p:attrName>
                                        </p:attrNameLst>
                                      </p:cBhvr>
                                      <p:tavLst>
                                        <p:tav tm="0">
                                          <p:val>
                                            <p:strVal val="#ppt_x"/>
                                          </p:val>
                                        </p:tav>
                                        <p:tav tm="100000">
                                          <p:val>
                                            <p:strVal val="#ppt_x"/>
                                          </p:val>
                                        </p:tav>
                                      </p:tavLst>
                                    </p:anim>
                                    <p:anim calcmode="lin" valueType="num">
                                      <p:cBhvr additive="base">
                                        <p:cTn id="194" dur="500" fill="hold"/>
                                        <p:tgtEl>
                                          <p:spTgt spid="46"/>
                                        </p:tgtEl>
                                        <p:attrNameLst>
                                          <p:attrName>ppt_y</p:attrName>
                                        </p:attrNameLst>
                                      </p:cBhvr>
                                      <p:tavLst>
                                        <p:tav tm="0">
                                          <p:val>
                                            <p:strVal val="#ppt_y+0.1"/>
                                          </p:val>
                                        </p:tav>
                                        <p:tav tm="100000">
                                          <p:val>
                                            <p:strVal val="#ppt_y"/>
                                          </p:val>
                                        </p:tav>
                                      </p:tavLst>
                                    </p:anim>
                                    <p:animEffect transition="in" filter="fade">
                                      <p:cBhvr>
                                        <p:cTn id="195" dur="500"/>
                                        <p:tgtEl>
                                          <p:spTgt spid="46"/>
                                        </p:tgtEl>
                                      </p:cBhvr>
                                    </p:animEffect>
                                  </p:childTnLst>
                                </p:cTn>
                              </p:par>
                              <p:par>
                                <p:cTn id="201" presetID="2" presetClass="entr" presetSubtype="4" fill="hold" grpId="0" nodeType="withEffect">
                                  <p:stCondLst>
                                    <p:cond delay="0"/>
                                  </p:stCondLst>
                                  <p:childTnLst>
                                    <p:set>
                                      <p:cBhvr>
                                        <p:cTn id="197" dur="1" fill="hold">
                                          <p:stCondLst>
                                            <p:cond delay="0"/>
                                          </p:stCondLst>
                                        </p:cTn>
                                        <p:tgtEl>
                                          <p:spTgt spid="47"/>
                                        </p:tgtEl>
                                        <p:attrNameLst>
                                          <p:attrName>style.visibility</p:attrName>
                                        </p:attrNameLst>
                                      </p:cBhvr>
                                      <p:to>
                                        <p:strVal val="visible"/>
                                      </p:to>
                                    </p:set>
                                    <p:anim calcmode="lin" valueType="num">
                                      <p:cBhvr additive="base">
                                        <p:cTn id="198" dur="500" fill="hold"/>
                                        <p:tgtEl>
                                          <p:spTgt spid="47"/>
                                        </p:tgtEl>
                                        <p:attrNameLst>
                                          <p:attrName>ppt_x</p:attrName>
                                        </p:attrNameLst>
                                      </p:cBhvr>
                                      <p:tavLst>
                                        <p:tav tm="0">
                                          <p:val>
                                            <p:strVal val="#ppt_x"/>
                                          </p:val>
                                        </p:tav>
                                        <p:tav tm="100000">
                                          <p:val>
                                            <p:strVal val="#ppt_x"/>
                                          </p:val>
                                        </p:tav>
                                      </p:tavLst>
                                    </p:anim>
                                    <p:anim calcmode="lin" valueType="num">
                                      <p:cBhvr additive="base">
                                        <p:cTn id="199" dur="500" fill="hold"/>
                                        <p:tgtEl>
                                          <p:spTgt spid="47"/>
                                        </p:tgtEl>
                                        <p:attrNameLst>
                                          <p:attrName>ppt_y</p:attrName>
                                        </p:attrNameLst>
                                      </p:cBhvr>
                                      <p:tavLst>
                                        <p:tav tm="0">
                                          <p:val>
                                            <p:strVal val="#ppt_y+0.1"/>
                                          </p:val>
                                        </p:tav>
                                        <p:tav tm="100000">
                                          <p:val>
                                            <p:strVal val="#ppt_y"/>
                                          </p:val>
                                        </p:tav>
                                      </p:tavLst>
                                    </p:anim>
                                    <p:animEffect transition="in" filter="fade">
                                      <p:cBhvr>
                                        <p:cTn id="200" dur="500"/>
                                        <p:tgtEl>
                                          <p:spTgt spid="47"/>
                                        </p:tgtEl>
                                      </p:cBhvr>
                                    </p:animEffect>
                                  </p:childTnLst>
                                </p:cTn>
                              </p:par>
                              <p:par>
                                <p:cTn id="206" presetID="2" presetClass="entr" presetSubtype="4" fill="hold" grpId="0" nodeType="withEffect">
                                  <p:stCondLst>
                                    <p:cond delay="120"/>
                                  </p:stCondLst>
                                  <p:childTnLst>
                                    <p:set>
                                      <p:cBhvr>
                                        <p:cTn id="202" dur="1" fill="hold">
                                          <p:stCondLst>
                                            <p:cond delay="0"/>
                                          </p:stCondLst>
                                        </p:cTn>
                                        <p:tgtEl>
                                          <p:spTgt spid="48"/>
                                        </p:tgtEl>
                                        <p:attrNameLst>
                                          <p:attrName>style.visibility</p:attrName>
                                        </p:attrNameLst>
                                      </p:cBhvr>
                                      <p:to>
                                        <p:strVal val="visible"/>
                                      </p:to>
                                    </p:set>
                                    <p:anim calcmode="lin" valueType="num">
                                      <p:cBhvr additive="base">
                                        <p:cTn id="203" dur="500" fill="hold"/>
                                        <p:tgtEl>
                                          <p:spTgt spid="48"/>
                                        </p:tgtEl>
                                        <p:attrNameLst>
                                          <p:attrName>ppt_x</p:attrName>
                                        </p:attrNameLst>
                                      </p:cBhvr>
                                      <p:tavLst>
                                        <p:tav tm="0">
                                          <p:val>
                                            <p:strVal val="#ppt_x"/>
                                          </p:val>
                                        </p:tav>
                                        <p:tav tm="100000">
                                          <p:val>
                                            <p:strVal val="#ppt_x"/>
                                          </p:val>
                                        </p:tav>
                                      </p:tavLst>
                                    </p:anim>
                                    <p:anim calcmode="lin" valueType="num">
                                      <p:cBhvr additive="base">
                                        <p:cTn id="204" dur="500" fill="hold"/>
                                        <p:tgtEl>
                                          <p:spTgt spid="48"/>
                                        </p:tgtEl>
                                        <p:attrNameLst>
                                          <p:attrName>ppt_y</p:attrName>
                                        </p:attrNameLst>
                                      </p:cBhvr>
                                      <p:tavLst>
                                        <p:tav tm="0">
                                          <p:val>
                                            <p:strVal val="#ppt_y+0.1"/>
                                          </p:val>
                                        </p:tav>
                                        <p:tav tm="100000">
                                          <p:val>
                                            <p:strVal val="#ppt_y"/>
                                          </p:val>
                                        </p:tav>
                                      </p:tavLst>
                                    </p:anim>
                                    <p:animEffect transition="in" filter="fade">
                                      <p:cBhvr>
                                        <p:cTn id="205" dur="500"/>
                                        <p:tgtEl>
                                          <p:spTgt spid="48"/>
                                        </p:tgtEl>
                                      </p:cBhvr>
                                    </p:animEffect>
                                  </p:childTnLst>
                                </p:cTn>
                              </p:par>
                              <p:par>
                                <p:cTn id="211" presetID="2" presetClass="entr" presetSubtype="4" fill="hold" grpId="0" nodeType="withEffect">
                                  <p:stCondLst>
                                    <p:cond delay="120"/>
                                  </p:stCondLst>
                                  <p:childTnLst>
                                    <p:set>
                                      <p:cBhvr>
                                        <p:cTn id="207" dur="1" fill="hold">
                                          <p:stCondLst>
                                            <p:cond delay="0"/>
                                          </p:stCondLst>
                                        </p:cTn>
                                        <p:tgtEl>
                                          <p:spTgt spid="49"/>
                                        </p:tgtEl>
                                        <p:attrNameLst>
                                          <p:attrName>style.visibility</p:attrName>
                                        </p:attrNameLst>
                                      </p:cBhvr>
                                      <p:to>
                                        <p:strVal val="visible"/>
                                      </p:to>
                                    </p:set>
                                    <p:anim calcmode="lin" valueType="num">
                                      <p:cBhvr additive="base">
                                        <p:cTn id="208" dur="500" fill="hold"/>
                                        <p:tgtEl>
                                          <p:spTgt spid="49"/>
                                        </p:tgtEl>
                                        <p:attrNameLst>
                                          <p:attrName>ppt_x</p:attrName>
                                        </p:attrNameLst>
                                      </p:cBhvr>
                                      <p:tavLst>
                                        <p:tav tm="0">
                                          <p:val>
                                            <p:strVal val="#ppt_x"/>
                                          </p:val>
                                        </p:tav>
                                        <p:tav tm="100000">
                                          <p:val>
                                            <p:strVal val="#ppt_x"/>
                                          </p:val>
                                        </p:tav>
                                      </p:tavLst>
                                    </p:anim>
                                    <p:anim calcmode="lin" valueType="num">
                                      <p:cBhvr additive="base">
                                        <p:cTn id="209" dur="500" fill="hold"/>
                                        <p:tgtEl>
                                          <p:spTgt spid="49"/>
                                        </p:tgtEl>
                                        <p:attrNameLst>
                                          <p:attrName>ppt_y</p:attrName>
                                        </p:attrNameLst>
                                      </p:cBhvr>
                                      <p:tavLst>
                                        <p:tav tm="0">
                                          <p:val>
                                            <p:strVal val="#ppt_y+0.1"/>
                                          </p:val>
                                        </p:tav>
                                        <p:tav tm="100000">
                                          <p:val>
                                            <p:strVal val="#ppt_y"/>
                                          </p:val>
                                        </p:tav>
                                      </p:tavLst>
                                    </p:anim>
                                    <p:animEffect transition="in" filter="fade">
                                      <p:cBhvr>
                                        <p:cTn id="210" dur="500"/>
                                        <p:tgtEl>
                                          <p:spTgt spid="49"/>
                                        </p:tgtEl>
                                      </p:cBhvr>
                                    </p:animEffect>
                                  </p:childTnLst>
                                </p:cTn>
                              </p:par>
                              <p:par>
                                <p:cTn id="216" presetID="2" presetClass="entr" presetSubtype="4" fill="hold" grpId="0" nodeType="withEffect">
                                  <p:stCondLst>
                                    <p:cond delay="240"/>
                                  </p:stCondLst>
                                  <p:childTnLst>
                                    <p:set>
                                      <p:cBhvr>
                                        <p:cTn id="212" dur="1" fill="hold">
                                          <p:stCondLst>
                                            <p:cond delay="0"/>
                                          </p:stCondLst>
                                        </p:cTn>
                                        <p:tgtEl>
                                          <p:spTgt spid="50"/>
                                        </p:tgtEl>
                                        <p:attrNameLst>
                                          <p:attrName>style.visibility</p:attrName>
                                        </p:attrNameLst>
                                      </p:cBhvr>
                                      <p:to>
                                        <p:strVal val="visible"/>
                                      </p:to>
                                    </p:set>
                                    <p:anim calcmode="lin" valueType="num">
                                      <p:cBhvr additive="base">
                                        <p:cTn id="213" dur="500" fill="hold"/>
                                        <p:tgtEl>
                                          <p:spTgt spid="50"/>
                                        </p:tgtEl>
                                        <p:attrNameLst>
                                          <p:attrName>ppt_x</p:attrName>
                                        </p:attrNameLst>
                                      </p:cBhvr>
                                      <p:tavLst>
                                        <p:tav tm="0">
                                          <p:val>
                                            <p:strVal val="#ppt_x"/>
                                          </p:val>
                                        </p:tav>
                                        <p:tav tm="100000">
                                          <p:val>
                                            <p:strVal val="#ppt_x"/>
                                          </p:val>
                                        </p:tav>
                                      </p:tavLst>
                                    </p:anim>
                                    <p:anim calcmode="lin" valueType="num">
                                      <p:cBhvr additive="base">
                                        <p:cTn id="214" dur="500" fill="hold"/>
                                        <p:tgtEl>
                                          <p:spTgt spid="50"/>
                                        </p:tgtEl>
                                        <p:attrNameLst>
                                          <p:attrName>ppt_y</p:attrName>
                                        </p:attrNameLst>
                                      </p:cBhvr>
                                      <p:tavLst>
                                        <p:tav tm="0">
                                          <p:val>
                                            <p:strVal val="#ppt_y+0.1"/>
                                          </p:val>
                                        </p:tav>
                                        <p:tav tm="100000">
                                          <p:val>
                                            <p:strVal val="#ppt_y"/>
                                          </p:val>
                                        </p:tav>
                                      </p:tavLst>
                                    </p:anim>
                                    <p:animEffect transition="in" filter="fade">
                                      <p:cBhvr>
                                        <p:cTn id="215" dur="500"/>
                                        <p:tgtEl>
                                          <p:spTgt spid="50"/>
                                        </p:tgtEl>
                                      </p:cBhvr>
                                    </p:animEffect>
                                  </p:childTnLst>
                                </p:cTn>
                              </p:par>
                              <p:par>
                                <p:cTn id="221" presetID="2" presetClass="entr" presetSubtype="4" fill="hold" grpId="0" nodeType="withEffect">
                                  <p:stCondLst>
                                    <p:cond delay="240"/>
                                  </p:stCondLst>
                                  <p:childTnLst>
                                    <p:set>
                                      <p:cBhvr>
                                        <p:cTn id="217" dur="1" fill="hold">
                                          <p:stCondLst>
                                            <p:cond delay="0"/>
                                          </p:stCondLst>
                                        </p:cTn>
                                        <p:tgtEl>
                                          <p:spTgt spid="51"/>
                                        </p:tgtEl>
                                        <p:attrNameLst>
                                          <p:attrName>style.visibility</p:attrName>
                                        </p:attrNameLst>
                                      </p:cBhvr>
                                      <p:to>
                                        <p:strVal val="visible"/>
                                      </p:to>
                                    </p:set>
                                    <p:anim calcmode="lin" valueType="num">
                                      <p:cBhvr additive="base">
                                        <p:cTn id="218" dur="500" fill="hold"/>
                                        <p:tgtEl>
                                          <p:spTgt spid="51"/>
                                        </p:tgtEl>
                                        <p:attrNameLst>
                                          <p:attrName>ppt_x</p:attrName>
                                        </p:attrNameLst>
                                      </p:cBhvr>
                                      <p:tavLst>
                                        <p:tav tm="0">
                                          <p:val>
                                            <p:strVal val="#ppt_x"/>
                                          </p:val>
                                        </p:tav>
                                        <p:tav tm="100000">
                                          <p:val>
                                            <p:strVal val="#ppt_x"/>
                                          </p:val>
                                        </p:tav>
                                      </p:tavLst>
                                    </p:anim>
                                    <p:anim calcmode="lin" valueType="num">
                                      <p:cBhvr additive="base">
                                        <p:cTn id="219" dur="500" fill="hold"/>
                                        <p:tgtEl>
                                          <p:spTgt spid="51"/>
                                        </p:tgtEl>
                                        <p:attrNameLst>
                                          <p:attrName>ppt_y</p:attrName>
                                        </p:attrNameLst>
                                      </p:cBhvr>
                                      <p:tavLst>
                                        <p:tav tm="0">
                                          <p:val>
                                            <p:strVal val="#ppt_y+0.1"/>
                                          </p:val>
                                        </p:tav>
                                        <p:tav tm="100000">
                                          <p:val>
                                            <p:strVal val="#ppt_y"/>
                                          </p:val>
                                        </p:tav>
                                      </p:tavLst>
                                    </p:anim>
                                    <p:animEffect transition="in" filter="fade">
                                      <p:cBhvr>
                                        <p:cTn id="220" dur="500"/>
                                        <p:tgtEl>
                                          <p:spTgt spid="51"/>
                                        </p:tgtEl>
                                      </p:cBhvr>
                                    </p:animEffect>
                                  </p:childTnLst>
                                </p:cTn>
                              </p:par>
                            </p:childTnLst>
                          </p:cTn>
                        </p:par>
                      </p:childTnLst>
                    </p:cTn>
                  </p:par>
                  <p:par>
                    <p:cTn id="222" fill="hold">
                      <p:stCondLst>
                        <p:cond delay="indefinite"/>
                      </p:stCondLst>
                      <p:childTnLst>
                        <p:par>
                          <p:cTn id="223" fill="hold">
                            <p:stCondLst>
                              <p:cond delay="0"/>
                            </p:stCondLst>
                            <p:childTnLst>
                              <p:par>
                                <p:cTn id="228" presetID="2" presetClass="entr" presetSubtype="4" fill="hold" grpId="0" nodeType="clickEffect">
                                  <p:stCondLst>
                                    <p:cond delay="0"/>
                                  </p:stCondLst>
                                  <p:childTnLst>
                                    <p:set>
                                      <p:cBhvr>
                                        <p:cTn id="224" dur="1" fill="hold">
                                          <p:stCondLst>
                                            <p:cond delay="0"/>
                                          </p:stCondLst>
                                        </p:cTn>
                                        <p:tgtEl>
                                          <p:spTgt spid="52"/>
                                        </p:tgtEl>
                                        <p:attrNameLst>
                                          <p:attrName>style.visibility</p:attrName>
                                        </p:attrNameLst>
                                      </p:cBhvr>
                                      <p:to>
                                        <p:strVal val="visible"/>
                                      </p:to>
                                    </p:set>
                                    <p:anim calcmode="lin" valueType="num">
                                      <p:cBhvr additive="base">
                                        <p:cTn id="225" dur="500" fill="hold"/>
                                        <p:tgtEl>
                                          <p:spTgt spid="52"/>
                                        </p:tgtEl>
                                        <p:attrNameLst>
                                          <p:attrName>ppt_x</p:attrName>
                                        </p:attrNameLst>
                                      </p:cBhvr>
                                      <p:tavLst>
                                        <p:tav tm="0">
                                          <p:val>
                                            <p:strVal val="#ppt_x"/>
                                          </p:val>
                                        </p:tav>
                                        <p:tav tm="100000">
                                          <p:val>
                                            <p:strVal val="#ppt_x"/>
                                          </p:val>
                                        </p:tav>
                                      </p:tavLst>
                                    </p:anim>
                                    <p:anim calcmode="lin" valueType="num">
                                      <p:cBhvr additive="base">
                                        <p:cTn id="226" dur="500" fill="hold"/>
                                        <p:tgtEl>
                                          <p:spTgt spid="52"/>
                                        </p:tgtEl>
                                        <p:attrNameLst>
                                          <p:attrName>ppt_y</p:attrName>
                                        </p:attrNameLst>
                                      </p:cBhvr>
                                      <p:tavLst>
                                        <p:tav tm="0">
                                          <p:val>
                                            <p:strVal val="#ppt_y+0.1"/>
                                          </p:val>
                                        </p:tav>
                                        <p:tav tm="100000">
                                          <p:val>
                                            <p:strVal val="#ppt_y"/>
                                          </p:val>
                                        </p:tav>
                                      </p:tavLst>
                                    </p:anim>
                                    <p:animEffect transition="in" filter="fade">
                                      <p:cBhvr>
                                        <p:cTn id="227" dur="500"/>
                                        <p:tgtEl>
                                          <p:spTgt spid="52"/>
                                        </p:tgtEl>
                                      </p:cBhvr>
                                    </p:animEffect>
                                  </p:childTnLst>
                                </p:cTn>
                              </p:par>
                              <p:par>
                                <p:cTn id="233" presetID="2" presetClass="entr" presetSubtype="4" fill="hold" grpId="0" nodeType="withEffect">
                                  <p:stCondLst>
                                    <p:cond delay="0"/>
                                  </p:stCondLst>
                                  <p:childTnLst>
                                    <p:set>
                                      <p:cBhvr>
                                        <p:cTn id="229" dur="1" fill="hold">
                                          <p:stCondLst>
                                            <p:cond delay="0"/>
                                          </p:stCondLst>
                                        </p:cTn>
                                        <p:tgtEl>
                                          <p:spTgt spid="53"/>
                                        </p:tgtEl>
                                        <p:attrNameLst>
                                          <p:attrName>style.visibility</p:attrName>
                                        </p:attrNameLst>
                                      </p:cBhvr>
                                      <p:to>
                                        <p:strVal val="visible"/>
                                      </p:to>
                                    </p:set>
                                    <p:anim calcmode="lin" valueType="num">
                                      <p:cBhvr additive="base">
                                        <p:cTn id="230" dur="500" fill="hold"/>
                                        <p:tgtEl>
                                          <p:spTgt spid="53"/>
                                        </p:tgtEl>
                                        <p:attrNameLst>
                                          <p:attrName>ppt_x</p:attrName>
                                        </p:attrNameLst>
                                      </p:cBhvr>
                                      <p:tavLst>
                                        <p:tav tm="0">
                                          <p:val>
                                            <p:strVal val="#ppt_x"/>
                                          </p:val>
                                        </p:tav>
                                        <p:tav tm="100000">
                                          <p:val>
                                            <p:strVal val="#ppt_x"/>
                                          </p:val>
                                        </p:tav>
                                      </p:tavLst>
                                    </p:anim>
                                    <p:anim calcmode="lin" valueType="num">
                                      <p:cBhvr additive="base">
                                        <p:cTn id="231" dur="500" fill="hold"/>
                                        <p:tgtEl>
                                          <p:spTgt spid="53"/>
                                        </p:tgtEl>
                                        <p:attrNameLst>
                                          <p:attrName>ppt_y</p:attrName>
                                        </p:attrNameLst>
                                      </p:cBhvr>
                                      <p:tavLst>
                                        <p:tav tm="0">
                                          <p:val>
                                            <p:strVal val="#ppt_y+0.1"/>
                                          </p:val>
                                        </p:tav>
                                        <p:tav tm="100000">
                                          <p:val>
                                            <p:strVal val="#ppt_y"/>
                                          </p:val>
                                        </p:tav>
                                      </p:tavLst>
                                    </p:anim>
                                    <p:animEffect transition="in" filter="fade">
                                      <p:cBhvr>
                                        <p:cTn id="232" dur="500"/>
                                        <p:tgtEl>
                                          <p:spTgt spid="53"/>
                                        </p:tgtEl>
                                      </p:cBhvr>
                                    </p:animEffect>
                                  </p:childTnLst>
                                </p:cTn>
                              </p:par>
                              <p:par>
                                <p:cTn id="238" presetID="2" presetClass="entr" presetSubtype="4" fill="hold" grpId="0" nodeType="withEffect">
                                  <p:stCondLst>
                                    <p:cond delay="0"/>
                                  </p:stCondLst>
                                  <p:childTnLst>
                                    <p:set>
                                      <p:cBhvr>
                                        <p:cTn id="234" dur="1" fill="hold">
                                          <p:stCondLst>
                                            <p:cond delay="0"/>
                                          </p:stCondLst>
                                        </p:cTn>
                                        <p:tgtEl>
                                          <p:spTgt spid="54"/>
                                        </p:tgtEl>
                                        <p:attrNameLst>
                                          <p:attrName>style.visibility</p:attrName>
                                        </p:attrNameLst>
                                      </p:cBhvr>
                                      <p:to>
                                        <p:strVal val="visible"/>
                                      </p:to>
                                    </p:set>
                                    <p:anim calcmode="lin" valueType="num">
                                      <p:cBhvr additive="base">
                                        <p:cTn id="235" dur="500" fill="hold"/>
                                        <p:tgtEl>
                                          <p:spTgt spid="54"/>
                                        </p:tgtEl>
                                        <p:attrNameLst>
                                          <p:attrName>ppt_x</p:attrName>
                                        </p:attrNameLst>
                                      </p:cBhvr>
                                      <p:tavLst>
                                        <p:tav tm="0">
                                          <p:val>
                                            <p:strVal val="#ppt_x"/>
                                          </p:val>
                                        </p:tav>
                                        <p:tav tm="100000">
                                          <p:val>
                                            <p:strVal val="#ppt_x"/>
                                          </p:val>
                                        </p:tav>
                                      </p:tavLst>
                                    </p:anim>
                                    <p:anim calcmode="lin" valueType="num">
                                      <p:cBhvr additive="base">
                                        <p:cTn id="236" dur="500" fill="hold"/>
                                        <p:tgtEl>
                                          <p:spTgt spid="54"/>
                                        </p:tgtEl>
                                        <p:attrNameLst>
                                          <p:attrName>ppt_y</p:attrName>
                                        </p:attrNameLst>
                                      </p:cBhvr>
                                      <p:tavLst>
                                        <p:tav tm="0">
                                          <p:val>
                                            <p:strVal val="#ppt_y+0.1"/>
                                          </p:val>
                                        </p:tav>
                                        <p:tav tm="100000">
                                          <p:val>
                                            <p:strVal val="#ppt_y"/>
                                          </p:val>
                                        </p:tav>
                                      </p:tavLst>
                                    </p:anim>
                                    <p:animEffect transition="in" filter="fade">
                                      <p:cBhvr>
                                        <p:cTn id="23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Same Key, Same Partition, Same Order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What a key does - and does not - promise</a:t>
            </a:r>
          </a:p>
        </p:txBody>
      </p:sp>
      <p:sp>
        <p:nvSpPr>
          <p:cNvPr id="11" name="a1u_card10"/>
          <p:cNvSpPr/>
          <p:nvPr/>
        </p:nvSpPr>
        <p:spPr>
          <a:xfrm>
            <a:off x="457200" y="1325880"/>
            <a:ext cx="5074920" cy="603504"/>
          </a:xfrm>
          <a:prstGeom prst="roundRect">
            <a:avLst>
              <a:gd name="adj" fmla="val 1818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pill11"/>
          <p:cNvSpPr/>
          <p:nvPr/>
        </p:nvSpPr>
        <p:spPr>
          <a:xfrm>
            <a:off x="603504" y="1472184"/>
            <a:ext cx="1417320" cy="310896"/>
          </a:xfrm>
          <a:prstGeom prst="roundRect">
            <a:avLst>
              <a:gd name="adj" fmla="val 50000"/>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15803D"/>
                </a:solidFill>
                <a:latin typeface="Consolas"/>
              </a:rPr>
              <a:t>SAME KEY</a:t>
            </a:r>
          </a:p>
        </p:txBody>
      </p:sp>
      <p:sp>
        <p:nvSpPr>
          <p:cNvPr id="13" name="a1u_gt12"/>
          <p:cNvSpPr txBox="1"/>
          <p:nvPr/>
        </p:nvSpPr>
        <p:spPr>
          <a:xfrm>
            <a:off x="2194560" y="1325880"/>
            <a:ext cx="3246120" cy="603504"/>
          </a:xfrm>
          <a:prstGeom prst="rect">
            <a:avLst/>
          </a:prstGeom>
          <a:noFill/>
        </p:spPr>
        <p:txBody>
          <a:bodyPr wrap="square" lIns="0" tIns="0" rIns="0" bIns="0" anchor="ctr">
            <a:spAutoFit/>
          </a:bodyPr>
          <a:lstStyle/>
          <a:p>
            <a:pPr algn="l"/>
            <a:r>
              <a:rPr sz="1050" b="1">
                <a:solidFill>
                  <a:srgbClr val="1C1917"/>
                </a:solidFill>
                <a:latin typeface="Segoe UI"/>
              </a:rPr>
              <a:t>Same partition - strict order for those messages</a:t>
            </a:r>
          </a:p>
        </p:txBody>
      </p:sp>
      <p:sp>
        <p:nvSpPr>
          <p:cNvPr id="14" name="a2u_card13"/>
          <p:cNvSpPr/>
          <p:nvPr/>
        </p:nvSpPr>
        <p:spPr>
          <a:xfrm>
            <a:off x="457200" y="2057400"/>
            <a:ext cx="5074920" cy="603504"/>
          </a:xfrm>
          <a:prstGeom prst="roundRect">
            <a:avLst>
              <a:gd name="adj" fmla="val 1818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pill14"/>
          <p:cNvSpPr/>
          <p:nvPr/>
        </p:nvSpPr>
        <p:spPr>
          <a:xfrm>
            <a:off x="603504" y="2203704"/>
            <a:ext cx="1417320" cy="310896"/>
          </a:xfrm>
          <a:prstGeom prst="roundRect">
            <a:avLst>
              <a:gd name="adj" fmla="val 50000"/>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A16207"/>
                </a:solidFill>
                <a:latin typeface="Consolas"/>
              </a:rPr>
              <a:t>DIFFERENT KEYS</a:t>
            </a:r>
          </a:p>
        </p:txBody>
      </p:sp>
      <p:sp>
        <p:nvSpPr>
          <p:cNvPr id="16" name="a2u_gt15"/>
          <p:cNvSpPr txBox="1"/>
          <p:nvPr/>
        </p:nvSpPr>
        <p:spPr>
          <a:xfrm>
            <a:off x="2194560" y="2057400"/>
            <a:ext cx="3246120" cy="603504"/>
          </a:xfrm>
          <a:prstGeom prst="rect">
            <a:avLst/>
          </a:prstGeom>
          <a:noFill/>
        </p:spPr>
        <p:txBody>
          <a:bodyPr wrap="square" lIns="0" tIns="0" rIns="0" bIns="0" anchor="ctr">
            <a:spAutoFit/>
          </a:bodyPr>
          <a:lstStyle/>
          <a:p>
            <a:pPr algn="l"/>
            <a:r>
              <a:rPr sz="1050" b="1">
                <a:solidFill>
                  <a:srgbClr val="1C1917"/>
                </a:solidFill>
                <a:latin typeface="Segoe UI"/>
              </a:rPr>
              <a:t>Any partition the hash picks - no order between them</a:t>
            </a:r>
          </a:p>
        </p:txBody>
      </p:sp>
      <p:sp>
        <p:nvSpPr>
          <p:cNvPr id="17" name="a3u_card16"/>
          <p:cNvSpPr/>
          <p:nvPr/>
        </p:nvSpPr>
        <p:spPr>
          <a:xfrm>
            <a:off x="457200" y="2788920"/>
            <a:ext cx="5074920" cy="603504"/>
          </a:xfrm>
          <a:prstGeom prst="roundRect">
            <a:avLst>
              <a:gd name="adj" fmla="val 1818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3u_pill17"/>
          <p:cNvSpPr/>
          <p:nvPr/>
        </p:nvSpPr>
        <p:spPr>
          <a:xfrm>
            <a:off x="603504" y="2935224"/>
            <a:ext cx="1417320" cy="310896"/>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F46E5"/>
                </a:solidFill>
                <a:latin typeface="Consolas"/>
              </a:rPr>
              <a:t>NO KEY</a:t>
            </a:r>
          </a:p>
        </p:txBody>
      </p:sp>
      <p:sp>
        <p:nvSpPr>
          <p:cNvPr id="19" name="a3u_gt18"/>
          <p:cNvSpPr txBox="1"/>
          <p:nvPr/>
        </p:nvSpPr>
        <p:spPr>
          <a:xfrm>
            <a:off x="2194560" y="2788920"/>
            <a:ext cx="3246120" cy="603504"/>
          </a:xfrm>
          <a:prstGeom prst="rect">
            <a:avLst/>
          </a:prstGeom>
          <a:noFill/>
        </p:spPr>
        <p:txBody>
          <a:bodyPr wrap="square" lIns="0" tIns="0" rIns="0" bIns="0" anchor="ctr">
            <a:spAutoFit/>
          </a:bodyPr>
          <a:lstStyle/>
          <a:p>
            <a:pPr algn="l"/>
            <a:r>
              <a:rPr sz="1050" b="1">
                <a:solidFill>
                  <a:srgbClr val="1C1917"/>
                </a:solidFill>
                <a:latin typeface="Segoe UI"/>
              </a:rPr>
              <a:t>Spread for balance - no order promised</a:t>
            </a:r>
          </a:p>
        </p:txBody>
      </p:sp>
      <p:sp>
        <p:nvSpPr>
          <p:cNvPr id="20" name="a4u_card19"/>
          <p:cNvSpPr/>
          <p:nvPr/>
        </p:nvSpPr>
        <p:spPr>
          <a:xfrm>
            <a:off x="5760720" y="1325880"/>
            <a:ext cx="2926080" cy="2066543"/>
          </a:xfrm>
          <a:prstGeom prst="roundRect">
            <a:avLst>
              <a:gd name="adj" fmla="val 53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4u_acc20"/>
          <p:cNvSpPr/>
          <p:nvPr/>
        </p:nvSpPr>
        <p:spPr>
          <a:xfrm>
            <a:off x="5760720" y="1325880"/>
            <a:ext cx="50292" cy="2066543"/>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4u_hh21"/>
          <p:cNvSpPr txBox="1"/>
          <p:nvPr/>
        </p:nvSpPr>
        <p:spPr>
          <a:xfrm>
            <a:off x="5961888" y="1435607"/>
            <a:ext cx="2560320" cy="237744"/>
          </a:xfrm>
          <a:prstGeom prst="rect">
            <a:avLst/>
          </a:prstGeom>
          <a:noFill/>
        </p:spPr>
        <p:txBody>
          <a:bodyPr wrap="square" lIns="0" tIns="0" rIns="0" bIns="0" anchor="ctr">
            <a:spAutoFit/>
          </a:bodyPr>
          <a:lstStyle/>
          <a:p>
            <a:pPr algn="l"/>
            <a:r>
              <a:rPr sz="900" b="1">
                <a:solidFill>
                  <a:srgbClr val="0E7490"/>
                </a:solidFill>
                <a:latin typeface="Segoe UI"/>
              </a:rPr>
              <a:t>KEYS THAT KEEP ORDER</a:t>
            </a:r>
          </a:p>
        </p:txBody>
      </p:sp>
      <p:sp>
        <p:nvSpPr>
          <p:cNvPr id="23" name="a4ud80_dot22"/>
          <p:cNvSpPr/>
          <p:nvPr/>
        </p:nvSpPr>
        <p:spPr>
          <a:xfrm>
            <a:off x="5961888" y="19065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d80_b23"/>
          <p:cNvSpPr txBox="1"/>
          <p:nvPr/>
        </p:nvSpPr>
        <p:spPr>
          <a:xfrm>
            <a:off x="6181344" y="1810512"/>
            <a:ext cx="2304288" cy="365760"/>
          </a:xfrm>
          <a:prstGeom prst="rect">
            <a:avLst/>
          </a:prstGeom>
          <a:noFill/>
        </p:spPr>
        <p:txBody>
          <a:bodyPr wrap="square" lIns="0" tIns="0" rIns="0" bIns="0" anchor="t">
            <a:spAutoFit/>
          </a:bodyPr>
          <a:lstStyle/>
          <a:p>
            <a:pPr algn="l"/>
            <a:r>
              <a:rPr sz="950" b="1">
                <a:solidFill>
                  <a:srgbClr val="1C1917"/>
                </a:solidFill>
                <a:latin typeface="Segoe UI"/>
              </a:rPr>
              <a:t>sensor id  </a:t>
            </a:r>
            <a:r>
              <a:rPr sz="950" b="0">
                <a:solidFill>
                  <a:srgbClr val="44403C"/>
                </a:solidFill>
                <a:latin typeface="Segoe UI"/>
              </a:rPr>
              <a:t>its readings</a:t>
            </a:r>
          </a:p>
        </p:txBody>
      </p:sp>
      <p:sp>
        <p:nvSpPr>
          <p:cNvPr id="25" name="a4ud180_dot24"/>
          <p:cNvSpPr/>
          <p:nvPr/>
        </p:nvSpPr>
        <p:spPr>
          <a:xfrm>
            <a:off x="5961888" y="230886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4ud180_b25"/>
          <p:cNvSpPr txBox="1"/>
          <p:nvPr/>
        </p:nvSpPr>
        <p:spPr>
          <a:xfrm>
            <a:off x="6181344" y="2212848"/>
            <a:ext cx="2304288" cy="365760"/>
          </a:xfrm>
          <a:prstGeom prst="rect">
            <a:avLst/>
          </a:prstGeom>
          <a:noFill/>
        </p:spPr>
        <p:txBody>
          <a:bodyPr wrap="square" lIns="0" tIns="0" rIns="0" bIns="0" anchor="t">
            <a:spAutoFit/>
          </a:bodyPr>
          <a:lstStyle/>
          <a:p>
            <a:pPr algn="l"/>
            <a:r>
              <a:rPr sz="950" b="1">
                <a:solidFill>
                  <a:srgbClr val="1C1917"/>
                </a:solidFill>
                <a:latin typeface="Segoe UI"/>
              </a:rPr>
              <a:t>account id  </a:t>
            </a:r>
            <a:r>
              <a:rPr sz="950" b="0">
                <a:solidFill>
                  <a:srgbClr val="44403C"/>
                </a:solidFill>
                <a:latin typeface="Segoe UI"/>
              </a:rPr>
              <a:t>its transactions</a:t>
            </a:r>
          </a:p>
        </p:txBody>
      </p:sp>
      <p:sp>
        <p:nvSpPr>
          <p:cNvPr id="27" name="a4ud280_dot26"/>
          <p:cNvSpPr/>
          <p:nvPr/>
        </p:nvSpPr>
        <p:spPr>
          <a:xfrm>
            <a:off x="5961888" y="271119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4ud280_b27"/>
          <p:cNvSpPr txBox="1"/>
          <p:nvPr/>
        </p:nvSpPr>
        <p:spPr>
          <a:xfrm>
            <a:off x="6181344" y="2615184"/>
            <a:ext cx="2304288" cy="365760"/>
          </a:xfrm>
          <a:prstGeom prst="rect">
            <a:avLst/>
          </a:prstGeom>
          <a:noFill/>
        </p:spPr>
        <p:txBody>
          <a:bodyPr wrap="square" lIns="0" tIns="0" rIns="0" bIns="0" anchor="t">
            <a:spAutoFit/>
          </a:bodyPr>
          <a:lstStyle/>
          <a:p>
            <a:pPr algn="l"/>
            <a:r>
              <a:rPr sz="950" b="1">
                <a:solidFill>
                  <a:srgbClr val="1C1917"/>
                </a:solidFill>
                <a:latin typeface="Segoe UI"/>
              </a:rPr>
              <a:t>customer id  </a:t>
            </a:r>
            <a:r>
              <a:rPr sz="950" b="0">
                <a:solidFill>
                  <a:srgbClr val="44403C"/>
                </a:solidFill>
                <a:latin typeface="Segoe UI"/>
              </a:rPr>
              <a:t>their updates</a:t>
            </a:r>
          </a:p>
        </p:txBody>
      </p:sp>
      <p:sp>
        <p:nvSpPr>
          <p:cNvPr id="29" name="a5u_nb28"/>
          <p:cNvSpPr/>
          <p:nvPr/>
        </p:nvSpPr>
        <p:spPr>
          <a:xfrm>
            <a:off x="457200" y="3611880"/>
            <a:ext cx="8229600" cy="731520"/>
          </a:xfrm>
          <a:prstGeom prst="roundRect">
            <a:avLst>
              <a:gd name="adj" fmla="val 1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5u_nacc29"/>
          <p:cNvSpPr/>
          <p:nvPr/>
        </p:nvSpPr>
        <p:spPr>
          <a:xfrm>
            <a:off x="457200" y="3611880"/>
            <a:ext cx="54864" cy="7315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5u_nt30"/>
          <p:cNvSpPr txBox="1"/>
          <p:nvPr/>
        </p:nvSpPr>
        <p:spPr>
          <a:xfrm>
            <a:off x="658368" y="3611880"/>
            <a:ext cx="7827264" cy="731520"/>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The hash depends on the number of partitions. Add partitions later and a key can map to a different one - so choose the partition count with care.</a:t>
            </a:r>
          </a:p>
        </p:txBody>
      </p:sp>
      <p:sp>
        <p:nvSpPr>
          <p:cNvPr id="32" name="ft3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33" name="ft3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ft3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35" name="ft3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43" presetID="2" presetClass="entr" presetSubtype="4"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ppt_x"/>
                                          </p:val>
                                        </p:tav>
                                        <p:tav tm="100000">
                                          <p:val>
                                            <p:strVal val="#ppt_x"/>
                                          </p:val>
                                        </p:tav>
                                      </p:tavLst>
                                    </p:anim>
                                    <p:anim calcmode="lin" valueType="num">
                                      <p:cBhvr additive="base">
                                        <p:cTn id="41" dur="500" fill="hold"/>
                                        <p:tgtEl>
                                          <p:spTgt spid="17"/>
                                        </p:tgtEl>
                                        <p:attrNameLst>
                                          <p:attrName>ppt_y</p:attrName>
                                        </p:attrNameLst>
                                      </p:cBhvr>
                                      <p:tavLst>
                                        <p:tav tm="0">
                                          <p:val>
                                            <p:strVal val="#ppt_y+0.1"/>
                                          </p:val>
                                        </p:tav>
                                        <p:tav tm="100000">
                                          <p:val>
                                            <p:strVal val="#ppt_y"/>
                                          </p:val>
                                        </p:tav>
                                      </p:tavLst>
                                    </p:anim>
                                    <p:animEffect transition="in" filter="fade">
                                      <p:cBhvr>
                                        <p:cTn id="42" dur="500"/>
                                        <p:tgtEl>
                                          <p:spTgt spid="17"/>
                                        </p:tgtEl>
                                      </p:cBhvr>
                                    </p:animEffect>
                                  </p:childTnLst>
                                </p:cTn>
                              </p:par>
                              <p:par>
                                <p:cTn id="48" presetID="2" presetClass="entr" presetSubtype="4"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60" presetID="2" presetClass="entr" presetSubtype="4"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ppt_y+0.1"/>
                                          </p:val>
                                        </p:tav>
                                        <p:tav tm="100000">
                                          <p:val>
                                            <p:strVal val="#ppt_y"/>
                                          </p:val>
                                        </p:tav>
                                      </p:tavLst>
                                    </p:anim>
                                    <p:animEffect transition="in" filter="fade">
                                      <p:cBhvr>
                                        <p:cTn id="59" dur="500"/>
                                        <p:tgtEl>
                                          <p:spTgt spid="20"/>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ppt_y+0.1"/>
                                          </p:val>
                                        </p:tav>
                                        <p:tav tm="100000">
                                          <p:val>
                                            <p:strVal val="#ppt_y"/>
                                          </p:val>
                                        </p:tav>
                                      </p:tavLst>
                                    </p:anim>
                                    <p:animEffect transition="in" filter="fade">
                                      <p:cBhvr>
                                        <p:cTn id="64" dur="500"/>
                                        <p:tgtEl>
                                          <p:spTgt spid="21"/>
                                        </p:tgtEl>
                                      </p:cBhvr>
                                    </p:animEffect>
                                  </p:childTnLst>
                                </p:cTn>
                              </p:par>
                              <p:par>
                                <p:cTn id="70"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ppt_y+0.1"/>
                                          </p:val>
                                        </p:tav>
                                        <p:tav tm="100000">
                                          <p:val>
                                            <p:strVal val="#ppt_y"/>
                                          </p:val>
                                        </p:tav>
                                      </p:tavLst>
                                    </p:anim>
                                    <p:animEffect transition="in" filter="fade">
                                      <p:cBhvr>
                                        <p:cTn id="69" dur="500"/>
                                        <p:tgtEl>
                                          <p:spTgt spid="22"/>
                                        </p:tgtEl>
                                      </p:cBhvr>
                                    </p:animEffect>
                                  </p:childTnLst>
                                </p:cTn>
                              </p:par>
                              <p:par>
                                <p:cTn id="75" presetID="2" presetClass="entr" presetSubtype="4" fill="hold" grpId="0" nodeType="withEffect">
                                  <p:stCondLst>
                                    <p:cond delay="8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8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18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18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par>
                                <p:cTn id="95" presetID="2" presetClass="entr" presetSubtype="4" fill="hold" grpId="0" nodeType="withEffect">
                                  <p:stCondLst>
                                    <p:cond delay="28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100" presetID="2" presetClass="entr" presetSubtype="4" fill="hold" grpId="0" nodeType="withEffect">
                                  <p:stCondLst>
                                    <p:cond delay="28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ppt_y+0.1"/>
                                          </p:val>
                                        </p:tav>
                                        <p:tav tm="100000">
                                          <p:val>
                                            <p:strVal val="#ppt_y"/>
                                          </p:val>
                                        </p:tav>
                                      </p:tavLst>
                                    </p:anim>
                                    <p:animEffect transition="in" filter="fade">
                                      <p:cBhvr>
                                        <p:cTn id="99" dur="5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107" presetID="2" presetClass="entr" presetSubtype="4" fill="hold" grpId="0" nodeType="click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ppt_y+0.1"/>
                                          </p:val>
                                        </p:tav>
                                        <p:tav tm="100000">
                                          <p:val>
                                            <p:strVal val="#ppt_y"/>
                                          </p:val>
                                        </p:tav>
                                      </p:tavLst>
                                    </p:anim>
                                    <p:animEffect transition="in" filter="fade">
                                      <p:cBhvr>
                                        <p:cTn id="111" dur="500"/>
                                        <p:tgtEl>
                                          <p:spTgt spid="30"/>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1"/>
                                        </p:tgtEl>
                                        <p:attrNameLst>
                                          <p:attrName>style.visibility</p:attrName>
                                        </p:attrNameLst>
                                      </p:cBhvr>
                                      <p:to>
                                        <p:strVal val="visible"/>
                                      </p:to>
                                    </p:set>
                                    <p:anim calcmode="lin" valueType="num">
                                      <p:cBhvr additive="base">
                                        <p:cTn id="114" dur="500" fill="hold"/>
                                        <p:tgtEl>
                                          <p:spTgt spid="31"/>
                                        </p:tgtEl>
                                        <p:attrNameLst>
                                          <p:attrName>ppt_x</p:attrName>
                                        </p:attrNameLst>
                                      </p:cBhvr>
                                      <p:tavLst>
                                        <p:tav tm="0">
                                          <p:val>
                                            <p:strVal val="#ppt_x"/>
                                          </p:val>
                                        </p:tav>
                                        <p:tav tm="100000">
                                          <p:val>
                                            <p:strVal val="#ppt_x"/>
                                          </p:val>
                                        </p:tav>
                                      </p:tavLst>
                                    </p:anim>
                                    <p:anim calcmode="lin" valueType="num">
                                      <p:cBhvr additive="base">
                                        <p:cTn id="115" dur="500" fill="hold"/>
                                        <p:tgtEl>
                                          <p:spTgt spid="31"/>
                                        </p:tgtEl>
                                        <p:attrNameLst>
                                          <p:attrName>ppt_y</p:attrName>
                                        </p:attrNameLst>
                                      </p:cBhvr>
                                      <p:tavLst>
                                        <p:tav tm="0">
                                          <p:val>
                                            <p:strVal val="#ppt_y+0.1"/>
                                          </p:val>
                                        </p:tav>
                                        <p:tav tm="100000">
                                          <p:val>
                                            <p:strVal val="#ppt_y"/>
                                          </p:val>
                                        </p:tav>
                                      </p:tavLst>
                                    </p:anim>
                                    <p:animEffect transition="in" filter="fade">
                                      <p:cBhvr>
                                        <p:cTn id="1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Why Partitions Matter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They are what make Kafka scalable, efficient and reliable</a:t>
            </a:r>
          </a:p>
        </p:txBody>
      </p:sp>
      <p:sp>
        <p:nvSpPr>
          <p:cNvPr id="11" name="a1u_card10"/>
          <p:cNvSpPr/>
          <p:nvPr/>
        </p:nvSpPr>
        <p:spPr>
          <a:xfrm>
            <a:off x="457200" y="1325880"/>
            <a:ext cx="1956816" cy="1600200"/>
          </a:xfrm>
          <a:prstGeom prst="roundRect">
            <a:avLst>
              <a:gd name="adj" fmla="val 685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325880"/>
            <a:ext cx="1956816"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Scalable</a:t>
            </a:r>
          </a:p>
        </p:txBody>
      </p:sp>
      <p:sp>
        <p:nvSpPr>
          <p:cNvPr id="14" name="a1ud60_tb13"/>
          <p:cNvSpPr txBox="1"/>
          <p:nvPr/>
        </p:nvSpPr>
        <p:spPr>
          <a:xfrm>
            <a:off x="603504" y="1728216"/>
            <a:ext cx="1682496" cy="1143000"/>
          </a:xfrm>
          <a:prstGeom prst="rect">
            <a:avLst/>
          </a:prstGeom>
          <a:noFill/>
        </p:spPr>
        <p:txBody>
          <a:bodyPr wrap="square" lIns="0" tIns="0" rIns="0" bIns="0" anchor="t">
            <a:spAutoFit/>
          </a:bodyPr>
          <a:lstStyle/>
          <a:p>
            <a:pPr algn="l"/>
            <a:r>
              <a:rPr sz="950" b="0">
                <a:solidFill>
                  <a:srgbClr val="44403C"/>
                </a:solidFill>
                <a:latin typeface="Segoe UI"/>
              </a:rPr>
              <a:t>a topic spreads across the cluster instead of living on one node</a:t>
            </a:r>
          </a:p>
        </p:txBody>
      </p:sp>
      <p:sp>
        <p:nvSpPr>
          <p:cNvPr id="15" name="a2u_card14"/>
          <p:cNvSpPr/>
          <p:nvPr/>
        </p:nvSpPr>
        <p:spPr>
          <a:xfrm>
            <a:off x="2551176" y="1325880"/>
            <a:ext cx="1956816" cy="1600200"/>
          </a:xfrm>
          <a:prstGeom prst="roundRect">
            <a:avLst>
              <a:gd name="adj" fmla="val 685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2551176" y="1325880"/>
            <a:ext cx="1956816"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t16"/>
          <p:cNvSpPr txBox="1"/>
          <p:nvPr/>
        </p:nvSpPr>
        <p:spPr>
          <a:xfrm>
            <a:off x="2697480"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Efficient</a:t>
            </a:r>
          </a:p>
        </p:txBody>
      </p:sp>
      <p:sp>
        <p:nvSpPr>
          <p:cNvPr id="18" name="a2ud60_tb17"/>
          <p:cNvSpPr txBox="1"/>
          <p:nvPr/>
        </p:nvSpPr>
        <p:spPr>
          <a:xfrm>
            <a:off x="2697480" y="1728216"/>
            <a:ext cx="1682496" cy="1143000"/>
          </a:xfrm>
          <a:prstGeom prst="rect">
            <a:avLst/>
          </a:prstGeom>
          <a:noFill/>
        </p:spPr>
        <p:txBody>
          <a:bodyPr wrap="square" lIns="0" tIns="0" rIns="0" bIns="0" anchor="t">
            <a:spAutoFit/>
          </a:bodyPr>
          <a:lstStyle/>
          <a:p>
            <a:pPr algn="l"/>
            <a:r>
              <a:rPr sz="950" b="0">
                <a:solidFill>
                  <a:srgbClr val="44403C"/>
                </a:solidFill>
                <a:latin typeface="Segoe UI"/>
              </a:rPr>
              <a:t>the work is shared out - huge data, heavy I/O, lots of pub/sub</a:t>
            </a:r>
          </a:p>
        </p:txBody>
      </p:sp>
      <p:sp>
        <p:nvSpPr>
          <p:cNvPr id="19" name="a3u_card18"/>
          <p:cNvSpPr/>
          <p:nvPr/>
        </p:nvSpPr>
        <p:spPr>
          <a:xfrm>
            <a:off x="4645152" y="1325880"/>
            <a:ext cx="1956816" cy="1600200"/>
          </a:xfrm>
          <a:prstGeom prst="roundRect">
            <a:avLst>
              <a:gd name="adj" fmla="val 685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acc19"/>
          <p:cNvSpPr/>
          <p:nvPr/>
        </p:nvSpPr>
        <p:spPr>
          <a:xfrm>
            <a:off x="4645152" y="1325880"/>
            <a:ext cx="1956816"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tt20"/>
          <p:cNvSpPr txBox="1"/>
          <p:nvPr/>
        </p:nvSpPr>
        <p:spPr>
          <a:xfrm>
            <a:off x="4791456"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Reliable</a:t>
            </a:r>
          </a:p>
        </p:txBody>
      </p:sp>
      <p:sp>
        <p:nvSpPr>
          <p:cNvPr id="22" name="a3ud60_tb21"/>
          <p:cNvSpPr txBox="1"/>
          <p:nvPr/>
        </p:nvSpPr>
        <p:spPr>
          <a:xfrm>
            <a:off x="4791456" y="1728216"/>
            <a:ext cx="1682496" cy="1143000"/>
          </a:xfrm>
          <a:prstGeom prst="rect">
            <a:avLst/>
          </a:prstGeom>
          <a:noFill/>
        </p:spPr>
        <p:txBody>
          <a:bodyPr wrap="square" lIns="0" tIns="0" rIns="0" bIns="0" anchor="t">
            <a:spAutoFit/>
          </a:bodyPr>
          <a:lstStyle/>
          <a:p>
            <a:pPr algn="l"/>
            <a:r>
              <a:rPr sz="950" b="0">
                <a:solidFill>
                  <a:srgbClr val="44403C"/>
                </a:solidFill>
                <a:latin typeface="Segoe UI"/>
              </a:rPr>
              <a:t>partitions can be copied to other nodes - see Replication</a:t>
            </a:r>
          </a:p>
        </p:txBody>
      </p:sp>
      <p:sp>
        <p:nvSpPr>
          <p:cNvPr id="23" name="a4u_card22"/>
          <p:cNvSpPr/>
          <p:nvPr/>
        </p:nvSpPr>
        <p:spPr>
          <a:xfrm>
            <a:off x="6739128" y="1325880"/>
            <a:ext cx="1956816" cy="1600200"/>
          </a:xfrm>
          <a:prstGeom prst="roundRect">
            <a:avLst>
              <a:gd name="adj" fmla="val 685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acc23"/>
          <p:cNvSpPr/>
          <p:nvPr/>
        </p:nvSpPr>
        <p:spPr>
          <a:xfrm>
            <a:off x="6739128" y="1325880"/>
            <a:ext cx="1956816"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4u_tt24"/>
          <p:cNvSpPr txBox="1"/>
          <p:nvPr/>
        </p:nvSpPr>
        <p:spPr>
          <a:xfrm>
            <a:off x="6885432" y="1435607"/>
            <a:ext cx="1682496" cy="256032"/>
          </a:xfrm>
          <a:prstGeom prst="rect">
            <a:avLst/>
          </a:prstGeom>
          <a:noFill/>
        </p:spPr>
        <p:txBody>
          <a:bodyPr wrap="square" lIns="0" tIns="0" rIns="0" bIns="0" anchor="ctr">
            <a:spAutoFit/>
          </a:bodyPr>
          <a:lstStyle/>
          <a:p>
            <a:pPr algn="l"/>
            <a:r>
              <a:rPr sz="1150" b="1">
                <a:solidFill>
                  <a:srgbClr val="1C1917"/>
                </a:solidFill>
                <a:latin typeface="Segoe UI"/>
              </a:rPr>
              <a:t>Ordered when needed</a:t>
            </a:r>
          </a:p>
        </p:txBody>
      </p:sp>
      <p:sp>
        <p:nvSpPr>
          <p:cNvPr id="26" name="a4ud60_tb25"/>
          <p:cNvSpPr txBox="1"/>
          <p:nvPr/>
        </p:nvSpPr>
        <p:spPr>
          <a:xfrm>
            <a:off x="6885432" y="1728216"/>
            <a:ext cx="1682496" cy="1143000"/>
          </a:xfrm>
          <a:prstGeom prst="rect">
            <a:avLst/>
          </a:prstGeom>
          <a:noFill/>
        </p:spPr>
        <p:txBody>
          <a:bodyPr wrap="square" lIns="0" tIns="0" rIns="0" bIns="0" anchor="t">
            <a:spAutoFit/>
          </a:bodyPr>
          <a:lstStyle/>
          <a:p>
            <a:pPr algn="l"/>
            <a:r>
              <a:rPr sz="950" b="0">
                <a:solidFill>
                  <a:srgbClr val="44403C"/>
                </a:solidFill>
                <a:latin typeface="Segoe UI"/>
              </a:rPr>
              <a:t>same key, same partition, same order</a:t>
            </a:r>
          </a:p>
        </p:txBody>
      </p:sp>
      <p:sp>
        <p:nvSpPr>
          <p:cNvPr id="27" name="a5u_nb26"/>
          <p:cNvSpPr/>
          <p:nvPr/>
        </p:nvSpPr>
        <p:spPr>
          <a:xfrm>
            <a:off x="457200" y="3200400"/>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5u_nacc27"/>
          <p:cNvSpPr/>
          <p:nvPr/>
        </p:nvSpPr>
        <p:spPr>
          <a:xfrm>
            <a:off x="457200" y="3200400"/>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5u_nt28"/>
          <p:cNvSpPr txBox="1"/>
          <p:nvPr/>
        </p:nvSpPr>
        <p:spPr>
          <a:xfrm>
            <a:off x="658368" y="3200400"/>
            <a:ext cx="7827264" cy="603504"/>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Knowing how partitions are assigned and balanced is how you get the most out of Kafka.</a:t>
            </a:r>
          </a:p>
        </p:txBody>
      </p:sp>
      <p:sp>
        <p:nvSpPr>
          <p:cNvPr id="30" name="ft2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31" name="ft3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ft3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Partitions</a:t>
            </a:r>
          </a:p>
        </p:txBody>
      </p:sp>
      <p:sp>
        <p:nvSpPr>
          <p:cNvPr id="33" name="ft3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6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6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6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One node would limit a topic</a:t>
            </a:r>
          </a:p>
          <a:p>
            <a:pPr algn="l">
              <a:spcAft>
                <a:spcPts val="100"/>
              </a:spcAft>
            </a:pPr>
            <a:r>
              <a:rPr sz="1000" b="0">
                <a:solidFill>
                  <a:srgbClr val="D6D3D1"/>
                </a:solidFill>
                <a:latin typeface="Segoe UI"/>
              </a:rPr>
              <a:t>Its size and speed would stop at one machine</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Partitioning splits a topic into logs</a:t>
            </a:r>
          </a:p>
          <a:p>
            <a:pPr algn="l">
              <a:spcAft>
                <a:spcPts val="100"/>
              </a:spcAft>
            </a:pPr>
            <a:r>
              <a:rPr sz="1000" b="0">
                <a:solidFill>
                  <a:srgbClr val="D6D3D1"/>
                </a:solidFill>
                <a:latin typeface="Segoe UI"/>
              </a:rPr>
              <a:t>They can spread across the cluster's nodes</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Order is per partition</a:t>
            </a:r>
          </a:p>
          <a:p>
            <a:pPr algn="l">
              <a:spcAft>
                <a:spcPts val="100"/>
              </a:spcAft>
            </a:pPr>
            <a:r>
              <a:rPr sz="1000" b="0">
                <a:solidFill>
                  <a:srgbClr val="D6D3D1"/>
                </a:solidFill>
                <a:latin typeface="Segoe UI"/>
              </a:rPr>
              <a:t>No strict order across a whole topic</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No key: spread evenly</a:t>
            </a:r>
          </a:p>
          <a:p>
            <a:pPr algn="l">
              <a:spcAft>
                <a:spcPts val="100"/>
              </a:spcAft>
            </a:pPr>
            <a:r>
              <a:rPr sz="1000" b="0">
                <a:solidFill>
                  <a:srgbClr val="D6D3D1"/>
                </a:solidFill>
                <a:latin typeface="Segoe UI"/>
              </a:rPr>
              <a:t>Good balance, but no ordering</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Key: hash mod partitions</a:t>
            </a:r>
          </a:p>
          <a:p>
            <a:pPr algn="l">
              <a:spcAft>
                <a:spcPts val="100"/>
              </a:spcAft>
            </a:pPr>
            <a:r>
              <a:rPr sz="1000" b="0">
                <a:solidFill>
                  <a:srgbClr val="D6D3D1"/>
                </a:solidFill>
                <a:latin typeface="Segoe UI"/>
              </a:rPr>
              <a:t>Same key, same partition, same order</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4 - Brokers</a:t>
            </a:r>
          </a:p>
          <a:p>
            <a:pPr algn="l">
              <a:spcAft>
                <a:spcPts val="400"/>
              </a:spcAft>
            </a:pPr>
            <a:r>
              <a:rPr sz="850" b="0">
                <a:solidFill>
                  <a:srgbClr val="A8A29E"/>
                </a:solidFill>
                <a:latin typeface="Segoe UI"/>
              </a:rPr>
              <a:t>the nodes that hold the partitions</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Partitions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