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section of today builds one part of this pack. Assemble it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how many join conditions a four-table query needs, before showing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Oracle and SQL Server support FULL OUTER. MySQL does not, and needs a UNION of two outer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will build txn_band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has caused real regulatory reporting errors. Make them say which they meant.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MySQL used to guess, silently. That behaviour caused a lot of wrong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run it against a column that genuinely contains NULLs. The empty result is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6 replaces this with a CTE, which reads far better. Mention it, do not teach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the next slides are from their own seeded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Module 11's conversion work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 reporting bug in the industry. Spend time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463040" cy="8229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Advanced SQL Queries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A9C6DA"/>
                </a:solidFill>
                <a:latin typeface="Segoe UI"/>
              </a:rPr>
              <a:t>Module 3  |  8 Hours  |  Enterprise Data Engineering with SQL, Redis &amp;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8FAAC0"/>
                </a:solidFill>
                <a:latin typeface="Segoe UI"/>
              </a:rPr>
              <a:t>ICICI Bank Learning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we left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Module 2 gave you </a:t>
            </a:r>
            <a:r>
              <a:rPr b="0" sz="1800">
                <a:solidFill>
                  <a:srgbClr val="008C8C"/>
                </a:solidFill>
                <a:latin typeface="Consolas"/>
              </a:rPr>
              <a:t>fixed_deposit</a:t>
            </a:r>
            <a:r>
              <a:rPr b="0" sz="1800">
                <a:solidFill>
                  <a:srgbClr val="1B2633"/>
                </a:solidFill>
                <a:latin typeface="Segoe UI"/>
              </a:rPr>
              <a:t>, twenty pilot bookings, and safe DDL and DML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Every query you wrote read </a:t>
            </a:r>
            <a:r>
              <a:rPr b="1" sz="1800">
                <a:solidFill>
                  <a:srgbClr val="1B2633"/>
                </a:solidFill>
                <a:latin typeface="Segoe UI"/>
              </a:rPr>
              <a:t>one</a:t>
            </a:r>
            <a:r>
              <a:rPr b="0" sz="1800">
                <a:solidFill>
                  <a:srgbClr val="1B2633"/>
                </a:solidFill>
                <a:latin typeface="Segoe UI"/>
              </a:rPr>
              <a:t> table at a time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one exception was the call centre list, which quietly used a </a:t>
            </a:r>
            <a:r>
              <a:rPr b="0" sz="1800">
                <a:solidFill>
                  <a:srgbClr val="008C8C"/>
                </a:solidFill>
                <a:latin typeface="Consolas"/>
              </a:rPr>
              <a:t>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to fetch the customer's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16352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07792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Today that </a:t>
            </a:r>
            <a:r>
              <a:rPr b="0" sz="1450">
                <a:solidFill>
                  <a:srgbClr val="008C8C"/>
                </a:solidFill>
                <a:latin typeface="Consolas"/>
              </a:rPr>
              <a:t>JOIN</a:t>
            </a:r>
            <a:r>
              <a:rPr b="1" sz="1450">
                <a:solidFill>
                  <a:srgbClr val="6B4A00"/>
                </a:solidFill>
                <a:latin typeface="Segoe UI"/>
              </a:rPr>
              <a:t> stops being a mystery, and you learn to answer questions no single table can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Today's ticket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93868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93868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664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TICKET  ICICI-4530                                   Priority: HIGH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-----------------------------------------------------------------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Raised by : Head of Branch Operations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Subject   : Monthly branch performance pack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Every month I ask three people for numbers and get three answers.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 need one report, from one source, that tells me per branch: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customers, accounts and total deposits held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money in and money out this quarter, by channel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customers who have not transacted at all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the ten largest transactions and who authorised them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deposits maturing, so we can call before the competition does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you will be able to do by 5 pm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852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Join two, three and four tables, and explain what </a:t>
            </a:r>
            <a:r>
              <a:rPr b="0" sz="1800">
                <a:solidFill>
                  <a:srgbClr val="008C8C"/>
                </a:solidFill>
                <a:latin typeface="Consolas"/>
              </a:rPr>
              <a:t>ON</a:t>
            </a:r>
            <a:r>
              <a:rPr b="0" sz="1800">
                <a:solidFill>
                  <a:srgbClr val="1B2633"/>
                </a:solidFill>
                <a:latin typeface="Segoe UI"/>
              </a:rPr>
              <a:t> really does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Choose between </a:t>
            </a:r>
            <a:r>
              <a:rPr b="0" sz="1800">
                <a:solidFill>
                  <a:srgbClr val="008C8C"/>
                </a:solidFill>
                <a:latin typeface="Consolas"/>
              </a:rPr>
              <a:t>INNER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LEFT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RIGHT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</a:t>
            </a:r>
            <a:r>
              <a:rPr b="0" sz="1800">
                <a:solidFill>
                  <a:srgbClr val="008C8C"/>
                </a:solidFill>
                <a:latin typeface="Consolas"/>
              </a:rPr>
              <a:t>FULL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joins, and spot the bug that silently turns one into another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Join a table to itself to walk the ICICI Bank management hierarchy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Aggregate with </a:t>
            </a:r>
            <a:r>
              <a:rPr b="0" sz="1800">
                <a:solidFill>
                  <a:srgbClr val="008C8C"/>
                </a:solidFill>
                <a:latin typeface="Consolas"/>
              </a:rPr>
              <a:t>GROUP BY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filter groups with </a:t>
            </a:r>
            <a:r>
              <a:rPr b="0" sz="1800">
                <a:solidFill>
                  <a:srgbClr val="008C8C"/>
                </a:solidFill>
                <a:latin typeface="Consolas"/>
              </a:rPr>
              <a:t>HAVING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Write scalar, </a:t>
            </a:r>
            <a:r>
              <a:rPr b="0" sz="1800">
                <a:solidFill>
                  <a:srgbClr val="008C8C"/>
                </a:solidFill>
                <a:latin typeface="Consolas"/>
              </a:rPr>
              <a:t>IN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EXISTS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correlated subqueries, and know which to reach for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Combine result sets with </a:t>
            </a:r>
            <a:r>
              <a:rPr b="0" sz="1800">
                <a:solidFill>
                  <a:srgbClr val="008C8C"/>
                </a:solidFill>
                <a:latin typeface="Consolas"/>
              </a:rPr>
              <a:t>UNION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INTERSECT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</a:t>
            </a:r>
            <a:r>
              <a:rPr b="0" sz="1800">
                <a:solidFill>
                  <a:srgbClr val="008C8C"/>
                </a:solidFill>
                <a:latin typeface="Consolas"/>
              </a:rPr>
              <a:t>EXCEPT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1 - Joins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joins exist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bank's facts are deliberately spread across tables.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account</a:t>
            </a:r>
            <a:r>
              <a:rPr b="0" sz="1800">
                <a:solidFill>
                  <a:srgbClr val="1B2633"/>
                </a:solidFill>
                <a:latin typeface="Segoe UI"/>
              </a:rPr>
              <a:t> holds a </a:t>
            </a:r>
            <a:r>
              <a:rPr b="0" sz="1800">
                <a:solidFill>
                  <a:srgbClr val="008C8C"/>
                </a:solidFill>
                <a:latin typeface="Consolas"/>
              </a:rPr>
              <a:t>customer_id</a:t>
            </a:r>
            <a:r>
              <a:rPr b="0" sz="1800">
                <a:solidFill>
                  <a:srgbClr val="1B2633"/>
                </a:solidFill>
                <a:latin typeface="Segoe UI"/>
              </a:rPr>
              <a:t>, not a customer name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That is good design, and Module 4 explains why. But no useful report reads one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06624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06624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43784"/>
            <a:ext cx="10698480" cy="1024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                  account                   branch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                  -------                   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customer_id  1001         account_id   9001         branch_id  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first_name   Aarav        customer_id  1001  -----&gt; branch_id  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last_name    Sharma       balance      35859.46     branch_name Fort Mumbai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97139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97139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88579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 </a:t>
            </a:r>
            <a:r>
              <a:rPr b="1" sz="1450">
                <a:solidFill>
                  <a:srgbClr val="6B4A00"/>
                </a:solidFill>
                <a:latin typeface="Segoe UI"/>
              </a:rPr>
              <a:t>join</a:t>
            </a:r>
            <a:r>
              <a:rPr b="1" sz="1450">
                <a:solidFill>
                  <a:srgbClr val="6B4A00"/>
                </a:solidFill>
                <a:latin typeface="Segoe UI"/>
              </a:rPr>
              <a:t> re-assembles facts that normalization deliberately separated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accident: a cross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No join condition at all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c.first_name, a.account_number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c, account a;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79061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30 customers times 36 accounts = </a:t>
            </a:r>
            <a:r>
              <a:rPr b="1" sz="1800">
                <a:solidFill>
                  <a:srgbClr val="1B2633"/>
                </a:solidFill>
                <a:latin typeface="Segoe UI"/>
              </a:rPr>
              <a:t>1,080 rows</a:t>
            </a:r>
            <a:r>
              <a:rPr b="0" sz="1800">
                <a:solidFill>
                  <a:srgbClr val="1B2633"/>
                </a:solidFill>
                <a:latin typeface="Segoe UI"/>
              </a:rPr>
              <a:t>, every customer paired with every account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This is a </a:t>
            </a:r>
            <a:r>
              <a:rPr b="1" sz="1800">
                <a:solidFill>
                  <a:srgbClr val="1B2633"/>
                </a:solidFill>
                <a:latin typeface="Segoe UI"/>
              </a:rPr>
              <a:t>Cartesian product</a:t>
            </a:r>
            <a:r>
              <a:rPr b="0" sz="1800">
                <a:solidFill>
                  <a:srgbClr val="1B2633"/>
                </a:solidFill>
                <a:latin typeface="Segoe UI"/>
              </a:rPr>
              <a:t>, and it is almost never what you want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12917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412917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550077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If you really mean it, say so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c.first_name, a.account_number FROM customer c CROSS JOIN account a;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188579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188579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280019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On 30,000 customers and 40,000 accounts that is 1.2 billion rows. This is how juniors take down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INNER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c.first_name || ' ' || c.last_name AS customer_name,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a.account_number,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a.account_type,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INNER JOIN account a ON a.customer_id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c.customer_id;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ON</a:t>
            </a:r>
            <a:r>
              <a:rPr b="0" sz="1800">
                <a:solidFill>
                  <a:srgbClr val="1B2633"/>
                </a:solidFill>
                <a:latin typeface="Segoe UI"/>
              </a:rPr>
              <a:t> states </a:t>
            </a:r>
            <a:r>
              <a:rPr b="1" sz="1800">
                <a:solidFill>
                  <a:srgbClr val="1B2633"/>
                </a:solidFill>
                <a:latin typeface="Segoe UI"/>
              </a:rPr>
              <a:t>how the rows match</a:t>
            </a:r>
            <a:r>
              <a:rPr b="0" sz="1800">
                <a:solidFill>
                  <a:srgbClr val="1B2633"/>
                </a:solidFill>
                <a:latin typeface="Segoe UI"/>
              </a:rPr>
              <a:t>. Only pairs that satisfy it survive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INNER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the default, so </a:t>
            </a:r>
            <a:r>
              <a:rPr b="0" sz="1800">
                <a:solidFill>
                  <a:srgbClr val="008C8C"/>
                </a:solidFill>
                <a:latin typeface="Consolas"/>
              </a:rPr>
              <a:t>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alone means the same thing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customer with no account does not appear. An account with no customer cannot exist, because of the foreign 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Aliases and qualified names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Without aliases: verbose and ambiguous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customer.first_name, account.balance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JOIN account ON account.customer_id = customer.customer_id;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With aliases: readable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c.first_name, a.balance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 JOIN account a ON a.customer_id = c.customer_id;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customer_id</a:t>
            </a:r>
            <a:r>
              <a:rPr b="0" sz="1800">
                <a:solidFill>
                  <a:srgbClr val="1B2633"/>
                </a:solidFill>
                <a:latin typeface="Segoe UI"/>
              </a:rPr>
              <a:t> exists in both tables. Unqualified, the engine cannot tell which you mean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48673"/>
            <a:ext cx="11018520" cy="47927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848673"/>
            <a:ext cx="50292" cy="47927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85833"/>
            <a:ext cx="10698480" cy="204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ERROR:  column reference "customer_id" is ambiguous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419384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19384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510824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Alias every table, qualify every column. It costs two characters and prevents a whole class of bug.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Joining three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b.branch_name,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c.first_name || ' ' || c.last_name AS customer_name,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a.account_number,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branch b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customer c ON c.home_branch_id = b.branch_id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account  a ON a.customer_id   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b.branch_id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a.balance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Joins are applied left to right. Each </a:t>
            </a:r>
            <a:r>
              <a:rPr b="0" sz="1800">
                <a:solidFill>
                  <a:srgbClr val="008C8C"/>
                </a:solidFill>
                <a:latin typeface="Consolas"/>
              </a:rPr>
              <a:t>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adds one table and one </a:t>
            </a:r>
            <a:r>
              <a:rPr b="0" sz="1800">
                <a:solidFill>
                  <a:srgbClr val="008C8C"/>
                </a:solidFill>
                <a:latin typeface="Consolas"/>
              </a:rPr>
              <a:t>ON</a:t>
            </a:r>
            <a:r>
              <a:rPr b="0" sz="1800">
                <a:solidFill>
                  <a:srgbClr val="1B2633"/>
                </a:solidFill>
                <a:latin typeface="Segoe UI"/>
              </a:rPr>
              <a:t> condition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n tables need n-1 join conditions.</a:t>
            </a:r>
            <a:r>
              <a:rPr b="0" sz="1800">
                <a:solidFill>
                  <a:srgbClr val="1B2633"/>
                </a:solidFill>
                <a:latin typeface="Segoe UI"/>
              </a:rPr>
              <a:t> Forget one and you get a Cartesian product on that pair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Joining four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b.branch_name,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c.first_name || ' ' || c.last_name AS customer_name,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t.txn_date, t.txn_type, t.amount, t.channel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branch      b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customer    c ON c.home_branch_id = b.branch_id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account     a ON a.customer_id   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account_txn t ON t.account_id     = a.account_id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t.txn_date &gt;= DATE '2026-03-01'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AND  t.amount   &gt;= 100000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t.amount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13718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Branch, customer, account, transaction: three </a:t>
            </a:r>
            <a:r>
              <a:rPr b="0" sz="1800">
                <a:solidFill>
                  <a:srgbClr val="008C8C"/>
                </a:solidFill>
                <a:latin typeface="Consolas"/>
              </a:rPr>
              <a:t>ON</a:t>
            </a:r>
            <a:r>
              <a:rPr b="0" sz="1800">
                <a:solidFill>
                  <a:srgbClr val="1B2633"/>
                </a:solidFill>
                <a:latin typeface="Segoe UI"/>
              </a:rPr>
              <a:t> conditions for four tables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This one query already answers "which large transactions happened at which branch, for whom"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LEFT OUTER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Every customer, whether or not they hold an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c.first_name || ' ' || c.last_name AS customer_name,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a.account_number,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LEFT JOIN account a ON a.customer_id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c.customer_id;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Every row from the </a:t>
            </a:r>
            <a:r>
              <a:rPr b="1" sz="1800">
                <a:solidFill>
                  <a:srgbClr val="1B2633"/>
                </a:solidFill>
                <a:latin typeface="Segoe UI"/>
              </a:rPr>
              <a:t>left</a:t>
            </a:r>
            <a:r>
              <a:rPr b="0" sz="1800">
                <a:solidFill>
                  <a:srgbClr val="1B2633"/>
                </a:solidFill>
                <a:latin typeface="Segoe UI"/>
              </a:rPr>
              <a:t> table survives. Where there is no match, the right table's columns come back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word </a:t>
            </a:r>
            <a:r>
              <a:rPr b="0" sz="1800">
                <a:solidFill>
                  <a:srgbClr val="008C8C"/>
                </a:solidFill>
                <a:latin typeface="Consolas"/>
              </a:rPr>
              <a:t>OUTER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optional: </a:t>
            </a:r>
            <a:r>
              <a:rPr b="0" sz="1800">
                <a:solidFill>
                  <a:srgbClr val="008C8C"/>
                </a:solidFill>
                <a:latin typeface="Consolas"/>
              </a:rPr>
              <a:t>LEFT 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</a:t>
            </a:r>
            <a:r>
              <a:rPr b="0" sz="1800">
                <a:solidFill>
                  <a:srgbClr val="008C8C"/>
                </a:solidFill>
                <a:latin typeface="Consolas"/>
              </a:rPr>
              <a:t>LEFT OUTER 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are identical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37672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437672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5291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Use </a:t>
            </a:r>
            <a:r>
              <a:rPr b="0" sz="1450">
                <a:solidFill>
                  <a:srgbClr val="008C8C"/>
                </a:solidFill>
                <a:latin typeface="Consolas"/>
              </a:rPr>
              <a:t>LEFT JOIN</a:t>
            </a:r>
            <a:r>
              <a:rPr b="1" sz="1450">
                <a:solidFill>
                  <a:srgbClr val="6B4A00"/>
                </a:solidFill>
                <a:latin typeface="Segoe UI"/>
              </a:rPr>
              <a:t> whenever the question contains the words "including those with none"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four join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050"/>
                <a:gridCol w="8013469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Keeps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INNER JOIN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Only rows that match on both sides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LEFT JOIN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All left rows, plus matches on the right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RIGHT JOIN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All right rows, plus matches on the left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FULL OUTER JOIN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All rows from both sides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CROSS JOIN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Every combination. No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ON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clause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95294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RIGHT 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rare in practice: swap the tables and use </a:t>
            </a:r>
            <a:r>
              <a:rPr b="0" sz="1800">
                <a:solidFill>
                  <a:srgbClr val="008C8C"/>
                </a:solidFill>
                <a:latin typeface="Consolas"/>
              </a:rPr>
              <a:t>LEFT 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, which reads more naturally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bug that silently kills an outer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52878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52878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2544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WRONG: this is now an inner join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 a.account_number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LEFT JOIN account a ON a.customer_id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a.status = 'ACTIVE';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RIGHT: the condition belongs in the ON clause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 a.account_number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LEFT JOIN account a ON a.customer_id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AND a.status = 'ACTIVE';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18669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WHERE a.status = 'ACTIVE'</a:t>
            </a:r>
            <a:r>
              <a:rPr b="0" sz="1800">
                <a:solidFill>
                  <a:srgbClr val="1B2633"/>
                </a:solidFill>
                <a:latin typeface="Segoe UI"/>
              </a:rPr>
              <a:t> throws away rows where </a:t>
            </a:r>
            <a:r>
              <a:rPr b="0" sz="1800">
                <a:solidFill>
                  <a:srgbClr val="008C8C"/>
                </a:solidFill>
                <a:latin typeface="Consolas"/>
              </a:rPr>
              <a:t>a.status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- which is every unmatched customer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668477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668477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759917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0" sz="1450">
                <a:solidFill>
                  <a:srgbClr val="008C8C"/>
                </a:solidFill>
                <a:latin typeface="Consolas"/>
              </a:rPr>
              <a:t>ON</a:t>
            </a:r>
            <a:r>
              <a:rPr b="1" sz="1450">
                <a:solidFill>
                  <a:srgbClr val="6B4A00"/>
                </a:solidFill>
                <a:latin typeface="Segoe UI"/>
              </a:rPr>
              <a:t> filters </a:t>
            </a:r>
            <a:r>
              <a:rPr b="1" sz="1450">
                <a:solidFill>
                  <a:srgbClr val="6B4A00"/>
                </a:solidFill>
                <a:latin typeface="Segoe UI"/>
              </a:rPr>
              <a:t>before</a:t>
            </a:r>
            <a:r>
              <a:rPr b="1" sz="1450">
                <a:solidFill>
                  <a:srgbClr val="6B4A00"/>
                </a:solidFill>
                <a:latin typeface="Segoe UI"/>
              </a:rPr>
              <a:t> the join, </a:t>
            </a:r>
            <a:r>
              <a:rPr b="0" sz="1450">
                <a:solidFill>
                  <a:srgbClr val="008C8C"/>
                </a:solidFill>
                <a:latin typeface="Consolas"/>
              </a:rPr>
              <a:t>WHERE</a:t>
            </a:r>
            <a:r>
              <a:rPr b="1" sz="1450">
                <a:solidFill>
                  <a:srgbClr val="6B4A00"/>
                </a:solidFill>
                <a:latin typeface="Segoe UI"/>
              </a:rPr>
              <a:t> filters </a:t>
            </a:r>
            <a:r>
              <a:rPr b="1" sz="1450">
                <a:solidFill>
                  <a:srgbClr val="6B4A00"/>
                </a:solidFill>
                <a:latin typeface="Segoe UI"/>
              </a:rPr>
              <a:t>after</a:t>
            </a:r>
            <a:r>
              <a:rPr b="1" sz="1450">
                <a:solidFill>
                  <a:srgbClr val="6B4A00"/>
                </a:solidFill>
                <a:latin typeface="Segoe UI"/>
              </a:rPr>
              <a:t>. On an outer join, that difference changes the answer.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anti-join: finding what is missing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024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Accounts that have never seen a single transaction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a.account_id, a.account_number, a.status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LEFT JOIN account_txn t ON t.account_id = a.account_id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t.txn_id IS NULL;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88963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88963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826123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account_id | account_number | status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------------+----------------+---------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9001 | ICIC0000009001 | DORMANT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69576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Join, then keep only the rows where the match </a:t>
            </a:r>
            <a:r>
              <a:rPr b="1" sz="1800">
                <a:solidFill>
                  <a:srgbClr val="1B2633"/>
                </a:solidFill>
                <a:latin typeface="Segoe UI"/>
              </a:rPr>
              <a:t>failed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Test the joined table's primary key for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, never a nullable column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4529112"/>
          <a:ext cx="11018520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1976"/>
                <a:gridCol w="5876544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Business question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Pattern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Customers with no account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LEFT JOIN account ... WHERE a.account_id IS NULL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Accounts with no transactions this quarter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LEFT JOIN account_txn ... WHERE t.txn_id IS NULL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Customers with no nominee on any deposit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Same shape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SELF JOIN - the ICICI Bank hierarchy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e.employee_id,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e.first_name || ' ' || e.last_name AS employee,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e.designation,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m.first_name || ' ' || m.last_name AS reports_to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employee 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LEFT JOIN employee m ON m.employee_id = e.manager_id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e.branch_id, e.employee_id;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One table, two aliases: </a:t>
            </a:r>
            <a:r>
              <a:rPr b="0" sz="1800">
                <a:solidFill>
                  <a:srgbClr val="008C8C"/>
                </a:solidFill>
                <a:latin typeface="Consolas"/>
              </a:rPr>
              <a:t>e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the employee, </a:t>
            </a:r>
            <a:r>
              <a:rPr b="0" sz="1800">
                <a:solidFill>
                  <a:srgbClr val="008C8C"/>
                </a:solidFill>
                <a:latin typeface="Consolas"/>
              </a:rPr>
              <a:t>m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their manager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LEFT 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because a Branch Manager has </a:t>
            </a:r>
            <a:r>
              <a:rPr b="0" sz="1800">
                <a:solidFill>
                  <a:srgbClr val="008C8C"/>
                </a:solidFill>
                <a:latin typeface="Consolas"/>
              </a:rPr>
              <a:t>manager_id</a:t>
            </a:r>
            <a:r>
              <a:rPr b="0" sz="1800">
                <a:solidFill>
                  <a:srgbClr val="1B2633"/>
                </a:solidFill>
                <a:latin typeface="Segoe UI"/>
              </a:rPr>
              <a:t> set to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must still appear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232721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232721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324161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Any hierarchy stored as a parent id in the same table is queried with a self join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Non-equi joins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024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Band every transaction by size, using a lookup of ranges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t.txn_id, t.amount, b.band_name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 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txn_band b ON t.amount &gt;= b.min_amount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AND t.amount &lt;  b.max_amount;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88963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ON</a:t>
            </a:r>
            <a:r>
              <a:rPr b="0" sz="1800">
                <a:solidFill>
                  <a:srgbClr val="1B2633"/>
                </a:solidFill>
                <a:latin typeface="Segoe UI"/>
              </a:rPr>
              <a:t> does not have to use </a:t>
            </a:r>
            <a:r>
              <a:rPr b="0" sz="1800">
                <a:solidFill>
                  <a:srgbClr val="008C8C"/>
                </a:solidFill>
                <a:latin typeface="Consolas"/>
              </a:rPr>
              <a:t>=</a:t>
            </a:r>
            <a:r>
              <a:rPr b="0" sz="1800">
                <a:solidFill>
                  <a:srgbClr val="1B2633"/>
                </a:solidFill>
                <a:latin typeface="Segoe UI"/>
              </a:rPr>
              <a:t>. Any condition that evaluates to true or false is allowed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Common in banking for rate slabs, tax brackets, risk bands and tiered charges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2 - Aggregate functions and GROUP BY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five aggregate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555"/>
                <a:gridCol w="2754630"/>
                <a:gridCol w="5833334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ICICI Bank use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COUNT(*)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Number of rows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Accounts per branch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SUM(x)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Deposits held, money moved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AVG(x)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Mean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Average balance, average ticket size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MIN(x)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/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MAX(x)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Smallest, largest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Oldest account, largest transaction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281553"/>
            <a:ext cx="10698480" cy="1229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COUNT(*)      AS accounts,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SUM(balance)  AS total_deposits,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AVG(balance)  AS average_balance,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MAX(balance)  AS largest_balance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status = 'ACTIVE';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COUNT has three forms and they differ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COUNT(*)                    AS all_rows,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COUNT(interest_rate)        AS rows_with_a_rate,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COUNT(DISTINCT account_type) AS distinct_types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484012"/>
          <a:ext cx="11018519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3892"/>
                <a:gridCol w="7044627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Counts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COUNT(*)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Every row, including rows full of NULLs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COUNT(column)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Rows where that column </a:t>
                      </a:r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is not NULL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COUNT(DISTINCT column)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Distinct non-null values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397905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97905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70496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Every aggregate except </a:t>
            </a:r>
            <a:r>
              <a:rPr b="0" sz="1450">
                <a:solidFill>
                  <a:srgbClr val="008C8C"/>
                </a:solidFill>
                <a:latin typeface="Consolas"/>
              </a:rPr>
              <a:t>COUNT(*)</a:t>
            </a:r>
            <a:r>
              <a:rPr b="1" sz="1450">
                <a:solidFill>
                  <a:srgbClr val="6B4A00"/>
                </a:solidFill>
                <a:latin typeface="Segoe UI"/>
              </a:rPr>
              <a:t> ignores NULLs. </a:t>
            </a:r>
            <a:r>
              <a:rPr b="0" sz="1450">
                <a:solidFill>
                  <a:srgbClr val="008C8C"/>
                </a:solidFill>
                <a:latin typeface="Consolas"/>
              </a:rPr>
              <a:t>AVG</a:t>
            </a:r>
            <a:r>
              <a:rPr b="1" sz="1450">
                <a:solidFill>
                  <a:srgbClr val="6B4A00"/>
                </a:solidFill>
                <a:latin typeface="Segoe UI"/>
              </a:rPr>
              <a:t> divides by the non-null count, not the row count.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that matters for money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024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-- 5 deposits, one with an unknown rate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AVG(interest_rate) FROM fixed_deposit;   -- divides by 4, not 5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Treat unknown as zero, deliberately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AVG(COALESCE(interest_rate, 0)) FROM fixed_deposit;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88963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Neither is wrong. They answer </a:t>
            </a:r>
            <a:r>
              <a:rPr b="1" sz="1800">
                <a:solidFill>
                  <a:srgbClr val="1B2633"/>
                </a:solidFill>
                <a:latin typeface="Segoe UI"/>
              </a:rPr>
              <a:t>different questions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"The average of the rates we know" is not "the average rate across the book"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GROUP BY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a.branch_id,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COUNT(*)     AS accounts,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SUM(balance) AS total_deposits,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ROUND(AVG(balance), 2) AS avg_balance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a.status = 'ACTIVE'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a.branch_id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total_deposits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GROUP BY</a:t>
            </a:r>
            <a:r>
              <a:rPr b="0" sz="1800">
                <a:solidFill>
                  <a:srgbClr val="1B2633"/>
                </a:solidFill>
                <a:latin typeface="Segoe UI"/>
              </a:rPr>
              <a:t> collapses many rows into one row per distinct value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result has one row per branch, not one row per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63352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163352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54792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The rule:</a:t>
            </a:r>
            <a:r>
              <a:rPr b="1" sz="1450">
                <a:solidFill>
                  <a:srgbClr val="6B4A00"/>
                </a:solidFill>
                <a:latin typeface="Segoe UI"/>
              </a:rPr>
              <a:t> every column in </a:t>
            </a:r>
            <a:r>
              <a:rPr b="0" sz="1450">
                <a:solidFill>
                  <a:srgbClr val="008C8C"/>
                </a:solidFill>
                <a:latin typeface="Consolas"/>
              </a:rPr>
              <a:t>SELECT</a:t>
            </a:r>
            <a:r>
              <a:rPr b="1" sz="1450">
                <a:solidFill>
                  <a:srgbClr val="6B4A00"/>
                </a:solidFill>
                <a:latin typeface="Segoe UI"/>
              </a:rPr>
              <a:t> must either be inside an aggregate or listed in </a:t>
            </a:r>
            <a:r>
              <a:rPr b="0" sz="1450">
                <a:solidFill>
                  <a:srgbClr val="008C8C"/>
                </a:solidFill>
                <a:latin typeface="Consolas"/>
              </a:rPr>
              <a:t>GROUP BY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that rule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Illegal, and rightly so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branch_id, account_number, SUM(balance)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branch_id;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84012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84012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21172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ERROR:  column "account.account_number" must appear in the GROUP BY clause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or be used in an aggregate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59674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Branch 1 has six accounts. Which single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account_number</a:t>
            </a:r>
            <a:r>
              <a:rPr b="0" sz="1800">
                <a:solidFill>
                  <a:srgbClr val="1B2633"/>
                </a:solidFill>
                <a:latin typeface="Segoe UI"/>
              </a:rPr>
              <a:t> should the one output row show?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question has no answer, so the engine refuses to guess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Grouping by more than one column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a.branch_id,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a.account_type,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COUNT(*)     AS accounts,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SUM(balance) AS total_deposits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a.branch_id, a.account_type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a.branch_id, a.account_type;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One row per </a:t>
            </a:r>
            <a:r>
              <a:rPr b="1" sz="1800">
                <a:solidFill>
                  <a:srgbClr val="1B2633"/>
                </a:solidFill>
                <a:latin typeface="Segoe UI"/>
              </a:rPr>
              <a:t>combination</a:t>
            </a:r>
            <a:r>
              <a:rPr b="0" sz="1800">
                <a:solidFill>
                  <a:srgbClr val="1B2633"/>
                </a:solidFill>
                <a:latin typeface="Segoe UI"/>
              </a:rPr>
              <a:t> that actually exists in the data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8 branches times 3 account types gives at most 24 rows, and fewer if some combinations are empty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232721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232721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324161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0" sz="1450">
                <a:solidFill>
                  <a:srgbClr val="008C8C"/>
                </a:solidFill>
                <a:latin typeface="Consolas"/>
              </a:rPr>
              <a:t>GROUP BY</a:t>
            </a:r>
            <a:r>
              <a:rPr b="1" sz="1450">
                <a:solidFill>
                  <a:srgbClr val="6B4A00"/>
                </a:solidFill>
                <a:latin typeface="Segoe UI"/>
              </a:rPr>
              <a:t> never invents empty combinations. A branch with no current accounts simply has no such row.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and HAVING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a.branch_id,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COUNT(*)     AS accounts,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SUM(balance) AS total_deposits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a.status = 'ACTIVE'          -- filters ROWS, before grouping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a.branch_id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HAVING SUM(a.balance) &gt; 1000000     -- filters GROUPS, after aggregating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total_deposits DESC;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303816"/>
          <a:ext cx="11018518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858"/>
                <a:gridCol w="3516548"/>
                <a:gridCol w="3282112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WHERE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HAVING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Filters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Individual rows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Whole groups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Runs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Before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GROUP BY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After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GROUP BY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Can use aggregates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4798860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798860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890300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Put a condition in </a:t>
            </a:r>
            <a:r>
              <a:rPr b="0" sz="1450">
                <a:solidFill>
                  <a:srgbClr val="008C8C"/>
                </a:solidFill>
                <a:latin typeface="Consolas"/>
              </a:rPr>
              <a:t>WHERE</a:t>
            </a:r>
            <a:r>
              <a:rPr b="1" sz="1450">
                <a:solidFill>
                  <a:srgbClr val="6B4A00"/>
                </a:solidFill>
                <a:latin typeface="Segoe UI"/>
              </a:rPr>
              <a:t> whenever you can. Fewer rows reach the grouping, so the query is faster.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Conditional aggregation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52878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52878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2544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b.branch_name,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SUM(CASE WHEN t.txn_type = 'CREDIT' THEN t.amount ELSE 0 END) AS money_in,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SUM(CASE WHEN t.txn_type = 'DEBIT'  THEN t.amount ELSE 0 END) AS money_out,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COUNT(*) FILTER (WHERE t.channel = 'UPI')                     AS upi_txns,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COUNT(*)                                                      AS all_txns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 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account a ON a.account_id = t.account_id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JOIN branch  b ON b.branch_id  = a.branch_id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t.status = 'SUCCESS'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b.branch_name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money_in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18669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SUM(CASE WHEN ...)</a:t>
            </a:r>
            <a:r>
              <a:rPr b="0" sz="1800">
                <a:solidFill>
                  <a:srgbClr val="1B2633"/>
                </a:solidFill>
                <a:latin typeface="Segoe UI"/>
              </a:rPr>
              <a:t> turns rows into </a:t>
            </a:r>
            <a:r>
              <a:rPr b="1" sz="1800">
                <a:solidFill>
                  <a:srgbClr val="1B2633"/>
                </a:solidFill>
                <a:latin typeface="Segoe UI"/>
              </a:rPr>
              <a:t>columns</a:t>
            </a:r>
            <a:r>
              <a:rPr b="0" sz="1800">
                <a:solidFill>
                  <a:srgbClr val="1B2633"/>
                </a:solidFill>
                <a:latin typeface="Segoe UI"/>
              </a:rPr>
              <a:t>. This is how you pivot in plain SQL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FILTER (WHERE ...)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the cleaner PostgreSQL form of the same idea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Subtotals with ROLLUP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229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COALESCE(b.branch_name, 'ALL BRANCHES') AS branch,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COALESCE(a.account_type, 'ALL TYPES')   AS account_type,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SUM(a.balance)                          AS total_deposits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a JOIN branch b ON b.branch_id = a.branch_id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ROLLUP (b.branch_name, a.account_type)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b.branch_name, a.account_type;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93914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Adds a subtotal row per branch and one grand total row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in a rollup row means "all values", which is why </a:t>
            </a:r>
            <a:r>
              <a:rPr b="0" sz="1800">
                <a:solidFill>
                  <a:srgbClr val="008C8C"/>
                </a:solidFill>
                <a:latin typeface="Consolas"/>
              </a:rPr>
              <a:t>COALESCE</a:t>
            </a:r>
            <a:r>
              <a:rPr b="0" sz="1800">
                <a:solidFill>
                  <a:srgbClr val="1B2633"/>
                </a:solidFill>
                <a:latin typeface="Segoe UI"/>
              </a:rPr>
              <a:t> labels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53450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753450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844890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Available in PostgreSQL, Oracle and SQL Server. This is the shape of every management pack you will ever build.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3 - Subqueries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 subquery is a query inside a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20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420"/>
                <a:gridCol w="4774692"/>
                <a:gridCol w="4407408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Kind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Used in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Scalar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One row, one column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SELECT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WHERE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SET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Row list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One column, many rows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IN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NOT IN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ANY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ALL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Many rows and columns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FROM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as a derived table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Correlated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Re-evaluated per outer row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EXISTS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NOT EXISTS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281553"/>
            <a:ext cx="10698480" cy="1024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Scalar: accounts above the bank-wide average 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account_number, 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balance &gt; (SELECT AVG(balance) FROM account)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balance DESC;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 and NOT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Accounts belonging to high-risk customers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a.account_number, a.balance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a.customer_id IN (SELECT customer_id FROM customer WHERE risk_rating = 'HIGH');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84012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84012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21172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DANGEROUS if the subquery can return a NULL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 FROM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c.customer_id NOT IN (SELECT customer_id FROM fixed_deposit);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464625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464625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556065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If the subquery returns even one </a:t>
            </a:r>
            <a:r>
              <a:rPr b="0" sz="1450">
                <a:solidFill>
                  <a:srgbClr val="008C8C"/>
                </a:solidFill>
                <a:latin typeface="Consolas"/>
              </a:rPr>
              <a:t>NULL</a:t>
            </a:r>
            <a:r>
              <a:rPr b="1" sz="1450">
                <a:solidFill>
                  <a:srgbClr val="6B4A00"/>
                </a:solidFill>
                <a:latin typeface="Segoe UI"/>
              </a:rPr>
              <a:t>, </a:t>
            </a:r>
            <a:r>
              <a:rPr b="0" sz="1450">
                <a:solidFill>
                  <a:srgbClr val="008C8C"/>
                </a:solidFill>
                <a:latin typeface="Consolas"/>
              </a:rPr>
              <a:t>NOT IN</a:t>
            </a:r>
            <a:r>
              <a:rPr b="1" sz="1450">
                <a:solidFill>
                  <a:srgbClr val="6B4A00"/>
                </a:solidFill>
                <a:latin typeface="Segoe UI"/>
              </a:rPr>
              <a:t> returns </a:t>
            </a:r>
            <a:r>
              <a:rPr b="1" sz="1450">
                <a:solidFill>
                  <a:srgbClr val="6B4A00"/>
                </a:solidFill>
                <a:latin typeface="Segoe UI"/>
              </a:rPr>
              <a:t>no rows at all</a:t>
            </a:r>
            <a:r>
              <a:rPr b="1" sz="1450">
                <a:solidFill>
                  <a:srgbClr val="6B4A00"/>
                </a:solidFill>
                <a:latin typeface="Segoe UI"/>
              </a:rPr>
              <a:t>. Every comparison becomes unknown.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NOT IN fails with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229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customer_id NOT IN (1001, 1005, NULL)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is evaluated as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customer_id &lt;&gt; 1001  AND  customer_id &lt;&gt; 1005  AND  customer_id &lt;&gt; NULL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                      ^^^^^^^^^^^^^^^^^^^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                      always NULL, never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93914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TRUE AND 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, and </a:t>
            </a:r>
            <a:r>
              <a:rPr b="0" sz="1800">
                <a:solidFill>
                  <a:srgbClr val="008C8C"/>
                </a:solidFill>
                <a:latin typeface="Consolas"/>
              </a:rPr>
              <a:t>WHERE</a:t>
            </a:r>
            <a:r>
              <a:rPr b="0" sz="1800">
                <a:solidFill>
                  <a:srgbClr val="1B2633"/>
                </a:solidFill>
                <a:latin typeface="Segoe UI"/>
              </a:rPr>
              <a:t> keeps only </a:t>
            </a:r>
            <a:r>
              <a:rPr b="0" sz="1800">
                <a:solidFill>
                  <a:srgbClr val="008C8C"/>
                </a:solidFill>
                <a:latin typeface="Consolas"/>
              </a:rPr>
              <a:t>TRUE</a:t>
            </a:r>
            <a:r>
              <a:rPr b="0" sz="1800">
                <a:solidFill>
                  <a:srgbClr val="1B2633"/>
                </a:solidFill>
                <a:latin typeface="Segoe UI"/>
              </a:rPr>
              <a:t>. So nothing survives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Fixes: add </a:t>
            </a:r>
            <a:r>
              <a:rPr b="0" sz="1800">
                <a:solidFill>
                  <a:srgbClr val="008C8C"/>
                </a:solidFill>
                <a:latin typeface="Consolas"/>
              </a:rPr>
              <a:t>WHERE column IS NOT 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to the subquery, or use </a:t>
            </a:r>
            <a:r>
              <a:rPr b="0" sz="1800">
                <a:solidFill>
                  <a:srgbClr val="008C8C"/>
                </a:solidFill>
                <a:latin typeface="Consolas"/>
              </a:rPr>
              <a:t>NOT EXISTS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EXISTS and NOT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Customers who hold at least one fixed 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 c.first_name, c.last_name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EXISTS (SELECT 1 FROM fixed_deposit fd WHERE fd.customer_id = c.customer_id);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Customers who hold none. NULL-safe, unlike NOT IN.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 c.first_name, c.last_name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NOT EXISTS (SELECT 1 FROM fixed_deposit fd WHERE fd.customer_id = c.customer_id);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EXISTS</a:t>
            </a:r>
            <a:r>
              <a:rPr b="0" sz="1800">
                <a:solidFill>
                  <a:srgbClr val="1B2633"/>
                </a:solidFill>
                <a:latin typeface="Segoe UI"/>
              </a:rPr>
              <a:t> asks only "is there at least one row", so the engine stops at the first match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SELECT 1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convention. The column list is never evaluated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Correlated subqueries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Each customer's largest transaction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c.first_name,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(SELECT MAX(t.amount)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FROM   account_txn 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JOIN account a ON a.account_id = t.account_id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WHERE  a.customer_id = c.customer_id) AS largest_txn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largest_txn DESC NULLS LAST;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inner query references </a:t>
            </a:r>
            <a:r>
              <a:rPr b="0" sz="1800">
                <a:solidFill>
                  <a:srgbClr val="008C8C"/>
                </a:solidFill>
                <a:latin typeface="Consolas"/>
              </a:rPr>
              <a:t>c</a:t>
            </a:r>
            <a:r>
              <a:rPr b="0" sz="1800">
                <a:solidFill>
                  <a:srgbClr val="1B2633"/>
                </a:solidFill>
                <a:latin typeface="Segoe UI"/>
              </a:rPr>
              <a:t> from the outer query, so it runs </a:t>
            </a:r>
            <a:r>
              <a:rPr b="1" sz="1800">
                <a:solidFill>
                  <a:srgbClr val="1B2633"/>
                </a:solidFill>
                <a:latin typeface="Segoe UI"/>
              </a:rPr>
              <a:t>once per customer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Readable, and fine for 30 customers. On 30 million it is a performance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916943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916943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008383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Module 5 shows how to rewrite a correlated subquery as a join, and why the planner sometimes does it for you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Derived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branch_id, accounts, total_deposits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(SELECT branch_id,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COUNT(*)     AS accounts,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SUM(balance) AS total_deposits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FROM  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WHERE  status = 'ACTIVE'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GROUP  BY branch_id) AS branch_summary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total_deposits &gt; 1000000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total_deposits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Aggregate first, then filter the result as if it were a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Every derived table needs an alias, even if you never use 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Subquery or join?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20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5680"/>
                <a:gridCol w="3672840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Situation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Prefer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You need columns from both tables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Join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You only need to test existence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EXISTS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You need one aggregated value to compare against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Scalar subquery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subquery might return NULL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NOT EXISTS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never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NOT IN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join would duplicate outer rows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EXISTS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495294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495294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632454"/>
            <a:ext cx="10698480" cy="1229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A join can duplicate: a customer with 3 deposits appears 3 times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 FROM customer c JOIN fixed_deposit fd ON fd.customer_id = c.customer_id;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EXISTS never duplicates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 FROM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EXISTS (SELECT 1 FROM fixed_deposit fd WHERE fd.customer_id = c.customer_id);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4 - Set operators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UNION and UNION 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customer_id, 'FIXED DEPOSIT' AS product FROM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UNION ALL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customer_id, 'LOAN'          AS product FROM loan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 BY customer_id;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484012"/>
          <a:ext cx="11018518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826"/>
                <a:gridCol w="3753561"/>
                <a:gridCol w="6054131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UNION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UNION ALL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Duplicates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Removed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Kept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Sorts or hashes to de-duplicate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Use when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You need distinct rows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You know rows cannot collide, or duplicates matter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3979056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979056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70496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Default to </a:t>
            </a:r>
            <a:r>
              <a:rPr b="0" sz="1450">
                <a:solidFill>
                  <a:srgbClr val="008C8C"/>
                </a:solidFill>
                <a:latin typeface="Consolas"/>
              </a:rPr>
              <a:t>UNION ALL</a:t>
            </a:r>
            <a:r>
              <a:rPr b="1" sz="1450">
                <a:solidFill>
                  <a:srgbClr val="6B4A00"/>
                </a:solidFill>
                <a:latin typeface="Segoe UI"/>
              </a:rPr>
              <a:t>. Use </a:t>
            </a:r>
            <a:r>
              <a:rPr b="0" sz="1450">
                <a:solidFill>
                  <a:srgbClr val="008C8C"/>
                </a:solidFill>
                <a:latin typeface="Consolas"/>
              </a:rPr>
              <a:t>UNION</a:t>
            </a:r>
            <a:r>
              <a:rPr b="1" sz="1450">
                <a:solidFill>
                  <a:srgbClr val="6B4A00"/>
                </a:solidFill>
                <a:latin typeface="Segoe UI"/>
              </a:rPr>
              <a:t> only when you have a reason to pay for de-duplication.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rules for set operators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Both queries must return the </a:t>
            </a:r>
            <a:r>
              <a:rPr b="1" sz="1800">
                <a:solidFill>
                  <a:srgbClr val="1B2633"/>
                </a:solidFill>
                <a:latin typeface="Segoe UI"/>
              </a:rPr>
              <a:t>same number of columns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Corresponding columns must have </a:t>
            </a:r>
            <a:r>
              <a:rPr b="1" sz="1800">
                <a:solidFill>
                  <a:srgbClr val="1B2633"/>
                </a:solidFill>
                <a:latin typeface="Segoe UI"/>
              </a:rPr>
              <a:t>compatible types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Column names come from the </a:t>
            </a:r>
            <a:r>
              <a:rPr b="1" sz="1800">
                <a:solidFill>
                  <a:srgbClr val="1B2633"/>
                </a:solidFill>
                <a:latin typeface="Segoe UI"/>
              </a:rPr>
              <a:t>first</a:t>
            </a:r>
            <a:r>
              <a:rPr b="0" sz="1800">
                <a:solidFill>
                  <a:srgbClr val="1B2633"/>
                </a:solidFill>
                <a:latin typeface="Segoe UI"/>
              </a:rPr>
              <a:t> query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ORDER BY</a:t>
            </a:r>
            <a:r>
              <a:rPr b="0" sz="1800">
                <a:solidFill>
                  <a:srgbClr val="1B2633"/>
                </a:solidFill>
                <a:latin typeface="Segoe UI"/>
              </a:rPr>
              <a:t> appears </a:t>
            </a:r>
            <a:r>
              <a:rPr b="1" sz="1800">
                <a:solidFill>
                  <a:srgbClr val="1B2633"/>
                </a:solidFill>
                <a:latin typeface="Segoe UI"/>
              </a:rPr>
              <a:t>once</a:t>
            </a:r>
            <a:r>
              <a:rPr b="0" sz="1800">
                <a:solidFill>
                  <a:srgbClr val="1B2633"/>
                </a:solidFill>
                <a:latin typeface="Segoe UI"/>
              </a:rPr>
              <a:t>, at the very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26080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26080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063240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Fails: 2 columns against 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customer_id, product FROM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UNION ALL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customer_id, product, amount FROM b;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11644"/>
            <a:ext cx="11018520" cy="47927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111644"/>
            <a:ext cx="50292" cy="47927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248804"/>
            <a:ext cx="10698480" cy="204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ERROR:  each UNION query must have the same number of columns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INTERSECT and EXCEPT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Customers who hold BOTH a deposit and a loan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 FROM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INTERSECT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 FROM loan;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Customers with a deposit but NO loan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 FROM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EXCEPT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customer_id FROM loan;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508767"/>
          <a:ext cx="11018520" cy="1052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778"/>
                <a:gridCol w="6611112"/>
                <a:gridCol w="2754630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Returns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Oracle calls it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INTERSECT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Rows in both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INTERSECT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EXCEPT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Rows in the first but not the second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MINUS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4652910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652910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744350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0" sz="1450">
                <a:solidFill>
                  <a:srgbClr val="008C8C"/>
                </a:solidFill>
                <a:latin typeface="Consolas"/>
              </a:rPr>
              <a:t>EXCEPT</a:t>
            </a:r>
            <a:r>
              <a:rPr b="1" sz="1450">
                <a:solidFill>
                  <a:srgbClr val="6B4A00"/>
                </a:solidFill>
                <a:latin typeface="Segoe UI"/>
              </a:rPr>
              <a:t> and </a:t>
            </a:r>
            <a:r>
              <a:rPr b="0" sz="1450">
                <a:solidFill>
                  <a:srgbClr val="008C8C"/>
                </a:solidFill>
                <a:latin typeface="Consolas"/>
              </a:rPr>
              <a:t>MINUS</a:t>
            </a:r>
            <a:r>
              <a:rPr b="1" sz="1450">
                <a:solidFill>
                  <a:srgbClr val="6B4A00"/>
                </a:solidFill>
                <a:latin typeface="Segoe UI"/>
              </a:rPr>
              <a:t> are the same operator with different names. Module 11 will make you care.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set operators earn their keep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Reconciliation: what does the core system have that the warehouse does not?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txn_id, account_id, amount FROM core_txn_extract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EXCEPT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txn_id, account_id, amount FROM warehouse_txn_extract;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84012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Empty result means the two systems agree, row for row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Any row returned is a discrepancy someone must explain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43548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43548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434988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This exact pattern is how you validate a migration in Module 11. Learn it now, use it then.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5 - The aggregate toolkit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Beyond COUNT, SUM and AVG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Part 2 gave you the five that carry most reports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These are the rest: </a:t>
            </a:r>
            <a:r>
              <a:rPr b="1" sz="1800">
                <a:solidFill>
                  <a:srgbClr val="1B2633"/>
                </a:solidFill>
                <a:latin typeface="Segoe UI"/>
              </a:rPr>
              <a:t>list</a:t>
            </a:r>
            <a:r>
              <a:rPr b="0" sz="1800">
                <a:solidFill>
                  <a:srgbClr val="1B2633"/>
                </a:solidFill>
                <a:latin typeface="Segoe UI"/>
              </a:rPr>
              <a:t> a group, </a:t>
            </a:r>
            <a:r>
              <a:rPr b="1" sz="1800">
                <a:solidFill>
                  <a:srgbClr val="1B2633"/>
                </a:solidFill>
                <a:latin typeface="Segoe UI"/>
              </a:rPr>
              <a:t>guard</a:t>
            </a:r>
            <a:r>
              <a:rPr b="0" sz="1800">
                <a:solidFill>
                  <a:srgbClr val="1B2633"/>
                </a:solidFill>
                <a:latin typeface="Segoe UI"/>
              </a:rPr>
              <a:t> a ratio, </a:t>
            </a:r>
            <a:r>
              <a:rPr b="1" sz="1800">
                <a:solidFill>
                  <a:srgbClr val="1B2633"/>
                </a:solidFill>
                <a:latin typeface="Segoe UI"/>
              </a:rPr>
              <a:t>describe</a:t>
            </a:r>
            <a:r>
              <a:rPr b="0" sz="1800">
                <a:solidFill>
                  <a:srgbClr val="1B2633"/>
                </a:solidFill>
                <a:latin typeface="Segoe UI"/>
              </a:rPr>
              <a:t> a spread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57984"/>
          <a:ext cx="11018519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3153"/>
                <a:gridCol w="3955366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Question a manager actually asks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The function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Which accounts does this customer hold?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STRING_AGG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What share of transactions is RTGS?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NULLIF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guarding the division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What does a </a:t>
                      </a:r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typical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account hold, not the average?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PERCENTILE_CONT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How spread out is the deposit book?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STDDEV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When did this account first and last move?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MIN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and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MAX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on a date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STRING_AGG - which, not just how many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c.customer_id, COUNT(*) AS accounts,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STRING_AGG(a.account_number, ', 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ORDER BY a.account_number) AS account_list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customer c JOIN account a ON a.customer_id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c.customer_id HAVING COUNT(*) &gt; 1 LIMIT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customer_id | accounts |          account_list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-------------+----------+--------------------------------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1005 |        2 | ICIC0000009005, ICIC0000009006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1010 |        2 | ICIC0000009011, ICIC0000009012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13718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</a:t>
            </a:r>
            <a:r>
              <a:rPr b="0" sz="1800">
                <a:solidFill>
                  <a:srgbClr val="008C8C"/>
                </a:solidFill>
                <a:latin typeface="Consolas"/>
              </a:rPr>
              <a:t>ORDER BY</a:t>
            </a:r>
            <a:r>
              <a:rPr b="0" sz="1800">
                <a:solidFill>
                  <a:srgbClr val="1B2633"/>
                </a:solidFill>
                <a:latin typeface="Segoe UI"/>
              </a:rPr>
              <a:t> </a:t>
            </a:r>
            <a:r>
              <a:rPr b="1" sz="1800">
                <a:solidFill>
                  <a:srgbClr val="1B2633"/>
                </a:solidFill>
                <a:latin typeface="Segoe UI"/>
              </a:rPr>
              <a:t>inside</a:t>
            </a:r>
            <a:r>
              <a:rPr b="0" sz="1800">
                <a:solidFill>
                  <a:srgbClr val="1B2633"/>
                </a:solidFill>
                <a:latin typeface="Segoe UI"/>
              </a:rPr>
              <a:t> the aggregate is not decoration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8920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18920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80646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Without it the same report run twice can differ. On anything a regulator reads, order 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COUNT and SUM disagree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b.branch_name, COUNT(l.loan_id) AS loans,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SUM(l.outstanding_amount)              AS outstanding,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COALESCE(SUM(l.outstanding_amount), 0) AS outstanding_safe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branch b LEFT JOIN loan l ON l.branch_id = b.branch_id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b.branch_id, b.branch_name ORDER BY b.branch_id LIMIT 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branch_name    | loans | outstanding | outstanding_safe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------------------+-------+-------------+------------------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Fort Mumbai Main |     3 |  2655077.80 |       2655077.80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Andheri East     |     0 |      [NULL] |             0.00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13718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Four ICICI Bank branches have </a:t>
            </a:r>
            <a:r>
              <a:rPr b="1" sz="1800">
                <a:solidFill>
                  <a:srgbClr val="1B2633"/>
                </a:solidFill>
                <a:latin typeface="Segoe UI"/>
              </a:rPr>
              <a:t>no loans at all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COUNT</a:t>
            </a:r>
            <a:r>
              <a:rPr b="0" sz="1800">
                <a:solidFill>
                  <a:srgbClr val="1B2633"/>
                </a:solidFill>
                <a:latin typeface="Segoe UI"/>
              </a:rPr>
              <a:t> of an empty group is </a:t>
            </a:r>
            <a:r>
              <a:rPr b="1" sz="1800">
                <a:solidFill>
                  <a:srgbClr val="1B2633"/>
                </a:solidFill>
                <a:latin typeface="Segoe UI"/>
              </a:rPr>
              <a:t>0</a:t>
            </a:r>
            <a:r>
              <a:rPr b="0" sz="1800">
                <a:solidFill>
                  <a:srgbClr val="1B2633"/>
                </a:solidFill>
                <a:latin typeface="Segoe UI"/>
              </a:rPr>
              <a:t>. </a:t>
            </a:r>
            <a:r>
              <a:rPr b="0" sz="1800">
                <a:solidFill>
                  <a:srgbClr val="008C8C"/>
                </a:solidFill>
                <a:latin typeface="Consolas"/>
              </a:rPr>
              <a:t>SUM</a:t>
            </a:r>
            <a:r>
              <a:rPr b="0" sz="1800">
                <a:solidFill>
                  <a:srgbClr val="1B2633"/>
                </a:solidFill>
                <a:latin typeface="Segoe UI"/>
              </a:rPr>
              <a:t> of an empty group is </a:t>
            </a:r>
            <a:r>
              <a:rPr b="1" sz="1800">
                <a:solidFill>
                  <a:srgbClr val="1B2633"/>
                </a:solidFill>
                <a:latin typeface="Segoe UI"/>
              </a:rPr>
              <a:t>NULL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73254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573254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64694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Use </a:t>
            </a:r>
            <a:r>
              <a:rPr b="0" sz="1450">
                <a:solidFill>
                  <a:srgbClr val="008C8C"/>
                </a:solidFill>
                <a:latin typeface="Consolas"/>
              </a:rPr>
              <a:t>COUNT(l.loan_id)</a:t>
            </a:r>
            <a:r>
              <a:rPr b="1" sz="1450">
                <a:solidFill>
                  <a:srgbClr val="6B4A00"/>
                </a:solidFill>
                <a:latin typeface="Segoe UI"/>
              </a:rPr>
              <a:t>, never </a:t>
            </a:r>
            <a:r>
              <a:rPr b="0" sz="1450">
                <a:solidFill>
                  <a:srgbClr val="008C8C"/>
                </a:solidFill>
                <a:latin typeface="Consolas"/>
              </a:rPr>
              <a:t>COUNT(*)</a:t>
            </a:r>
            <a:r>
              <a:rPr b="1" sz="1450">
                <a:solidFill>
                  <a:srgbClr val="6B4A00"/>
                </a:solidFill>
                <a:latin typeface="Segoe UI"/>
              </a:rPr>
              <a:t>, on the outer side. </a:t>
            </a:r>
            <a:r>
              <a:rPr b="0" sz="1450">
                <a:solidFill>
                  <a:srgbClr val="008C8C"/>
                </a:solidFill>
                <a:latin typeface="Consolas"/>
              </a:rPr>
              <a:t>COUNT(*)</a:t>
            </a:r>
            <a:r>
              <a:rPr b="1" sz="1450">
                <a:solidFill>
                  <a:srgbClr val="6B4A00"/>
                </a:solidFill>
                <a:latin typeface="Segoe UI"/>
              </a:rPr>
              <a:t> reports 1 loan for a branch with none.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Percentages that do not crash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channel, COUNT(*) AS txns,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ROUND(100.0 * COUNT(*)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/ NULLIF(SUM(COUNT(*)) OVER (), 0), 2) AS pct_of_all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 GROUP BY channel ORDER BY txns DESC LIMIT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channel | txns | pct_of_all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---------+------+------------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RTGS    |   71 |      14.34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100.0</a:t>
            </a:r>
            <a:r>
              <a:rPr b="0" sz="1800">
                <a:solidFill>
                  <a:srgbClr val="1B2633"/>
                </a:solidFill>
                <a:latin typeface="Segoe UI"/>
              </a:rPr>
              <a:t> not </a:t>
            </a:r>
            <a:r>
              <a:rPr b="0" sz="1800">
                <a:solidFill>
                  <a:srgbClr val="008C8C"/>
                </a:solidFill>
                <a:latin typeface="Consolas"/>
              </a:rPr>
              <a:t>100</a:t>
            </a:r>
            <a:r>
              <a:rPr b="0" sz="1800">
                <a:solidFill>
                  <a:srgbClr val="1B2633"/>
                </a:solidFill>
                <a:latin typeface="Segoe UI"/>
              </a:rPr>
              <a:t>, or integer division throws the decimals away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NULLIF</a:t>
            </a:r>
            <a:r>
              <a:rPr b="0" sz="1800">
                <a:solidFill>
                  <a:srgbClr val="1B2633"/>
                </a:solidFill>
                <a:latin typeface="Segoe UI"/>
              </a:rPr>
              <a:t> turns a zero denominator into NULL instead of an error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OVER ()</a:t>
            </a:r>
            <a:r>
              <a:rPr b="0" sz="1800">
                <a:solidFill>
                  <a:srgbClr val="1B2633"/>
                </a:solidFill>
                <a:latin typeface="Segoe UI"/>
              </a:rPr>
              <a:t> gives the grand total beside each group - that is Module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An average hides everything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COUNT(*) AS accounts, ROUND(AVG(balance), 2) AS mean,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ROUND(PERCENTILE_CONT(0.5)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WITHIN GROUP (ORDER BY balance)::NUMERIC, 2) AS median,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ROUND(STDDEV(balance), 2) AS std_dev,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MIN(balance) AS smallest, MAX(balance) AS largest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accounts |   mean    |  median   |  std_dev  | smallest  |  largest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----------+-----------+-----------+-----------+-----------+-----------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36 | 220372.35 | 215657.32 | 142873.59 |  13314.15 | 473345.84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13718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standard deviation is </a:t>
            </a:r>
            <a:r>
              <a:rPr b="1" sz="1800">
                <a:solidFill>
                  <a:srgbClr val="1B2633"/>
                </a:solidFill>
                <a:latin typeface="Segoe UI"/>
              </a:rPr>
              <a:t>two thirds of the mean</a:t>
            </a:r>
            <a:r>
              <a:rPr b="0" sz="1800">
                <a:solidFill>
                  <a:srgbClr val="1B2633"/>
                </a:solidFill>
                <a:latin typeface="Segoe UI"/>
              </a:rPr>
              <a:t>. The book is very uneven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89206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189206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80646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Quoting one average balance to a product manager would mislead them. Show percentiles.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MIN and MAX are not GREATEST and LEAST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052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995"/>
                <a:gridCol w="3473229"/>
                <a:gridCol w="3952295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Works down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MIN(x)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and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MAX(x)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</a:t>
                      </a:r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column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across many rows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largest balance in the bank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LEAST(a, b)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and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GREATEST(a, b)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</a:t>
                      </a:r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row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across several columns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later of two dates on one row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2442591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42591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579751"/>
            <a:ext cx="10698480" cy="1024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MAX(balance) AS largest_in_bank FROM account;          -- one row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loan_id,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GREATEST(disbursed_date, DATE '2026-01-01') AS effective_from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loan LIMIT 3;                                          -- one row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33106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MAX</a:t>
            </a:r>
            <a:r>
              <a:rPr b="0" sz="1800">
                <a:solidFill>
                  <a:srgbClr val="1B2633"/>
                </a:solidFill>
                <a:latin typeface="Segoe UI"/>
              </a:rPr>
              <a:t> where you meant </a:t>
            </a:r>
            <a:r>
              <a:rPr b="0" sz="1800">
                <a:solidFill>
                  <a:srgbClr val="008C8C"/>
                </a:solidFill>
                <a:latin typeface="Consolas"/>
              </a:rPr>
              <a:t>GREATEST</a:t>
            </a:r>
            <a:r>
              <a:rPr b="0" sz="1800">
                <a:solidFill>
                  <a:srgbClr val="1B2633"/>
                </a:solidFill>
                <a:latin typeface="Segoe UI"/>
              </a:rPr>
              <a:t> collapses the report, and you notice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308594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308594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40003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0" sz="1450">
                <a:solidFill>
                  <a:srgbClr val="008C8C"/>
                </a:solidFill>
                <a:latin typeface="Consolas"/>
              </a:rPr>
              <a:t>GREATEST</a:t>
            </a:r>
            <a:r>
              <a:rPr b="1" sz="1450">
                <a:solidFill>
                  <a:srgbClr val="6B4A00"/>
                </a:solidFill>
                <a:latin typeface="Segoe UI"/>
              </a:rPr>
              <a:t> where you meant </a:t>
            </a:r>
            <a:r>
              <a:rPr b="0" sz="1450">
                <a:solidFill>
                  <a:srgbClr val="008C8C"/>
                </a:solidFill>
                <a:latin typeface="Consolas"/>
              </a:rPr>
              <a:t>MAX</a:t>
            </a:r>
            <a:r>
              <a:rPr b="1" sz="1450">
                <a:solidFill>
                  <a:srgbClr val="6B4A00"/>
                </a:solidFill>
                <a:latin typeface="Segoe UI"/>
              </a:rPr>
              <a:t> gives a row per input row, and you often do not notice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Dates in aggregates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account_id, COUNT(*) AS txns,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MIN(txn_date) AS first_txn, MAX(txn_date) AS last_txn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 WHERE account_id = 9003 GROUP BY account_id;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account_id | txns |      first_txn      |      last_txn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------------+------+---------------------+---------------------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9003 |   16 | 2026-01-02 21:25:00 | 2026-03-27 20:05:00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98865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098865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236025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DATE_TRUNC('month', txn_date) AS month, COUNT(*)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 GROUP BY DATE_TRUNC('month', txn_date);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74527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74527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965967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Group by the </a:t>
            </a:r>
            <a:r>
              <a:rPr b="1" sz="1450">
                <a:solidFill>
                  <a:srgbClr val="6B4A00"/>
                </a:solidFill>
                <a:latin typeface="Segoe UI"/>
              </a:rPr>
              <a:t>expression</a:t>
            </a:r>
            <a:r>
              <a:rPr b="1" sz="1450">
                <a:solidFill>
                  <a:srgbClr val="6B4A00"/>
                </a:solidFill>
                <a:latin typeface="Segoe UI"/>
              </a:rPr>
              <a:t>, not the alias. The </a:t>
            </a:r>
            <a:r>
              <a:rPr b="0" sz="1450">
                <a:solidFill>
                  <a:srgbClr val="008C8C"/>
                </a:solidFill>
                <a:latin typeface="Consolas"/>
              </a:rPr>
              <a:t>SELECT</a:t>
            </a:r>
            <a:r>
              <a:rPr b="1" sz="1450">
                <a:solidFill>
                  <a:srgbClr val="6B4A00"/>
                </a:solidFill>
                <a:latin typeface="Segoe UI"/>
              </a:rPr>
              <a:t> list is evaluated after </a:t>
            </a:r>
            <a:r>
              <a:rPr b="0" sz="1450">
                <a:solidFill>
                  <a:srgbClr val="008C8C"/>
                </a:solidFill>
                <a:latin typeface="Consolas"/>
              </a:rPr>
              <a:t>GROUP BY</a:t>
            </a:r>
            <a:r>
              <a:rPr b="1" sz="1450">
                <a:solidFill>
                  <a:srgbClr val="6B4A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Which aggregates ignore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6088"/>
                <a:gridCol w="6712431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Ignores NULL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COUNT(*)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- counts every row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COUNT(col)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and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COUNT(DISTINCT col)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SUM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AVG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MIN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STRING_AGG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Yes - a missing value silently vanishes from the list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ARRAY_AGG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- NULL appears as an element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STDDEV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VARIANCE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PERCENTILE_CONT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COUNT(*) FILTER (WHERE ...)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19709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19709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88536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 missing nominee drops out of a </a:t>
            </a:r>
            <a:r>
              <a:rPr b="0" sz="1450">
                <a:solidFill>
                  <a:srgbClr val="008C8C"/>
                </a:solidFill>
                <a:latin typeface="Consolas"/>
              </a:rPr>
              <a:t>STRING_AGG</a:t>
            </a:r>
            <a:r>
              <a:rPr b="1" sz="1450">
                <a:solidFill>
                  <a:srgbClr val="6B4A00"/>
                </a:solidFill>
                <a:latin typeface="Segoe UI"/>
              </a:rPr>
              <a:t> list rather than showing as a gap. Nobody sees it is missing.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same job in three dialects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0583"/>
                <a:gridCol w="2550583"/>
                <a:gridCol w="2958676"/>
                <a:gridCol w="2958676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Job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Oracle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Join a group into text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STRING_AGG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LISTAGG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STRING_AGG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Conditional count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COUNT(*) FILTER (WHERE c)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COUNT(CASE WHEN c THEN 1 END)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COUNT(CASE WHEN c THEN 1 END)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Median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PERCENTILE_CONT(0.5)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MEDIAN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PERCENTILE_CONT(0.5)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Sample standard deviation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STDDEV_SAMP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STDDEV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STDEV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144393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COUNT(CASE WHEN ... THEN 1 END)</a:t>
            </a:r>
            <a:r>
              <a:rPr b="0" sz="1800">
                <a:solidFill>
                  <a:srgbClr val="1B2633"/>
                </a:solidFill>
                <a:latin typeface="Segoe UI"/>
              </a:rPr>
              <a:t> works </a:t>
            </a:r>
            <a:r>
              <a:rPr b="1" sz="1800">
                <a:solidFill>
                  <a:srgbClr val="1B2633"/>
                </a:solidFill>
                <a:latin typeface="Segoe UI"/>
              </a:rPr>
              <a:t>everywhere</a:t>
            </a:r>
            <a:r>
              <a:rPr b="0" sz="1800">
                <a:solidFill>
                  <a:srgbClr val="1B2633"/>
                </a:solidFill>
                <a:latin typeface="Segoe UI"/>
              </a:rPr>
              <a:t>, so it is the portable spelling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FILTER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clearer, and Module 11 will convert it for you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6 - Building the pack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Branch summary with money in and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73373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73373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459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  b.branch_name,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COUNT(DISTINCT c.customer_id) AS customers,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COUNT(DISTINCT a.account_id)  AS accounts,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SUM(CASE WHEN t.txn_type = 'CREDIT' THEN t.amount ELSE 0 END) AS money_in,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SUM(CASE WHEN t.txn_type = 'DEBIT'  THEN t.amount ELSE 0 END) AS money_out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  branch b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LEFT JOIN customer    c ON c.home_branch_id = b.branch_id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LEFT JOIN account     a ON a.customer_id   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LEFT JOIN account_txn t ON t.account_id     = a.account_id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AND t.status = 'SUCCESS'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BY b.branch_name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BY money_in DESC;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123620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123620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215060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0" sz="1450">
                <a:solidFill>
                  <a:srgbClr val="008C8C"/>
                </a:solidFill>
                <a:latin typeface="Consolas"/>
              </a:rPr>
              <a:t>COUNT(DISTINCT ...)</a:t>
            </a:r>
            <a:r>
              <a:rPr b="1" sz="1450">
                <a:solidFill>
                  <a:srgbClr val="6B4A00"/>
                </a:solidFill>
                <a:latin typeface="Segoe UI"/>
              </a:rPr>
              <a:t> is essential here. The join multiplies rows, so a plain </a:t>
            </a:r>
            <a:r>
              <a:rPr b="0" sz="1450">
                <a:solidFill>
                  <a:srgbClr val="008C8C"/>
                </a:solidFill>
                <a:latin typeface="Consolas"/>
              </a:rPr>
              <a:t>COUNT</a:t>
            </a:r>
            <a:r>
              <a:rPr b="1" sz="1450">
                <a:solidFill>
                  <a:srgbClr val="6B4A00"/>
                </a:solidFill>
                <a:latin typeface="Segoe UI"/>
              </a:rPr>
              <a:t> would count transactions, not customers.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COUNT(DISTINCT) and not 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229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 1010 has 2 accounts, with 14 and 13 transactions.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After the joins, customer 1010 appears in 27 rows.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COUNT(c.customer_id)          -&gt; 21    wrong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COUNT(DISTINCT c.customer_id) -&gt;  1   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93914"/>
            <a:ext cx="110642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join </a:t>
            </a:r>
            <a:r>
              <a:rPr b="1" sz="1800">
                <a:solidFill>
                  <a:srgbClr val="1B2633"/>
                </a:solidFill>
                <a:latin typeface="Segoe UI"/>
              </a:rPr>
              <a:t>fans out</a:t>
            </a:r>
            <a:r>
              <a:rPr b="0" sz="1800">
                <a:solidFill>
                  <a:srgbClr val="1B2633"/>
                </a:solidFill>
                <a:latin typeface="Segoe UI"/>
              </a:rPr>
              <a:t>. One customer row becomes many rows once transactions are attached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Any count or sum taken after a fan-out is wrong unless you handle it deliberately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Dormant customers, for the call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93868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93868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664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  b.branch_name,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c.customer_id,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c.first_name || ' ' || c.last_name AS customer_name,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c.phone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  customer 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JOIN branch b ON b.branch_id = c.home_branch_id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  NOT EXISTS 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SELECT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FROM   account_txn 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JOIN account a ON a.account_id = t.account_id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WHERE  a.customer_id = c.customer_id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AND  t.txn_date &gt;= DATE '2026-01-01')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BY b.branch_name, c.customer_id;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28571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NOT EXISTS</a:t>
            </a:r>
            <a:r>
              <a:rPr b="0" sz="1800">
                <a:solidFill>
                  <a:srgbClr val="1B2633"/>
                </a:solidFill>
                <a:latin typeface="Segoe UI"/>
              </a:rPr>
              <a:t> rather than </a:t>
            </a:r>
            <a:r>
              <a:rPr b="0" sz="1800">
                <a:solidFill>
                  <a:srgbClr val="008C8C"/>
                </a:solidFill>
                <a:latin typeface="Consolas"/>
              </a:rPr>
              <a:t>NOT IN</a:t>
            </a:r>
            <a:r>
              <a:rPr b="0" sz="1800">
                <a:solidFill>
                  <a:srgbClr val="1B2633"/>
                </a:solidFill>
                <a:latin typeface="Segoe UI"/>
              </a:rPr>
              <a:t>, because the subquery could return NULLs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</a:t>
            </a:r>
            <a:r>
              <a:rPr b="1" sz="1800">
                <a:solidFill>
                  <a:srgbClr val="1B2633"/>
                </a:solidFill>
                <a:latin typeface="Segoe UI"/>
              </a:rPr>
              <a:t>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re-assembles facts that normalization separated. </a:t>
            </a:r>
            <a:r>
              <a:rPr b="0" sz="1800">
                <a:solidFill>
                  <a:srgbClr val="008C8C"/>
                </a:solidFill>
                <a:latin typeface="Consolas"/>
              </a:rPr>
              <a:t>n</a:t>
            </a:r>
            <a:r>
              <a:rPr b="0" sz="1800">
                <a:solidFill>
                  <a:srgbClr val="1B2633"/>
                </a:solidFill>
                <a:latin typeface="Segoe UI"/>
              </a:rPr>
              <a:t> tables need </a:t>
            </a:r>
            <a:r>
              <a:rPr b="0" sz="1800">
                <a:solidFill>
                  <a:srgbClr val="008C8C"/>
                </a:solidFill>
                <a:latin typeface="Consolas"/>
              </a:rPr>
              <a:t>n-1</a:t>
            </a:r>
            <a:r>
              <a:rPr b="0" sz="1800">
                <a:solidFill>
                  <a:srgbClr val="1B2633"/>
                </a:solidFill>
                <a:latin typeface="Segoe UI"/>
              </a:rPr>
              <a:t> conditions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INNER</a:t>
            </a:r>
            <a:r>
              <a:rPr b="0" sz="1800">
                <a:solidFill>
                  <a:srgbClr val="1B2633"/>
                </a:solidFill>
                <a:latin typeface="Segoe UI"/>
              </a:rPr>
              <a:t> keeps matches, </a:t>
            </a:r>
            <a:r>
              <a:rPr b="0" sz="1800">
                <a:solidFill>
                  <a:srgbClr val="008C8C"/>
                </a:solidFill>
                <a:latin typeface="Consolas"/>
              </a:rPr>
              <a:t>LEFT</a:t>
            </a:r>
            <a:r>
              <a:rPr b="0" sz="1800">
                <a:solidFill>
                  <a:srgbClr val="1B2633"/>
                </a:solidFill>
                <a:latin typeface="Segoe UI"/>
              </a:rPr>
              <a:t> keeps everything on the left. A </a:t>
            </a:r>
            <a:r>
              <a:rPr b="0" sz="1800">
                <a:solidFill>
                  <a:srgbClr val="008C8C"/>
                </a:solidFill>
                <a:latin typeface="Consolas"/>
              </a:rPr>
              <a:t>WHERE</a:t>
            </a:r>
            <a:r>
              <a:rPr b="0" sz="1800">
                <a:solidFill>
                  <a:srgbClr val="1B2633"/>
                </a:solidFill>
                <a:latin typeface="Segoe UI"/>
              </a:rPr>
              <a:t> on the outer table turns one into the other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</a:t>
            </a:r>
            <a:r>
              <a:rPr b="1" sz="1800">
                <a:solidFill>
                  <a:srgbClr val="1B2633"/>
                </a:solidFill>
                <a:latin typeface="Segoe UI"/>
              </a:rPr>
              <a:t>anti-join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pattern finds what is missing: </a:t>
            </a:r>
            <a:r>
              <a:rPr b="0" sz="1800">
                <a:solidFill>
                  <a:srgbClr val="008C8C"/>
                </a:solidFill>
                <a:latin typeface="Consolas"/>
              </a:rPr>
              <a:t>LEFT JOIN ... WHERE key IS NULL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</a:t>
            </a:r>
            <a:r>
              <a:rPr b="1" sz="1800">
                <a:solidFill>
                  <a:srgbClr val="1B2633"/>
                </a:solidFill>
                <a:latin typeface="Segoe UI"/>
              </a:rPr>
              <a:t>self join</a:t>
            </a:r>
            <a:r>
              <a:rPr b="0" sz="1800">
                <a:solidFill>
                  <a:srgbClr val="1B2633"/>
                </a:solidFill>
                <a:latin typeface="Segoe UI"/>
              </a:rPr>
              <a:t> walks a hierarchy stored in one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GROUP BY</a:t>
            </a:r>
            <a:r>
              <a:rPr b="0" sz="1800">
                <a:solidFill>
                  <a:srgbClr val="1B2633"/>
                </a:solidFill>
                <a:latin typeface="Segoe UI"/>
              </a:rPr>
              <a:t> collapses rows; every selected column is aggregated or grouped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WHERE</a:t>
            </a:r>
            <a:r>
              <a:rPr b="0" sz="1800">
                <a:solidFill>
                  <a:srgbClr val="1B2633"/>
                </a:solidFill>
                <a:latin typeface="Segoe UI"/>
              </a:rPr>
              <a:t> filters rows, </a:t>
            </a:r>
            <a:r>
              <a:rPr b="0" sz="1800">
                <a:solidFill>
                  <a:srgbClr val="008C8C"/>
                </a:solidFill>
                <a:latin typeface="Consolas"/>
              </a:rPr>
              <a:t>HAVING</a:t>
            </a:r>
            <a:r>
              <a:rPr b="0" sz="1800">
                <a:solidFill>
                  <a:srgbClr val="1B2633"/>
                </a:solidFill>
                <a:latin typeface="Segoe UI"/>
              </a:rPr>
              <a:t> filters groups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EXISTS</a:t>
            </a:r>
            <a:r>
              <a:rPr b="0" sz="1800">
                <a:solidFill>
                  <a:srgbClr val="1B2633"/>
                </a:solidFill>
                <a:latin typeface="Segoe UI"/>
              </a:rPr>
              <a:t> beats </a:t>
            </a:r>
            <a:r>
              <a:rPr b="0" sz="1800">
                <a:solidFill>
                  <a:srgbClr val="008C8C"/>
                </a:solidFill>
                <a:latin typeface="Consolas"/>
              </a:rPr>
              <a:t>IN</a:t>
            </a:r>
            <a:r>
              <a:rPr b="0" sz="1800">
                <a:solidFill>
                  <a:srgbClr val="1B2633"/>
                </a:solidFill>
                <a:latin typeface="Segoe UI"/>
              </a:rPr>
              <a:t> when the subquery may contain NULLs, and never duplicates rows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UNION ALL</a:t>
            </a:r>
            <a:r>
              <a:rPr b="0" sz="1800">
                <a:solidFill>
                  <a:srgbClr val="1B2633"/>
                </a:solidFill>
                <a:latin typeface="Segoe UI"/>
              </a:rPr>
              <a:t> unless you need de-duplication; </a:t>
            </a:r>
            <a:r>
              <a:rPr b="0" sz="1800">
                <a:solidFill>
                  <a:srgbClr val="008C8C"/>
                </a:solidFill>
                <a:latin typeface="Consolas"/>
              </a:rPr>
              <a:t>EXCEPT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Oracle's </a:t>
            </a:r>
            <a:r>
              <a:rPr b="0" sz="1800">
                <a:solidFill>
                  <a:srgbClr val="008C8C"/>
                </a:solidFill>
                <a:latin typeface="Consolas"/>
              </a:rPr>
              <a:t>MINUS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3 - Advanced SQL Queries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Next - Module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Today you re-assembled data that somebody else had split apart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Module 4 asks </a:t>
            </a:r>
            <a:r>
              <a:rPr b="1" sz="1800">
                <a:solidFill>
                  <a:srgbClr val="1B2633"/>
                </a:solidFill>
                <a:latin typeface="Segoe UI"/>
              </a:rPr>
              <a:t>why</a:t>
            </a:r>
            <a:r>
              <a:rPr b="0" sz="1800">
                <a:solidFill>
                  <a:srgbClr val="1B2633"/>
                </a:solidFill>
                <a:latin typeface="Segoe UI"/>
              </a:rPr>
              <a:t> it was split, and teaches you to do the splitting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You will draw the ICICI Bank ER model, take a badly designed customer table through 1NF, 2NF, 3NF and BCNF, and decide when to denormalize on 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16352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07792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The joins you wrote today are the cost of normalization. Module 4 shows what you buy with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