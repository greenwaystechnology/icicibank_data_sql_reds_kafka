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6"/>
    <p:sldId id="325" r:id="rId5"/>
    <p:sldId id="326" r:id="rId4"/>
    <p:sldId id="327" r:id="rId3"/>
    <p:sldId id="328" r:id="rId2"/>
  </p:sldIdLst>
  <p:notesMasterIdLst>
    <p:notesMasterId r:id="rId7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3.xml"/><Relationship Id="rId3" Type="http://schemas.openxmlformats.org/officeDocument/2006/relationships/slide" Target="slides/slide72.xml"/><Relationship Id="rId4" Type="http://schemas.openxmlformats.org/officeDocument/2006/relationships/slide" Target="slides/slide71.xml"/><Relationship Id="rId5" Type="http://schemas.openxmlformats.org/officeDocument/2006/relationships/slide" Target="slides/slide70.xml"/><Relationship Id="rId6" Type="http://schemas.openxmlformats.org/officeDocument/2006/relationships/slide" Target="slides/slide6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kick0"/>
          <p:cNvSpPr txBox="1"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spc="300" kern="0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ADVANCED SQL QUERIES</a:t>
            </a:r>
            <a:endParaRPr lang="en-US" dirty="0" sz="1200"/>
          </a:p>
        </p:txBody>
      </p:sp>
      <p:sp>
        <p:nvSpPr>
          <p:cNvPr id="3" name="a0ud200_t1"/>
          <p:cNvSpPr txBox="1"/>
          <p:nvPr/>
        </p:nvSpPr>
        <p:spPr>
          <a:xfrm>
            <a:off x="548640" y="1280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5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</a:t>
            </a:r>
            <a:endParaRPr lang="en-US" dirty="0" sz="5400"/>
          </a:p>
        </p:txBody>
      </p:sp>
      <p:sp>
        <p:nvSpPr>
          <p:cNvPr id="4" name="a0fd500_sub2"/>
          <p:cNvSpPr txBox="1"/>
          <p:nvPr/>
        </p:nvSpPr>
        <p:spPr>
          <a:xfrm>
            <a:off x="54864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0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basics, visually explained</a:t>
            </a:r>
            <a:endParaRPr lang="en-US" dirty="0" sz="2000"/>
          </a:p>
        </p:txBody>
      </p:sp>
      <p:sp>
        <p:nvSpPr>
          <p:cNvPr id="5" name="a0ud800_chip3"/>
          <p:cNvSpPr txBox="1"/>
          <p:nvPr/>
        </p:nvSpPr>
        <p:spPr>
          <a:xfrm>
            <a:off x="548640" y="3017520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>
            <a:solidFill>
              <a:srgbClr val="47556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endParaRPr lang="en-US" dirty="0" sz="1200"/>
          </a:p>
        </p:txBody>
      </p:sp>
      <p:sp>
        <p:nvSpPr>
          <p:cNvPr id="6" name="a0ud950_chip4"/>
          <p:cNvSpPr txBox="1"/>
          <p:nvPr/>
        </p:nvSpPr>
        <p:spPr>
          <a:xfrm>
            <a:off x="1554480" y="3017520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>
            <a:solidFill>
              <a:srgbClr val="47556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dirty="0" sz="1200"/>
          </a:p>
        </p:txBody>
      </p:sp>
      <p:sp>
        <p:nvSpPr>
          <p:cNvPr id="7" name="a0ud1100_chip5"/>
          <p:cNvSpPr txBox="1"/>
          <p:nvPr/>
        </p:nvSpPr>
        <p:spPr>
          <a:xfrm>
            <a:off x="2560320" y="3017520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>
            <a:solidFill>
              <a:srgbClr val="47556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dirty="0" sz="1200"/>
          </a:p>
        </p:txBody>
      </p:sp>
      <p:sp>
        <p:nvSpPr>
          <p:cNvPr id="8" name="a0ud1250_chip6"/>
          <p:cNvSpPr txBox="1"/>
          <p:nvPr/>
        </p:nvSpPr>
        <p:spPr>
          <a:xfrm>
            <a:off x="3566160" y="3017520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1E293B"/>
          </a:solidFill>
          <a:ln>
            <a:solidFill>
              <a:srgbClr val="47556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endParaRPr lang="en-US" dirty="0" sz="1200"/>
          </a:p>
        </p:txBody>
      </p:sp>
      <p:pic>
        <p:nvPicPr>
          <p:cNvPr id="9" name="a0fd300_venn7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34440"/>
            <a:ext cx="3566160" cy="22585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Combine Tables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decide: do you want to combine the columns or the rows?</a:t>
            </a:r>
            <a:endParaRPr lang="en-US" dirty="0" sz="1300"/>
          </a:p>
        </p:txBody>
      </p:sp>
      <p:sp>
        <p:nvSpPr>
          <p:cNvPr id="4" name="a1f_panel8"/>
          <p:cNvSpPr/>
          <p:nvPr/>
        </p:nvSpPr>
        <p:spPr>
          <a:xfrm>
            <a:off x="457200" y="1234440"/>
            <a:ext cx="38862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1f_ph9"/>
          <p:cNvSpPr txBox="1"/>
          <p:nvPr/>
        </p:nvSpPr>
        <p:spPr>
          <a:xfrm>
            <a:off x="73152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Combine columns</a:t>
            </a:r>
            <a:endParaRPr lang="en-US" dirty="0" sz="1800"/>
          </a:p>
        </p:txBody>
      </p:sp>
      <p:sp>
        <p:nvSpPr>
          <p:cNvPr id="6" name="a3f_panel10"/>
          <p:cNvSpPr/>
          <p:nvPr/>
        </p:nvSpPr>
        <p:spPr>
          <a:xfrm>
            <a:off x="4800600" y="1234440"/>
            <a:ext cx="38862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3f_ph11"/>
          <p:cNvSpPr txBox="1"/>
          <p:nvPr/>
        </p:nvSpPr>
        <p:spPr>
          <a:xfrm>
            <a:off x="507492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OPERATORS</a:t>
            </a: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Combine rows</a:t>
            </a:r>
            <a:endParaRPr lang="en-US" dirty="0" sz="1800"/>
          </a:p>
        </p:txBody>
      </p:sp>
      <p:sp>
        <p:nvSpPr>
          <p:cNvPr id="8" name="a1f_l12"/>
          <p:cNvSpPr txBox="1"/>
          <p:nvPr/>
        </p:nvSpPr>
        <p:spPr>
          <a:xfrm>
            <a:off x="1417320" y="18288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(A)</a:t>
            </a:r>
            <a:endParaRPr lang="en-US" dirty="0" sz="1000"/>
          </a:p>
        </p:txBody>
      </p:sp>
      <p:sp>
        <p:nvSpPr>
          <p:cNvPr id="9" name="a1f_l13"/>
          <p:cNvSpPr txBox="1"/>
          <p:nvPr/>
        </p:nvSpPr>
        <p:spPr>
          <a:xfrm>
            <a:off x="2606040" y="1828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(B)</a:t>
            </a:r>
            <a:endParaRPr lang="en-US" dirty="0" sz="1000"/>
          </a:p>
        </p:txBody>
      </p:sp>
      <p:sp>
        <p:nvSpPr>
          <p:cNvPr id="10" name="a1f_m14"/>
          <p:cNvSpPr/>
          <p:nvPr/>
        </p:nvSpPr>
        <p:spPr>
          <a:xfrm>
            <a:off x="1531620" y="210312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a1f_m15"/>
          <p:cNvSpPr/>
          <p:nvPr/>
        </p:nvSpPr>
        <p:spPr>
          <a:xfrm>
            <a:off x="1805940" y="210312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a1f_m16"/>
          <p:cNvSpPr/>
          <p:nvPr/>
        </p:nvSpPr>
        <p:spPr>
          <a:xfrm>
            <a:off x="2080260" y="210312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a1f_m17"/>
          <p:cNvSpPr/>
          <p:nvPr/>
        </p:nvSpPr>
        <p:spPr>
          <a:xfrm>
            <a:off x="1531620" y="228600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a1f_m18"/>
          <p:cNvSpPr/>
          <p:nvPr/>
        </p:nvSpPr>
        <p:spPr>
          <a:xfrm>
            <a:off x="1805940" y="228600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a1f_m19"/>
          <p:cNvSpPr/>
          <p:nvPr/>
        </p:nvSpPr>
        <p:spPr>
          <a:xfrm>
            <a:off x="2080260" y="228600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a1f_m20"/>
          <p:cNvSpPr/>
          <p:nvPr/>
        </p:nvSpPr>
        <p:spPr>
          <a:xfrm>
            <a:off x="1531620" y="246888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a1f_m21"/>
          <p:cNvSpPr/>
          <p:nvPr/>
        </p:nvSpPr>
        <p:spPr>
          <a:xfrm>
            <a:off x="1805940" y="246888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a1f_m22"/>
          <p:cNvSpPr/>
          <p:nvPr/>
        </p:nvSpPr>
        <p:spPr>
          <a:xfrm>
            <a:off x="2080260" y="246888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a1f_m23"/>
          <p:cNvSpPr/>
          <p:nvPr/>
        </p:nvSpPr>
        <p:spPr>
          <a:xfrm>
            <a:off x="1531620" y="265176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a1f_m24"/>
          <p:cNvSpPr/>
          <p:nvPr/>
        </p:nvSpPr>
        <p:spPr>
          <a:xfrm>
            <a:off x="1805940" y="265176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a1f_m25"/>
          <p:cNvSpPr/>
          <p:nvPr/>
        </p:nvSpPr>
        <p:spPr>
          <a:xfrm>
            <a:off x="2080260" y="265176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a1f_p26"/>
          <p:cNvSpPr txBox="1"/>
          <p:nvPr/>
        </p:nvSpPr>
        <p:spPr>
          <a:xfrm>
            <a:off x="235458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2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dirty="0" sz="2200"/>
          </a:p>
        </p:txBody>
      </p:sp>
      <p:sp>
        <p:nvSpPr>
          <p:cNvPr id="23" name="a1f_m27"/>
          <p:cNvSpPr/>
          <p:nvPr/>
        </p:nvSpPr>
        <p:spPr>
          <a:xfrm>
            <a:off x="2720340" y="2103120"/>
            <a:ext cx="27432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a1f_m28"/>
          <p:cNvSpPr/>
          <p:nvPr/>
        </p:nvSpPr>
        <p:spPr>
          <a:xfrm>
            <a:off x="2994660" y="2103120"/>
            <a:ext cx="27432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a1f_m29"/>
          <p:cNvSpPr/>
          <p:nvPr/>
        </p:nvSpPr>
        <p:spPr>
          <a:xfrm>
            <a:off x="2720340" y="228600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a1f_m30"/>
          <p:cNvSpPr/>
          <p:nvPr/>
        </p:nvSpPr>
        <p:spPr>
          <a:xfrm>
            <a:off x="2994660" y="228600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a1f_m31"/>
          <p:cNvSpPr/>
          <p:nvPr/>
        </p:nvSpPr>
        <p:spPr>
          <a:xfrm>
            <a:off x="2720340" y="246888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a1f_m32"/>
          <p:cNvSpPr/>
          <p:nvPr/>
        </p:nvSpPr>
        <p:spPr>
          <a:xfrm>
            <a:off x="2994660" y="246888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a1f_m33"/>
          <p:cNvSpPr/>
          <p:nvPr/>
        </p:nvSpPr>
        <p:spPr>
          <a:xfrm>
            <a:off x="2720340" y="265176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a1f_m34"/>
          <p:cNvSpPr/>
          <p:nvPr/>
        </p:nvSpPr>
        <p:spPr>
          <a:xfrm>
            <a:off x="2994660" y="265176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a2f_arr35"/>
          <p:cNvSpPr/>
          <p:nvPr/>
        </p:nvSpPr>
        <p:spPr>
          <a:xfrm>
            <a:off x="2263140" y="2926080"/>
            <a:ext cx="274320" cy="320040"/>
          </a:xfrm>
          <a:prstGeom prst="down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a2w_m36"/>
          <p:cNvSpPr/>
          <p:nvPr/>
        </p:nvSpPr>
        <p:spPr>
          <a:xfrm>
            <a:off x="1714500" y="333756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a2w_m37"/>
          <p:cNvSpPr/>
          <p:nvPr/>
        </p:nvSpPr>
        <p:spPr>
          <a:xfrm>
            <a:off x="1988820" y="333756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a2w_m38"/>
          <p:cNvSpPr/>
          <p:nvPr/>
        </p:nvSpPr>
        <p:spPr>
          <a:xfrm>
            <a:off x="2263140" y="333756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a2w_m39"/>
          <p:cNvSpPr/>
          <p:nvPr/>
        </p:nvSpPr>
        <p:spPr>
          <a:xfrm>
            <a:off x="2537460" y="3337560"/>
            <a:ext cx="27432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a2w_m40"/>
          <p:cNvSpPr/>
          <p:nvPr/>
        </p:nvSpPr>
        <p:spPr>
          <a:xfrm>
            <a:off x="2811780" y="3337560"/>
            <a:ext cx="27432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a2w_m41"/>
          <p:cNvSpPr/>
          <p:nvPr/>
        </p:nvSpPr>
        <p:spPr>
          <a:xfrm>
            <a:off x="1714500" y="352044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a2w_m42"/>
          <p:cNvSpPr/>
          <p:nvPr/>
        </p:nvSpPr>
        <p:spPr>
          <a:xfrm>
            <a:off x="1988820" y="352044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a2w_m43"/>
          <p:cNvSpPr/>
          <p:nvPr/>
        </p:nvSpPr>
        <p:spPr>
          <a:xfrm>
            <a:off x="2263140" y="352044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a2w_m44"/>
          <p:cNvSpPr/>
          <p:nvPr/>
        </p:nvSpPr>
        <p:spPr>
          <a:xfrm>
            <a:off x="2537460" y="352044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a2w_m45"/>
          <p:cNvSpPr/>
          <p:nvPr/>
        </p:nvSpPr>
        <p:spPr>
          <a:xfrm>
            <a:off x="2811780" y="352044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a2w_m46"/>
          <p:cNvSpPr/>
          <p:nvPr/>
        </p:nvSpPr>
        <p:spPr>
          <a:xfrm>
            <a:off x="1714500" y="370332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a2w_m47"/>
          <p:cNvSpPr/>
          <p:nvPr/>
        </p:nvSpPr>
        <p:spPr>
          <a:xfrm>
            <a:off x="1988820" y="370332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a2w_m48"/>
          <p:cNvSpPr/>
          <p:nvPr/>
        </p:nvSpPr>
        <p:spPr>
          <a:xfrm>
            <a:off x="2263140" y="370332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a2w_m49"/>
          <p:cNvSpPr/>
          <p:nvPr/>
        </p:nvSpPr>
        <p:spPr>
          <a:xfrm>
            <a:off x="2537460" y="370332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a2w_m50"/>
          <p:cNvSpPr/>
          <p:nvPr/>
        </p:nvSpPr>
        <p:spPr>
          <a:xfrm>
            <a:off x="2811780" y="370332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a2w_m51"/>
          <p:cNvSpPr/>
          <p:nvPr/>
        </p:nvSpPr>
        <p:spPr>
          <a:xfrm>
            <a:off x="1714500" y="388620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a2w_m52"/>
          <p:cNvSpPr/>
          <p:nvPr/>
        </p:nvSpPr>
        <p:spPr>
          <a:xfrm>
            <a:off x="1988820" y="388620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a2w_m53"/>
          <p:cNvSpPr/>
          <p:nvPr/>
        </p:nvSpPr>
        <p:spPr>
          <a:xfrm>
            <a:off x="2263140" y="388620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a2w_m54"/>
          <p:cNvSpPr/>
          <p:nvPr/>
        </p:nvSpPr>
        <p:spPr>
          <a:xfrm>
            <a:off x="2537460" y="388620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a2w_m55"/>
          <p:cNvSpPr/>
          <p:nvPr/>
        </p:nvSpPr>
        <p:spPr>
          <a:xfrm>
            <a:off x="2811780" y="388620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a2f_cap56"/>
          <p:cNvSpPr txBox="1"/>
          <p:nvPr/>
        </p:nvSpPr>
        <p:spPr>
          <a:xfrm>
            <a:off x="731520" y="4160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 → a WIDER table</a:t>
            </a:r>
            <a:endParaRPr lang="en-US" dirty="0" sz="1300"/>
          </a:p>
        </p:txBody>
      </p:sp>
      <p:sp>
        <p:nvSpPr>
          <p:cNvPr id="53" name="a3f_m57"/>
          <p:cNvSpPr/>
          <p:nvPr/>
        </p:nvSpPr>
        <p:spPr>
          <a:xfrm>
            <a:off x="5737860" y="210312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a3f_m58"/>
          <p:cNvSpPr/>
          <p:nvPr/>
        </p:nvSpPr>
        <p:spPr>
          <a:xfrm>
            <a:off x="6012180" y="210312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a3f_m59"/>
          <p:cNvSpPr/>
          <p:nvPr/>
        </p:nvSpPr>
        <p:spPr>
          <a:xfrm>
            <a:off x="6286500" y="210312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a3f_m60"/>
          <p:cNvSpPr/>
          <p:nvPr/>
        </p:nvSpPr>
        <p:spPr>
          <a:xfrm>
            <a:off x="5737860" y="228600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a3f_m61"/>
          <p:cNvSpPr/>
          <p:nvPr/>
        </p:nvSpPr>
        <p:spPr>
          <a:xfrm>
            <a:off x="6012180" y="228600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a3f_m62"/>
          <p:cNvSpPr/>
          <p:nvPr/>
        </p:nvSpPr>
        <p:spPr>
          <a:xfrm>
            <a:off x="6286500" y="228600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a3f_m63"/>
          <p:cNvSpPr/>
          <p:nvPr/>
        </p:nvSpPr>
        <p:spPr>
          <a:xfrm>
            <a:off x="5737860" y="246888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a3f_m64"/>
          <p:cNvSpPr/>
          <p:nvPr/>
        </p:nvSpPr>
        <p:spPr>
          <a:xfrm>
            <a:off x="6012180" y="246888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a3f_m65"/>
          <p:cNvSpPr/>
          <p:nvPr/>
        </p:nvSpPr>
        <p:spPr>
          <a:xfrm>
            <a:off x="6286500" y="246888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a3f_p66"/>
          <p:cNvSpPr txBox="1"/>
          <p:nvPr/>
        </p:nvSpPr>
        <p:spPr>
          <a:xfrm>
            <a:off x="656082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2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dirty="0" sz="2200"/>
          </a:p>
        </p:txBody>
      </p:sp>
      <p:sp>
        <p:nvSpPr>
          <p:cNvPr id="63" name="a3f_m67"/>
          <p:cNvSpPr/>
          <p:nvPr/>
        </p:nvSpPr>
        <p:spPr>
          <a:xfrm>
            <a:off x="6926580" y="2103120"/>
            <a:ext cx="27432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a3f_m68"/>
          <p:cNvSpPr/>
          <p:nvPr/>
        </p:nvSpPr>
        <p:spPr>
          <a:xfrm>
            <a:off x="7200900" y="2103120"/>
            <a:ext cx="27432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a3f_m69"/>
          <p:cNvSpPr/>
          <p:nvPr/>
        </p:nvSpPr>
        <p:spPr>
          <a:xfrm>
            <a:off x="7475220" y="2103120"/>
            <a:ext cx="27432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a3f_m70"/>
          <p:cNvSpPr/>
          <p:nvPr/>
        </p:nvSpPr>
        <p:spPr>
          <a:xfrm>
            <a:off x="6926580" y="228600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a3f_m71"/>
          <p:cNvSpPr/>
          <p:nvPr/>
        </p:nvSpPr>
        <p:spPr>
          <a:xfrm>
            <a:off x="7200900" y="228600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a3f_m72"/>
          <p:cNvSpPr/>
          <p:nvPr/>
        </p:nvSpPr>
        <p:spPr>
          <a:xfrm>
            <a:off x="7475220" y="228600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a3f_m73"/>
          <p:cNvSpPr/>
          <p:nvPr/>
        </p:nvSpPr>
        <p:spPr>
          <a:xfrm>
            <a:off x="6926580" y="246888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a3f_m74"/>
          <p:cNvSpPr/>
          <p:nvPr/>
        </p:nvSpPr>
        <p:spPr>
          <a:xfrm>
            <a:off x="7200900" y="246888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a3f_m75"/>
          <p:cNvSpPr/>
          <p:nvPr/>
        </p:nvSpPr>
        <p:spPr>
          <a:xfrm>
            <a:off x="7475220" y="246888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a4f_arr76"/>
          <p:cNvSpPr/>
          <p:nvPr/>
        </p:nvSpPr>
        <p:spPr>
          <a:xfrm>
            <a:off x="6606540" y="2743200"/>
            <a:ext cx="274320" cy="320040"/>
          </a:xfrm>
          <a:prstGeom prst="down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3" name="a4u_m77"/>
          <p:cNvSpPr/>
          <p:nvPr/>
        </p:nvSpPr>
        <p:spPr>
          <a:xfrm>
            <a:off x="6332220" y="315468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a4u_m78"/>
          <p:cNvSpPr/>
          <p:nvPr/>
        </p:nvSpPr>
        <p:spPr>
          <a:xfrm>
            <a:off x="6606540" y="315468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a4u_m79"/>
          <p:cNvSpPr/>
          <p:nvPr/>
        </p:nvSpPr>
        <p:spPr>
          <a:xfrm>
            <a:off x="6880860" y="3154680"/>
            <a:ext cx="27432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a4u_m80"/>
          <p:cNvSpPr/>
          <p:nvPr/>
        </p:nvSpPr>
        <p:spPr>
          <a:xfrm>
            <a:off x="6332220" y="333756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a4u_m81"/>
          <p:cNvSpPr/>
          <p:nvPr/>
        </p:nvSpPr>
        <p:spPr>
          <a:xfrm>
            <a:off x="6606540" y="333756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a4u_m82"/>
          <p:cNvSpPr/>
          <p:nvPr/>
        </p:nvSpPr>
        <p:spPr>
          <a:xfrm>
            <a:off x="6880860" y="333756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a4u_m83"/>
          <p:cNvSpPr/>
          <p:nvPr/>
        </p:nvSpPr>
        <p:spPr>
          <a:xfrm>
            <a:off x="6332220" y="352044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a4u_m84"/>
          <p:cNvSpPr/>
          <p:nvPr/>
        </p:nvSpPr>
        <p:spPr>
          <a:xfrm>
            <a:off x="6606540" y="352044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a4u_m85"/>
          <p:cNvSpPr/>
          <p:nvPr/>
        </p:nvSpPr>
        <p:spPr>
          <a:xfrm>
            <a:off x="6880860" y="3520440"/>
            <a:ext cx="27432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a4u_m86"/>
          <p:cNvSpPr/>
          <p:nvPr/>
        </p:nvSpPr>
        <p:spPr>
          <a:xfrm>
            <a:off x="6332220" y="370332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a4u_m87"/>
          <p:cNvSpPr/>
          <p:nvPr/>
        </p:nvSpPr>
        <p:spPr>
          <a:xfrm>
            <a:off x="6606540" y="370332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a4u_m88"/>
          <p:cNvSpPr/>
          <p:nvPr/>
        </p:nvSpPr>
        <p:spPr>
          <a:xfrm>
            <a:off x="6880860" y="370332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a4u_m89"/>
          <p:cNvSpPr/>
          <p:nvPr/>
        </p:nvSpPr>
        <p:spPr>
          <a:xfrm>
            <a:off x="6332220" y="388620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a4u_m90"/>
          <p:cNvSpPr/>
          <p:nvPr/>
        </p:nvSpPr>
        <p:spPr>
          <a:xfrm>
            <a:off x="6606540" y="388620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a4u_m91"/>
          <p:cNvSpPr/>
          <p:nvPr/>
        </p:nvSpPr>
        <p:spPr>
          <a:xfrm>
            <a:off x="6880860" y="3886200"/>
            <a:ext cx="2743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a4f_cap92"/>
          <p:cNvSpPr txBox="1"/>
          <p:nvPr/>
        </p:nvSpPr>
        <p:spPr>
          <a:xfrm>
            <a:off x="5074920" y="4160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below → a LONGER table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6" grpId="0" animBg="1"/>
      <p:bldP spid="7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→ Type → Rules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way of combining data follows the same decision path</a:t>
            </a:r>
            <a:endParaRPr lang="en-US" dirty="0" sz="1300"/>
          </a:p>
        </p:txBody>
      </p:sp>
      <p:sp>
        <p:nvSpPr>
          <p:cNvPr id="4" name="a1fd0_n93"/>
          <p:cNvSpPr txBox="1"/>
          <p:nvPr/>
        </p:nvSpPr>
        <p:spPr>
          <a:xfrm>
            <a:off x="822960" y="1234440"/>
            <a:ext cx="411480" cy="4114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600"/>
          </a:p>
        </p:txBody>
      </p:sp>
      <p:sp>
        <p:nvSpPr>
          <p:cNvPr id="5" name="a1fd0_t94"/>
          <p:cNvSpPr txBox="1"/>
          <p:nvPr/>
        </p:nvSpPr>
        <p:spPr>
          <a:xfrm>
            <a:off x="132588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method</a:t>
            </a:r>
            <a:endParaRPr lang="en-US" dirty="0" sz="1500"/>
          </a:p>
        </p:txBody>
      </p:sp>
      <p:sp>
        <p:nvSpPr>
          <p:cNvPr id="6" name="a1fd0_ar95"/>
          <p:cNvSpPr/>
          <p:nvPr/>
        </p:nvSpPr>
        <p:spPr>
          <a:xfrm>
            <a:off x="2971800" y="1344168"/>
            <a:ext cx="365760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a1fd250_n96"/>
          <p:cNvSpPr txBox="1"/>
          <p:nvPr/>
        </p:nvSpPr>
        <p:spPr>
          <a:xfrm>
            <a:off x="3566160" y="1234440"/>
            <a:ext cx="411480" cy="4114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600"/>
          </a:p>
        </p:txBody>
      </p:sp>
      <p:sp>
        <p:nvSpPr>
          <p:cNvPr id="8" name="a1fd250_t97"/>
          <p:cNvSpPr txBox="1"/>
          <p:nvPr/>
        </p:nvSpPr>
        <p:spPr>
          <a:xfrm>
            <a:off x="406908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type</a:t>
            </a:r>
            <a:endParaRPr lang="en-US" dirty="0" sz="1500"/>
          </a:p>
        </p:txBody>
      </p:sp>
      <p:sp>
        <p:nvSpPr>
          <p:cNvPr id="9" name="a1fd250_ar98"/>
          <p:cNvSpPr/>
          <p:nvPr/>
        </p:nvSpPr>
        <p:spPr>
          <a:xfrm>
            <a:off x="5715000" y="1344168"/>
            <a:ext cx="365760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a1fd500_n99"/>
          <p:cNvSpPr txBox="1"/>
          <p:nvPr/>
        </p:nvSpPr>
        <p:spPr>
          <a:xfrm>
            <a:off x="6309360" y="1234440"/>
            <a:ext cx="411480" cy="4114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600"/>
          </a:p>
        </p:txBody>
      </p:sp>
      <p:sp>
        <p:nvSpPr>
          <p:cNvPr id="11" name="a1fd500_t100"/>
          <p:cNvSpPr txBox="1"/>
          <p:nvPr/>
        </p:nvSpPr>
        <p:spPr>
          <a:xfrm>
            <a:off x="681228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rules</a:t>
            </a:r>
            <a:endParaRPr lang="en-US" dirty="0" sz="1500"/>
          </a:p>
        </p:txBody>
      </p:sp>
      <p:sp>
        <p:nvSpPr>
          <p:cNvPr id="12" name="a2f_c101"/>
          <p:cNvSpPr/>
          <p:nvPr/>
        </p:nvSpPr>
        <p:spPr>
          <a:xfrm>
            <a:off x="457200" y="1920240"/>
            <a:ext cx="38862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2f_h102"/>
          <p:cNvSpPr txBox="1"/>
          <p:nvPr/>
        </p:nvSpPr>
        <p:spPr>
          <a:xfrm>
            <a:off x="731520" y="2011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8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dirty="0" sz="1800"/>
          </a:p>
          <a:p>
            <a:pPr marL="0" indent="0">
              <a:buNone/>
            </a:pPr>
            <a:r>
              <a:rPr sz="12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columns (focus of this module)</a:t>
            </a:r>
            <a:endParaRPr lang="en-US" dirty="0" sz="1800"/>
          </a:p>
        </p:txBody>
      </p:sp>
      <p:sp>
        <p:nvSpPr>
          <p:cNvPr id="14" name="a2ud150_ty103"/>
          <p:cNvSpPr txBox="1"/>
          <p:nvPr/>
        </p:nvSpPr>
        <p:spPr>
          <a:xfrm>
            <a:off x="731520" y="2788920"/>
            <a:ext cx="1600200" cy="329184"/>
          </a:xfrm>
          <a:prstGeom prst="roundRect">
            <a:avLst>
              <a:gd name="adj" fmla="val 41667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dirty="0" sz="1200"/>
          </a:p>
        </p:txBody>
      </p:sp>
      <p:sp>
        <p:nvSpPr>
          <p:cNvPr id="15" name="a2ud270_ty104"/>
          <p:cNvSpPr txBox="1"/>
          <p:nvPr/>
        </p:nvSpPr>
        <p:spPr>
          <a:xfrm>
            <a:off x="2423160" y="2788920"/>
            <a:ext cx="1600200" cy="329184"/>
          </a:xfrm>
          <a:prstGeom prst="roundRect">
            <a:avLst>
              <a:gd name="adj" fmla="val 41667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dirty="0" sz="1200"/>
          </a:p>
        </p:txBody>
      </p:sp>
      <p:sp>
        <p:nvSpPr>
          <p:cNvPr id="16" name="a2ud390_ty105"/>
          <p:cNvSpPr txBox="1"/>
          <p:nvPr/>
        </p:nvSpPr>
        <p:spPr>
          <a:xfrm>
            <a:off x="731520" y="3200400"/>
            <a:ext cx="1600200" cy="329184"/>
          </a:xfrm>
          <a:prstGeom prst="roundRect">
            <a:avLst>
              <a:gd name="adj" fmla="val 41667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</a:t>
            </a:r>
            <a:endParaRPr lang="en-US" dirty="0" sz="1200"/>
          </a:p>
        </p:txBody>
      </p:sp>
      <p:sp>
        <p:nvSpPr>
          <p:cNvPr id="17" name="a2ud510_ty106"/>
          <p:cNvSpPr txBox="1"/>
          <p:nvPr/>
        </p:nvSpPr>
        <p:spPr>
          <a:xfrm>
            <a:off x="2423160" y="3200400"/>
            <a:ext cx="1600200" cy="329184"/>
          </a:xfrm>
          <a:prstGeom prst="roundRect">
            <a:avLst>
              <a:gd name="adj" fmla="val 41667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JOIN</a:t>
            </a:r>
            <a:endParaRPr lang="en-US" dirty="0" sz="1200"/>
          </a:p>
        </p:txBody>
      </p:sp>
      <p:sp>
        <p:nvSpPr>
          <p:cNvPr id="18" name="a2fd700_r107"/>
          <p:cNvSpPr txBox="1"/>
          <p:nvPr/>
        </p:nvSpPr>
        <p:spPr>
          <a:xfrm>
            <a:off x="73152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define key columns shared by both tables.</a:t>
            </a:r>
            <a:endParaRPr lang="en-US" dirty="0" sz="1300"/>
          </a:p>
        </p:txBody>
      </p:sp>
      <p:sp>
        <p:nvSpPr>
          <p:cNvPr id="19" name="a3f_c108"/>
          <p:cNvSpPr/>
          <p:nvPr/>
        </p:nvSpPr>
        <p:spPr>
          <a:xfrm>
            <a:off x="4800600" y="1920240"/>
            <a:ext cx="38862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a3f_h109"/>
          <p:cNvSpPr txBox="1"/>
          <p:nvPr/>
        </p:nvSpPr>
        <p:spPr>
          <a:xfrm>
            <a:off x="5074920" y="2011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800" b="1"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OPERATORS</a:t>
            </a:r>
            <a:endParaRPr lang="en-US" dirty="0" sz="1800"/>
          </a:p>
          <a:p>
            <a:pPr marL="0" indent="0">
              <a:buNone/>
            </a:pPr>
            <a:r>
              <a:rPr sz="12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rows</a:t>
            </a:r>
            <a:endParaRPr lang="en-US" dirty="0" sz="1800"/>
          </a:p>
        </p:txBody>
      </p:sp>
      <p:sp>
        <p:nvSpPr>
          <p:cNvPr id="21" name="a3ud150_ty110"/>
          <p:cNvSpPr txBox="1"/>
          <p:nvPr/>
        </p:nvSpPr>
        <p:spPr>
          <a:xfrm>
            <a:off x="5074920" y="2788920"/>
            <a:ext cx="1600200" cy="329184"/>
          </a:xfrm>
          <a:prstGeom prst="roundRect">
            <a:avLst>
              <a:gd name="adj" fmla="val 41667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200"/>
          </a:p>
        </p:txBody>
      </p:sp>
      <p:sp>
        <p:nvSpPr>
          <p:cNvPr id="22" name="a3ud270_ty111"/>
          <p:cNvSpPr txBox="1"/>
          <p:nvPr/>
        </p:nvSpPr>
        <p:spPr>
          <a:xfrm>
            <a:off x="6766560" y="2788920"/>
            <a:ext cx="1600200" cy="329184"/>
          </a:xfrm>
          <a:prstGeom prst="roundRect">
            <a:avLst>
              <a:gd name="adj" fmla="val 41667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dirty="0" sz="1200"/>
          </a:p>
        </p:txBody>
      </p:sp>
      <p:sp>
        <p:nvSpPr>
          <p:cNvPr id="23" name="a3ud390_ty112"/>
          <p:cNvSpPr txBox="1"/>
          <p:nvPr/>
        </p:nvSpPr>
        <p:spPr>
          <a:xfrm>
            <a:off x="5074920" y="3200400"/>
            <a:ext cx="1600200" cy="329184"/>
          </a:xfrm>
          <a:prstGeom prst="roundRect">
            <a:avLst>
              <a:gd name="adj" fmla="val 41667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dirty="0" sz="1200"/>
          </a:p>
        </p:txBody>
      </p:sp>
      <p:sp>
        <p:nvSpPr>
          <p:cNvPr id="24" name="a3ud510_ty113"/>
          <p:cNvSpPr txBox="1"/>
          <p:nvPr/>
        </p:nvSpPr>
        <p:spPr>
          <a:xfrm>
            <a:off x="6766560" y="3200400"/>
            <a:ext cx="1600200" cy="329184"/>
          </a:xfrm>
          <a:prstGeom prst="roundRect">
            <a:avLst>
              <a:gd name="adj" fmla="val 41667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dirty="0" sz="1200"/>
          </a:p>
        </p:txBody>
      </p:sp>
      <p:sp>
        <p:nvSpPr>
          <p:cNvPr id="25" name="a3fd700_r114"/>
          <p:cNvSpPr txBox="1"/>
          <p:nvPr/>
        </p:nvSpPr>
        <p:spPr>
          <a:xfrm>
            <a:off x="507492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must return the same number of columns — no key needed.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SQL Join?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two tables through a common key, then pair up the rows that match</a:t>
            </a:r>
            <a:endParaRPr lang="en-US" dirty="0" sz="130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table</a:t>
            </a:r>
            <a:endParaRPr lang="en-US" dirty="0" sz="1200"/>
          </a:p>
        </p:txBody>
      </p:sp>
      <p:sp>
        <p:nvSpPr>
          <p:cNvPr id="5" name="Text 3"/>
          <p:cNvSpPr txBox="1"/>
          <p:nvPr/>
        </p:nvSpPr>
        <p:spPr>
          <a:xfrm>
            <a:off x="301752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table</a:t>
            </a:r>
            <a:endParaRPr lang="en-US" dirty="0" sz="1200"/>
          </a:p>
        </p:txBody>
      </p:sp>
      <p:sp>
        <p:nvSpPr>
          <p:cNvPr id="6" name="Text 4"/>
          <p:cNvSpPr txBox="1"/>
          <p:nvPr/>
        </p:nvSpPr>
        <p:spPr>
          <a:xfrm>
            <a:off x="585216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result</a:t>
            </a:r>
            <a:endParaRPr lang="en-US" dirty="0" sz="1200"/>
          </a:p>
        </p:txBody>
      </p:sp>
      <p:sp>
        <p:nvSpPr>
          <p:cNvPr id="7" name="s_cell115"/>
          <p:cNvSpPr txBox="1"/>
          <p:nvPr/>
        </p:nvSpPr>
        <p:spPr>
          <a:xfrm>
            <a:off x="548640" y="1463040"/>
            <a:ext cx="4114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8" name="s_cell116"/>
          <p:cNvSpPr txBox="1"/>
          <p:nvPr/>
        </p:nvSpPr>
        <p:spPr>
          <a:xfrm>
            <a:off x="548640" y="173736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9" name="s_cell117"/>
          <p:cNvSpPr txBox="1"/>
          <p:nvPr/>
        </p:nvSpPr>
        <p:spPr>
          <a:xfrm>
            <a:off x="548640" y="201168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10" name="s_cell118"/>
          <p:cNvSpPr txBox="1"/>
          <p:nvPr/>
        </p:nvSpPr>
        <p:spPr>
          <a:xfrm>
            <a:off x="548640" y="228600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11" name="s_cell119"/>
          <p:cNvSpPr txBox="1"/>
          <p:nvPr/>
        </p:nvSpPr>
        <p:spPr>
          <a:xfrm>
            <a:off x="548640" y="256032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12" name="s_cell120"/>
          <p:cNvSpPr txBox="1"/>
          <p:nvPr/>
        </p:nvSpPr>
        <p:spPr>
          <a:xfrm>
            <a:off x="960120" y="1463040"/>
            <a:ext cx="9144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dirty="0" sz="1100"/>
          </a:p>
        </p:txBody>
      </p:sp>
      <p:sp>
        <p:nvSpPr>
          <p:cNvPr id="13" name="s_cell121"/>
          <p:cNvSpPr txBox="1"/>
          <p:nvPr/>
        </p:nvSpPr>
        <p:spPr>
          <a:xfrm>
            <a:off x="960120" y="17373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14" name="s_cell122"/>
          <p:cNvSpPr txBox="1"/>
          <p:nvPr/>
        </p:nvSpPr>
        <p:spPr>
          <a:xfrm>
            <a:off x="960120" y="20116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15" name="s_cell123"/>
          <p:cNvSpPr txBox="1"/>
          <p:nvPr/>
        </p:nvSpPr>
        <p:spPr>
          <a:xfrm>
            <a:off x="960120" y="22860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16" name="s_cell124"/>
          <p:cNvSpPr txBox="1"/>
          <p:nvPr/>
        </p:nvSpPr>
        <p:spPr>
          <a:xfrm>
            <a:off x="960120" y="25603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17" name="s_cell125"/>
          <p:cNvSpPr txBox="1"/>
          <p:nvPr/>
        </p:nvSpPr>
        <p:spPr>
          <a:xfrm>
            <a:off x="3017520" y="1463040"/>
            <a:ext cx="41148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18" name="s_cell126"/>
          <p:cNvSpPr txBox="1"/>
          <p:nvPr/>
        </p:nvSpPr>
        <p:spPr>
          <a:xfrm>
            <a:off x="3017520" y="173736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9" name="s_cell127"/>
          <p:cNvSpPr txBox="1"/>
          <p:nvPr/>
        </p:nvSpPr>
        <p:spPr>
          <a:xfrm>
            <a:off x="3017520" y="201168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20" name="s_cell128"/>
          <p:cNvSpPr txBox="1"/>
          <p:nvPr/>
        </p:nvSpPr>
        <p:spPr>
          <a:xfrm>
            <a:off x="3017520" y="228600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21" name="s_cell129"/>
          <p:cNvSpPr txBox="1"/>
          <p:nvPr/>
        </p:nvSpPr>
        <p:spPr>
          <a:xfrm>
            <a:off x="3429000" y="1463040"/>
            <a:ext cx="91440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dirty="0" sz="1100"/>
          </a:p>
        </p:txBody>
      </p:sp>
      <p:sp>
        <p:nvSpPr>
          <p:cNvPr id="22" name="s_cell130"/>
          <p:cNvSpPr txBox="1"/>
          <p:nvPr/>
        </p:nvSpPr>
        <p:spPr>
          <a:xfrm>
            <a:off x="3429000" y="17373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dirty="0" sz="1100"/>
          </a:p>
        </p:txBody>
      </p:sp>
      <p:sp>
        <p:nvSpPr>
          <p:cNvPr id="23" name="s_cell131"/>
          <p:cNvSpPr txBox="1"/>
          <p:nvPr/>
        </p:nvSpPr>
        <p:spPr>
          <a:xfrm>
            <a:off x="3429000" y="20116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dirty="0" sz="1100"/>
          </a:p>
        </p:txBody>
      </p:sp>
      <p:sp>
        <p:nvSpPr>
          <p:cNvPr id="24" name="s_cell132"/>
          <p:cNvSpPr txBox="1"/>
          <p:nvPr/>
        </p:nvSpPr>
        <p:spPr>
          <a:xfrm>
            <a:off x="3429000" y="22860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dirty="0" sz="1100"/>
          </a:p>
        </p:txBody>
      </p:sp>
      <p:sp>
        <p:nvSpPr>
          <p:cNvPr id="25" name="a1f_k133"/>
          <p:cNvSpPr/>
          <p:nvPr/>
        </p:nvSpPr>
        <p:spPr>
          <a:xfrm>
            <a:off x="530352" y="1444752"/>
            <a:ext cx="448056" cy="140817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26" name="a1f_k134"/>
          <p:cNvSpPr/>
          <p:nvPr/>
        </p:nvSpPr>
        <p:spPr>
          <a:xfrm>
            <a:off x="2999232" y="1444752"/>
            <a:ext cx="448056" cy="113385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27" name="a1f_kl135"/>
          <p:cNvSpPr txBox="1"/>
          <p:nvPr/>
        </p:nvSpPr>
        <p:spPr>
          <a:xfrm>
            <a:off x="54864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common key: id</a:t>
            </a:r>
            <a:endParaRPr lang="en-US" dirty="0" sz="1200"/>
          </a:p>
        </p:txBody>
      </p:sp>
      <p:sp>
        <p:nvSpPr>
          <p:cNvPr id="28" name="a1f_cell136"/>
          <p:cNvSpPr txBox="1"/>
          <p:nvPr/>
        </p:nvSpPr>
        <p:spPr>
          <a:xfrm>
            <a:off x="5852160" y="1463040"/>
            <a:ext cx="1188720" cy="274320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dirty="0" sz="1100"/>
          </a:p>
        </p:txBody>
      </p:sp>
      <p:sp>
        <p:nvSpPr>
          <p:cNvPr id="29" name="a1f_cell137"/>
          <p:cNvSpPr txBox="1"/>
          <p:nvPr/>
        </p:nvSpPr>
        <p:spPr>
          <a:xfrm>
            <a:off x="7040880" y="1463040"/>
            <a:ext cx="1188720" cy="274320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dirty="0" sz="1100"/>
          </a:p>
        </p:txBody>
      </p:sp>
      <p:sp>
        <p:nvSpPr>
          <p:cNvPr id="30" name="a2w_conn138"/>
          <p:cNvSpPr/>
          <p:nvPr/>
        </p:nvSpPr>
        <p:spPr>
          <a:xfrm>
            <a:off x="1920240" y="1874520"/>
            <a:ext cx="1051560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1" name="a2fd300_cell139"/>
          <p:cNvSpPr txBox="1"/>
          <p:nvPr/>
        </p:nvSpPr>
        <p:spPr>
          <a:xfrm>
            <a:off x="5852160" y="1737360"/>
            <a:ext cx="11887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32" name="a2fd300_cell140"/>
          <p:cNvSpPr txBox="1"/>
          <p:nvPr/>
        </p:nvSpPr>
        <p:spPr>
          <a:xfrm>
            <a:off x="7040880" y="1737360"/>
            <a:ext cx="11887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dirty="0" sz="1100"/>
          </a:p>
        </p:txBody>
      </p:sp>
      <p:sp>
        <p:nvSpPr>
          <p:cNvPr id="33" name="a3w_conn141"/>
          <p:cNvSpPr/>
          <p:nvPr/>
        </p:nvSpPr>
        <p:spPr>
          <a:xfrm>
            <a:off x="1920240" y="2148840"/>
            <a:ext cx="1051560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4" name="a3fd300_cell142"/>
          <p:cNvSpPr txBox="1"/>
          <p:nvPr/>
        </p:nvSpPr>
        <p:spPr>
          <a:xfrm>
            <a:off x="5852160" y="2011680"/>
            <a:ext cx="11887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35" name="a3fd300_cell143"/>
          <p:cNvSpPr txBox="1"/>
          <p:nvPr/>
        </p:nvSpPr>
        <p:spPr>
          <a:xfrm>
            <a:off x="7040880" y="2011680"/>
            <a:ext cx="11887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dirty="0" sz="1100"/>
          </a:p>
        </p:txBody>
      </p:sp>
      <p:sp>
        <p:nvSpPr>
          <p:cNvPr id="36" name="a4f_x144"/>
          <p:cNvSpPr txBox="1"/>
          <p:nvPr/>
        </p:nvSpPr>
        <p:spPr>
          <a:xfrm>
            <a:off x="1920240" y="21488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 match</a:t>
            </a:r>
            <a:endParaRPr lang="en-US" dirty="0" sz="1100"/>
          </a:p>
        </p:txBody>
      </p:sp>
      <p:sp>
        <p:nvSpPr>
          <p:cNvPr id="37" name="a5w_conn145"/>
          <p:cNvSpPr/>
          <p:nvPr/>
        </p:nvSpPr>
        <p:spPr>
          <a:xfrm flipV="1">
            <a:off x="1920240" y="2423160"/>
            <a:ext cx="1051560" cy="27432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8" name="a5fd300_cell146"/>
          <p:cNvSpPr txBox="1"/>
          <p:nvPr/>
        </p:nvSpPr>
        <p:spPr>
          <a:xfrm>
            <a:off x="5852160" y="2286000"/>
            <a:ext cx="11887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39" name="a5fd300_cell147"/>
          <p:cNvSpPr txBox="1"/>
          <p:nvPr/>
        </p:nvSpPr>
        <p:spPr>
          <a:xfrm>
            <a:off x="7040880" y="2286000"/>
            <a:ext cx="11887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dirty="0" sz="1100"/>
          </a:p>
        </p:txBody>
      </p:sp>
      <p:sp>
        <p:nvSpPr>
          <p:cNvPr id="40" name="a6f_box148"/>
          <p:cNvSpPr/>
          <p:nvPr/>
        </p:nvSpPr>
        <p:spPr>
          <a:xfrm>
            <a:off x="548640" y="3566160"/>
            <a:ext cx="7680960" cy="960120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1" name="a6f_t149"/>
          <p:cNvSpPr txBox="1"/>
          <p:nvPr/>
        </p:nvSpPr>
        <p:spPr>
          <a:xfrm>
            <a:off x="777240" y="36118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compares the key values on both sides. Where they are equal, the two rows are connected and returned together. id 3 has no partner on the right, so it can't be connected.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Joins?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everyday reasons</a:t>
            </a:r>
            <a:endParaRPr lang="en-US" dirty="0" sz="1300"/>
          </a:p>
        </p:txBody>
      </p:sp>
      <p:sp>
        <p:nvSpPr>
          <p:cNvPr id="4" name="a1u_c150"/>
          <p:cNvSpPr/>
          <p:nvPr/>
        </p:nvSpPr>
        <p:spPr>
          <a:xfrm>
            <a:off x="457200" y="12344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1u_o151"/>
          <p:cNvSpPr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a1u_i152" descr="6cc72c67e9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18488"/>
            <a:ext cx="374904" cy="374904"/>
          </a:xfrm>
          <a:prstGeom prst="rect">
            <a:avLst/>
          </a:prstGeom>
        </p:spPr>
      </p:pic>
      <p:sp>
        <p:nvSpPr>
          <p:cNvPr id="7" name="a1u_h153"/>
          <p:cNvSpPr txBox="1"/>
          <p:nvPr/>
        </p:nvSpPr>
        <p:spPr>
          <a:xfrm>
            <a:off x="73152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 data</a:t>
            </a:r>
            <a:endParaRPr lang="en-US" dirty="0" sz="1800"/>
          </a:p>
        </p:txBody>
      </p:sp>
      <p:sp>
        <p:nvSpPr>
          <p:cNvPr id="8" name="a1u_d154"/>
          <p:cNvSpPr txBox="1"/>
          <p:nvPr/>
        </p:nvSpPr>
        <p:spPr>
          <a:xfrm>
            <a:off x="731520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about one topic is often spread over many tables. Join them to see the big picture in one result.</a:t>
            </a:r>
            <a:endParaRPr lang="en-US" dirty="0" sz="1300"/>
          </a:p>
        </p:txBody>
      </p:sp>
      <p:sp>
        <p:nvSpPr>
          <p:cNvPr id="9" name="a1u_e155"/>
          <p:cNvSpPr txBox="1"/>
          <p:nvPr/>
        </p:nvSpPr>
        <p:spPr>
          <a:xfrm>
            <a:off x="731520" y="39776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88900" tIns="0" rIns="88900" bIns="0" anchor="ctr" rtlCol="0"/>
          <a:lstStyle/>
          <a:p>
            <a:pPr marL="0" indent="0">
              <a:buNone/>
            </a:pPr>
            <a:r>
              <a:rPr sz="11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+ addresses + orders + reviews → one view</a:t>
            </a:r>
            <a:endParaRPr lang="en-US" dirty="0" sz="1100"/>
          </a:p>
        </p:txBody>
      </p:sp>
      <p:sp>
        <p:nvSpPr>
          <p:cNvPr id="10" name="a2u_c156"/>
          <p:cNvSpPr/>
          <p:nvPr/>
        </p:nvSpPr>
        <p:spPr>
          <a:xfrm>
            <a:off x="3246120" y="12344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2u_o157"/>
          <p:cNvSpPr/>
          <p:nvPr/>
        </p:nvSpPr>
        <p:spPr>
          <a:xfrm>
            <a:off x="3520440" y="146304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a2u_i158" descr="f6e58b2d64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1618488"/>
            <a:ext cx="374904" cy="374904"/>
          </a:xfrm>
          <a:prstGeom prst="rect">
            <a:avLst/>
          </a:prstGeom>
        </p:spPr>
      </p:pic>
      <p:sp>
        <p:nvSpPr>
          <p:cNvPr id="13" name="a2u_h159"/>
          <p:cNvSpPr txBox="1"/>
          <p:nvPr/>
        </p:nvSpPr>
        <p:spPr>
          <a:xfrm>
            <a:off x="352044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data</a:t>
            </a:r>
            <a:endParaRPr lang="en-US" dirty="0" sz="1800"/>
          </a:p>
        </p:txBody>
      </p:sp>
      <p:sp>
        <p:nvSpPr>
          <p:cNvPr id="14" name="a2u_d160"/>
          <p:cNvSpPr txBox="1"/>
          <p:nvPr/>
        </p:nvSpPr>
        <p:spPr>
          <a:xfrm>
            <a:off x="3520440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master table and pull one extra detail from a reference / lookup table.</a:t>
            </a:r>
            <a:endParaRPr lang="en-US" dirty="0" sz="1300"/>
          </a:p>
        </p:txBody>
      </p:sp>
      <p:sp>
        <p:nvSpPr>
          <p:cNvPr id="15" name="a2u_e161"/>
          <p:cNvSpPr txBox="1"/>
          <p:nvPr/>
        </p:nvSpPr>
        <p:spPr>
          <a:xfrm>
            <a:off x="3520440" y="39776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88900" tIns="0" rIns="88900" bIns="0" anchor="ctr" rtlCol="0"/>
          <a:lstStyle/>
          <a:p>
            <a:pPr marL="0" indent="0">
              <a:buNone/>
            </a:pPr>
            <a:r>
              <a:rPr sz="11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+ country zip codes</a:t>
            </a:r>
            <a:endParaRPr lang="en-US" dirty="0" sz="1100"/>
          </a:p>
        </p:txBody>
      </p:sp>
      <p:sp>
        <p:nvSpPr>
          <p:cNvPr id="16" name="a3u_c162"/>
          <p:cNvSpPr/>
          <p:nvPr/>
        </p:nvSpPr>
        <p:spPr>
          <a:xfrm>
            <a:off x="6035040" y="12344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3u_o163"/>
          <p:cNvSpPr/>
          <p:nvPr/>
        </p:nvSpPr>
        <p:spPr>
          <a:xfrm>
            <a:off x="6309360" y="1463040"/>
            <a:ext cx="685800" cy="685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a3u_i164" descr="0486b1ea64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618488"/>
            <a:ext cx="374904" cy="374904"/>
          </a:xfrm>
          <a:prstGeom prst="rect">
            <a:avLst/>
          </a:prstGeom>
        </p:spPr>
      </p:pic>
      <p:sp>
        <p:nvSpPr>
          <p:cNvPr id="19" name="a3u_h165"/>
          <p:cNvSpPr txBox="1"/>
          <p:nvPr/>
        </p:nvSpPr>
        <p:spPr>
          <a:xfrm>
            <a:off x="630936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existence</a:t>
            </a:r>
            <a:endParaRPr lang="en-US" dirty="0" sz="1800"/>
          </a:p>
        </p:txBody>
      </p:sp>
      <p:sp>
        <p:nvSpPr>
          <p:cNvPr id="20" name="a3u_d166"/>
          <p:cNvSpPr txBox="1"/>
          <p:nvPr/>
        </p:nvSpPr>
        <p:spPr>
          <a:xfrm>
            <a:off x="6309360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another table only as a filter: keep rows that exist there — or rows that don't.</a:t>
            </a:r>
            <a:endParaRPr lang="en-US" dirty="0" sz="1300"/>
          </a:p>
        </p:txBody>
      </p:sp>
      <p:sp>
        <p:nvSpPr>
          <p:cNvPr id="21" name="a3u_e167"/>
          <p:cNvSpPr txBox="1"/>
          <p:nvPr/>
        </p:nvSpPr>
        <p:spPr>
          <a:xfrm>
            <a:off x="6309360" y="39776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88900" tIns="0" rIns="88900" bIns="0" anchor="ctr" rtlCol="0"/>
          <a:lstStyle/>
          <a:p>
            <a:pPr marL="0" indent="0">
              <a:buNone/>
            </a:pPr>
            <a:r>
              <a:rPr sz="11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that placed an order?</a:t>
            </a:r>
            <a:endParaRPr lang="en-US" dirty="0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Circles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each table as a circle — the side (left or right) matters</a:t>
            </a:r>
            <a:endParaRPr lang="en-US" dirty="0" sz="1300"/>
          </a:p>
        </p:txBody>
      </p:sp>
      <p:pic>
        <p:nvPicPr>
          <p:cNvPr id="4" name="Image 0" descr="058e636d92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3108960" cy="1969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LEFT table</a:t>
            </a:r>
            <a:endParaRPr lang="en-US" dirty="0" sz="1200"/>
          </a:p>
        </p:txBody>
      </p:sp>
      <p:sp>
        <p:nvSpPr>
          <p:cNvPr id="6" name="Text 3"/>
          <p:cNvSpPr txBox="1"/>
          <p:nvPr/>
        </p:nvSpPr>
        <p:spPr>
          <a:xfrm>
            <a:off x="20116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RIGHT table</a:t>
            </a:r>
            <a:endParaRPr lang="en-US" dirty="0" sz="1200"/>
          </a:p>
        </p:txBody>
      </p:sp>
      <p:pic>
        <p:nvPicPr>
          <p:cNvPr id="7" name="a1f_v168" descr="080871519f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234440"/>
            <a:ext cx="1188720" cy="752856"/>
          </a:xfrm>
          <a:prstGeom prst="rect">
            <a:avLst/>
          </a:prstGeom>
        </p:spPr>
      </p:pic>
      <p:sp>
        <p:nvSpPr>
          <p:cNvPr id="8" name="a1f_t169"/>
          <p:cNvSpPr txBox="1"/>
          <p:nvPr/>
        </p:nvSpPr>
        <p:spPr>
          <a:xfrm>
            <a:off x="5349240" y="12527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data</a:t>
            </a:r>
            <a:endParaRPr lang="en-US" dirty="0" sz="1500"/>
          </a:p>
          <a:p>
            <a:pPr marL="0" indent="0">
              <a:buNone/>
            </a:pPr>
            <a:r>
              <a:rPr sz="12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found in both A and B (the overlap)</a:t>
            </a:r>
            <a:endParaRPr lang="en-US" dirty="0" sz="1500"/>
          </a:p>
        </p:txBody>
      </p:sp>
      <p:pic>
        <p:nvPicPr>
          <p:cNvPr id="9" name="a2f_v170" descr="b9b2efc24d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103120"/>
            <a:ext cx="1188720" cy="752856"/>
          </a:xfrm>
          <a:prstGeom prst="rect">
            <a:avLst/>
          </a:prstGeom>
        </p:spPr>
      </p:pic>
      <p:sp>
        <p:nvSpPr>
          <p:cNvPr id="10" name="a2f_t171"/>
          <p:cNvSpPr txBox="1"/>
          <p:nvPr/>
        </p:nvSpPr>
        <p:spPr>
          <a:xfrm>
            <a:off x="5349240" y="21214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of one table</a:t>
            </a:r>
            <a:endParaRPr lang="en-US" dirty="0" sz="1500"/>
          </a:p>
          <a:p>
            <a:pPr marL="0" indent="0">
              <a:buNone/>
            </a:pPr>
            <a:r>
              <a:rPr sz="12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circle, matched or not</a:t>
            </a:r>
            <a:endParaRPr lang="en-US" dirty="0" sz="1500"/>
          </a:p>
        </p:txBody>
      </p:sp>
      <p:pic>
        <p:nvPicPr>
          <p:cNvPr id="11" name="a3f_v172" descr="678de5af87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2971800"/>
            <a:ext cx="1188720" cy="752856"/>
          </a:xfrm>
          <a:prstGeom prst="rect">
            <a:avLst/>
          </a:prstGeom>
        </p:spPr>
      </p:pic>
      <p:sp>
        <p:nvSpPr>
          <p:cNvPr id="12" name="a3f_t173"/>
          <p:cNvSpPr txBox="1"/>
          <p:nvPr/>
        </p:nvSpPr>
        <p:spPr>
          <a:xfrm>
            <a:off x="5349240" y="29900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unmatching data</a:t>
            </a:r>
            <a:endParaRPr lang="en-US" dirty="0" sz="1500"/>
          </a:p>
          <a:p>
            <a:pPr marL="0" indent="0">
              <a:buNone/>
            </a:pPr>
            <a:r>
              <a:rPr sz="12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one table but missing from the other</a:t>
            </a:r>
            <a:endParaRPr lang="en-US" dirty="0" sz="1500"/>
          </a:p>
        </p:txBody>
      </p:sp>
      <p:sp>
        <p:nvSpPr>
          <p:cNvPr id="13" name="a4u_pill174"/>
          <p:cNvSpPr txBox="1"/>
          <p:nvPr/>
        </p:nvSpPr>
        <p:spPr>
          <a:xfrm>
            <a:off x="457200" y="406908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joins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/ all rows</a:t>
            </a:r>
            <a:endParaRPr lang="en-US" dirty="0" sz="1200"/>
          </a:p>
        </p:txBody>
      </p:sp>
      <p:sp>
        <p:nvSpPr>
          <p:cNvPr id="14" name="a4ud200_pill175"/>
          <p:cNvSpPr txBox="1"/>
          <p:nvPr/>
        </p:nvSpPr>
        <p:spPr>
          <a:xfrm>
            <a:off x="4572000" y="406908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joins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unmatching data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0: No Join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all data from both tables — as two separate results</a:t>
            </a:r>
            <a:endParaRPr lang="en-US" dirty="0" sz="1300"/>
          </a:p>
        </p:txBody>
      </p:sp>
      <p:pic>
        <p:nvPicPr>
          <p:cNvPr id="4" name="Image 0" descr="6327364c9a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291840" cy="2084832"/>
          </a:xfrm>
          <a:prstGeom prst="rect">
            <a:avLst/>
          </a:prstGeom>
        </p:spPr>
      </p:pic>
      <p:sp>
        <p:nvSpPr>
          <p:cNvPr id="5" name="a1f_codebg176"/>
          <p:cNvSpPr/>
          <p:nvPr/>
        </p:nvSpPr>
        <p:spPr>
          <a:xfrm>
            <a:off x="457200" y="3429000"/>
            <a:ext cx="374904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a1wd0_code177"/>
          <p:cNvSpPr txBox="1"/>
          <p:nvPr/>
        </p:nvSpPr>
        <p:spPr>
          <a:xfrm>
            <a:off x="640080" y="3566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300"/>
          </a:p>
        </p:txBody>
      </p:sp>
      <p:sp>
        <p:nvSpPr>
          <p:cNvPr id="7" name="a1wd250_code178"/>
          <p:cNvSpPr txBox="1"/>
          <p:nvPr/>
        </p:nvSpPr>
        <p:spPr>
          <a:xfrm>
            <a:off x="640080" y="3840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300"/>
          </a:p>
        </p:txBody>
      </p:sp>
      <p:sp>
        <p:nvSpPr>
          <p:cNvPr id="8" name="Text 5"/>
          <p:cNvSpPr txBox="1"/>
          <p:nvPr/>
        </p:nvSpPr>
        <p:spPr>
          <a:xfrm>
            <a:off x="457200" y="4297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data from customers and orders in two different results.</a:t>
            </a:r>
            <a:endParaRPr lang="en-US" dirty="0" sz="1200"/>
          </a:p>
        </p:txBody>
      </p:sp>
      <p:sp>
        <p:nvSpPr>
          <p:cNvPr id="9" name="a2f_l179"/>
          <p:cNvSpPr txBox="1"/>
          <p:nvPr/>
        </p:nvSpPr>
        <p:spPr>
          <a:xfrm>
            <a:off x="457200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customers</a:t>
            </a:r>
            <a:endParaRPr lang="en-US" dirty="0" sz="1200"/>
          </a:p>
        </p:txBody>
      </p:sp>
      <p:sp>
        <p:nvSpPr>
          <p:cNvPr id="10" name="a2w_cell180"/>
          <p:cNvSpPr txBox="1"/>
          <p:nvPr/>
        </p:nvSpPr>
        <p:spPr>
          <a:xfrm>
            <a:off x="4572000" y="1417320"/>
            <a:ext cx="411480" cy="24688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000"/>
          </a:p>
        </p:txBody>
      </p:sp>
      <p:sp>
        <p:nvSpPr>
          <p:cNvPr id="11" name="a2w_cell181"/>
          <p:cNvSpPr txBox="1"/>
          <p:nvPr/>
        </p:nvSpPr>
        <p:spPr>
          <a:xfrm>
            <a:off x="4572000" y="1664208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000"/>
          </a:p>
        </p:txBody>
      </p:sp>
      <p:sp>
        <p:nvSpPr>
          <p:cNvPr id="12" name="a2w_cell182"/>
          <p:cNvSpPr txBox="1"/>
          <p:nvPr/>
        </p:nvSpPr>
        <p:spPr>
          <a:xfrm>
            <a:off x="4572000" y="1911096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000"/>
          </a:p>
        </p:txBody>
      </p:sp>
      <p:sp>
        <p:nvSpPr>
          <p:cNvPr id="13" name="a2w_cell183"/>
          <p:cNvSpPr txBox="1"/>
          <p:nvPr/>
        </p:nvSpPr>
        <p:spPr>
          <a:xfrm>
            <a:off x="4572000" y="2157984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000"/>
          </a:p>
        </p:txBody>
      </p:sp>
      <p:sp>
        <p:nvSpPr>
          <p:cNvPr id="14" name="a2w_cell184"/>
          <p:cNvSpPr txBox="1"/>
          <p:nvPr/>
        </p:nvSpPr>
        <p:spPr>
          <a:xfrm>
            <a:off x="4572000" y="2404872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000"/>
          </a:p>
        </p:txBody>
      </p:sp>
      <p:sp>
        <p:nvSpPr>
          <p:cNvPr id="15" name="a2w_cell185"/>
          <p:cNvSpPr txBox="1"/>
          <p:nvPr/>
        </p:nvSpPr>
        <p:spPr>
          <a:xfrm>
            <a:off x="4572000" y="2651760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000"/>
          </a:p>
        </p:txBody>
      </p:sp>
      <p:sp>
        <p:nvSpPr>
          <p:cNvPr id="16" name="a2w_cell186"/>
          <p:cNvSpPr txBox="1"/>
          <p:nvPr/>
        </p:nvSpPr>
        <p:spPr>
          <a:xfrm>
            <a:off x="4983480" y="1417320"/>
            <a:ext cx="960120" cy="24688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000"/>
          </a:p>
        </p:txBody>
      </p:sp>
      <p:sp>
        <p:nvSpPr>
          <p:cNvPr id="17" name="a2w_cell187"/>
          <p:cNvSpPr txBox="1"/>
          <p:nvPr/>
        </p:nvSpPr>
        <p:spPr>
          <a:xfrm>
            <a:off x="4983480" y="1664208"/>
            <a:ext cx="9601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000"/>
          </a:p>
        </p:txBody>
      </p:sp>
      <p:sp>
        <p:nvSpPr>
          <p:cNvPr id="18" name="a2w_cell188"/>
          <p:cNvSpPr txBox="1"/>
          <p:nvPr/>
        </p:nvSpPr>
        <p:spPr>
          <a:xfrm>
            <a:off x="4983480" y="1911096"/>
            <a:ext cx="9601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000"/>
          </a:p>
        </p:txBody>
      </p:sp>
      <p:sp>
        <p:nvSpPr>
          <p:cNvPr id="19" name="a2w_cell189"/>
          <p:cNvSpPr txBox="1"/>
          <p:nvPr/>
        </p:nvSpPr>
        <p:spPr>
          <a:xfrm>
            <a:off x="4983480" y="2157984"/>
            <a:ext cx="9601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000"/>
          </a:p>
        </p:txBody>
      </p:sp>
      <p:sp>
        <p:nvSpPr>
          <p:cNvPr id="20" name="a2w_cell190"/>
          <p:cNvSpPr txBox="1"/>
          <p:nvPr/>
        </p:nvSpPr>
        <p:spPr>
          <a:xfrm>
            <a:off x="4983480" y="2404872"/>
            <a:ext cx="9601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000"/>
          </a:p>
        </p:txBody>
      </p:sp>
      <p:sp>
        <p:nvSpPr>
          <p:cNvPr id="21" name="a2w_cell191"/>
          <p:cNvSpPr txBox="1"/>
          <p:nvPr/>
        </p:nvSpPr>
        <p:spPr>
          <a:xfrm>
            <a:off x="4983480" y="2651760"/>
            <a:ext cx="9601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000"/>
          </a:p>
        </p:txBody>
      </p:sp>
      <p:sp>
        <p:nvSpPr>
          <p:cNvPr id="22" name="a2w_cell192"/>
          <p:cNvSpPr txBox="1"/>
          <p:nvPr/>
        </p:nvSpPr>
        <p:spPr>
          <a:xfrm>
            <a:off x="5943600" y="1417320"/>
            <a:ext cx="868680" cy="24688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dirty="0" sz="1000"/>
          </a:p>
        </p:txBody>
      </p:sp>
      <p:sp>
        <p:nvSpPr>
          <p:cNvPr id="23" name="a2w_cell193"/>
          <p:cNvSpPr txBox="1"/>
          <p:nvPr/>
        </p:nvSpPr>
        <p:spPr>
          <a:xfrm>
            <a:off x="5943600" y="1664208"/>
            <a:ext cx="8686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dirty="0" sz="1000"/>
          </a:p>
        </p:txBody>
      </p:sp>
      <p:sp>
        <p:nvSpPr>
          <p:cNvPr id="24" name="a2w_cell194"/>
          <p:cNvSpPr txBox="1"/>
          <p:nvPr/>
        </p:nvSpPr>
        <p:spPr>
          <a:xfrm>
            <a:off x="5943600" y="1911096"/>
            <a:ext cx="8686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dirty="0" sz="1000"/>
          </a:p>
        </p:txBody>
      </p:sp>
      <p:sp>
        <p:nvSpPr>
          <p:cNvPr id="25" name="a2w_cell195"/>
          <p:cNvSpPr txBox="1"/>
          <p:nvPr/>
        </p:nvSpPr>
        <p:spPr>
          <a:xfrm>
            <a:off x="5943600" y="2157984"/>
            <a:ext cx="8686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dirty="0" sz="1000"/>
          </a:p>
        </p:txBody>
      </p:sp>
      <p:sp>
        <p:nvSpPr>
          <p:cNvPr id="26" name="a2w_cell196"/>
          <p:cNvSpPr txBox="1"/>
          <p:nvPr/>
        </p:nvSpPr>
        <p:spPr>
          <a:xfrm>
            <a:off x="5943600" y="2404872"/>
            <a:ext cx="8686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dirty="0" sz="1000"/>
          </a:p>
        </p:txBody>
      </p:sp>
      <p:sp>
        <p:nvSpPr>
          <p:cNvPr id="27" name="a2w_cell197"/>
          <p:cNvSpPr txBox="1"/>
          <p:nvPr/>
        </p:nvSpPr>
        <p:spPr>
          <a:xfrm>
            <a:off x="5943600" y="2651760"/>
            <a:ext cx="8686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dirty="0" sz="1000"/>
          </a:p>
        </p:txBody>
      </p:sp>
      <p:sp>
        <p:nvSpPr>
          <p:cNvPr id="28" name="a2w_cell198"/>
          <p:cNvSpPr txBox="1"/>
          <p:nvPr/>
        </p:nvSpPr>
        <p:spPr>
          <a:xfrm>
            <a:off x="6812280" y="1417320"/>
            <a:ext cx="594360" cy="24688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dirty="0" sz="1000"/>
          </a:p>
        </p:txBody>
      </p:sp>
      <p:sp>
        <p:nvSpPr>
          <p:cNvPr id="29" name="a2w_cell199"/>
          <p:cNvSpPr txBox="1"/>
          <p:nvPr/>
        </p:nvSpPr>
        <p:spPr>
          <a:xfrm>
            <a:off x="6812280" y="1664208"/>
            <a:ext cx="594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dirty="0" sz="1000"/>
          </a:p>
        </p:txBody>
      </p:sp>
      <p:sp>
        <p:nvSpPr>
          <p:cNvPr id="30" name="a2w_cell200"/>
          <p:cNvSpPr txBox="1"/>
          <p:nvPr/>
        </p:nvSpPr>
        <p:spPr>
          <a:xfrm>
            <a:off x="6812280" y="1911096"/>
            <a:ext cx="594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dirty="0" sz="1000"/>
          </a:p>
        </p:txBody>
      </p:sp>
      <p:sp>
        <p:nvSpPr>
          <p:cNvPr id="31" name="a2w_cell201"/>
          <p:cNvSpPr txBox="1"/>
          <p:nvPr/>
        </p:nvSpPr>
        <p:spPr>
          <a:xfrm>
            <a:off x="6812280" y="2157984"/>
            <a:ext cx="594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</a:t>
            </a:r>
            <a:endParaRPr lang="en-US" dirty="0" sz="1000"/>
          </a:p>
        </p:txBody>
      </p:sp>
      <p:sp>
        <p:nvSpPr>
          <p:cNvPr id="32" name="a2w_cell202"/>
          <p:cNvSpPr txBox="1"/>
          <p:nvPr/>
        </p:nvSpPr>
        <p:spPr>
          <a:xfrm>
            <a:off x="6812280" y="2404872"/>
            <a:ext cx="594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dirty="0" sz="1000"/>
          </a:p>
        </p:txBody>
      </p:sp>
      <p:sp>
        <p:nvSpPr>
          <p:cNvPr id="33" name="a2w_cell203"/>
          <p:cNvSpPr txBox="1"/>
          <p:nvPr/>
        </p:nvSpPr>
        <p:spPr>
          <a:xfrm>
            <a:off x="6812280" y="2651760"/>
            <a:ext cx="594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dirty="0" sz="1000"/>
          </a:p>
        </p:txBody>
      </p:sp>
      <p:sp>
        <p:nvSpPr>
          <p:cNvPr id="34" name="a3f_l204"/>
          <p:cNvSpPr txBox="1"/>
          <p:nvPr/>
        </p:nvSpPr>
        <p:spPr>
          <a:xfrm>
            <a:off x="4572000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orders</a:t>
            </a:r>
            <a:endParaRPr lang="en-US" dirty="0" sz="1200"/>
          </a:p>
        </p:txBody>
      </p:sp>
      <p:sp>
        <p:nvSpPr>
          <p:cNvPr id="35" name="a3w_cell205"/>
          <p:cNvSpPr txBox="1"/>
          <p:nvPr/>
        </p:nvSpPr>
        <p:spPr>
          <a:xfrm>
            <a:off x="4572000" y="3291840"/>
            <a:ext cx="731520" cy="246888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000"/>
          </a:p>
        </p:txBody>
      </p:sp>
      <p:sp>
        <p:nvSpPr>
          <p:cNvPr id="36" name="a3w_cell206"/>
          <p:cNvSpPr txBox="1"/>
          <p:nvPr/>
        </p:nvSpPr>
        <p:spPr>
          <a:xfrm>
            <a:off x="4572000" y="3538728"/>
            <a:ext cx="7315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000"/>
          </a:p>
        </p:txBody>
      </p:sp>
      <p:sp>
        <p:nvSpPr>
          <p:cNvPr id="37" name="a3w_cell207"/>
          <p:cNvSpPr txBox="1"/>
          <p:nvPr/>
        </p:nvSpPr>
        <p:spPr>
          <a:xfrm>
            <a:off x="4572000" y="3785616"/>
            <a:ext cx="7315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000"/>
          </a:p>
        </p:txBody>
      </p:sp>
      <p:sp>
        <p:nvSpPr>
          <p:cNvPr id="38" name="a3w_cell208"/>
          <p:cNvSpPr txBox="1"/>
          <p:nvPr/>
        </p:nvSpPr>
        <p:spPr>
          <a:xfrm>
            <a:off x="4572000" y="4032504"/>
            <a:ext cx="7315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000"/>
          </a:p>
        </p:txBody>
      </p:sp>
      <p:sp>
        <p:nvSpPr>
          <p:cNvPr id="39" name="a3w_cell209"/>
          <p:cNvSpPr txBox="1"/>
          <p:nvPr/>
        </p:nvSpPr>
        <p:spPr>
          <a:xfrm>
            <a:off x="4572000" y="4279392"/>
            <a:ext cx="7315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dirty="0" sz="1000"/>
          </a:p>
        </p:txBody>
      </p:sp>
      <p:sp>
        <p:nvSpPr>
          <p:cNvPr id="40" name="a3w_cell210"/>
          <p:cNvSpPr txBox="1"/>
          <p:nvPr/>
        </p:nvSpPr>
        <p:spPr>
          <a:xfrm>
            <a:off x="5303520" y="3291840"/>
            <a:ext cx="914400" cy="246888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dirty="0" sz="1000"/>
          </a:p>
        </p:txBody>
      </p:sp>
      <p:sp>
        <p:nvSpPr>
          <p:cNvPr id="41" name="a3w_cell211"/>
          <p:cNvSpPr txBox="1"/>
          <p:nvPr/>
        </p:nvSpPr>
        <p:spPr>
          <a:xfrm>
            <a:off x="5303520" y="3538728"/>
            <a:ext cx="91440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000"/>
          </a:p>
        </p:txBody>
      </p:sp>
      <p:sp>
        <p:nvSpPr>
          <p:cNvPr id="42" name="a3w_cell212"/>
          <p:cNvSpPr txBox="1"/>
          <p:nvPr/>
        </p:nvSpPr>
        <p:spPr>
          <a:xfrm>
            <a:off x="5303520" y="3785616"/>
            <a:ext cx="91440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000"/>
          </a:p>
        </p:txBody>
      </p:sp>
      <p:sp>
        <p:nvSpPr>
          <p:cNvPr id="43" name="a3w_cell213"/>
          <p:cNvSpPr txBox="1"/>
          <p:nvPr/>
        </p:nvSpPr>
        <p:spPr>
          <a:xfrm>
            <a:off x="5303520" y="4032504"/>
            <a:ext cx="91440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000"/>
          </a:p>
        </p:txBody>
      </p:sp>
      <p:sp>
        <p:nvSpPr>
          <p:cNvPr id="44" name="a3w_cell214"/>
          <p:cNvSpPr txBox="1"/>
          <p:nvPr/>
        </p:nvSpPr>
        <p:spPr>
          <a:xfrm>
            <a:off x="5303520" y="4279392"/>
            <a:ext cx="91440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 sz="1000"/>
          </a:p>
        </p:txBody>
      </p:sp>
      <p:sp>
        <p:nvSpPr>
          <p:cNvPr id="45" name="a3w_cell215"/>
          <p:cNvSpPr txBox="1"/>
          <p:nvPr/>
        </p:nvSpPr>
        <p:spPr>
          <a:xfrm>
            <a:off x="6217920" y="3291840"/>
            <a:ext cx="1005840" cy="246888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dirty="0" sz="1000"/>
          </a:p>
        </p:txBody>
      </p:sp>
      <p:sp>
        <p:nvSpPr>
          <p:cNvPr id="46" name="a3w_cell216"/>
          <p:cNvSpPr txBox="1"/>
          <p:nvPr/>
        </p:nvSpPr>
        <p:spPr>
          <a:xfrm>
            <a:off x="6217920" y="3538728"/>
            <a:ext cx="10058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2021-01-11</a:t>
            </a:r>
            <a:endParaRPr lang="en-US" dirty="0" sz="1000"/>
          </a:p>
        </p:txBody>
      </p:sp>
      <p:sp>
        <p:nvSpPr>
          <p:cNvPr id="47" name="a3w_cell217"/>
          <p:cNvSpPr txBox="1"/>
          <p:nvPr/>
        </p:nvSpPr>
        <p:spPr>
          <a:xfrm>
            <a:off x="6217920" y="3785616"/>
            <a:ext cx="10058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2021-04-05</a:t>
            </a:r>
            <a:endParaRPr lang="en-US" dirty="0" sz="1000"/>
          </a:p>
        </p:txBody>
      </p:sp>
      <p:sp>
        <p:nvSpPr>
          <p:cNvPr id="48" name="a3w_cell218"/>
          <p:cNvSpPr txBox="1"/>
          <p:nvPr/>
        </p:nvSpPr>
        <p:spPr>
          <a:xfrm>
            <a:off x="6217920" y="4032504"/>
            <a:ext cx="10058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2021-06-18</a:t>
            </a:r>
            <a:endParaRPr lang="en-US" dirty="0" sz="1000"/>
          </a:p>
        </p:txBody>
      </p:sp>
      <p:sp>
        <p:nvSpPr>
          <p:cNvPr id="49" name="a3w_cell219"/>
          <p:cNvSpPr txBox="1"/>
          <p:nvPr/>
        </p:nvSpPr>
        <p:spPr>
          <a:xfrm>
            <a:off x="6217920" y="4279392"/>
            <a:ext cx="10058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2021-08-31</a:t>
            </a:r>
            <a:endParaRPr lang="en-US" dirty="0" sz="1000"/>
          </a:p>
        </p:txBody>
      </p:sp>
      <p:sp>
        <p:nvSpPr>
          <p:cNvPr id="50" name="a3w_cell220"/>
          <p:cNvSpPr txBox="1"/>
          <p:nvPr/>
        </p:nvSpPr>
        <p:spPr>
          <a:xfrm>
            <a:off x="7223760" y="3291840"/>
            <a:ext cx="548640" cy="246888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000"/>
          </a:p>
        </p:txBody>
      </p:sp>
      <p:sp>
        <p:nvSpPr>
          <p:cNvPr id="51" name="a3w_cell221"/>
          <p:cNvSpPr txBox="1"/>
          <p:nvPr/>
        </p:nvSpPr>
        <p:spPr>
          <a:xfrm>
            <a:off x="7223760" y="3538728"/>
            <a:ext cx="5486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000"/>
          </a:p>
        </p:txBody>
      </p:sp>
      <p:sp>
        <p:nvSpPr>
          <p:cNvPr id="52" name="a3w_cell222"/>
          <p:cNvSpPr txBox="1"/>
          <p:nvPr/>
        </p:nvSpPr>
        <p:spPr>
          <a:xfrm>
            <a:off x="7223760" y="3785616"/>
            <a:ext cx="5486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000"/>
          </a:p>
        </p:txBody>
      </p:sp>
      <p:sp>
        <p:nvSpPr>
          <p:cNvPr id="53" name="a3w_cell223"/>
          <p:cNvSpPr txBox="1"/>
          <p:nvPr/>
        </p:nvSpPr>
        <p:spPr>
          <a:xfrm>
            <a:off x="7223760" y="4032504"/>
            <a:ext cx="5486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000"/>
          </a:p>
        </p:txBody>
      </p:sp>
      <p:sp>
        <p:nvSpPr>
          <p:cNvPr id="54" name="a3w_cell224"/>
          <p:cNvSpPr txBox="1"/>
          <p:nvPr/>
        </p:nvSpPr>
        <p:spPr>
          <a:xfrm>
            <a:off x="7223760" y="4279392"/>
            <a:ext cx="5486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 sz="10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225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 sz="6000"/>
          </a:p>
        </p:txBody>
      </p:sp>
      <p:sp>
        <p:nvSpPr>
          <p:cNvPr id="3" name="a0ud200_h226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dirty="0" sz="4400"/>
          </a:p>
        </p:txBody>
      </p:sp>
      <p:sp>
        <p:nvSpPr>
          <p:cNvPr id="4" name="a0fd450_t227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matching rows from both tables</a:t>
            </a:r>
            <a:endParaRPr lang="en-US" dirty="0" sz="1700"/>
          </a:p>
        </p:txBody>
      </p:sp>
      <p:pic>
        <p:nvPicPr>
          <p:cNvPr id="5" name="a0fd300_v228" descr="219ee9bd1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The Concept</a:t>
            </a:r>
            <a:endParaRPr lang="en-US" dirty="0" sz="2800"/>
          </a:p>
        </p:txBody>
      </p:sp>
      <p:pic>
        <p:nvPicPr>
          <p:cNvPr id="3" name="Image 0" descr="080871519f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3108960" cy="1969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table</a:t>
            </a:r>
            <a:endParaRPr lang="en-US" dirty="0" sz="1100"/>
          </a:p>
        </p:txBody>
      </p:sp>
      <p:sp>
        <p:nvSpPr>
          <p:cNvPr id="5" name="Text 2"/>
          <p:cNvSpPr txBox="1"/>
          <p:nvPr/>
        </p:nvSpPr>
        <p:spPr>
          <a:xfrm>
            <a:off x="210312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table</a:t>
            </a:r>
            <a:endParaRPr lang="en-US" dirty="0" sz="1100"/>
          </a:p>
        </p:txBody>
      </p:sp>
      <p:sp>
        <p:nvSpPr>
          <p:cNvPr id="6" name="a1u_pill229"/>
          <p:cNvSpPr txBox="1"/>
          <p:nvPr/>
        </p:nvSpPr>
        <p:spPr>
          <a:xfrm>
            <a:off x="457200" y="333756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rows</a:t>
            </a:r>
            <a:endParaRPr lang="en-US" dirty="0" sz="1200"/>
          </a:p>
        </p:txBody>
      </p:sp>
      <p:sp>
        <p:nvSpPr>
          <p:cNvPr id="7" name="a2u_pill230"/>
          <p:cNvSpPr txBox="1"/>
          <p:nvPr/>
        </p:nvSpPr>
        <p:spPr>
          <a:xfrm>
            <a:off x="457200" y="388620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rows</a:t>
            </a:r>
            <a:endParaRPr lang="en-US" dirty="0" sz="1200"/>
          </a:p>
        </p:txBody>
      </p:sp>
      <p:sp>
        <p:nvSpPr>
          <p:cNvPr id="8" name="Text 5"/>
          <p:cNvSpPr txBox="1"/>
          <p:nvPr/>
        </p:nvSpPr>
        <p:spPr>
          <a:xfrm>
            <a:off x="4023360" y="960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the rows that match in both tables.</a:t>
            </a:r>
            <a:endParaRPr lang="en-US" dirty="0" sz="1600"/>
          </a:p>
        </p:txBody>
      </p:sp>
      <p:sp>
        <p:nvSpPr>
          <p:cNvPr id="9" name="a3f_codebg231"/>
          <p:cNvSpPr/>
          <p:nvPr/>
        </p:nvSpPr>
        <p:spPr>
          <a:xfrm>
            <a:off x="4023360" y="169164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a3f_codelbl232"/>
          <p:cNvSpPr txBox="1"/>
          <p:nvPr/>
        </p:nvSpPr>
        <p:spPr>
          <a:xfrm>
            <a:off x="7223760" y="1737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900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dirty="0" sz="900"/>
          </a:p>
        </p:txBody>
      </p:sp>
      <p:sp>
        <p:nvSpPr>
          <p:cNvPr id="11" name="a3wd0_code233"/>
          <p:cNvSpPr txBox="1"/>
          <p:nvPr/>
        </p:nvSpPr>
        <p:spPr>
          <a:xfrm>
            <a:off x="4206240" y="18288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300"/>
          </a:p>
        </p:txBody>
      </p:sp>
      <p:sp>
        <p:nvSpPr>
          <p:cNvPr id="12" name="a3wd350_code234"/>
          <p:cNvSpPr txBox="1"/>
          <p:nvPr/>
        </p:nvSpPr>
        <p:spPr>
          <a:xfrm>
            <a:off x="4206240" y="21031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dirty="0" sz="1300"/>
          </a:p>
        </p:txBody>
      </p:sp>
      <p:sp>
        <p:nvSpPr>
          <p:cNvPr id="13" name="a3wd700_code235"/>
          <p:cNvSpPr txBox="1"/>
          <p:nvPr/>
        </p:nvSpPr>
        <p:spPr>
          <a:xfrm>
            <a:off x="4206240" y="2377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dirty="0" sz="1300"/>
          </a:p>
        </p:txBody>
      </p:sp>
      <p:sp>
        <p:nvSpPr>
          <p:cNvPr id="14" name="a3wd1050_code236"/>
          <p:cNvSpPr txBox="1"/>
          <p:nvPr/>
        </p:nvSpPr>
        <p:spPr>
          <a:xfrm>
            <a:off x="4206240" y="26517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dirty="0" sz="1300"/>
          </a:p>
        </p:txBody>
      </p:sp>
      <p:sp>
        <p:nvSpPr>
          <p:cNvPr id="15" name="a4f_cb237"/>
          <p:cNvSpPr/>
          <p:nvPr/>
        </p:nvSpPr>
        <p:spPr>
          <a:xfrm>
            <a:off x="4023360" y="32004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a4f_ct238"/>
          <p:cNvSpPr txBox="1"/>
          <p:nvPr/>
        </p:nvSpPr>
        <p:spPr>
          <a:xfrm>
            <a:off x="4206240" y="32004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doesn't matter: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B = B JOIN A.  Plain JOIN defaults to INNER — still write INNER for clarity.</a:t>
            </a:r>
            <a:endParaRPr lang="en-US" dirty="0" sz="1200"/>
          </a:p>
        </p:txBody>
      </p:sp>
      <p:sp>
        <p:nvSpPr>
          <p:cNvPr id="17" name="a5f_u239"/>
          <p:cNvSpPr txBox="1"/>
          <p:nvPr/>
        </p:nvSpPr>
        <p:spPr>
          <a:xfrm>
            <a:off x="402336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to:</a:t>
            </a:r>
            <a:endParaRPr lang="en-US" dirty="0" sz="1200"/>
          </a:p>
        </p:txBody>
      </p:sp>
      <p:sp>
        <p:nvSpPr>
          <p:cNvPr id="18" name="a5ud0_chip240"/>
          <p:cNvSpPr txBox="1"/>
          <p:nvPr/>
        </p:nvSpPr>
        <p:spPr>
          <a:xfrm>
            <a:off x="489204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</a:t>
            </a:r>
            <a:endParaRPr lang="en-US" dirty="0" sz="1100"/>
          </a:p>
        </p:txBody>
      </p:sp>
      <p:sp>
        <p:nvSpPr>
          <p:cNvPr id="19" name="a5ud150_chip241"/>
          <p:cNvSpPr txBox="1"/>
          <p:nvPr/>
        </p:nvSpPr>
        <p:spPr>
          <a:xfrm>
            <a:off x="608076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dirty="0" sz="1100"/>
          </a:p>
        </p:txBody>
      </p:sp>
      <p:sp>
        <p:nvSpPr>
          <p:cNvPr id="20" name="a5ud300_chip242"/>
          <p:cNvSpPr txBox="1"/>
          <p:nvPr/>
        </p:nvSpPr>
        <p:spPr>
          <a:xfrm>
            <a:off x="7269480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existence</a:t>
            </a:r>
            <a:endParaRPr lang="en-US" dirty="0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In Practice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customers along with their orders, but only for customers who have placed an order.</a:t>
            </a:r>
            <a:endParaRPr lang="en-US" dirty="0" sz="1400"/>
          </a:p>
        </p:txBody>
      </p:sp>
      <p:sp>
        <p:nvSpPr>
          <p:cNvPr id="4" name="a1f_codebg243"/>
          <p:cNvSpPr/>
          <p:nvPr/>
        </p:nvSpPr>
        <p:spPr>
          <a:xfrm>
            <a:off x="457200" y="1645920"/>
            <a:ext cx="3840480" cy="2322576"/>
          </a:xfrm>
          <a:prstGeom prst="roundRect">
            <a:avLst>
              <a:gd name="adj" fmla="val 31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1wd0_code244"/>
          <p:cNvSpPr txBox="1"/>
          <p:nvPr/>
        </p:nvSpPr>
        <p:spPr>
          <a:xfrm>
            <a:off x="640080" y="17830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200"/>
          </a:p>
        </p:txBody>
      </p:sp>
      <p:sp>
        <p:nvSpPr>
          <p:cNvPr id="6" name="a1wd150_code245"/>
          <p:cNvSpPr txBox="1"/>
          <p:nvPr/>
        </p:nvSpPr>
        <p:spPr>
          <a:xfrm>
            <a:off x="640080" y="2039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7" name="a1wd300_code246"/>
          <p:cNvSpPr txBox="1"/>
          <p:nvPr/>
        </p:nvSpPr>
        <p:spPr>
          <a:xfrm>
            <a:off x="640080" y="2295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8" name="a1wd450_code247"/>
          <p:cNvSpPr txBox="1"/>
          <p:nvPr/>
        </p:nvSpPr>
        <p:spPr>
          <a:xfrm>
            <a:off x="640080" y="2551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9" name="a1wd600_code248"/>
          <p:cNvSpPr txBox="1"/>
          <p:nvPr/>
        </p:nvSpPr>
        <p:spPr>
          <a:xfrm>
            <a:off x="640080" y="2807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200"/>
          </a:p>
        </p:txBody>
      </p:sp>
      <p:sp>
        <p:nvSpPr>
          <p:cNvPr id="10" name="a1wd750_code249"/>
          <p:cNvSpPr txBox="1"/>
          <p:nvPr/>
        </p:nvSpPr>
        <p:spPr>
          <a:xfrm>
            <a:off x="640080" y="3063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11" name="a1wd900_code250"/>
          <p:cNvSpPr txBox="1"/>
          <p:nvPr/>
        </p:nvSpPr>
        <p:spPr>
          <a:xfrm>
            <a:off x="640080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2" name="a1wd1050_code251"/>
          <p:cNvSpPr txBox="1"/>
          <p:nvPr/>
        </p:nvSpPr>
        <p:spPr>
          <a:xfrm>
            <a:off x="640080" y="35753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3" name="a2f_l252"/>
          <p:cNvSpPr txBox="1"/>
          <p:nvPr/>
        </p:nvSpPr>
        <p:spPr>
          <a:xfrm>
            <a:off x="466344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200"/>
          </a:p>
        </p:txBody>
      </p:sp>
      <p:sp>
        <p:nvSpPr>
          <p:cNvPr id="14" name="a2f_cell253"/>
          <p:cNvSpPr txBox="1"/>
          <p:nvPr/>
        </p:nvSpPr>
        <p:spPr>
          <a:xfrm>
            <a:off x="4663440" y="1920240"/>
            <a:ext cx="54864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15" name="a2wd200_cell254"/>
          <p:cNvSpPr txBox="1"/>
          <p:nvPr/>
        </p:nvSpPr>
        <p:spPr>
          <a:xfrm>
            <a:off x="4663440" y="21945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6" name="a2wd400_cell255"/>
          <p:cNvSpPr txBox="1"/>
          <p:nvPr/>
        </p:nvSpPr>
        <p:spPr>
          <a:xfrm>
            <a:off x="4663440" y="246888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17" name="a2wd600_cell256"/>
          <p:cNvSpPr txBox="1"/>
          <p:nvPr/>
        </p:nvSpPr>
        <p:spPr>
          <a:xfrm>
            <a:off x="4663440" y="274320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18" name="a2f_cell257"/>
          <p:cNvSpPr txBox="1"/>
          <p:nvPr/>
        </p:nvSpPr>
        <p:spPr>
          <a:xfrm>
            <a:off x="5212080" y="1920240"/>
            <a:ext cx="10972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19" name="a2wd200_cell258"/>
          <p:cNvSpPr txBox="1"/>
          <p:nvPr/>
        </p:nvSpPr>
        <p:spPr>
          <a:xfrm>
            <a:off x="5212080" y="219456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20" name="a2wd400_cell259"/>
          <p:cNvSpPr txBox="1"/>
          <p:nvPr/>
        </p:nvSpPr>
        <p:spPr>
          <a:xfrm>
            <a:off x="5212080" y="24688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21" name="a2wd600_cell260"/>
          <p:cNvSpPr txBox="1"/>
          <p:nvPr/>
        </p:nvSpPr>
        <p:spPr>
          <a:xfrm>
            <a:off x="5212080" y="274320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22" name="a2f_cell261"/>
          <p:cNvSpPr txBox="1"/>
          <p:nvPr/>
        </p:nvSpPr>
        <p:spPr>
          <a:xfrm>
            <a:off x="6309360" y="1920240"/>
            <a:ext cx="91440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23" name="a2wd200_cell262"/>
          <p:cNvSpPr txBox="1"/>
          <p:nvPr/>
        </p:nvSpPr>
        <p:spPr>
          <a:xfrm>
            <a:off x="6309360" y="21945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24" name="a2wd400_cell263"/>
          <p:cNvSpPr txBox="1"/>
          <p:nvPr/>
        </p:nvSpPr>
        <p:spPr>
          <a:xfrm>
            <a:off x="6309360" y="24688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25" name="a2wd600_cell264"/>
          <p:cNvSpPr txBox="1"/>
          <p:nvPr/>
        </p:nvSpPr>
        <p:spPr>
          <a:xfrm>
            <a:off x="6309360" y="27432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26" name="a2f_cell265"/>
          <p:cNvSpPr txBox="1"/>
          <p:nvPr/>
        </p:nvSpPr>
        <p:spPr>
          <a:xfrm>
            <a:off x="7223760" y="1920240"/>
            <a:ext cx="73152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27" name="a2wd200_cell266"/>
          <p:cNvSpPr txBox="1"/>
          <p:nvPr/>
        </p:nvSpPr>
        <p:spPr>
          <a:xfrm>
            <a:off x="7223760" y="219456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28" name="a2wd400_cell267"/>
          <p:cNvSpPr txBox="1"/>
          <p:nvPr/>
        </p:nvSpPr>
        <p:spPr>
          <a:xfrm>
            <a:off x="7223760" y="246888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29" name="a2wd600_cell268"/>
          <p:cNvSpPr txBox="1"/>
          <p:nvPr/>
        </p:nvSpPr>
        <p:spPr>
          <a:xfrm>
            <a:off x="7223760" y="274320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30" name="a3u_nb269"/>
          <p:cNvSpPr/>
          <p:nvPr/>
        </p:nvSpPr>
        <p:spPr>
          <a:xfrm>
            <a:off x="4663440" y="39776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a3u_ni270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206240"/>
            <a:ext cx="320040" cy="320040"/>
          </a:xfrm>
          <a:prstGeom prst="rect">
            <a:avLst/>
          </a:prstGeom>
        </p:spPr>
      </p:pic>
      <p:sp>
        <p:nvSpPr>
          <p:cNvPr id="32" name="a3u_nt271"/>
          <p:cNvSpPr txBox="1"/>
          <p:nvPr/>
        </p:nvSpPr>
        <p:spPr>
          <a:xfrm>
            <a:off x="5212080" y="39776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customers returned — Martin and Peter have no orders. Swapping the tables gives the same result.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When Joining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readable, error-free join queries</a:t>
            </a:r>
            <a:endParaRPr lang="en-US" dirty="0" sz="1300"/>
          </a:p>
        </p:txBody>
      </p:sp>
      <p:sp>
        <p:nvSpPr>
          <p:cNvPr id="4" name="a1u_c272"/>
          <p:cNvSpPr/>
          <p:nvPr/>
        </p:nvSpPr>
        <p:spPr>
          <a:xfrm>
            <a:off x="457200" y="12344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1u_n273"/>
          <p:cNvSpPr txBox="1"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600"/>
          </a:p>
        </p:txBody>
      </p:sp>
      <p:sp>
        <p:nvSpPr>
          <p:cNvPr id="6" name="a1u_h274"/>
          <p:cNvSpPr txBox="1"/>
          <p:nvPr/>
        </p:nvSpPr>
        <p:spPr>
          <a:xfrm>
            <a:off x="685800" y="1965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needed columns</a:t>
            </a:r>
            <a:endParaRPr lang="en-US" dirty="0" sz="1600"/>
          </a:p>
        </p:txBody>
      </p:sp>
      <p:sp>
        <p:nvSpPr>
          <p:cNvPr id="7" name="a1u_d275"/>
          <p:cNvSpPr txBox="1"/>
          <p:nvPr/>
        </p:nvSpPr>
        <p:spPr>
          <a:xfrm>
            <a:off x="68580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repeats key columns from both tables. Pick the columns that matter.</a:t>
            </a:r>
            <a:endParaRPr lang="en-US" dirty="0" sz="1200"/>
          </a:p>
        </p:txBody>
      </p:sp>
      <p:sp>
        <p:nvSpPr>
          <p:cNvPr id="8" name="a1u_cb276"/>
          <p:cNvSpPr/>
          <p:nvPr/>
        </p:nvSpPr>
        <p:spPr>
          <a:xfrm>
            <a:off x="640080" y="3383280"/>
            <a:ext cx="22402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a1u_cl277"/>
          <p:cNvSpPr txBox="1"/>
          <p:nvPr/>
        </p:nvSpPr>
        <p:spPr>
          <a:xfrm>
            <a:off x="731520" y="3474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100"/>
          </a:p>
        </p:txBody>
      </p:sp>
      <p:sp>
        <p:nvSpPr>
          <p:cNvPr id="10" name="a1u_cl278"/>
          <p:cNvSpPr txBox="1"/>
          <p:nvPr/>
        </p:nvSpPr>
        <p:spPr>
          <a:xfrm>
            <a:off x="731520" y="3767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100"/>
          </a:p>
        </p:txBody>
      </p:sp>
      <p:sp>
        <p:nvSpPr>
          <p:cNvPr id="11" name="a1u_cl279"/>
          <p:cNvSpPr txBox="1"/>
          <p:nvPr/>
        </p:nvSpPr>
        <p:spPr>
          <a:xfrm>
            <a:off x="731520" y="40599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sz="10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000"/>
          </a:p>
        </p:txBody>
      </p:sp>
      <p:sp>
        <p:nvSpPr>
          <p:cNvPr id="12" name="a2u_c280"/>
          <p:cNvSpPr/>
          <p:nvPr/>
        </p:nvSpPr>
        <p:spPr>
          <a:xfrm>
            <a:off x="3246120" y="12344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a2u_n281"/>
          <p:cNvSpPr txBox="1"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600"/>
          </a:p>
        </p:txBody>
      </p:sp>
      <p:sp>
        <p:nvSpPr>
          <p:cNvPr id="14" name="a2u_h282"/>
          <p:cNvSpPr txBox="1"/>
          <p:nvPr/>
        </p:nvSpPr>
        <p:spPr>
          <a:xfrm>
            <a:off x="3474720" y="1965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every column</a:t>
            </a:r>
            <a:endParaRPr lang="en-US" dirty="0" sz="1600"/>
          </a:p>
        </p:txBody>
      </p:sp>
      <p:sp>
        <p:nvSpPr>
          <p:cNvPr id="15" name="a2u_d283"/>
          <p:cNvSpPr txBox="1"/>
          <p:nvPr/>
        </p:nvSpPr>
        <p:spPr>
          <a:xfrm>
            <a:off x="347472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tables have a column called id, SQL throws an ambiguous-column error.</a:t>
            </a:r>
            <a:endParaRPr lang="en-US" dirty="0" sz="1200"/>
          </a:p>
        </p:txBody>
      </p:sp>
      <p:sp>
        <p:nvSpPr>
          <p:cNvPr id="16" name="a2u_cb284"/>
          <p:cNvSpPr/>
          <p:nvPr/>
        </p:nvSpPr>
        <p:spPr>
          <a:xfrm>
            <a:off x="3429000" y="3383280"/>
            <a:ext cx="22402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a2u_cl285"/>
          <p:cNvSpPr txBox="1"/>
          <p:nvPr/>
        </p:nvSpPr>
        <p:spPr>
          <a:xfrm>
            <a:off x="3520440" y="3474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dirty="0" sz="1100"/>
          </a:p>
        </p:txBody>
      </p:sp>
      <p:sp>
        <p:nvSpPr>
          <p:cNvPr id="18" name="a2u_cl286"/>
          <p:cNvSpPr txBox="1"/>
          <p:nvPr/>
        </p:nvSpPr>
        <p:spPr>
          <a:xfrm>
            <a:off x="3520440" y="3767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100"/>
          </a:p>
        </p:txBody>
      </p:sp>
      <p:sp>
        <p:nvSpPr>
          <p:cNvPr id="19" name="a2u_cl287"/>
          <p:cNvSpPr txBox="1"/>
          <p:nvPr/>
        </p:nvSpPr>
        <p:spPr>
          <a:xfrm>
            <a:off x="3520440" y="40599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sz="10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dirty="0" sz="1000"/>
          </a:p>
        </p:txBody>
      </p:sp>
      <p:sp>
        <p:nvSpPr>
          <p:cNvPr id="20" name="a3u_c288"/>
          <p:cNvSpPr/>
          <p:nvPr/>
        </p:nvSpPr>
        <p:spPr>
          <a:xfrm>
            <a:off x="6035040" y="12344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3u_n289"/>
          <p:cNvSpPr txBox="1"/>
          <p:nvPr/>
        </p:nvSpPr>
        <p:spPr>
          <a:xfrm>
            <a:off x="6263640" y="141732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600"/>
          </a:p>
        </p:txBody>
      </p:sp>
      <p:sp>
        <p:nvSpPr>
          <p:cNvPr id="22" name="a3u_h290"/>
          <p:cNvSpPr txBox="1"/>
          <p:nvPr/>
        </p:nvSpPr>
        <p:spPr>
          <a:xfrm>
            <a:off x="6263640" y="1965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short table aliases</a:t>
            </a:r>
            <a:endParaRPr lang="en-US" dirty="0" sz="1600"/>
          </a:p>
        </p:txBody>
      </p:sp>
      <p:sp>
        <p:nvSpPr>
          <p:cNvPr id="23" name="a3u_d291"/>
          <p:cNvSpPr txBox="1"/>
          <p:nvPr/>
        </p:nvSpPr>
        <p:spPr>
          <a:xfrm>
            <a:off x="626364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table names get tedious. Alias once, reuse everywhere.</a:t>
            </a:r>
            <a:endParaRPr lang="en-US" dirty="0" sz="1200"/>
          </a:p>
        </p:txBody>
      </p:sp>
      <p:sp>
        <p:nvSpPr>
          <p:cNvPr id="24" name="a3u_cb292"/>
          <p:cNvSpPr/>
          <p:nvPr/>
        </p:nvSpPr>
        <p:spPr>
          <a:xfrm>
            <a:off x="6217920" y="3383280"/>
            <a:ext cx="22402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a3u_cl293"/>
          <p:cNvSpPr txBox="1"/>
          <p:nvPr/>
        </p:nvSpPr>
        <p:spPr>
          <a:xfrm>
            <a:off x="6309360" y="3474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000"/>
          </a:p>
        </p:txBody>
      </p:sp>
      <p:sp>
        <p:nvSpPr>
          <p:cNvPr id="26" name="a3u_cl294"/>
          <p:cNvSpPr txBox="1"/>
          <p:nvPr/>
        </p:nvSpPr>
        <p:spPr>
          <a:xfrm>
            <a:off x="6309360" y="3767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000"/>
          </a:p>
        </p:txBody>
      </p:sp>
      <p:sp>
        <p:nvSpPr>
          <p:cNvPr id="27" name="a3u_cl295"/>
          <p:cNvSpPr txBox="1"/>
          <p:nvPr/>
        </p:nvSpPr>
        <p:spPr>
          <a:xfrm>
            <a:off x="6309360" y="40599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0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dirty="0" sz="10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INNER JOIN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SQL walks through the rows to build the result</a:t>
            </a:r>
            <a:endParaRPr lang="en-US" dirty="0" sz="130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(left)</a:t>
            </a:r>
            <a:endParaRPr lang="en-US" dirty="0" sz="1200"/>
          </a:p>
        </p:txBody>
      </p:sp>
      <p:sp>
        <p:nvSpPr>
          <p:cNvPr id="5" name="s_cell296"/>
          <p:cNvSpPr txBox="1"/>
          <p:nvPr/>
        </p:nvSpPr>
        <p:spPr>
          <a:xfrm>
            <a:off x="457200" y="1417320"/>
            <a:ext cx="4114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6" name="s_cell297"/>
          <p:cNvSpPr txBox="1"/>
          <p:nvPr/>
        </p:nvSpPr>
        <p:spPr>
          <a:xfrm>
            <a:off x="457200" y="169164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7" name="s_cell298"/>
          <p:cNvSpPr txBox="1"/>
          <p:nvPr/>
        </p:nvSpPr>
        <p:spPr>
          <a:xfrm>
            <a:off x="457200" y="196596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8" name="s_cell299"/>
          <p:cNvSpPr txBox="1"/>
          <p:nvPr/>
        </p:nvSpPr>
        <p:spPr>
          <a:xfrm>
            <a:off x="457200" y="224028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9" name="s_cell300"/>
          <p:cNvSpPr txBox="1"/>
          <p:nvPr/>
        </p:nvSpPr>
        <p:spPr>
          <a:xfrm>
            <a:off x="457200" y="251460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10" name="s_cell301"/>
          <p:cNvSpPr txBox="1"/>
          <p:nvPr/>
        </p:nvSpPr>
        <p:spPr>
          <a:xfrm>
            <a:off x="457200" y="278892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11" name="s_cell302"/>
          <p:cNvSpPr txBox="1"/>
          <p:nvPr/>
        </p:nvSpPr>
        <p:spPr>
          <a:xfrm>
            <a:off x="868680" y="1417320"/>
            <a:ext cx="100584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12" name="s_cell303"/>
          <p:cNvSpPr txBox="1"/>
          <p:nvPr/>
        </p:nvSpPr>
        <p:spPr>
          <a:xfrm>
            <a:off x="868680" y="169164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13" name="s_cell304"/>
          <p:cNvSpPr txBox="1"/>
          <p:nvPr/>
        </p:nvSpPr>
        <p:spPr>
          <a:xfrm>
            <a:off x="868680" y="19659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14" name="s_cell305"/>
          <p:cNvSpPr txBox="1"/>
          <p:nvPr/>
        </p:nvSpPr>
        <p:spPr>
          <a:xfrm>
            <a:off x="868680" y="224028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15" name="s_cell306"/>
          <p:cNvSpPr txBox="1"/>
          <p:nvPr/>
        </p:nvSpPr>
        <p:spPr>
          <a:xfrm>
            <a:off x="868680" y="251460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16" name="s_cell307"/>
          <p:cNvSpPr txBox="1"/>
          <p:nvPr/>
        </p:nvSpPr>
        <p:spPr>
          <a:xfrm>
            <a:off x="868680" y="278892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17" name="Text 15"/>
          <p:cNvSpPr txBox="1"/>
          <p:nvPr/>
        </p:nvSpPr>
        <p:spPr>
          <a:xfrm>
            <a:off x="292608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(right)</a:t>
            </a:r>
            <a:endParaRPr lang="en-US" dirty="0" sz="1200"/>
          </a:p>
        </p:txBody>
      </p:sp>
      <p:sp>
        <p:nvSpPr>
          <p:cNvPr id="18" name="s_cell308"/>
          <p:cNvSpPr txBox="1"/>
          <p:nvPr/>
        </p:nvSpPr>
        <p:spPr>
          <a:xfrm>
            <a:off x="2926080" y="1417320"/>
            <a:ext cx="73152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19" name="s_cell309"/>
          <p:cNvSpPr txBox="1"/>
          <p:nvPr/>
        </p:nvSpPr>
        <p:spPr>
          <a:xfrm>
            <a:off x="2926080" y="169164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20" name="s_cell310"/>
          <p:cNvSpPr txBox="1"/>
          <p:nvPr/>
        </p:nvSpPr>
        <p:spPr>
          <a:xfrm>
            <a:off x="2926080" y="196596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21" name="s_cell311"/>
          <p:cNvSpPr txBox="1"/>
          <p:nvPr/>
        </p:nvSpPr>
        <p:spPr>
          <a:xfrm>
            <a:off x="2926080" y="224028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22" name="s_cell312"/>
          <p:cNvSpPr txBox="1"/>
          <p:nvPr/>
        </p:nvSpPr>
        <p:spPr>
          <a:xfrm>
            <a:off x="2926080" y="251460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dirty="0" sz="1100"/>
          </a:p>
        </p:txBody>
      </p:sp>
      <p:sp>
        <p:nvSpPr>
          <p:cNvPr id="23" name="s_cell313"/>
          <p:cNvSpPr txBox="1"/>
          <p:nvPr/>
        </p:nvSpPr>
        <p:spPr>
          <a:xfrm>
            <a:off x="3657600" y="1417320"/>
            <a:ext cx="86868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dirty="0" sz="1100"/>
          </a:p>
        </p:txBody>
      </p:sp>
      <p:sp>
        <p:nvSpPr>
          <p:cNvPr id="24" name="s_cell314"/>
          <p:cNvSpPr txBox="1"/>
          <p:nvPr/>
        </p:nvSpPr>
        <p:spPr>
          <a:xfrm>
            <a:off x="3657600" y="169164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25" name="s_cell315"/>
          <p:cNvSpPr txBox="1"/>
          <p:nvPr/>
        </p:nvSpPr>
        <p:spPr>
          <a:xfrm>
            <a:off x="3657600" y="196596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26" name="s_cell316"/>
          <p:cNvSpPr txBox="1"/>
          <p:nvPr/>
        </p:nvSpPr>
        <p:spPr>
          <a:xfrm>
            <a:off x="3657600" y="224028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27" name="s_cell317"/>
          <p:cNvSpPr txBox="1"/>
          <p:nvPr/>
        </p:nvSpPr>
        <p:spPr>
          <a:xfrm>
            <a:off x="3657600" y="251460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 sz="1100"/>
          </a:p>
        </p:txBody>
      </p:sp>
      <p:sp>
        <p:nvSpPr>
          <p:cNvPr id="28" name="s_cell318"/>
          <p:cNvSpPr txBox="1"/>
          <p:nvPr/>
        </p:nvSpPr>
        <p:spPr>
          <a:xfrm>
            <a:off x="4526280" y="141732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29" name="s_cell319"/>
          <p:cNvSpPr txBox="1"/>
          <p:nvPr/>
        </p:nvSpPr>
        <p:spPr>
          <a:xfrm>
            <a:off x="4526280" y="169164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30" name="s_cell320"/>
          <p:cNvSpPr txBox="1"/>
          <p:nvPr/>
        </p:nvSpPr>
        <p:spPr>
          <a:xfrm>
            <a:off x="4526280" y="19659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31" name="s_cell321"/>
          <p:cNvSpPr txBox="1"/>
          <p:nvPr/>
        </p:nvSpPr>
        <p:spPr>
          <a:xfrm>
            <a:off x="4526280" y="224028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32" name="s_cell322"/>
          <p:cNvSpPr txBox="1"/>
          <p:nvPr/>
        </p:nvSpPr>
        <p:spPr>
          <a:xfrm>
            <a:off x="4526280" y="251460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 sz="1100"/>
          </a:p>
        </p:txBody>
      </p:sp>
      <p:sp>
        <p:nvSpPr>
          <p:cNvPr id="33" name="Text 31"/>
          <p:cNvSpPr txBox="1"/>
          <p:nvPr/>
        </p:nvSpPr>
        <p:spPr>
          <a:xfrm>
            <a:off x="557784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200"/>
          </a:p>
        </p:txBody>
      </p:sp>
      <p:sp>
        <p:nvSpPr>
          <p:cNvPr id="34" name="s_cell323"/>
          <p:cNvSpPr txBox="1"/>
          <p:nvPr/>
        </p:nvSpPr>
        <p:spPr>
          <a:xfrm>
            <a:off x="5577840" y="1417320"/>
            <a:ext cx="4114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35" name="s_cell324"/>
          <p:cNvSpPr txBox="1"/>
          <p:nvPr/>
        </p:nvSpPr>
        <p:spPr>
          <a:xfrm>
            <a:off x="5989320" y="1417320"/>
            <a:ext cx="9144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36" name="s_cell325"/>
          <p:cNvSpPr txBox="1"/>
          <p:nvPr/>
        </p:nvSpPr>
        <p:spPr>
          <a:xfrm>
            <a:off x="6903720" y="1417320"/>
            <a:ext cx="73152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37" name="s_cell326"/>
          <p:cNvSpPr txBox="1"/>
          <p:nvPr/>
        </p:nvSpPr>
        <p:spPr>
          <a:xfrm>
            <a:off x="7635240" y="141732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38" name="Shape 36"/>
          <p:cNvSpPr/>
          <p:nvPr/>
        </p:nvSpPr>
        <p:spPr>
          <a:xfrm>
            <a:off x="457200" y="329184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3346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b="1" spc="200" kern="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</a:t>
            </a:r>
            <a:endParaRPr lang="en-US" dirty="0" sz="1000"/>
          </a:p>
        </p:txBody>
      </p:sp>
      <p:sp>
        <p:nvSpPr>
          <p:cNvPr id="40" name="a1w_conn327"/>
          <p:cNvSpPr/>
          <p:nvPr/>
        </p:nvSpPr>
        <p:spPr>
          <a:xfrm>
            <a:off x="1874520" y="1828800"/>
            <a:ext cx="1033272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41" name="a1fd250_cell328"/>
          <p:cNvSpPr txBox="1"/>
          <p:nvPr/>
        </p:nvSpPr>
        <p:spPr>
          <a:xfrm>
            <a:off x="5577840" y="169164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42" name="a1fd250_cell329"/>
          <p:cNvSpPr txBox="1"/>
          <p:nvPr/>
        </p:nvSpPr>
        <p:spPr>
          <a:xfrm>
            <a:off x="5989320" y="169164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43" name="a1fd250_cell330"/>
          <p:cNvSpPr txBox="1"/>
          <p:nvPr/>
        </p:nvSpPr>
        <p:spPr>
          <a:xfrm>
            <a:off x="6903720" y="1691640"/>
            <a:ext cx="7315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44" name="a1fd250_cell331"/>
          <p:cNvSpPr txBox="1"/>
          <p:nvPr/>
        </p:nvSpPr>
        <p:spPr>
          <a:xfrm>
            <a:off x="7635240" y="1691640"/>
            <a:ext cx="54864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45" name="a1fd250_log332"/>
          <p:cNvSpPr txBox="1"/>
          <p:nvPr/>
        </p:nvSpPr>
        <p:spPr>
          <a:xfrm>
            <a:off x="640080" y="358444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 · Maria → order 1001  </a:t>
            </a:r>
            <a:r>
              <a:rPr sz="11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match → row added</a:t>
            </a:r>
            <a:endParaRPr lang="en-US" dirty="0" sz="1100"/>
          </a:p>
        </p:txBody>
      </p:sp>
      <p:sp>
        <p:nvSpPr>
          <p:cNvPr id="46" name="a2w_conn333"/>
          <p:cNvSpPr/>
          <p:nvPr/>
        </p:nvSpPr>
        <p:spPr>
          <a:xfrm>
            <a:off x="1874520" y="2103120"/>
            <a:ext cx="1033272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47" name="a2fd250_cell334"/>
          <p:cNvSpPr txBox="1"/>
          <p:nvPr/>
        </p:nvSpPr>
        <p:spPr>
          <a:xfrm>
            <a:off x="5577840" y="196596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48" name="a2fd250_cell335"/>
          <p:cNvSpPr txBox="1"/>
          <p:nvPr/>
        </p:nvSpPr>
        <p:spPr>
          <a:xfrm>
            <a:off x="5989320" y="196596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49" name="a2fd250_cell336"/>
          <p:cNvSpPr txBox="1"/>
          <p:nvPr/>
        </p:nvSpPr>
        <p:spPr>
          <a:xfrm>
            <a:off x="6903720" y="1965960"/>
            <a:ext cx="7315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50" name="a2fd250_cell337"/>
          <p:cNvSpPr txBox="1"/>
          <p:nvPr/>
        </p:nvSpPr>
        <p:spPr>
          <a:xfrm>
            <a:off x="7635240" y="1965960"/>
            <a:ext cx="54864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51" name="a2fd250_log338"/>
          <p:cNvSpPr txBox="1"/>
          <p:nvPr/>
        </p:nvSpPr>
        <p:spPr>
          <a:xfrm>
            <a:off x="640080" y="383133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2 · John → order 1002  </a:t>
            </a:r>
            <a:r>
              <a:rPr sz="11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match → row added</a:t>
            </a:r>
            <a:endParaRPr lang="en-US" dirty="0" sz="1100"/>
          </a:p>
        </p:txBody>
      </p:sp>
      <p:sp>
        <p:nvSpPr>
          <p:cNvPr id="52" name="a3w_conn339"/>
          <p:cNvSpPr/>
          <p:nvPr/>
        </p:nvSpPr>
        <p:spPr>
          <a:xfrm>
            <a:off x="1874520" y="2377440"/>
            <a:ext cx="1033272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53" name="a3fd250_cell340"/>
          <p:cNvSpPr txBox="1"/>
          <p:nvPr/>
        </p:nvSpPr>
        <p:spPr>
          <a:xfrm>
            <a:off x="5577840" y="224028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54" name="a3fd250_cell341"/>
          <p:cNvSpPr txBox="1"/>
          <p:nvPr/>
        </p:nvSpPr>
        <p:spPr>
          <a:xfrm>
            <a:off x="5989320" y="224028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55" name="a3fd250_cell342"/>
          <p:cNvSpPr txBox="1"/>
          <p:nvPr/>
        </p:nvSpPr>
        <p:spPr>
          <a:xfrm>
            <a:off x="6903720" y="2240280"/>
            <a:ext cx="7315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56" name="a3fd250_cell343"/>
          <p:cNvSpPr txBox="1"/>
          <p:nvPr/>
        </p:nvSpPr>
        <p:spPr>
          <a:xfrm>
            <a:off x="7635240" y="2240280"/>
            <a:ext cx="54864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57" name="a3fd250_log344"/>
          <p:cNvSpPr txBox="1"/>
          <p:nvPr/>
        </p:nvSpPr>
        <p:spPr>
          <a:xfrm>
            <a:off x="640080" y="407822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3 · Georg → order 1003  </a:t>
            </a:r>
            <a:r>
              <a:rPr sz="11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match → row added</a:t>
            </a:r>
            <a:endParaRPr lang="en-US" dirty="0" sz="1100"/>
          </a:p>
        </p:txBody>
      </p:sp>
      <p:sp>
        <p:nvSpPr>
          <p:cNvPr id="58" name="a4f_x345"/>
          <p:cNvSpPr txBox="1"/>
          <p:nvPr/>
        </p:nvSpPr>
        <p:spPr>
          <a:xfrm>
            <a:off x="2057400" y="2532888"/>
            <a:ext cx="237744" cy="237744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1000"/>
          </a:p>
        </p:txBody>
      </p:sp>
      <p:sp>
        <p:nvSpPr>
          <p:cNvPr id="59" name="a4fd200_log346"/>
          <p:cNvSpPr txBox="1"/>
          <p:nvPr/>
        </p:nvSpPr>
        <p:spPr>
          <a:xfrm>
            <a:off x="640080" y="43251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4 · Martin → no order found  </a:t>
            </a: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excluded</a:t>
            </a:r>
            <a:endParaRPr lang="en-US" dirty="0" sz="1100"/>
          </a:p>
        </p:txBody>
      </p:sp>
      <p:sp>
        <p:nvSpPr>
          <p:cNvPr id="60" name="a5f_x347"/>
          <p:cNvSpPr txBox="1"/>
          <p:nvPr/>
        </p:nvSpPr>
        <p:spPr>
          <a:xfrm>
            <a:off x="2057400" y="2807208"/>
            <a:ext cx="237744" cy="237744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1000"/>
          </a:p>
        </p:txBody>
      </p:sp>
      <p:sp>
        <p:nvSpPr>
          <p:cNvPr id="61" name="a5fd200_log348"/>
          <p:cNvSpPr txBox="1"/>
          <p:nvPr/>
        </p:nvSpPr>
        <p:spPr>
          <a:xfrm>
            <a:off x="640080" y="457200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5 · Peter → no order found  </a:t>
            </a: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excluded</a:t>
            </a:r>
            <a:endParaRPr lang="en-US" dirty="0" sz="1100"/>
          </a:p>
        </p:txBody>
      </p:sp>
      <p:sp>
        <p:nvSpPr>
          <p:cNvPr id="62" name="a6u_tb349"/>
          <p:cNvSpPr/>
          <p:nvPr/>
        </p:nvSpPr>
        <p:spPr>
          <a:xfrm>
            <a:off x="5760720" y="361188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3" name="a6u_tt350"/>
          <p:cNvSpPr txBox="1"/>
          <p:nvPr/>
        </p:nvSpPr>
        <p:spPr>
          <a:xfrm>
            <a:off x="5943600" y="361188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appears only when the join condition finds a match on both sides.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351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 sz="6000"/>
          </a:p>
        </p:txBody>
      </p:sp>
      <p:sp>
        <p:nvSpPr>
          <p:cNvPr id="3" name="a0ud200_h352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dirty="0" sz="4400"/>
          </a:p>
        </p:txBody>
      </p:sp>
      <p:sp>
        <p:nvSpPr>
          <p:cNvPr id="4" name="a0fd450_t353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the left, matches from the right</a:t>
            </a:r>
            <a:endParaRPr lang="en-US" dirty="0" sz="1700"/>
          </a:p>
        </p:txBody>
      </p:sp>
      <p:pic>
        <p:nvPicPr>
          <p:cNvPr id="5" name="a0fd300_v354" descr="57b454fb3f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— The Concept</a:t>
            </a:r>
            <a:endParaRPr lang="en-US" dirty="0" sz="2800"/>
          </a:p>
        </p:txBody>
      </p:sp>
      <p:pic>
        <p:nvPicPr>
          <p:cNvPr id="3" name="Image 0" descr="b9b2efc24d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3108960" cy="1969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table</a:t>
            </a:r>
            <a:endParaRPr lang="en-US" dirty="0" sz="1100"/>
          </a:p>
        </p:txBody>
      </p:sp>
      <p:sp>
        <p:nvSpPr>
          <p:cNvPr id="5" name="Text 2"/>
          <p:cNvSpPr txBox="1"/>
          <p:nvPr/>
        </p:nvSpPr>
        <p:spPr>
          <a:xfrm>
            <a:off x="210312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table</a:t>
            </a:r>
            <a:endParaRPr lang="en-US" dirty="0" sz="1100"/>
          </a:p>
        </p:txBody>
      </p:sp>
      <p:sp>
        <p:nvSpPr>
          <p:cNvPr id="6" name="a1u_pill355"/>
          <p:cNvSpPr txBox="1"/>
          <p:nvPr/>
        </p:nvSpPr>
        <p:spPr>
          <a:xfrm>
            <a:off x="457200" y="333756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· primary source</a:t>
            </a:r>
            <a:endParaRPr lang="en-US" dirty="0" sz="1200"/>
          </a:p>
        </p:txBody>
      </p:sp>
      <p:sp>
        <p:nvSpPr>
          <p:cNvPr id="7" name="a2u_pill356"/>
          <p:cNvSpPr txBox="1"/>
          <p:nvPr/>
        </p:nvSpPr>
        <p:spPr>
          <a:xfrm>
            <a:off x="457200" y="388620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· extra data</a:t>
            </a:r>
            <a:endParaRPr lang="en-US" dirty="0" sz="1200"/>
          </a:p>
        </p:txBody>
      </p:sp>
      <p:sp>
        <p:nvSpPr>
          <p:cNvPr id="8" name="Text 5"/>
          <p:cNvSpPr txBox="1"/>
          <p:nvPr/>
        </p:nvSpPr>
        <p:spPr>
          <a:xfrm>
            <a:off x="4023360" y="960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the left table and only the matching rows from the right.</a:t>
            </a:r>
            <a:endParaRPr lang="en-US" dirty="0" sz="1600"/>
          </a:p>
        </p:txBody>
      </p:sp>
      <p:sp>
        <p:nvSpPr>
          <p:cNvPr id="9" name="a3f_codebg357"/>
          <p:cNvSpPr/>
          <p:nvPr/>
        </p:nvSpPr>
        <p:spPr>
          <a:xfrm>
            <a:off x="4023360" y="169164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a3f_codelbl358"/>
          <p:cNvSpPr txBox="1"/>
          <p:nvPr/>
        </p:nvSpPr>
        <p:spPr>
          <a:xfrm>
            <a:off x="7223760" y="1737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900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dirty="0" sz="900"/>
          </a:p>
        </p:txBody>
      </p:sp>
      <p:sp>
        <p:nvSpPr>
          <p:cNvPr id="11" name="a3wd0_code359"/>
          <p:cNvSpPr txBox="1"/>
          <p:nvPr/>
        </p:nvSpPr>
        <p:spPr>
          <a:xfrm>
            <a:off x="4206240" y="18288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300"/>
          </a:p>
        </p:txBody>
      </p:sp>
      <p:sp>
        <p:nvSpPr>
          <p:cNvPr id="12" name="a3wd350_code360"/>
          <p:cNvSpPr txBox="1"/>
          <p:nvPr/>
        </p:nvSpPr>
        <p:spPr>
          <a:xfrm>
            <a:off x="4206240" y="21031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dirty="0" sz="1300"/>
          </a:p>
        </p:txBody>
      </p:sp>
      <p:sp>
        <p:nvSpPr>
          <p:cNvPr id="13" name="a3wd700_code361"/>
          <p:cNvSpPr txBox="1"/>
          <p:nvPr/>
        </p:nvSpPr>
        <p:spPr>
          <a:xfrm>
            <a:off x="4206240" y="2377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dirty="0" sz="1300"/>
          </a:p>
        </p:txBody>
      </p:sp>
      <p:sp>
        <p:nvSpPr>
          <p:cNvPr id="14" name="a3wd1050_code362"/>
          <p:cNvSpPr txBox="1"/>
          <p:nvPr/>
        </p:nvSpPr>
        <p:spPr>
          <a:xfrm>
            <a:off x="4206240" y="26517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dirty="0" sz="1300"/>
          </a:p>
        </p:txBody>
      </p:sp>
      <p:sp>
        <p:nvSpPr>
          <p:cNvPr id="15" name="a4f_cb363"/>
          <p:cNvSpPr/>
          <p:nvPr/>
        </p:nvSpPr>
        <p:spPr>
          <a:xfrm>
            <a:off x="4023360" y="32004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a4f_ct364"/>
          <p:cNvSpPr txBox="1"/>
          <p:nvPr/>
        </p:nvSpPr>
        <p:spPr>
          <a:xfrm>
            <a:off x="4206240" y="32004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matters!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table you need in full in FROM; the right table goes after LEFT JOIN.</a:t>
            </a:r>
            <a:endParaRPr lang="en-US" dirty="0" sz="1200"/>
          </a:p>
        </p:txBody>
      </p:sp>
      <p:sp>
        <p:nvSpPr>
          <p:cNvPr id="17" name="a5f_u365"/>
          <p:cNvSpPr txBox="1"/>
          <p:nvPr/>
        </p:nvSpPr>
        <p:spPr>
          <a:xfrm>
            <a:off x="402336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to:</a:t>
            </a:r>
            <a:endParaRPr lang="en-US" dirty="0" sz="1200"/>
          </a:p>
        </p:txBody>
      </p:sp>
      <p:sp>
        <p:nvSpPr>
          <p:cNvPr id="18" name="a5ud0_chip366"/>
          <p:cNvSpPr txBox="1"/>
          <p:nvPr/>
        </p:nvSpPr>
        <p:spPr>
          <a:xfrm>
            <a:off x="489204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</a:t>
            </a:r>
            <a:endParaRPr lang="en-US" dirty="0" sz="1100"/>
          </a:p>
        </p:txBody>
      </p:sp>
      <p:sp>
        <p:nvSpPr>
          <p:cNvPr id="19" name="a5ud150_chip367"/>
          <p:cNvSpPr txBox="1"/>
          <p:nvPr/>
        </p:nvSpPr>
        <p:spPr>
          <a:xfrm>
            <a:off x="608076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dirty="0" sz="1100"/>
          </a:p>
        </p:txBody>
      </p:sp>
      <p:sp>
        <p:nvSpPr>
          <p:cNvPr id="20" name="a5ud300_chip368"/>
          <p:cNvSpPr txBox="1"/>
          <p:nvPr/>
        </p:nvSpPr>
        <p:spPr>
          <a:xfrm>
            <a:off x="7269480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existence *</a:t>
            </a:r>
            <a:endParaRPr lang="en-US" dirty="0" sz="1100"/>
          </a:p>
        </p:txBody>
      </p:sp>
      <p:sp>
        <p:nvSpPr>
          <p:cNvPr id="21" name="a5fd400_fn369"/>
          <p:cNvSpPr txBox="1"/>
          <p:nvPr/>
        </p:nvSpPr>
        <p:spPr>
          <a:xfrm>
            <a:off x="4892040" y="4462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with a twist — covered in advanced joins</a:t>
            </a:r>
            <a:endParaRPr lang="en-US" dirty="0" sz="10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— In Practice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customers along with their orders, including those without orders.</a:t>
            </a:r>
            <a:endParaRPr lang="en-US" dirty="0" sz="1400"/>
          </a:p>
        </p:txBody>
      </p:sp>
      <p:sp>
        <p:nvSpPr>
          <p:cNvPr id="4" name="a1f_codebg370"/>
          <p:cNvSpPr/>
          <p:nvPr/>
        </p:nvSpPr>
        <p:spPr>
          <a:xfrm>
            <a:off x="457200" y="1645920"/>
            <a:ext cx="3840480" cy="2322576"/>
          </a:xfrm>
          <a:prstGeom prst="roundRect">
            <a:avLst>
              <a:gd name="adj" fmla="val 31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1wd0_code371"/>
          <p:cNvSpPr txBox="1"/>
          <p:nvPr/>
        </p:nvSpPr>
        <p:spPr>
          <a:xfrm>
            <a:off x="640080" y="17830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200"/>
          </a:p>
        </p:txBody>
      </p:sp>
      <p:sp>
        <p:nvSpPr>
          <p:cNvPr id="6" name="a1wd150_code372"/>
          <p:cNvSpPr txBox="1"/>
          <p:nvPr/>
        </p:nvSpPr>
        <p:spPr>
          <a:xfrm>
            <a:off x="640080" y="2039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7" name="a1wd300_code373"/>
          <p:cNvSpPr txBox="1"/>
          <p:nvPr/>
        </p:nvSpPr>
        <p:spPr>
          <a:xfrm>
            <a:off x="640080" y="2295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8" name="a1wd450_code374"/>
          <p:cNvSpPr txBox="1"/>
          <p:nvPr/>
        </p:nvSpPr>
        <p:spPr>
          <a:xfrm>
            <a:off x="640080" y="2551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9" name="a1wd600_code375"/>
          <p:cNvSpPr txBox="1"/>
          <p:nvPr/>
        </p:nvSpPr>
        <p:spPr>
          <a:xfrm>
            <a:off x="640080" y="2807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200"/>
          </a:p>
        </p:txBody>
      </p:sp>
      <p:sp>
        <p:nvSpPr>
          <p:cNvPr id="10" name="a1wd750_code376"/>
          <p:cNvSpPr txBox="1"/>
          <p:nvPr/>
        </p:nvSpPr>
        <p:spPr>
          <a:xfrm>
            <a:off x="640080" y="3063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11" name="a1wd900_code377"/>
          <p:cNvSpPr txBox="1"/>
          <p:nvPr/>
        </p:nvSpPr>
        <p:spPr>
          <a:xfrm>
            <a:off x="640080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2" name="a1wd1050_code378"/>
          <p:cNvSpPr txBox="1"/>
          <p:nvPr/>
        </p:nvSpPr>
        <p:spPr>
          <a:xfrm>
            <a:off x="640080" y="35753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3" name="a2f_l379"/>
          <p:cNvSpPr txBox="1"/>
          <p:nvPr/>
        </p:nvSpPr>
        <p:spPr>
          <a:xfrm>
            <a:off x="466344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200"/>
          </a:p>
        </p:txBody>
      </p:sp>
      <p:sp>
        <p:nvSpPr>
          <p:cNvPr id="14" name="a2f_cell380"/>
          <p:cNvSpPr txBox="1"/>
          <p:nvPr/>
        </p:nvSpPr>
        <p:spPr>
          <a:xfrm>
            <a:off x="4663440" y="1920240"/>
            <a:ext cx="54864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15" name="a2wd200_cell381"/>
          <p:cNvSpPr txBox="1"/>
          <p:nvPr/>
        </p:nvSpPr>
        <p:spPr>
          <a:xfrm>
            <a:off x="4663440" y="21945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6" name="a2wd400_cell382"/>
          <p:cNvSpPr txBox="1"/>
          <p:nvPr/>
        </p:nvSpPr>
        <p:spPr>
          <a:xfrm>
            <a:off x="4663440" y="246888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17" name="a2wd600_cell383"/>
          <p:cNvSpPr txBox="1"/>
          <p:nvPr/>
        </p:nvSpPr>
        <p:spPr>
          <a:xfrm>
            <a:off x="4663440" y="274320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18" name="a2wd800_cell384"/>
          <p:cNvSpPr txBox="1"/>
          <p:nvPr/>
        </p:nvSpPr>
        <p:spPr>
          <a:xfrm>
            <a:off x="4663440" y="301752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19" name="a2wd1000_cell385"/>
          <p:cNvSpPr txBox="1"/>
          <p:nvPr/>
        </p:nvSpPr>
        <p:spPr>
          <a:xfrm>
            <a:off x="4663440" y="329184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20" name="a2f_cell386"/>
          <p:cNvSpPr txBox="1"/>
          <p:nvPr/>
        </p:nvSpPr>
        <p:spPr>
          <a:xfrm>
            <a:off x="5212080" y="1920240"/>
            <a:ext cx="10972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21" name="a2wd200_cell387"/>
          <p:cNvSpPr txBox="1"/>
          <p:nvPr/>
        </p:nvSpPr>
        <p:spPr>
          <a:xfrm>
            <a:off x="5212080" y="219456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22" name="a2wd400_cell388"/>
          <p:cNvSpPr txBox="1"/>
          <p:nvPr/>
        </p:nvSpPr>
        <p:spPr>
          <a:xfrm>
            <a:off x="5212080" y="24688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23" name="a2wd600_cell389"/>
          <p:cNvSpPr txBox="1"/>
          <p:nvPr/>
        </p:nvSpPr>
        <p:spPr>
          <a:xfrm>
            <a:off x="5212080" y="274320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24" name="a2wd800_cell390"/>
          <p:cNvSpPr txBox="1"/>
          <p:nvPr/>
        </p:nvSpPr>
        <p:spPr>
          <a:xfrm>
            <a:off x="5212080" y="301752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25" name="a2wd1000_cell391"/>
          <p:cNvSpPr txBox="1"/>
          <p:nvPr/>
        </p:nvSpPr>
        <p:spPr>
          <a:xfrm>
            <a:off x="5212080" y="329184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26" name="a2f_cell392"/>
          <p:cNvSpPr txBox="1"/>
          <p:nvPr/>
        </p:nvSpPr>
        <p:spPr>
          <a:xfrm>
            <a:off x="6309360" y="1920240"/>
            <a:ext cx="91440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27" name="a2wd200_cell393"/>
          <p:cNvSpPr txBox="1"/>
          <p:nvPr/>
        </p:nvSpPr>
        <p:spPr>
          <a:xfrm>
            <a:off x="6309360" y="21945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28" name="a2wd400_cell394"/>
          <p:cNvSpPr txBox="1"/>
          <p:nvPr/>
        </p:nvSpPr>
        <p:spPr>
          <a:xfrm>
            <a:off x="6309360" y="24688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29" name="a2wd600_cell395"/>
          <p:cNvSpPr txBox="1"/>
          <p:nvPr/>
        </p:nvSpPr>
        <p:spPr>
          <a:xfrm>
            <a:off x="6309360" y="27432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30" name="a2wd800_cell396"/>
          <p:cNvSpPr txBox="1"/>
          <p:nvPr/>
        </p:nvSpPr>
        <p:spPr>
          <a:xfrm>
            <a:off x="6309360" y="301752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1" name="a2wd1000_cell397"/>
          <p:cNvSpPr txBox="1"/>
          <p:nvPr/>
        </p:nvSpPr>
        <p:spPr>
          <a:xfrm>
            <a:off x="6309360" y="329184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2" name="a2f_cell398"/>
          <p:cNvSpPr txBox="1"/>
          <p:nvPr/>
        </p:nvSpPr>
        <p:spPr>
          <a:xfrm>
            <a:off x="7223760" y="1920240"/>
            <a:ext cx="73152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33" name="a2wd200_cell399"/>
          <p:cNvSpPr txBox="1"/>
          <p:nvPr/>
        </p:nvSpPr>
        <p:spPr>
          <a:xfrm>
            <a:off x="7223760" y="219456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34" name="a2wd400_cell400"/>
          <p:cNvSpPr txBox="1"/>
          <p:nvPr/>
        </p:nvSpPr>
        <p:spPr>
          <a:xfrm>
            <a:off x="7223760" y="246888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35" name="a2wd600_cell401"/>
          <p:cNvSpPr txBox="1"/>
          <p:nvPr/>
        </p:nvSpPr>
        <p:spPr>
          <a:xfrm>
            <a:off x="7223760" y="274320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36" name="a2wd800_cell402"/>
          <p:cNvSpPr txBox="1"/>
          <p:nvPr/>
        </p:nvSpPr>
        <p:spPr>
          <a:xfrm>
            <a:off x="7223760" y="3017520"/>
            <a:ext cx="73152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7" name="a2wd1000_cell403"/>
          <p:cNvSpPr txBox="1"/>
          <p:nvPr/>
        </p:nvSpPr>
        <p:spPr>
          <a:xfrm>
            <a:off x="7223760" y="3291840"/>
            <a:ext cx="73152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8" name="a3u_nb404"/>
          <p:cNvSpPr/>
          <p:nvPr/>
        </p:nvSpPr>
        <p:spPr>
          <a:xfrm>
            <a:off x="4663440" y="39776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9" name="a3u_ni405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206240"/>
            <a:ext cx="320040" cy="320040"/>
          </a:xfrm>
          <a:prstGeom prst="rect">
            <a:avLst/>
          </a:prstGeom>
        </p:spPr>
      </p:pic>
      <p:sp>
        <p:nvSpPr>
          <p:cNvPr id="40" name="a3u_nt406"/>
          <p:cNvSpPr txBox="1"/>
          <p:nvPr/>
        </p:nvSpPr>
        <p:spPr>
          <a:xfrm>
            <a:off x="5212080" y="39776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customers kept; missing order data shows as NULL. Swap the tables and the result changes!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LEFT JOIN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SQL walks through the rows to build the result</a:t>
            </a:r>
            <a:endParaRPr lang="en-US" dirty="0" sz="130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(left)</a:t>
            </a:r>
            <a:endParaRPr lang="en-US" dirty="0" sz="1200"/>
          </a:p>
        </p:txBody>
      </p:sp>
      <p:sp>
        <p:nvSpPr>
          <p:cNvPr id="5" name="s_cell407"/>
          <p:cNvSpPr txBox="1"/>
          <p:nvPr/>
        </p:nvSpPr>
        <p:spPr>
          <a:xfrm>
            <a:off x="457200" y="1417320"/>
            <a:ext cx="4114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6" name="s_cell408"/>
          <p:cNvSpPr txBox="1"/>
          <p:nvPr/>
        </p:nvSpPr>
        <p:spPr>
          <a:xfrm>
            <a:off x="457200" y="169164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7" name="s_cell409"/>
          <p:cNvSpPr txBox="1"/>
          <p:nvPr/>
        </p:nvSpPr>
        <p:spPr>
          <a:xfrm>
            <a:off x="457200" y="196596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8" name="s_cell410"/>
          <p:cNvSpPr txBox="1"/>
          <p:nvPr/>
        </p:nvSpPr>
        <p:spPr>
          <a:xfrm>
            <a:off x="457200" y="224028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9" name="s_cell411"/>
          <p:cNvSpPr txBox="1"/>
          <p:nvPr/>
        </p:nvSpPr>
        <p:spPr>
          <a:xfrm>
            <a:off x="457200" y="251460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10" name="s_cell412"/>
          <p:cNvSpPr txBox="1"/>
          <p:nvPr/>
        </p:nvSpPr>
        <p:spPr>
          <a:xfrm>
            <a:off x="457200" y="278892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11" name="s_cell413"/>
          <p:cNvSpPr txBox="1"/>
          <p:nvPr/>
        </p:nvSpPr>
        <p:spPr>
          <a:xfrm>
            <a:off x="868680" y="1417320"/>
            <a:ext cx="100584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12" name="s_cell414"/>
          <p:cNvSpPr txBox="1"/>
          <p:nvPr/>
        </p:nvSpPr>
        <p:spPr>
          <a:xfrm>
            <a:off x="868680" y="169164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13" name="s_cell415"/>
          <p:cNvSpPr txBox="1"/>
          <p:nvPr/>
        </p:nvSpPr>
        <p:spPr>
          <a:xfrm>
            <a:off x="868680" y="19659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14" name="s_cell416"/>
          <p:cNvSpPr txBox="1"/>
          <p:nvPr/>
        </p:nvSpPr>
        <p:spPr>
          <a:xfrm>
            <a:off x="868680" y="224028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15" name="s_cell417"/>
          <p:cNvSpPr txBox="1"/>
          <p:nvPr/>
        </p:nvSpPr>
        <p:spPr>
          <a:xfrm>
            <a:off x="868680" y="251460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16" name="s_cell418"/>
          <p:cNvSpPr txBox="1"/>
          <p:nvPr/>
        </p:nvSpPr>
        <p:spPr>
          <a:xfrm>
            <a:off x="868680" y="278892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17" name="Text 15"/>
          <p:cNvSpPr txBox="1"/>
          <p:nvPr/>
        </p:nvSpPr>
        <p:spPr>
          <a:xfrm>
            <a:off x="292608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(right)</a:t>
            </a:r>
            <a:endParaRPr lang="en-US" dirty="0" sz="1200"/>
          </a:p>
        </p:txBody>
      </p:sp>
      <p:sp>
        <p:nvSpPr>
          <p:cNvPr id="18" name="s_cell419"/>
          <p:cNvSpPr txBox="1"/>
          <p:nvPr/>
        </p:nvSpPr>
        <p:spPr>
          <a:xfrm>
            <a:off x="2926080" y="1417320"/>
            <a:ext cx="73152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19" name="s_cell420"/>
          <p:cNvSpPr txBox="1"/>
          <p:nvPr/>
        </p:nvSpPr>
        <p:spPr>
          <a:xfrm>
            <a:off x="2926080" y="169164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20" name="s_cell421"/>
          <p:cNvSpPr txBox="1"/>
          <p:nvPr/>
        </p:nvSpPr>
        <p:spPr>
          <a:xfrm>
            <a:off x="2926080" y="196596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21" name="s_cell422"/>
          <p:cNvSpPr txBox="1"/>
          <p:nvPr/>
        </p:nvSpPr>
        <p:spPr>
          <a:xfrm>
            <a:off x="2926080" y="224028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22" name="s_cell423"/>
          <p:cNvSpPr txBox="1"/>
          <p:nvPr/>
        </p:nvSpPr>
        <p:spPr>
          <a:xfrm>
            <a:off x="2926080" y="251460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dirty="0" sz="1100"/>
          </a:p>
        </p:txBody>
      </p:sp>
      <p:sp>
        <p:nvSpPr>
          <p:cNvPr id="23" name="s_cell424"/>
          <p:cNvSpPr txBox="1"/>
          <p:nvPr/>
        </p:nvSpPr>
        <p:spPr>
          <a:xfrm>
            <a:off x="3657600" y="1417320"/>
            <a:ext cx="86868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dirty="0" sz="1100"/>
          </a:p>
        </p:txBody>
      </p:sp>
      <p:sp>
        <p:nvSpPr>
          <p:cNvPr id="24" name="s_cell425"/>
          <p:cNvSpPr txBox="1"/>
          <p:nvPr/>
        </p:nvSpPr>
        <p:spPr>
          <a:xfrm>
            <a:off x="3657600" y="169164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25" name="s_cell426"/>
          <p:cNvSpPr txBox="1"/>
          <p:nvPr/>
        </p:nvSpPr>
        <p:spPr>
          <a:xfrm>
            <a:off x="3657600" y="196596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26" name="s_cell427"/>
          <p:cNvSpPr txBox="1"/>
          <p:nvPr/>
        </p:nvSpPr>
        <p:spPr>
          <a:xfrm>
            <a:off x="3657600" y="224028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27" name="s_cell428"/>
          <p:cNvSpPr txBox="1"/>
          <p:nvPr/>
        </p:nvSpPr>
        <p:spPr>
          <a:xfrm>
            <a:off x="3657600" y="251460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 sz="1100"/>
          </a:p>
        </p:txBody>
      </p:sp>
      <p:sp>
        <p:nvSpPr>
          <p:cNvPr id="28" name="s_cell429"/>
          <p:cNvSpPr txBox="1"/>
          <p:nvPr/>
        </p:nvSpPr>
        <p:spPr>
          <a:xfrm>
            <a:off x="4526280" y="141732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29" name="s_cell430"/>
          <p:cNvSpPr txBox="1"/>
          <p:nvPr/>
        </p:nvSpPr>
        <p:spPr>
          <a:xfrm>
            <a:off x="4526280" y="169164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30" name="s_cell431"/>
          <p:cNvSpPr txBox="1"/>
          <p:nvPr/>
        </p:nvSpPr>
        <p:spPr>
          <a:xfrm>
            <a:off x="4526280" y="19659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31" name="s_cell432"/>
          <p:cNvSpPr txBox="1"/>
          <p:nvPr/>
        </p:nvSpPr>
        <p:spPr>
          <a:xfrm>
            <a:off x="4526280" y="224028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32" name="s_cell433"/>
          <p:cNvSpPr txBox="1"/>
          <p:nvPr/>
        </p:nvSpPr>
        <p:spPr>
          <a:xfrm>
            <a:off x="4526280" y="251460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 sz="1100"/>
          </a:p>
        </p:txBody>
      </p:sp>
      <p:sp>
        <p:nvSpPr>
          <p:cNvPr id="33" name="Text 31"/>
          <p:cNvSpPr txBox="1"/>
          <p:nvPr/>
        </p:nvSpPr>
        <p:spPr>
          <a:xfrm>
            <a:off x="557784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200"/>
          </a:p>
        </p:txBody>
      </p:sp>
      <p:sp>
        <p:nvSpPr>
          <p:cNvPr id="34" name="s_cell434"/>
          <p:cNvSpPr txBox="1"/>
          <p:nvPr/>
        </p:nvSpPr>
        <p:spPr>
          <a:xfrm>
            <a:off x="5577840" y="1417320"/>
            <a:ext cx="4114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35" name="s_cell435"/>
          <p:cNvSpPr txBox="1"/>
          <p:nvPr/>
        </p:nvSpPr>
        <p:spPr>
          <a:xfrm>
            <a:off x="5989320" y="1417320"/>
            <a:ext cx="9144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36" name="s_cell436"/>
          <p:cNvSpPr txBox="1"/>
          <p:nvPr/>
        </p:nvSpPr>
        <p:spPr>
          <a:xfrm>
            <a:off x="6903720" y="1417320"/>
            <a:ext cx="73152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37" name="s_cell437"/>
          <p:cNvSpPr txBox="1"/>
          <p:nvPr/>
        </p:nvSpPr>
        <p:spPr>
          <a:xfrm>
            <a:off x="7635240" y="141732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38" name="Shape 36"/>
          <p:cNvSpPr/>
          <p:nvPr/>
        </p:nvSpPr>
        <p:spPr>
          <a:xfrm>
            <a:off x="457200" y="329184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3346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b="1" spc="200" kern="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</a:t>
            </a:r>
            <a:endParaRPr lang="en-US" dirty="0" sz="1000"/>
          </a:p>
        </p:txBody>
      </p:sp>
      <p:sp>
        <p:nvSpPr>
          <p:cNvPr id="40" name="a1w_cell438"/>
          <p:cNvSpPr txBox="1"/>
          <p:nvPr/>
        </p:nvSpPr>
        <p:spPr>
          <a:xfrm>
            <a:off x="5577840" y="169164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41" name="a1w_cell439"/>
          <p:cNvSpPr txBox="1"/>
          <p:nvPr/>
        </p:nvSpPr>
        <p:spPr>
          <a:xfrm>
            <a:off x="5989320" y="169164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42" name="a2w_conn440"/>
          <p:cNvSpPr/>
          <p:nvPr/>
        </p:nvSpPr>
        <p:spPr>
          <a:xfrm>
            <a:off x="1874520" y="1828800"/>
            <a:ext cx="1033272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43" name="a2fd250_cell441"/>
          <p:cNvSpPr txBox="1"/>
          <p:nvPr/>
        </p:nvSpPr>
        <p:spPr>
          <a:xfrm>
            <a:off x="6903720" y="1691640"/>
            <a:ext cx="7315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44" name="a2fd250_cell442"/>
          <p:cNvSpPr txBox="1"/>
          <p:nvPr/>
        </p:nvSpPr>
        <p:spPr>
          <a:xfrm>
            <a:off x="7635240" y="1691640"/>
            <a:ext cx="54864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45" name="a2fd250_log443"/>
          <p:cNvSpPr txBox="1"/>
          <p:nvPr/>
        </p:nvSpPr>
        <p:spPr>
          <a:xfrm>
            <a:off x="640080" y="358444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Maria → search orders → </a:t>
            </a:r>
            <a:r>
              <a:rPr sz="11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1001 found</a:t>
            </a:r>
            <a:endParaRPr lang="en-US" dirty="0" sz="1100"/>
          </a:p>
        </p:txBody>
      </p:sp>
      <p:sp>
        <p:nvSpPr>
          <p:cNvPr id="46" name="a3w_cell444"/>
          <p:cNvSpPr txBox="1"/>
          <p:nvPr/>
        </p:nvSpPr>
        <p:spPr>
          <a:xfrm>
            <a:off x="5577840" y="196596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47" name="a3w_cell445"/>
          <p:cNvSpPr txBox="1"/>
          <p:nvPr/>
        </p:nvSpPr>
        <p:spPr>
          <a:xfrm>
            <a:off x="5989320" y="196596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48" name="a4w_conn446"/>
          <p:cNvSpPr/>
          <p:nvPr/>
        </p:nvSpPr>
        <p:spPr>
          <a:xfrm>
            <a:off x="1874520" y="2103120"/>
            <a:ext cx="1033272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49" name="a4fd250_cell447"/>
          <p:cNvSpPr txBox="1"/>
          <p:nvPr/>
        </p:nvSpPr>
        <p:spPr>
          <a:xfrm>
            <a:off x="6903720" y="1965960"/>
            <a:ext cx="7315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50" name="a4fd250_cell448"/>
          <p:cNvSpPr txBox="1"/>
          <p:nvPr/>
        </p:nvSpPr>
        <p:spPr>
          <a:xfrm>
            <a:off x="7635240" y="1965960"/>
            <a:ext cx="54864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51" name="a4fd250_log449"/>
          <p:cNvSpPr txBox="1"/>
          <p:nvPr/>
        </p:nvSpPr>
        <p:spPr>
          <a:xfrm>
            <a:off x="640080" y="383133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John → search orders → </a:t>
            </a:r>
            <a:r>
              <a:rPr sz="11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1002 found</a:t>
            </a:r>
            <a:endParaRPr lang="en-US" dirty="0" sz="1100"/>
          </a:p>
        </p:txBody>
      </p:sp>
      <p:sp>
        <p:nvSpPr>
          <p:cNvPr id="52" name="a5w_cell450"/>
          <p:cNvSpPr txBox="1"/>
          <p:nvPr/>
        </p:nvSpPr>
        <p:spPr>
          <a:xfrm>
            <a:off x="5577840" y="224028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53" name="a5w_cell451"/>
          <p:cNvSpPr txBox="1"/>
          <p:nvPr/>
        </p:nvSpPr>
        <p:spPr>
          <a:xfrm>
            <a:off x="5989320" y="224028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54" name="a6w_conn452"/>
          <p:cNvSpPr/>
          <p:nvPr/>
        </p:nvSpPr>
        <p:spPr>
          <a:xfrm>
            <a:off x="1874520" y="2377440"/>
            <a:ext cx="1033272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55" name="a6fd250_cell453"/>
          <p:cNvSpPr txBox="1"/>
          <p:nvPr/>
        </p:nvSpPr>
        <p:spPr>
          <a:xfrm>
            <a:off x="6903720" y="2240280"/>
            <a:ext cx="7315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56" name="a6fd250_cell454"/>
          <p:cNvSpPr txBox="1"/>
          <p:nvPr/>
        </p:nvSpPr>
        <p:spPr>
          <a:xfrm>
            <a:off x="7635240" y="2240280"/>
            <a:ext cx="54864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57" name="a6fd250_log455"/>
          <p:cNvSpPr txBox="1"/>
          <p:nvPr/>
        </p:nvSpPr>
        <p:spPr>
          <a:xfrm>
            <a:off x="640080" y="407822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Georg → search orders → </a:t>
            </a:r>
            <a:r>
              <a:rPr sz="11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1003 found</a:t>
            </a:r>
            <a:endParaRPr lang="en-US" dirty="0" sz="1100"/>
          </a:p>
        </p:txBody>
      </p:sp>
      <p:sp>
        <p:nvSpPr>
          <p:cNvPr id="58" name="a7w_cell456"/>
          <p:cNvSpPr txBox="1"/>
          <p:nvPr/>
        </p:nvSpPr>
        <p:spPr>
          <a:xfrm>
            <a:off x="5577840" y="251460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59" name="a7w_cell457"/>
          <p:cNvSpPr txBox="1"/>
          <p:nvPr/>
        </p:nvSpPr>
        <p:spPr>
          <a:xfrm>
            <a:off x="5989320" y="251460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60" name="a8f_x458"/>
          <p:cNvSpPr txBox="1"/>
          <p:nvPr/>
        </p:nvSpPr>
        <p:spPr>
          <a:xfrm>
            <a:off x="2057400" y="2532888"/>
            <a:ext cx="237744" cy="237744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1000"/>
          </a:p>
        </p:txBody>
      </p:sp>
      <p:sp>
        <p:nvSpPr>
          <p:cNvPr id="61" name="a8fd250_cell459"/>
          <p:cNvSpPr txBox="1"/>
          <p:nvPr/>
        </p:nvSpPr>
        <p:spPr>
          <a:xfrm>
            <a:off x="6903720" y="2514600"/>
            <a:ext cx="73152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62" name="a8fd250_cell460"/>
          <p:cNvSpPr txBox="1"/>
          <p:nvPr/>
        </p:nvSpPr>
        <p:spPr>
          <a:xfrm>
            <a:off x="7635240" y="251460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63" name="a8fd250_log461"/>
          <p:cNvSpPr txBox="1"/>
          <p:nvPr/>
        </p:nvSpPr>
        <p:spPr>
          <a:xfrm>
            <a:off x="640080" y="43251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Martin → search orders → </a:t>
            </a: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NULL</a:t>
            </a:r>
            <a:endParaRPr lang="en-US" dirty="0" sz="1100"/>
          </a:p>
        </p:txBody>
      </p:sp>
      <p:sp>
        <p:nvSpPr>
          <p:cNvPr id="64" name="a9w_cell462"/>
          <p:cNvSpPr txBox="1"/>
          <p:nvPr/>
        </p:nvSpPr>
        <p:spPr>
          <a:xfrm>
            <a:off x="5577840" y="278892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65" name="a9w_cell463"/>
          <p:cNvSpPr txBox="1"/>
          <p:nvPr/>
        </p:nvSpPr>
        <p:spPr>
          <a:xfrm>
            <a:off x="5989320" y="278892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66" name="a10f_x464"/>
          <p:cNvSpPr txBox="1"/>
          <p:nvPr/>
        </p:nvSpPr>
        <p:spPr>
          <a:xfrm>
            <a:off x="2057400" y="2807208"/>
            <a:ext cx="237744" cy="237744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1000"/>
          </a:p>
        </p:txBody>
      </p:sp>
      <p:sp>
        <p:nvSpPr>
          <p:cNvPr id="67" name="a10fd250_cell465"/>
          <p:cNvSpPr txBox="1"/>
          <p:nvPr/>
        </p:nvSpPr>
        <p:spPr>
          <a:xfrm>
            <a:off x="6903720" y="2788920"/>
            <a:ext cx="73152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68" name="a10fd250_cell466"/>
          <p:cNvSpPr txBox="1"/>
          <p:nvPr/>
        </p:nvSpPr>
        <p:spPr>
          <a:xfrm>
            <a:off x="7635240" y="278892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69" name="a10fd250_log467"/>
          <p:cNvSpPr txBox="1"/>
          <p:nvPr/>
        </p:nvSpPr>
        <p:spPr>
          <a:xfrm>
            <a:off x="640080" y="457200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Peter → search orders → </a:t>
            </a: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NULL</a:t>
            </a:r>
            <a:endParaRPr lang="en-US" dirty="0" sz="1100"/>
          </a:p>
        </p:txBody>
      </p:sp>
      <p:sp>
        <p:nvSpPr>
          <p:cNvPr id="70" name="a11u_tb468"/>
          <p:cNvSpPr/>
          <p:nvPr/>
        </p:nvSpPr>
        <p:spPr>
          <a:xfrm>
            <a:off x="5760720" y="361188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1" name="a11u_tt469"/>
          <p:cNvSpPr txBox="1"/>
          <p:nvPr/>
        </p:nvSpPr>
        <p:spPr>
          <a:xfrm>
            <a:off x="5943600" y="361188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left row is kept without any check. Missing right-side data becomes NULL.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470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 sz="6000"/>
          </a:p>
        </p:txBody>
      </p:sp>
      <p:sp>
        <p:nvSpPr>
          <p:cNvPr id="3" name="a0ud200_h471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dirty="0" sz="4400"/>
          </a:p>
        </p:txBody>
      </p:sp>
      <p:sp>
        <p:nvSpPr>
          <p:cNvPr id="4" name="a0fd450_t472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the right, matches from the left</a:t>
            </a:r>
            <a:endParaRPr lang="en-US" dirty="0" sz="1700"/>
          </a:p>
        </p:txBody>
      </p:sp>
      <p:pic>
        <p:nvPicPr>
          <p:cNvPr id="5" name="a0fd300_v473" descr="6cc4d5e552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— The Concept</a:t>
            </a:r>
            <a:endParaRPr lang="en-US" dirty="0" sz="2800"/>
          </a:p>
        </p:txBody>
      </p:sp>
      <p:pic>
        <p:nvPicPr>
          <p:cNvPr id="3" name="Image 0" descr="3f3325626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3108960" cy="1969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table</a:t>
            </a:r>
            <a:endParaRPr lang="en-US" dirty="0" sz="1100"/>
          </a:p>
        </p:txBody>
      </p:sp>
      <p:sp>
        <p:nvSpPr>
          <p:cNvPr id="5" name="Text 2"/>
          <p:cNvSpPr txBox="1"/>
          <p:nvPr/>
        </p:nvSpPr>
        <p:spPr>
          <a:xfrm>
            <a:off x="210312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table</a:t>
            </a:r>
            <a:endParaRPr lang="en-US" dirty="0" sz="1100"/>
          </a:p>
        </p:txBody>
      </p:sp>
      <p:sp>
        <p:nvSpPr>
          <p:cNvPr id="6" name="a1u_pill474"/>
          <p:cNvSpPr txBox="1"/>
          <p:nvPr/>
        </p:nvSpPr>
        <p:spPr>
          <a:xfrm>
            <a:off x="457200" y="333756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· extra data</a:t>
            </a:r>
            <a:endParaRPr lang="en-US" dirty="0" sz="1200"/>
          </a:p>
        </p:txBody>
      </p:sp>
      <p:sp>
        <p:nvSpPr>
          <p:cNvPr id="7" name="a2u_pill475"/>
          <p:cNvSpPr txBox="1"/>
          <p:nvPr/>
        </p:nvSpPr>
        <p:spPr>
          <a:xfrm>
            <a:off x="457200" y="388620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· primary source</a:t>
            </a:r>
            <a:endParaRPr lang="en-US" dirty="0" sz="1200"/>
          </a:p>
        </p:txBody>
      </p:sp>
      <p:sp>
        <p:nvSpPr>
          <p:cNvPr id="8" name="Text 5"/>
          <p:cNvSpPr txBox="1"/>
          <p:nvPr/>
        </p:nvSpPr>
        <p:spPr>
          <a:xfrm>
            <a:off x="4023360" y="960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the right table and only the matching rows from the left.</a:t>
            </a:r>
            <a:endParaRPr lang="en-US" dirty="0" sz="1600"/>
          </a:p>
        </p:txBody>
      </p:sp>
      <p:sp>
        <p:nvSpPr>
          <p:cNvPr id="9" name="a3f_codebg476"/>
          <p:cNvSpPr/>
          <p:nvPr/>
        </p:nvSpPr>
        <p:spPr>
          <a:xfrm>
            <a:off x="4023360" y="169164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a3f_codelbl477"/>
          <p:cNvSpPr txBox="1"/>
          <p:nvPr/>
        </p:nvSpPr>
        <p:spPr>
          <a:xfrm>
            <a:off x="7223760" y="1737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900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dirty="0" sz="900"/>
          </a:p>
        </p:txBody>
      </p:sp>
      <p:sp>
        <p:nvSpPr>
          <p:cNvPr id="11" name="a3wd0_code478"/>
          <p:cNvSpPr txBox="1"/>
          <p:nvPr/>
        </p:nvSpPr>
        <p:spPr>
          <a:xfrm>
            <a:off x="4206240" y="18288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300"/>
          </a:p>
        </p:txBody>
      </p:sp>
      <p:sp>
        <p:nvSpPr>
          <p:cNvPr id="12" name="a3wd350_code479"/>
          <p:cNvSpPr txBox="1"/>
          <p:nvPr/>
        </p:nvSpPr>
        <p:spPr>
          <a:xfrm>
            <a:off x="4206240" y="21031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dirty="0" sz="1300"/>
          </a:p>
        </p:txBody>
      </p:sp>
      <p:sp>
        <p:nvSpPr>
          <p:cNvPr id="13" name="a3wd700_code480"/>
          <p:cNvSpPr txBox="1"/>
          <p:nvPr/>
        </p:nvSpPr>
        <p:spPr>
          <a:xfrm>
            <a:off x="4206240" y="2377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dirty="0" sz="1300"/>
          </a:p>
        </p:txBody>
      </p:sp>
      <p:sp>
        <p:nvSpPr>
          <p:cNvPr id="14" name="a3wd1050_code481"/>
          <p:cNvSpPr txBox="1"/>
          <p:nvPr/>
        </p:nvSpPr>
        <p:spPr>
          <a:xfrm>
            <a:off x="4206240" y="26517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dirty="0" sz="1300"/>
          </a:p>
        </p:txBody>
      </p:sp>
      <p:sp>
        <p:nvSpPr>
          <p:cNvPr id="15" name="a4f_cb482"/>
          <p:cNvSpPr/>
          <p:nvPr/>
        </p:nvSpPr>
        <p:spPr>
          <a:xfrm>
            <a:off x="4023360" y="32004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a4f_ct483"/>
          <p:cNvSpPr txBox="1"/>
          <p:nvPr/>
        </p:nvSpPr>
        <p:spPr>
          <a:xfrm>
            <a:off x="4206240" y="32004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matters!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after RIGHT JOIN is the one returned in full.</a:t>
            </a:r>
            <a:endParaRPr lang="en-US" dirty="0" sz="1200"/>
          </a:p>
        </p:txBody>
      </p:sp>
      <p:sp>
        <p:nvSpPr>
          <p:cNvPr id="17" name="a5f_u484"/>
          <p:cNvSpPr txBox="1"/>
          <p:nvPr/>
        </p:nvSpPr>
        <p:spPr>
          <a:xfrm>
            <a:off x="402336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to:</a:t>
            </a:r>
            <a:endParaRPr lang="en-US" dirty="0" sz="1200"/>
          </a:p>
        </p:txBody>
      </p:sp>
      <p:sp>
        <p:nvSpPr>
          <p:cNvPr id="18" name="a5ud0_chip485"/>
          <p:cNvSpPr txBox="1"/>
          <p:nvPr/>
        </p:nvSpPr>
        <p:spPr>
          <a:xfrm>
            <a:off x="489204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</a:t>
            </a:r>
            <a:endParaRPr lang="en-US" dirty="0" sz="1100"/>
          </a:p>
        </p:txBody>
      </p:sp>
      <p:sp>
        <p:nvSpPr>
          <p:cNvPr id="19" name="a5ud150_chip486"/>
          <p:cNvSpPr txBox="1"/>
          <p:nvPr/>
        </p:nvSpPr>
        <p:spPr>
          <a:xfrm>
            <a:off x="608076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dirty="0" sz="1100"/>
          </a:p>
        </p:txBody>
      </p:sp>
      <p:sp>
        <p:nvSpPr>
          <p:cNvPr id="20" name="a5ud300_chip487"/>
          <p:cNvSpPr txBox="1"/>
          <p:nvPr/>
        </p:nvSpPr>
        <p:spPr>
          <a:xfrm>
            <a:off x="7269480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existence *</a:t>
            </a:r>
            <a:endParaRPr lang="en-US" dirty="0" sz="1100"/>
          </a:p>
        </p:txBody>
      </p:sp>
      <p:sp>
        <p:nvSpPr>
          <p:cNvPr id="21" name="a5fd400_fn488"/>
          <p:cNvSpPr txBox="1"/>
          <p:nvPr/>
        </p:nvSpPr>
        <p:spPr>
          <a:xfrm>
            <a:off x="4892040" y="4462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with a twist — covered in advanced joins</a:t>
            </a:r>
            <a:endParaRPr lang="en-US" dirty="0" sz="10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— In Practice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customers along with their orders, including orders without matching customers.</a:t>
            </a:r>
            <a:endParaRPr lang="en-US" dirty="0" sz="1400"/>
          </a:p>
        </p:txBody>
      </p:sp>
      <p:sp>
        <p:nvSpPr>
          <p:cNvPr id="4" name="a1f_codebg489"/>
          <p:cNvSpPr/>
          <p:nvPr/>
        </p:nvSpPr>
        <p:spPr>
          <a:xfrm>
            <a:off x="457200" y="1645920"/>
            <a:ext cx="3840480" cy="2322576"/>
          </a:xfrm>
          <a:prstGeom prst="roundRect">
            <a:avLst>
              <a:gd name="adj" fmla="val 31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1wd0_code490"/>
          <p:cNvSpPr txBox="1"/>
          <p:nvPr/>
        </p:nvSpPr>
        <p:spPr>
          <a:xfrm>
            <a:off x="640080" y="17830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200"/>
          </a:p>
        </p:txBody>
      </p:sp>
      <p:sp>
        <p:nvSpPr>
          <p:cNvPr id="6" name="a1wd150_code491"/>
          <p:cNvSpPr txBox="1"/>
          <p:nvPr/>
        </p:nvSpPr>
        <p:spPr>
          <a:xfrm>
            <a:off x="640080" y="2039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7" name="a1wd300_code492"/>
          <p:cNvSpPr txBox="1"/>
          <p:nvPr/>
        </p:nvSpPr>
        <p:spPr>
          <a:xfrm>
            <a:off x="640080" y="2295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8" name="a1wd450_code493"/>
          <p:cNvSpPr txBox="1"/>
          <p:nvPr/>
        </p:nvSpPr>
        <p:spPr>
          <a:xfrm>
            <a:off x="640080" y="2551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9" name="a1wd600_code494"/>
          <p:cNvSpPr txBox="1"/>
          <p:nvPr/>
        </p:nvSpPr>
        <p:spPr>
          <a:xfrm>
            <a:off x="640080" y="2807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200"/>
          </a:p>
        </p:txBody>
      </p:sp>
      <p:sp>
        <p:nvSpPr>
          <p:cNvPr id="10" name="a1wd750_code495"/>
          <p:cNvSpPr txBox="1"/>
          <p:nvPr/>
        </p:nvSpPr>
        <p:spPr>
          <a:xfrm>
            <a:off x="640080" y="3063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11" name="a1wd900_code496"/>
          <p:cNvSpPr txBox="1"/>
          <p:nvPr/>
        </p:nvSpPr>
        <p:spPr>
          <a:xfrm>
            <a:off x="640080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2" name="a1wd1050_code497"/>
          <p:cNvSpPr txBox="1"/>
          <p:nvPr/>
        </p:nvSpPr>
        <p:spPr>
          <a:xfrm>
            <a:off x="640080" y="35753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3" name="a2f_l498"/>
          <p:cNvSpPr txBox="1"/>
          <p:nvPr/>
        </p:nvSpPr>
        <p:spPr>
          <a:xfrm>
            <a:off x="466344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200"/>
          </a:p>
        </p:txBody>
      </p:sp>
      <p:sp>
        <p:nvSpPr>
          <p:cNvPr id="14" name="a2f_cell499"/>
          <p:cNvSpPr txBox="1"/>
          <p:nvPr/>
        </p:nvSpPr>
        <p:spPr>
          <a:xfrm>
            <a:off x="4663440" y="1920240"/>
            <a:ext cx="54864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15" name="a2wd200_cell500"/>
          <p:cNvSpPr txBox="1"/>
          <p:nvPr/>
        </p:nvSpPr>
        <p:spPr>
          <a:xfrm>
            <a:off x="4663440" y="21945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6" name="a2wd400_cell501"/>
          <p:cNvSpPr txBox="1"/>
          <p:nvPr/>
        </p:nvSpPr>
        <p:spPr>
          <a:xfrm>
            <a:off x="4663440" y="246888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17" name="a2wd600_cell502"/>
          <p:cNvSpPr txBox="1"/>
          <p:nvPr/>
        </p:nvSpPr>
        <p:spPr>
          <a:xfrm>
            <a:off x="4663440" y="274320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18" name="a2wd800_cell503"/>
          <p:cNvSpPr txBox="1"/>
          <p:nvPr/>
        </p:nvSpPr>
        <p:spPr>
          <a:xfrm>
            <a:off x="4663440" y="301752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19" name="a2f_cell504"/>
          <p:cNvSpPr txBox="1"/>
          <p:nvPr/>
        </p:nvSpPr>
        <p:spPr>
          <a:xfrm>
            <a:off x="5212080" y="1920240"/>
            <a:ext cx="10972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20" name="a2wd200_cell505"/>
          <p:cNvSpPr txBox="1"/>
          <p:nvPr/>
        </p:nvSpPr>
        <p:spPr>
          <a:xfrm>
            <a:off x="5212080" y="219456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21" name="a2wd400_cell506"/>
          <p:cNvSpPr txBox="1"/>
          <p:nvPr/>
        </p:nvSpPr>
        <p:spPr>
          <a:xfrm>
            <a:off x="5212080" y="24688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22" name="a2wd600_cell507"/>
          <p:cNvSpPr txBox="1"/>
          <p:nvPr/>
        </p:nvSpPr>
        <p:spPr>
          <a:xfrm>
            <a:off x="5212080" y="274320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23" name="a2wd800_cell508"/>
          <p:cNvSpPr txBox="1"/>
          <p:nvPr/>
        </p:nvSpPr>
        <p:spPr>
          <a:xfrm>
            <a:off x="5212080" y="3017520"/>
            <a:ext cx="109728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24" name="a2f_cell509"/>
          <p:cNvSpPr txBox="1"/>
          <p:nvPr/>
        </p:nvSpPr>
        <p:spPr>
          <a:xfrm>
            <a:off x="6309360" y="1920240"/>
            <a:ext cx="91440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25" name="a2wd200_cell510"/>
          <p:cNvSpPr txBox="1"/>
          <p:nvPr/>
        </p:nvSpPr>
        <p:spPr>
          <a:xfrm>
            <a:off x="6309360" y="21945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26" name="a2wd400_cell511"/>
          <p:cNvSpPr txBox="1"/>
          <p:nvPr/>
        </p:nvSpPr>
        <p:spPr>
          <a:xfrm>
            <a:off x="6309360" y="24688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27" name="a2wd600_cell512"/>
          <p:cNvSpPr txBox="1"/>
          <p:nvPr/>
        </p:nvSpPr>
        <p:spPr>
          <a:xfrm>
            <a:off x="6309360" y="27432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28" name="a2wd800_cell513"/>
          <p:cNvSpPr txBox="1"/>
          <p:nvPr/>
        </p:nvSpPr>
        <p:spPr>
          <a:xfrm>
            <a:off x="6309360" y="30175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dirty="0" sz="1100"/>
          </a:p>
        </p:txBody>
      </p:sp>
      <p:sp>
        <p:nvSpPr>
          <p:cNvPr id="29" name="a2f_cell514"/>
          <p:cNvSpPr txBox="1"/>
          <p:nvPr/>
        </p:nvSpPr>
        <p:spPr>
          <a:xfrm>
            <a:off x="7223760" y="1920240"/>
            <a:ext cx="73152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30" name="a2wd200_cell515"/>
          <p:cNvSpPr txBox="1"/>
          <p:nvPr/>
        </p:nvSpPr>
        <p:spPr>
          <a:xfrm>
            <a:off x="7223760" y="219456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31" name="a2wd400_cell516"/>
          <p:cNvSpPr txBox="1"/>
          <p:nvPr/>
        </p:nvSpPr>
        <p:spPr>
          <a:xfrm>
            <a:off x="7223760" y="246888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32" name="a2wd600_cell517"/>
          <p:cNvSpPr txBox="1"/>
          <p:nvPr/>
        </p:nvSpPr>
        <p:spPr>
          <a:xfrm>
            <a:off x="7223760" y="274320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33" name="a2wd800_cell518"/>
          <p:cNvSpPr txBox="1"/>
          <p:nvPr/>
        </p:nvSpPr>
        <p:spPr>
          <a:xfrm>
            <a:off x="7223760" y="301752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 sz="1100"/>
          </a:p>
        </p:txBody>
      </p:sp>
      <p:sp>
        <p:nvSpPr>
          <p:cNvPr id="34" name="a3u_nb519"/>
          <p:cNvSpPr/>
          <p:nvPr/>
        </p:nvSpPr>
        <p:spPr>
          <a:xfrm>
            <a:off x="4663440" y="39776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5" name="a3u_ni520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206240"/>
            <a:ext cx="320040" cy="320040"/>
          </a:xfrm>
          <a:prstGeom prst="rect">
            <a:avLst/>
          </a:prstGeom>
        </p:spPr>
      </p:pic>
      <p:sp>
        <p:nvSpPr>
          <p:cNvPr id="36" name="a3u_nt521"/>
          <p:cNvSpPr txBox="1"/>
          <p:nvPr/>
        </p:nvSpPr>
        <p:spPr>
          <a:xfrm>
            <a:off x="5212080" y="39776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orders kept; order 1004 has no known customer, so the customer columns are NULL.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Solve It With LEFT JOIN Only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 — all orders plus matching customers — without RIGHT JOIN</a:t>
            </a:r>
            <a:endParaRPr lang="en-US" dirty="0" sz="130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dirty="0" sz="1300"/>
          </a:p>
        </p:txBody>
      </p:sp>
      <p:sp>
        <p:nvSpPr>
          <p:cNvPr id="5" name="s_codebg522"/>
          <p:cNvSpPr/>
          <p:nvPr/>
        </p:nvSpPr>
        <p:spPr>
          <a:xfrm>
            <a:off x="457200" y="146304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_code523"/>
          <p:cNvSpPr txBox="1"/>
          <p:nvPr/>
        </p:nvSpPr>
        <p:spPr>
          <a:xfrm>
            <a:off x="640080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7" name="s_code524"/>
          <p:cNvSpPr txBox="1"/>
          <p:nvPr/>
        </p:nvSpPr>
        <p:spPr>
          <a:xfrm>
            <a:off x="640080" y="18562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200"/>
          </a:p>
        </p:txBody>
      </p:sp>
      <p:sp>
        <p:nvSpPr>
          <p:cNvPr id="8" name="s_code525"/>
          <p:cNvSpPr txBox="1"/>
          <p:nvPr/>
        </p:nvSpPr>
        <p:spPr>
          <a:xfrm>
            <a:off x="640080" y="21122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9" name="s_code526"/>
          <p:cNvSpPr txBox="1"/>
          <p:nvPr/>
        </p:nvSpPr>
        <p:spPr>
          <a:xfrm>
            <a:off x="640080" y="2368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0" name="s_code527"/>
          <p:cNvSpPr txBox="1"/>
          <p:nvPr/>
        </p:nvSpPr>
        <p:spPr>
          <a:xfrm>
            <a:off x="640080" y="2624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1" name="a1f_eq528"/>
          <p:cNvSpPr txBox="1"/>
          <p:nvPr/>
        </p:nvSpPr>
        <p:spPr>
          <a:xfrm>
            <a:off x="4343400" y="1938528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2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dirty="0" sz="2200"/>
          </a:p>
        </p:txBody>
      </p:sp>
      <p:sp>
        <p:nvSpPr>
          <p:cNvPr id="12" name="a1f_l529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(tables swapped)</a:t>
            </a:r>
            <a:endParaRPr lang="en-US" dirty="0" sz="1300"/>
          </a:p>
        </p:txBody>
      </p:sp>
      <p:sp>
        <p:nvSpPr>
          <p:cNvPr id="13" name="a1f_codebg530"/>
          <p:cNvSpPr/>
          <p:nvPr/>
        </p:nvSpPr>
        <p:spPr>
          <a:xfrm>
            <a:off x="4937760" y="146304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a1wd0_code531"/>
          <p:cNvSpPr txBox="1"/>
          <p:nvPr/>
        </p:nvSpPr>
        <p:spPr>
          <a:xfrm>
            <a:off x="5120640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15" name="a1wd200_code532"/>
          <p:cNvSpPr txBox="1"/>
          <p:nvPr/>
        </p:nvSpPr>
        <p:spPr>
          <a:xfrm>
            <a:off x="5120640" y="18562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200"/>
          </a:p>
        </p:txBody>
      </p:sp>
      <p:sp>
        <p:nvSpPr>
          <p:cNvPr id="16" name="a1wd400_code533"/>
          <p:cNvSpPr txBox="1"/>
          <p:nvPr/>
        </p:nvSpPr>
        <p:spPr>
          <a:xfrm>
            <a:off x="5120640" y="21122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7" name="a1wd600_code534"/>
          <p:cNvSpPr txBox="1"/>
          <p:nvPr/>
        </p:nvSpPr>
        <p:spPr>
          <a:xfrm>
            <a:off x="5120640" y="2368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18" name="a1wd800_code535"/>
          <p:cNvSpPr txBox="1"/>
          <p:nvPr/>
        </p:nvSpPr>
        <p:spPr>
          <a:xfrm>
            <a:off x="5120640" y="2624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9" name="a1fd1000_c536"/>
          <p:cNvSpPr txBox="1"/>
          <p:nvPr/>
        </p:nvSpPr>
        <p:spPr>
          <a:xfrm>
            <a:off x="493776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both the table order and the join type → identical result</a:t>
            </a:r>
            <a:endParaRPr lang="en-US" dirty="0" sz="1100"/>
          </a:p>
        </p:txBody>
      </p:sp>
      <p:sp>
        <p:nvSpPr>
          <p:cNvPr id="20" name="a2u_tb537"/>
          <p:cNvSpPr/>
          <p:nvPr/>
        </p:nvSpPr>
        <p:spPr>
          <a:xfrm>
            <a:off x="457200" y="35204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1" name="a2u_ti538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86200"/>
            <a:ext cx="457200" cy="457200"/>
          </a:xfrm>
          <a:prstGeom prst="rect">
            <a:avLst/>
          </a:prstGeom>
        </p:spPr>
      </p:pic>
      <p:sp>
        <p:nvSpPr>
          <p:cNvPr id="22" name="a2u_tt539"/>
          <p:cNvSpPr txBox="1"/>
          <p:nvPr/>
        </p:nvSpPr>
        <p:spPr>
          <a:xfrm>
            <a:off x="1371600" y="352044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SQL developers rarely use RIGHT JOIN. Start FROM the table you need in full and LEFT JOIN the others — queries stay consistent and easier to read.</a:t>
            </a:r>
            <a:endParaRPr lang="en-US" dirty="0" sz="14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540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 sz="6000"/>
          </a:p>
        </p:txBody>
      </p:sp>
      <p:sp>
        <p:nvSpPr>
          <p:cNvPr id="3" name="a0ud200_h541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JOIN</a:t>
            </a:r>
            <a:endParaRPr lang="en-US" dirty="0" sz="4400"/>
          </a:p>
        </p:txBody>
      </p:sp>
      <p:sp>
        <p:nvSpPr>
          <p:cNvPr id="4" name="a0fd450_t542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both tables</a:t>
            </a:r>
            <a:endParaRPr lang="en-US" dirty="0" sz="1700"/>
          </a:p>
        </p:txBody>
      </p:sp>
      <p:pic>
        <p:nvPicPr>
          <p:cNvPr id="5" name="a0fd300_v543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JOIN — The Concept</a:t>
            </a:r>
            <a:endParaRPr lang="en-US" dirty="0" sz="2800"/>
          </a:p>
        </p:txBody>
      </p:sp>
      <p:pic>
        <p:nvPicPr>
          <p:cNvPr id="3" name="Image 0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3108960" cy="1969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table</a:t>
            </a:r>
            <a:endParaRPr lang="en-US" dirty="0" sz="1100"/>
          </a:p>
        </p:txBody>
      </p:sp>
      <p:sp>
        <p:nvSpPr>
          <p:cNvPr id="5" name="Text 2"/>
          <p:cNvSpPr txBox="1"/>
          <p:nvPr/>
        </p:nvSpPr>
        <p:spPr>
          <a:xfrm>
            <a:off x="210312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table</a:t>
            </a:r>
            <a:endParaRPr lang="en-US" dirty="0" sz="1100"/>
          </a:p>
        </p:txBody>
      </p:sp>
      <p:sp>
        <p:nvSpPr>
          <p:cNvPr id="6" name="a1u_pill544"/>
          <p:cNvSpPr txBox="1"/>
          <p:nvPr/>
        </p:nvSpPr>
        <p:spPr>
          <a:xfrm>
            <a:off x="457200" y="333756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</a:t>
            </a:r>
            <a:endParaRPr lang="en-US" dirty="0" sz="1200"/>
          </a:p>
        </p:txBody>
      </p:sp>
      <p:sp>
        <p:nvSpPr>
          <p:cNvPr id="7" name="a2u_pill545"/>
          <p:cNvSpPr txBox="1"/>
          <p:nvPr/>
        </p:nvSpPr>
        <p:spPr>
          <a:xfrm>
            <a:off x="457200" y="388620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</a:t>
            </a:r>
            <a:endParaRPr lang="en-US" dirty="0" sz="1200"/>
          </a:p>
        </p:txBody>
      </p:sp>
      <p:sp>
        <p:nvSpPr>
          <p:cNvPr id="8" name="Text 5"/>
          <p:cNvSpPr txBox="1"/>
          <p:nvPr/>
        </p:nvSpPr>
        <p:spPr>
          <a:xfrm>
            <a:off x="4023360" y="960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both tables — matched and unmatched.</a:t>
            </a:r>
            <a:endParaRPr lang="en-US" dirty="0" sz="1600"/>
          </a:p>
        </p:txBody>
      </p:sp>
      <p:sp>
        <p:nvSpPr>
          <p:cNvPr id="9" name="a3f_codebg546"/>
          <p:cNvSpPr/>
          <p:nvPr/>
        </p:nvSpPr>
        <p:spPr>
          <a:xfrm>
            <a:off x="4023360" y="169164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a3f_codelbl547"/>
          <p:cNvSpPr txBox="1"/>
          <p:nvPr/>
        </p:nvSpPr>
        <p:spPr>
          <a:xfrm>
            <a:off x="7223760" y="1737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900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dirty="0" sz="900"/>
          </a:p>
        </p:txBody>
      </p:sp>
      <p:sp>
        <p:nvSpPr>
          <p:cNvPr id="11" name="a3wd0_code548"/>
          <p:cNvSpPr txBox="1"/>
          <p:nvPr/>
        </p:nvSpPr>
        <p:spPr>
          <a:xfrm>
            <a:off x="4206240" y="18288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300"/>
          </a:p>
        </p:txBody>
      </p:sp>
      <p:sp>
        <p:nvSpPr>
          <p:cNvPr id="12" name="a3wd350_code549"/>
          <p:cNvSpPr txBox="1"/>
          <p:nvPr/>
        </p:nvSpPr>
        <p:spPr>
          <a:xfrm>
            <a:off x="4206240" y="21031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dirty="0" sz="1300"/>
          </a:p>
        </p:txBody>
      </p:sp>
      <p:sp>
        <p:nvSpPr>
          <p:cNvPr id="13" name="a3wd700_code550"/>
          <p:cNvSpPr txBox="1"/>
          <p:nvPr/>
        </p:nvSpPr>
        <p:spPr>
          <a:xfrm>
            <a:off x="4206240" y="2377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dirty="0" sz="1300"/>
          </a:p>
        </p:txBody>
      </p:sp>
      <p:sp>
        <p:nvSpPr>
          <p:cNvPr id="14" name="a3wd1050_code551"/>
          <p:cNvSpPr txBox="1"/>
          <p:nvPr/>
        </p:nvSpPr>
        <p:spPr>
          <a:xfrm>
            <a:off x="4206240" y="26517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dirty="0" sz="1300"/>
          </a:p>
        </p:txBody>
      </p:sp>
      <p:sp>
        <p:nvSpPr>
          <p:cNvPr id="15" name="a4f_cb552"/>
          <p:cNvSpPr/>
          <p:nvPr/>
        </p:nvSpPr>
        <p:spPr>
          <a:xfrm>
            <a:off x="4023360" y="32004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a4f_ct553"/>
          <p:cNvSpPr txBox="1"/>
          <p:nvPr/>
        </p:nvSpPr>
        <p:spPr>
          <a:xfrm>
            <a:off x="4206240" y="32004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doesn't matter: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tables are equally important. A FULL JOIN B = B FULL JOIN A.</a:t>
            </a:r>
            <a:endParaRPr lang="en-US" dirty="0" sz="1200"/>
          </a:p>
        </p:txBody>
      </p:sp>
      <p:sp>
        <p:nvSpPr>
          <p:cNvPr id="17" name="a5f_u554"/>
          <p:cNvSpPr txBox="1"/>
          <p:nvPr/>
        </p:nvSpPr>
        <p:spPr>
          <a:xfrm>
            <a:off x="402336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to:</a:t>
            </a:r>
            <a:endParaRPr lang="en-US" dirty="0" sz="1200"/>
          </a:p>
        </p:txBody>
      </p:sp>
      <p:sp>
        <p:nvSpPr>
          <p:cNvPr id="18" name="a5ud0_chip555"/>
          <p:cNvSpPr txBox="1"/>
          <p:nvPr/>
        </p:nvSpPr>
        <p:spPr>
          <a:xfrm>
            <a:off x="489204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</a:t>
            </a:r>
            <a:endParaRPr lang="en-US" dirty="0" sz="1100"/>
          </a:p>
        </p:txBody>
      </p:sp>
      <p:sp>
        <p:nvSpPr>
          <p:cNvPr id="19" name="a5ud150_chip556"/>
          <p:cNvSpPr txBox="1"/>
          <p:nvPr/>
        </p:nvSpPr>
        <p:spPr>
          <a:xfrm>
            <a:off x="6080760" y="4023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dirty="0" sz="1100"/>
          </a:p>
        </p:txBody>
      </p:sp>
      <p:sp>
        <p:nvSpPr>
          <p:cNvPr id="20" name="a5ud300_chip557"/>
          <p:cNvSpPr txBox="1"/>
          <p:nvPr/>
        </p:nvSpPr>
        <p:spPr>
          <a:xfrm>
            <a:off x="7269480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existence *</a:t>
            </a:r>
            <a:endParaRPr lang="en-US" dirty="0" sz="1100"/>
          </a:p>
        </p:txBody>
      </p:sp>
      <p:sp>
        <p:nvSpPr>
          <p:cNvPr id="21" name="a5fd400_fn558"/>
          <p:cNvSpPr txBox="1"/>
          <p:nvPr/>
        </p:nvSpPr>
        <p:spPr>
          <a:xfrm>
            <a:off x="4892040" y="4462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with a twist — covered in advanced joins</a:t>
            </a:r>
            <a:endParaRPr lang="en-US" dirty="0" sz="10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JOIN — In Practice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customers and all orders, even if there is no match.</a:t>
            </a:r>
            <a:endParaRPr lang="en-US" dirty="0" sz="1400"/>
          </a:p>
        </p:txBody>
      </p:sp>
      <p:sp>
        <p:nvSpPr>
          <p:cNvPr id="4" name="a1f_codebg559"/>
          <p:cNvSpPr/>
          <p:nvPr/>
        </p:nvSpPr>
        <p:spPr>
          <a:xfrm>
            <a:off x="457200" y="1645920"/>
            <a:ext cx="3840480" cy="2322576"/>
          </a:xfrm>
          <a:prstGeom prst="roundRect">
            <a:avLst>
              <a:gd name="adj" fmla="val 31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1wd0_code560"/>
          <p:cNvSpPr txBox="1"/>
          <p:nvPr/>
        </p:nvSpPr>
        <p:spPr>
          <a:xfrm>
            <a:off x="640080" y="17830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200"/>
          </a:p>
        </p:txBody>
      </p:sp>
      <p:sp>
        <p:nvSpPr>
          <p:cNvPr id="6" name="a1wd150_code561"/>
          <p:cNvSpPr txBox="1"/>
          <p:nvPr/>
        </p:nvSpPr>
        <p:spPr>
          <a:xfrm>
            <a:off x="640080" y="2039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7" name="a1wd300_code562"/>
          <p:cNvSpPr txBox="1"/>
          <p:nvPr/>
        </p:nvSpPr>
        <p:spPr>
          <a:xfrm>
            <a:off x="640080" y="22951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8" name="a1wd450_code563"/>
          <p:cNvSpPr txBox="1"/>
          <p:nvPr/>
        </p:nvSpPr>
        <p:spPr>
          <a:xfrm>
            <a:off x="640080" y="2551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9" name="a1wd600_code564"/>
          <p:cNvSpPr txBox="1"/>
          <p:nvPr/>
        </p:nvSpPr>
        <p:spPr>
          <a:xfrm>
            <a:off x="640080" y="2807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200"/>
          </a:p>
        </p:txBody>
      </p:sp>
      <p:sp>
        <p:nvSpPr>
          <p:cNvPr id="10" name="a1wd750_code565"/>
          <p:cNvSpPr txBox="1"/>
          <p:nvPr/>
        </p:nvSpPr>
        <p:spPr>
          <a:xfrm>
            <a:off x="640080" y="3063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11" name="a1wd900_code566"/>
          <p:cNvSpPr txBox="1"/>
          <p:nvPr/>
        </p:nvSpPr>
        <p:spPr>
          <a:xfrm>
            <a:off x="640080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2" name="a1wd1050_code567"/>
          <p:cNvSpPr txBox="1"/>
          <p:nvPr/>
        </p:nvSpPr>
        <p:spPr>
          <a:xfrm>
            <a:off x="640080" y="35753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3" name="a2f_l568"/>
          <p:cNvSpPr txBox="1"/>
          <p:nvPr/>
        </p:nvSpPr>
        <p:spPr>
          <a:xfrm>
            <a:off x="466344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200"/>
          </a:p>
        </p:txBody>
      </p:sp>
      <p:sp>
        <p:nvSpPr>
          <p:cNvPr id="14" name="a2f_cell569"/>
          <p:cNvSpPr txBox="1"/>
          <p:nvPr/>
        </p:nvSpPr>
        <p:spPr>
          <a:xfrm>
            <a:off x="4663440" y="1920240"/>
            <a:ext cx="54864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15" name="a2wd200_cell570"/>
          <p:cNvSpPr txBox="1"/>
          <p:nvPr/>
        </p:nvSpPr>
        <p:spPr>
          <a:xfrm>
            <a:off x="4663440" y="21945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6" name="a2wd400_cell571"/>
          <p:cNvSpPr txBox="1"/>
          <p:nvPr/>
        </p:nvSpPr>
        <p:spPr>
          <a:xfrm>
            <a:off x="4663440" y="246888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17" name="a2wd600_cell572"/>
          <p:cNvSpPr txBox="1"/>
          <p:nvPr/>
        </p:nvSpPr>
        <p:spPr>
          <a:xfrm>
            <a:off x="4663440" y="274320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18" name="a2wd800_cell573"/>
          <p:cNvSpPr txBox="1"/>
          <p:nvPr/>
        </p:nvSpPr>
        <p:spPr>
          <a:xfrm>
            <a:off x="4663440" y="301752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19" name="a2wd1000_cell574"/>
          <p:cNvSpPr txBox="1"/>
          <p:nvPr/>
        </p:nvSpPr>
        <p:spPr>
          <a:xfrm>
            <a:off x="4663440" y="329184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20" name="a2wd1200_cell575"/>
          <p:cNvSpPr txBox="1"/>
          <p:nvPr/>
        </p:nvSpPr>
        <p:spPr>
          <a:xfrm>
            <a:off x="4663440" y="356616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21" name="a2f_cell576"/>
          <p:cNvSpPr txBox="1"/>
          <p:nvPr/>
        </p:nvSpPr>
        <p:spPr>
          <a:xfrm>
            <a:off x="5212080" y="1920240"/>
            <a:ext cx="10972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22" name="a2wd200_cell577"/>
          <p:cNvSpPr txBox="1"/>
          <p:nvPr/>
        </p:nvSpPr>
        <p:spPr>
          <a:xfrm>
            <a:off x="5212080" y="219456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23" name="a2wd400_cell578"/>
          <p:cNvSpPr txBox="1"/>
          <p:nvPr/>
        </p:nvSpPr>
        <p:spPr>
          <a:xfrm>
            <a:off x="5212080" y="24688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24" name="a2wd600_cell579"/>
          <p:cNvSpPr txBox="1"/>
          <p:nvPr/>
        </p:nvSpPr>
        <p:spPr>
          <a:xfrm>
            <a:off x="5212080" y="274320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25" name="a2wd800_cell580"/>
          <p:cNvSpPr txBox="1"/>
          <p:nvPr/>
        </p:nvSpPr>
        <p:spPr>
          <a:xfrm>
            <a:off x="5212080" y="301752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26" name="a2wd1000_cell581"/>
          <p:cNvSpPr txBox="1"/>
          <p:nvPr/>
        </p:nvSpPr>
        <p:spPr>
          <a:xfrm>
            <a:off x="5212080" y="329184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27" name="a2wd1200_cell582"/>
          <p:cNvSpPr txBox="1"/>
          <p:nvPr/>
        </p:nvSpPr>
        <p:spPr>
          <a:xfrm>
            <a:off x="5212080" y="3566160"/>
            <a:ext cx="109728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28" name="a2f_cell583"/>
          <p:cNvSpPr txBox="1"/>
          <p:nvPr/>
        </p:nvSpPr>
        <p:spPr>
          <a:xfrm>
            <a:off x="6309360" y="1920240"/>
            <a:ext cx="91440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29" name="a2wd200_cell584"/>
          <p:cNvSpPr txBox="1"/>
          <p:nvPr/>
        </p:nvSpPr>
        <p:spPr>
          <a:xfrm>
            <a:off x="6309360" y="21945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30" name="a2wd400_cell585"/>
          <p:cNvSpPr txBox="1"/>
          <p:nvPr/>
        </p:nvSpPr>
        <p:spPr>
          <a:xfrm>
            <a:off x="6309360" y="24688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31" name="a2wd600_cell586"/>
          <p:cNvSpPr txBox="1"/>
          <p:nvPr/>
        </p:nvSpPr>
        <p:spPr>
          <a:xfrm>
            <a:off x="6309360" y="27432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32" name="a2wd800_cell587"/>
          <p:cNvSpPr txBox="1"/>
          <p:nvPr/>
        </p:nvSpPr>
        <p:spPr>
          <a:xfrm>
            <a:off x="6309360" y="301752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3" name="a2wd1000_cell588"/>
          <p:cNvSpPr txBox="1"/>
          <p:nvPr/>
        </p:nvSpPr>
        <p:spPr>
          <a:xfrm>
            <a:off x="6309360" y="329184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4" name="a2wd1200_cell589"/>
          <p:cNvSpPr txBox="1"/>
          <p:nvPr/>
        </p:nvSpPr>
        <p:spPr>
          <a:xfrm>
            <a:off x="6309360" y="35661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dirty="0" sz="1100"/>
          </a:p>
        </p:txBody>
      </p:sp>
      <p:sp>
        <p:nvSpPr>
          <p:cNvPr id="35" name="a2f_cell590"/>
          <p:cNvSpPr txBox="1"/>
          <p:nvPr/>
        </p:nvSpPr>
        <p:spPr>
          <a:xfrm>
            <a:off x="7223760" y="1920240"/>
            <a:ext cx="73152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36" name="a2wd200_cell591"/>
          <p:cNvSpPr txBox="1"/>
          <p:nvPr/>
        </p:nvSpPr>
        <p:spPr>
          <a:xfrm>
            <a:off x="7223760" y="219456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37" name="a2wd400_cell592"/>
          <p:cNvSpPr txBox="1"/>
          <p:nvPr/>
        </p:nvSpPr>
        <p:spPr>
          <a:xfrm>
            <a:off x="7223760" y="246888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38" name="a2wd600_cell593"/>
          <p:cNvSpPr txBox="1"/>
          <p:nvPr/>
        </p:nvSpPr>
        <p:spPr>
          <a:xfrm>
            <a:off x="7223760" y="274320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39" name="a2wd800_cell594"/>
          <p:cNvSpPr txBox="1"/>
          <p:nvPr/>
        </p:nvSpPr>
        <p:spPr>
          <a:xfrm>
            <a:off x="7223760" y="3017520"/>
            <a:ext cx="73152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40" name="a2wd1000_cell595"/>
          <p:cNvSpPr txBox="1"/>
          <p:nvPr/>
        </p:nvSpPr>
        <p:spPr>
          <a:xfrm>
            <a:off x="7223760" y="3291840"/>
            <a:ext cx="73152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41" name="a2wd1200_cell596"/>
          <p:cNvSpPr txBox="1"/>
          <p:nvPr/>
        </p:nvSpPr>
        <p:spPr>
          <a:xfrm>
            <a:off x="7223760" y="356616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 sz="1100"/>
          </a:p>
        </p:txBody>
      </p:sp>
      <p:sp>
        <p:nvSpPr>
          <p:cNvPr id="42" name="a3u_nb597"/>
          <p:cNvSpPr/>
          <p:nvPr/>
        </p:nvSpPr>
        <p:spPr>
          <a:xfrm>
            <a:off x="4663440" y="39776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3" name="a3u_ni598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206240"/>
            <a:ext cx="320040" cy="320040"/>
          </a:xfrm>
          <a:prstGeom prst="rect">
            <a:avLst/>
          </a:prstGeom>
        </p:spPr>
      </p:pic>
      <p:sp>
        <p:nvSpPr>
          <p:cNvPr id="44" name="a3u_nt599"/>
          <p:cNvSpPr txBox="1"/>
          <p:nvPr/>
        </p:nvSpPr>
        <p:spPr>
          <a:xfrm>
            <a:off x="5212080" y="39776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lost on either side — NULLs fill every gap where a match is missing.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FULL JOIN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SQL walks through the rows to build the result</a:t>
            </a:r>
            <a:endParaRPr lang="en-US" dirty="0" sz="130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(left)</a:t>
            </a:r>
            <a:endParaRPr lang="en-US" dirty="0" sz="1200"/>
          </a:p>
        </p:txBody>
      </p:sp>
      <p:sp>
        <p:nvSpPr>
          <p:cNvPr id="5" name="s_cell600"/>
          <p:cNvSpPr txBox="1"/>
          <p:nvPr/>
        </p:nvSpPr>
        <p:spPr>
          <a:xfrm>
            <a:off x="457200" y="1417320"/>
            <a:ext cx="4114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6" name="s_cell601"/>
          <p:cNvSpPr txBox="1"/>
          <p:nvPr/>
        </p:nvSpPr>
        <p:spPr>
          <a:xfrm>
            <a:off x="457200" y="169164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7" name="s_cell602"/>
          <p:cNvSpPr txBox="1"/>
          <p:nvPr/>
        </p:nvSpPr>
        <p:spPr>
          <a:xfrm>
            <a:off x="457200" y="196596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8" name="s_cell603"/>
          <p:cNvSpPr txBox="1"/>
          <p:nvPr/>
        </p:nvSpPr>
        <p:spPr>
          <a:xfrm>
            <a:off x="457200" y="224028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9" name="s_cell604"/>
          <p:cNvSpPr txBox="1"/>
          <p:nvPr/>
        </p:nvSpPr>
        <p:spPr>
          <a:xfrm>
            <a:off x="457200" y="251460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10" name="s_cell605"/>
          <p:cNvSpPr txBox="1"/>
          <p:nvPr/>
        </p:nvSpPr>
        <p:spPr>
          <a:xfrm>
            <a:off x="457200" y="278892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11" name="s_cell606"/>
          <p:cNvSpPr txBox="1"/>
          <p:nvPr/>
        </p:nvSpPr>
        <p:spPr>
          <a:xfrm>
            <a:off x="868680" y="1417320"/>
            <a:ext cx="100584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12" name="s_cell607"/>
          <p:cNvSpPr txBox="1"/>
          <p:nvPr/>
        </p:nvSpPr>
        <p:spPr>
          <a:xfrm>
            <a:off x="868680" y="169164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13" name="s_cell608"/>
          <p:cNvSpPr txBox="1"/>
          <p:nvPr/>
        </p:nvSpPr>
        <p:spPr>
          <a:xfrm>
            <a:off x="868680" y="196596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14" name="s_cell609"/>
          <p:cNvSpPr txBox="1"/>
          <p:nvPr/>
        </p:nvSpPr>
        <p:spPr>
          <a:xfrm>
            <a:off x="868680" y="224028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15" name="s_cell610"/>
          <p:cNvSpPr txBox="1"/>
          <p:nvPr/>
        </p:nvSpPr>
        <p:spPr>
          <a:xfrm>
            <a:off x="868680" y="251460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16" name="s_cell611"/>
          <p:cNvSpPr txBox="1"/>
          <p:nvPr/>
        </p:nvSpPr>
        <p:spPr>
          <a:xfrm>
            <a:off x="868680" y="278892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17" name="Text 15"/>
          <p:cNvSpPr txBox="1"/>
          <p:nvPr/>
        </p:nvSpPr>
        <p:spPr>
          <a:xfrm>
            <a:off x="292608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(right)</a:t>
            </a:r>
            <a:endParaRPr lang="en-US" dirty="0" sz="1200"/>
          </a:p>
        </p:txBody>
      </p:sp>
      <p:sp>
        <p:nvSpPr>
          <p:cNvPr id="18" name="s_cell612"/>
          <p:cNvSpPr txBox="1"/>
          <p:nvPr/>
        </p:nvSpPr>
        <p:spPr>
          <a:xfrm>
            <a:off x="2926080" y="1417320"/>
            <a:ext cx="73152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19" name="s_cell613"/>
          <p:cNvSpPr txBox="1"/>
          <p:nvPr/>
        </p:nvSpPr>
        <p:spPr>
          <a:xfrm>
            <a:off x="2926080" y="169164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20" name="s_cell614"/>
          <p:cNvSpPr txBox="1"/>
          <p:nvPr/>
        </p:nvSpPr>
        <p:spPr>
          <a:xfrm>
            <a:off x="2926080" y="196596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21" name="s_cell615"/>
          <p:cNvSpPr txBox="1"/>
          <p:nvPr/>
        </p:nvSpPr>
        <p:spPr>
          <a:xfrm>
            <a:off x="2926080" y="224028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22" name="s_cell616"/>
          <p:cNvSpPr txBox="1"/>
          <p:nvPr/>
        </p:nvSpPr>
        <p:spPr>
          <a:xfrm>
            <a:off x="2926080" y="251460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dirty="0" sz="1100"/>
          </a:p>
        </p:txBody>
      </p:sp>
      <p:sp>
        <p:nvSpPr>
          <p:cNvPr id="23" name="s_cell617"/>
          <p:cNvSpPr txBox="1"/>
          <p:nvPr/>
        </p:nvSpPr>
        <p:spPr>
          <a:xfrm>
            <a:off x="3657600" y="1417320"/>
            <a:ext cx="86868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dirty="0" sz="1100"/>
          </a:p>
        </p:txBody>
      </p:sp>
      <p:sp>
        <p:nvSpPr>
          <p:cNvPr id="24" name="s_cell618"/>
          <p:cNvSpPr txBox="1"/>
          <p:nvPr/>
        </p:nvSpPr>
        <p:spPr>
          <a:xfrm>
            <a:off x="3657600" y="169164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25" name="s_cell619"/>
          <p:cNvSpPr txBox="1"/>
          <p:nvPr/>
        </p:nvSpPr>
        <p:spPr>
          <a:xfrm>
            <a:off x="3657600" y="196596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26" name="s_cell620"/>
          <p:cNvSpPr txBox="1"/>
          <p:nvPr/>
        </p:nvSpPr>
        <p:spPr>
          <a:xfrm>
            <a:off x="3657600" y="224028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27" name="s_cell621"/>
          <p:cNvSpPr txBox="1"/>
          <p:nvPr/>
        </p:nvSpPr>
        <p:spPr>
          <a:xfrm>
            <a:off x="3657600" y="2514600"/>
            <a:ext cx="868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 sz="1100"/>
          </a:p>
        </p:txBody>
      </p:sp>
      <p:sp>
        <p:nvSpPr>
          <p:cNvPr id="28" name="s_cell622"/>
          <p:cNvSpPr txBox="1"/>
          <p:nvPr/>
        </p:nvSpPr>
        <p:spPr>
          <a:xfrm>
            <a:off x="4526280" y="141732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29" name="s_cell623"/>
          <p:cNvSpPr txBox="1"/>
          <p:nvPr/>
        </p:nvSpPr>
        <p:spPr>
          <a:xfrm>
            <a:off x="4526280" y="169164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30" name="s_cell624"/>
          <p:cNvSpPr txBox="1"/>
          <p:nvPr/>
        </p:nvSpPr>
        <p:spPr>
          <a:xfrm>
            <a:off x="4526280" y="19659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31" name="s_cell625"/>
          <p:cNvSpPr txBox="1"/>
          <p:nvPr/>
        </p:nvSpPr>
        <p:spPr>
          <a:xfrm>
            <a:off x="4526280" y="224028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32" name="s_cell626"/>
          <p:cNvSpPr txBox="1"/>
          <p:nvPr/>
        </p:nvSpPr>
        <p:spPr>
          <a:xfrm>
            <a:off x="4526280" y="251460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 sz="1100"/>
          </a:p>
        </p:txBody>
      </p:sp>
      <p:sp>
        <p:nvSpPr>
          <p:cNvPr id="33" name="Text 31"/>
          <p:cNvSpPr txBox="1"/>
          <p:nvPr/>
        </p:nvSpPr>
        <p:spPr>
          <a:xfrm>
            <a:off x="557784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200"/>
          </a:p>
        </p:txBody>
      </p:sp>
      <p:sp>
        <p:nvSpPr>
          <p:cNvPr id="34" name="s_cell627"/>
          <p:cNvSpPr txBox="1"/>
          <p:nvPr/>
        </p:nvSpPr>
        <p:spPr>
          <a:xfrm>
            <a:off x="5577840" y="1417320"/>
            <a:ext cx="41148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35" name="s_cell628"/>
          <p:cNvSpPr txBox="1"/>
          <p:nvPr/>
        </p:nvSpPr>
        <p:spPr>
          <a:xfrm>
            <a:off x="5989320" y="1417320"/>
            <a:ext cx="9144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36" name="s_cell629"/>
          <p:cNvSpPr txBox="1"/>
          <p:nvPr/>
        </p:nvSpPr>
        <p:spPr>
          <a:xfrm>
            <a:off x="6903720" y="1417320"/>
            <a:ext cx="73152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37" name="s_cell630"/>
          <p:cNvSpPr txBox="1"/>
          <p:nvPr/>
        </p:nvSpPr>
        <p:spPr>
          <a:xfrm>
            <a:off x="7635240" y="141732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38" name="Shape 36"/>
          <p:cNvSpPr/>
          <p:nvPr/>
        </p:nvSpPr>
        <p:spPr>
          <a:xfrm>
            <a:off x="457200" y="329184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3346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b="1" spc="200" kern="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</a:t>
            </a:r>
            <a:endParaRPr lang="en-US" dirty="0" sz="1000"/>
          </a:p>
        </p:txBody>
      </p:sp>
      <p:sp>
        <p:nvSpPr>
          <p:cNvPr id="40" name="a1wd0_cell631"/>
          <p:cNvSpPr txBox="1"/>
          <p:nvPr/>
        </p:nvSpPr>
        <p:spPr>
          <a:xfrm>
            <a:off x="5577840" y="169164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41" name="a1wd0_cell632"/>
          <p:cNvSpPr txBox="1"/>
          <p:nvPr/>
        </p:nvSpPr>
        <p:spPr>
          <a:xfrm>
            <a:off x="5989320" y="169164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42" name="a1wd120_cell633"/>
          <p:cNvSpPr txBox="1"/>
          <p:nvPr/>
        </p:nvSpPr>
        <p:spPr>
          <a:xfrm>
            <a:off x="5577840" y="196596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43" name="a1wd120_cell634"/>
          <p:cNvSpPr txBox="1"/>
          <p:nvPr/>
        </p:nvSpPr>
        <p:spPr>
          <a:xfrm>
            <a:off x="5989320" y="196596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44" name="a1wd240_cell635"/>
          <p:cNvSpPr txBox="1"/>
          <p:nvPr/>
        </p:nvSpPr>
        <p:spPr>
          <a:xfrm>
            <a:off x="5577840" y="224028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45" name="a1wd240_cell636"/>
          <p:cNvSpPr txBox="1"/>
          <p:nvPr/>
        </p:nvSpPr>
        <p:spPr>
          <a:xfrm>
            <a:off x="5989320" y="224028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46" name="a1wd360_cell637"/>
          <p:cNvSpPr txBox="1"/>
          <p:nvPr/>
        </p:nvSpPr>
        <p:spPr>
          <a:xfrm>
            <a:off x="5577840" y="251460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47" name="a1wd360_cell638"/>
          <p:cNvSpPr txBox="1"/>
          <p:nvPr/>
        </p:nvSpPr>
        <p:spPr>
          <a:xfrm>
            <a:off x="5989320" y="251460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48" name="a1wd480_cell639"/>
          <p:cNvSpPr txBox="1"/>
          <p:nvPr/>
        </p:nvSpPr>
        <p:spPr>
          <a:xfrm>
            <a:off x="5577840" y="2788920"/>
            <a:ext cx="41148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49" name="a1wd480_cell640"/>
          <p:cNvSpPr txBox="1"/>
          <p:nvPr/>
        </p:nvSpPr>
        <p:spPr>
          <a:xfrm>
            <a:off x="5989320" y="2788920"/>
            <a:ext cx="91440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50" name="a1fd300_log641"/>
          <p:cNvSpPr txBox="1"/>
          <p:nvPr/>
        </p:nvSpPr>
        <p:spPr>
          <a:xfrm>
            <a:off x="640080" y="3584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Take </a:t>
            </a:r>
            <a:r>
              <a:rPr sz="11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</a:t>
            </a: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left table (customers)</a:t>
            </a:r>
            <a:endParaRPr lang="en-US" dirty="0" sz="1100"/>
          </a:p>
        </p:txBody>
      </p:sp>
      <p:sp>
        <p:nvSpPr>
          <p:cNvPr id="51" name="a2w_conn642"/>
          <p:cNvSpPr/>
          <p:nvPr/>
        </p:nvSpPr>
        <p:spPr>
          <a:xfrm>
            <a:off x="1874520" y="1828800"/>
            <a:ext cx="1033272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52" name="a2fd200_cell643"/>
          <p:cNvSpPr txBox="1"/>
          <p:nvPr/>
        </p:nvSpPr>
        <p:spPr>
          <a:xfrm>
            <a:off x="6903720" y="1691640"/>
            <a:ext cx="7315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53" name="a2fd200_cell644"/>
          <p:cNvSpPr txBox="1"/>
          <p:nvPr/>
        </p:nvSpPr>
        <p:spPr>
          <a:xfrm>
            <a:off x="7635240" y="1691640"/>
            <a:ext cx="54864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54" name="a2w_conn645"/>
          <p:cNvSpPr/>
          <p:nvPr/>
        </p:nvSpPr>
        <p:spPr>
          <a:xfrm>
            <a:off x="1874520" y="2103120"/>
            <a:ext cx="1033272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55" name="a2fd350_cell646"/>
          <p:cNvSpPr txBox="1"/>
          <p:nvPr/>
        </p:nvSpPr>
        <p:spPr>
          <a:xfrm>
            <a:off x="6903720" y="1965960"/>
            <a:ext cx="7315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56" name="a2fd350_cell647"/>
          <p:cNvSpPr txBox="1"/>
          <p:nvPr/>
        </p:nvSpPr>
        <p:spPr>
          <a:xfrm>
            <a:off x="7635240" y="1965960"/>
            <a:ext cx="54864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57" name="a2w_conn648"/>
          <p:cNvSpPr/>
          <p:nvPr/>
        </p:nvSpPr>
        <p:spPr>
          <a:xfrm>
            <a:off x="1874520" y="2377440"/>
            <a:ext cx="1033272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58" name="a2fd500_cell649"/>
          <p:cNvSpPr txBox="1"/>
          <p:nvPr/>
        </p:nvSpPr>
        <p:spPr>
          <a:xfrm>
            <a:off x="6903720" y="2240280"/>
            <a:ext cx="7315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59" name="a2fd500_cell650"/>
          <p:cNvSpPr txBox="1"/>
          <p:nvPr/>
        </p:nvSpPr>
        <p:spPr>
          <a:xfrm>
            <a:off x="7635240" y="2240280"/>
            <a:ext cx="54864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60" name="a2fd500_log651"/>
          <p:cNvSpPr txBox="1"/>
          <p:nvPr/>
        </p:nvSpPr>
        <p:spPr>
          <a:xfrm>
            <a:off x="640080" y="38770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Customers 1–3 </a:t>
            </a:r>
            <a:r>
              <a:rPr sz="11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order data filled in</a:t>
            </a:r>
            <a:endParaRPr lang="en-US" dirty="0" sz="1100"/>
          </a:p>
        </p:txBody>
      </p:sp>
      <p:sp>
        <p:nvSpPr>
          <p:cNvPr id="61" name="a3f_x652"/>
          <p:cNvSpPr txBox="1"/>
          <p:nvPr/>
        </p:nvSpPr>
        <p:spPr>
          <a:xfrm>
            <a:off x="2057400" y="2532888"/>
            <a:ext cx="237744" cy="237744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1000"/>
          </a:p>
        </p:txBody>
      </p:sp>
      <p:sp>
        <p:nvSpPr>
          <p:cNvPr id="62" name="a3fd200_cell653"/>
          <p:cNvSpPr txBox="1"/>
          <p:nvPr/>
        </p:nvSpPr>
        <p:spPr>
          <a:xfrm>
            <a:off x="6903720" y="2514600"/>
            <a:ext cx="73152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63" name="a3fd200_cell654"/>
          <p:cNvSpPr txBox="1"/>
          <p:nvPr/>
        </p:nvSpPr>
        <p:spPr>
          <a:xfrm>
            <a:off x="7635240" y="251460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64" name="a3f_x655"/>
          <p:cNvSpPr txBox="1"/>
          <p:nvPr/>
        </p:nvSpPr>
        <p:spPr>
          <a:xfrm>
            <a:off x="2057400" y="2807208"/>
            <a:ext cx="237744" cy="237744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1000"/>
          </a:p>
        </p:txBody>
      </p:sp>
      <p:sp>
        <p:nvSpPr>
          <p:cNvPr id="65" name="a3fd200_cell656"/>
          <p:cNvSpPr txBox="1"/>
          <p:nvPr/>
        </p:nvSpPr>
        <p:spPr>
          <a:xfrm>
            <a:off x="6903720" y="2788920"/>
            <a:ext cx="73152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66" name="a3fd200_cell657"/>
          <p:cNvSpPr txBox="1"/>
          <p:nvPr/>
        </p:nvSpPr>
        <p:spPr>
          <a:xfrm>
            <a:off x="7635240" y="278892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67" name="a3fd300_log658"/>
          <p:cNvSpPr txBox="1"/>
          <p:nvPr/>
        </p:nvSpPr>
        <p:spPr>
          <a:xfrm>
            <a:off x="640080" y="41696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Martin &amp; Peter: </a:t>
            </a: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→ NULL</a:t>
            </a:r>
            <a:endParaRPr lang="en-US" dirty="0" sz="1100"/>
          </a:p>
        </p:txBody>
      </p:sp>
      <p:sp>
        <p:nvSpPr>
          <p:cNvPr id="68" name="a4f_hl659"/>
          <p:cNvSpPr/>
          <p:nvPr/>
        </p:nvSpPr>
        <p:spPr>
          <a:xfrm>
            <a:off x="2907792" y="2496312"/>
            <a:ext cx="2185416" cy="31089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69" name="a4wd300_cell660"/>
          <p:cNvSpPr txBox="1"/>
          <p:nvPr/>
        </p:nvSpPr>
        <p:spPr>
          <a:xfrm>
            <a:off x="5577840" y="3063240"/>
            <a:ext cx="41148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70" name="a4wd300_cell661"/>
          <p:cNvSpPr txBox="1"/>
          <p:nvPr/>
        </p:nvSpPr>
        <p:spPr>
          <a:xfrm>
            <a:off x="5989320" y="306324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71" name="a4wd300_cell662"/>
          <p:cNvSpPr txBox="1"/>
          <p:nvPr/>
        </p:nvSpPr>
        <p:spPr>
          <a:xfrm>
            <a:off x="6903720" y="3063240"/>
            <a:ext cx="73152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dirty="0" sz="1100"/>
          </a:p>
        </p:txBody>
      </p:sp>
      <p:sp>
        <p:nvSpPr>
          <p:cNvPr id="72" name="a4wd300_cell663"/>
          <p:cNvSpPr txBox="1"/>
          <p:nvPr/>
        </p:nvSpPr>
        <p:spPr>
          <a:xfrm>
            <a:off x="7635240" y="3063240"/>
            <a:ext cx="548640" cy="274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 sz="1100"/>
          </a:p>
        </p:txBody>
      </p:sp>
      <p:sp>
        <p:nvSpPr>
          <p:cNvPr id="73" name="a4fd300_log664"/>
          <p:cNvSpPr txBox="1"/>
          <p:nvPr/>
        </p:nvSpPr>
        <p:spPr>
          <a:xfrm>
            <a:off x="640080" y="4462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Order 1004 not in output yet → </a:t>
            </a: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added, NULL customer</a:t>
            </a:r>
            <a:endParaRPr lang="en-US" dirty="0" sz="1100"/>
          </a:p>
        </p:txBody>
      </p:sp>
      <p:sp>
        <p:nvSpPr>
          <p:cNvPr id="74" name="a5u_tb665"/>
          <p:cNvSpPr/>
          <p:nvPr/>
        </p:nvSpPr>
        <p:spPr>
          <a:xfrm>
            <a:off x="5760720" y="361188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5" name="a5u_tt666"/>
          <p:cNvSpPr txBox="1"/>
          <p:nvPr/>
        </p:nvSpPr>
        <p:spPr>
          <a:xfrm>
            <a:off x="5943600" y="361188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 first, then any right rows still missing. Nothing is lost.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Basic Joins at a Glance</a:t>
            </a:r>
            <a:endParaRPr lang="en-US" dirty="0" sz="2800"/>
          </a:p>
        </p:txBody>
      </p:sp>
      <p:sp>
        <p:nvSpPr>
          <p:cNvPr id="3" name="a1u_c667"/>
          <p:cNvSpPr/>
          <p:nvPr/>
        </p:nvSpPr>
        <p:spPr>
          <a:xfrm>
            <a:off x="457200" y="1005840"/>
            <a:ext cx="1920240" cy="3429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a1u_v668" descr="080871519f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645920" cy="1042416"/>
          </a:xfrm>
          <a:prstGeom prst="rect">
            <a:avLst/>
          </a:prstGeom>
        </p:spPr>
      </p:pic>
      <p:sp>
        <p:nvSpPr>
          <p:cNvPr id="5" name="a1u_n669"/>
          <p:cNvSpPr txBox="1"/>
          <p:nvPr/>
        </p:nvSpPr>
        <p:spPr>
          <a:xfrm>
            <a:off x="59436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dirty="0" sz="1600"/>
          </a:p>
        </p:txBody>
      </p:sp>
      <p:sp>
        <p:nvSpPr>
          <p:cNvPr id="6" name="a1u_b670"/>
          <p:cNvSpPr txBox="1"/>
          <p:nvPr/>
        </p:nvSpPr>
        <p:spPr>
          <a:xfrm>
            <a:off x="64008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rows</a:t>
            </a:r>
            <a:endParaRPr lang="en-US" dirty="0" sz="1000"/>
          </a:p>
        </p:txBody>
      </p:sp>
      <p:sp>
        <p:nvSpPr>
          <p:cNvPr id="7" name="a1u_b671"/>
          <p:cNvSpPr txBox="1"/>
          <p:nvPr/>
        </p:nvSpPr>
        <p:spPr>
          <a:xfrm>
            <a:off x="64008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ORDER</a:t>
            </a:r>
            <a:endParaRPr lang="en-US" dirty="0" sz="1000"/>
          </a:p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dirty="0" sz="1000"/>
          </a:p>
        </p:txBody>
      </p:sp>
      <p:sp>
        <p:nvSpPr>
          <p:cNvPr id="8" name="a1u_b672"/>
          <p:cNvSpPr txBox="1"/>
          <p:nvPr/>
        </p:nvSpPr>
        <p:spPr>
          <a:xfrm>
            <a:off x="640080" y="3977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 · Filter</a:t>
            </a:r>
            <a:endParaRPr lang="en-US" dirty="0" sz="1000"/>
          </a:p>
        </p:txBody>
      </p:sp>
      <p:sp>
        <p:nvSpPr>
          <p:cNvPr id="9" name="a2u_c673"/>
          <p:cNvSpPr/>
          <p:nvPr/>
        </p:nvSpPr>
        <p:spPr>
          <a:xfrm>
            <a:off x="2560320" y="1005840"/>
            <a:ext cx="1920240" cy="3429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a2u_v674" descr="b9b2efc24d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143000"/>
            <a:ext cx="1645920" cy="1042416"/>
          </a:xfrm>
          <a:prstGeom prst="rect">
            <a:avLst/>
          </a:prstGeom>
        </p:spPr>
      </p:pic>
      <p:sp>
        <p:nvSpPr>
          <p:cNvPr id="11" name="a2u_n675"/>
          <p:cNvSpPr txBox="1"/>
          <p:nvPr/>
        </p:nvSpPr>
        <p:spPr>
          <a:xfrm>
            <a:off x="269748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dirty="0" sz="1600"/>
          </a:p>
        </p:txBody>
      </p:sp>
      <p:sp>
        <p:nvSpPr>
          <p:cNvPr id="12" name="a2u_b676"/>
          <p:cNvSpPr txBox="1"/>
          <p:nvPr/>
        </p:nvSpPr>
        <p:spPr>
          <a:xfrm>
            <a:off x="274320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left + matching right</a:t>
            </a:r>
            <a:endParaRPr lang="en-US" dirty="0" sz="1000"/>
          </a:p>
        </p:txBody>
      </p:sp>
      <p:sp>
        <p:nvSpPr>
          <p:cNvPr id="13" name="a2u_b677"/>
          <p:cNvSpPr txBox="1"/>
          <p:nvPr/>
        </p:nvSpPr>
        <p:spPr>
          <a:xfrm>
            <a:off x="274320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ORDER</a:t>
            </a:r>
            <a:endParaRPr lang="en-US" dirty="0" sz="1000"/>
          </a:p>
          <a:p>
            <a:pPr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dirty="0" sz="1000"/>
          </a:p>
        </p:txBody>
      </p:sp>
      <p:sp>
        <p:nvSpPr>
          <p:cNvPr id="14" name="a2u_b678"/>
          <p:cNvSpPr txBox="1"/>
          <p:nvPr/>
        </p:nvSpPr>
        <p:spPr>
          <a:xfrm>
            <a:off x="2743200" y="3977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 · Enrich</a:t>
            </a:r>
            <a:endParaRPr lang="en-US" dirty="0" sz="1000"/>
          </a:p>
        </p:txBody>
      </p:sp>
      <p:sp>
        <p:nvSpPr>
          <p:cNvPr id="15" name="a3u_c679"/>
          <p:cNvSpPr/>
          <p:nvPr/>
        </p:nvSpPr>
        <p:spPr>
          <a:xfrm>
            <a:off x="4663440" y="1005840"/>
            <a:ext cx="1920240" cy="3429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a3u_v680" descr="3f33256264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43000"/>
            <a:ext cx="1645920" cy="1042416"/>
          </a:xfrm>
          <a:prstGeom prst="rect">
            <a:avLst/>
          </a:prstGeom>
        </p:spPr>
      </p:pic>
      <p:sp>
        <p:nvSpPr>
          <p:cNvPr id="17" name="a3u_n681"/>
          <p:cNvSpPr txBox="1"/>
          <p:nvPr/>
        </p:nvSpPr>
        <p:spPr>
          <a:xfrm>
            <a:off x="480060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</a:t>
            </a:r>
            <a:endParaRPr lang="en-US" dirty="0" sz="1600"/>
          </a:p>
        </p:txBody>
      </p:sp>
      <p:sp>
        <p:nvSpPr>
          <p:cNvPr id="18" name="a3u_b682"/>
          <p:cNvSpPr txBox="1"/>
          <p:nvPr/>
        </p:nvSpPr>
        <p:spPr>
          <a:xfrm>
            <a:off x="484632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 + matching left</a:t>
            </a:r>
            <a:endParaRPr lang="en-US" dirty="0" sz="1000"/>
          </a:p>
        </p:txBody>
      </p:sp>
      <p:sp>
        <p:nvSpPr>
          <p:cNvPr id="19" name="a3u_b683"/>
          <p:cNvSpPr txBox="1"/>
          <p:nvPr/>
        </p:nvSpPr>
        <p:spPr>
          <a:xfrm>
            <a:off x="484632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ORDER</a:t>
            </a:r>
            <a:endParaRPr lang="en-US" dirty="0" sz="1000"/>
          </a:p>
          <a:p>
            <a:pPr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dirty="0" sz="1000"/>
          </a:p>
        </p:txBody>
      </p:sp>
      <p:sp>
        <p:nvSpPr>
          <p:cNvPr id="20" name="a3u_b684"/>
          <p:cNvSpPr txBox="1"/>
          <p:nvPr/>
        </p:nvSpPr>
        <p:spPr>
          <a:xfrm>
            <a:off x="4846320" y="3977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LEFT JOIN instead</a:t>
            </a:r>
            <a:endParaRPr lang="en-US" dirty="0" sz="1000"/>
          </a:p>
        </p:txBody>
      </p:sp>
      <p:sp>
        <p:nvSpPr>
          <p:cNvPr id="21" name="a4u_c685"/>
          <p:cNvSpPr/>
          <p:nvPr/>
        </p:nvSpPr>
        <p:spPr>
          <a:xfrm>
            <a:off x="6766560" y="1005840"/>
            <a:ext cx="1920240" cy="3429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a4u_v686" descr="8231790ee2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143000"/>
            <a:ext cx="1645920" cy="1042416"/>
          </a:xfrm>
          <a:prstGeom prst="rect">
            <a:avLst/>
          </a:prstGeom>
        </p:spPr>
      </p:pic>
      <p:sp>
        <p:nvSpPr>
          <p:cNvPr id="23" name="a4u_n687"/>
          <p:cNvSpPr txBox="1"/>
          <p:nvPr/>
        </p:nvSpPr>
        <p:spPr>
          <a:xfrm>
            <a:off x="69037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JOIN</a:t>
            </a:r>
            <a:endParaRPr lang="en-US" dirty="0" sz="1600"/>
          </a:p>
        </p:txBody>
      </p:sp>
      <p:sp>
        <p:nvSpPr>
          <p:cNvPr id="24" name="a4u_b688"/>
          <p:cNvSpPr txBox="1"/>
          <p:nvPr/>
        </p:nvSpPr>
        <p:spPr>
          <a:xfrm>
            <a:off x="694944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</a:t>
            </a:r>
            <a:endParaRPr lang="en-US" dirty="0" sz="1000"/>
          </a:p>
        </p:txBody>
      </p:sp>
      <p:sp>
        <p:nvSpPr>
          <p:cNvPr id="25" name="a4u_b689"/>
          <p:cNvSpPr txBox="1"/>
          <p:nvPr/>
        </p:nvSpPr>
        <p:spPr>
          <a:xfrm>
            <a:off x="694944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ORDER</a:t>
            </a:r>
            <a:endParaRPr lang="en-US" dirty="0" sz="1000"/>
          </a:p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dirty="0" sz="1000"/>
          </a:p>
        </p:txBody>
      </p:sp>
      <p:sp>
        <p:nvSpPr>
          <p:cNvPr id="26" name="a4u_b690"/>
          <p:cNvSpPr txBox="1"/>
          <p:nvPr/>
        </p:nvSpPr>
        <p:spPr>
          <a:xfrm>
            <a:off x="6949440" y="3977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 everything</a:t>
            </a:r>
            <a:endParaRPr lang="en-US" dirty="0" sz="10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h691"/>
          <p:cNvSpPr txBox="1"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3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dirty="0" sz="3600"/>
          </a:p>
        </p:txBody>
      </p:sp>
      <p:sp>
        <p:nvSpPr>
          <p:cNvPr id="3" name="a1u_n692"/>
          <p:cNvSpPr txBox="1"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600"/>
          </a:p>
        </p:txBody>
      </p:sp>
      <p:sp>
        <p:nvSpPr>
          <p:cNvPr id="4" name="a1u_t693"/>
          <p:cNvSpPr txBox="1"/>
          <p:nvPr/>
        </p:nvSpPr>
        <p:spPr>
          <a:xfrm>
            <a:off x="1188720" y="1417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combine columns (wider); set operators combine rows (longer).</a:t>
            </a:r>
            <a:endParaRPr lang="en-US" dirty="0" sz="1500"/>
          </a:p>
        </p:txBody>
      </p:sp>
      <p:sp>
        <p:nvSpPr>
          <p:cNvPr id="5" name="a2u_n694"/>
          <p:cNvSpPr txBox="1"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600"/>
          </a:p>
        </p:txBody>
      </p:sp>
      <p:sp>
        <p:nvSpPr>
          <p:cNvPr id="6" name="a2u_t695"/>
          <p:cNvSpPr txBox="1"/>
          <p:nvPr/>
        </p:nvSpPr>
        <p:spPr>
          <a:xfrm>
            <a:off x="1188720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 needs a key and a condition: ON a.key = b.key.</a:t>
            </a:r>
            <a:endParaRPr lang="en-US" dirty="0" sz="1500"/>
          </a:p>
        </p:txBody>
      </p:sp>
      <p:sp>
        <p:nvSpPr>
          <p:cNvPr id="7" name="a3u_n696"/>
          <p:cNvSpPr txBox="1"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600"/>
          </a:p>
        </p:txBody>
      </p:sp>
      <p:sp>
        <p:nvSpPr>
          <p:cNvPr id="8" name="a3u_t697"/>
          <p:cNvSpPr txBox="1"/>
          <p:nvPr/>
        </p:nvSpPr>
        <p:spPr>
          <a:xfrm>
            <a:off x="118872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= matches only · LEFT / RIGHT = all of one side · FULL = everything.</a:t>
            </a:r>
            <a:endParaRPr lang="en-US" dirty="0" sz="1500"/>
          </a:p>
        </p:txBody>
      </p:sp>
      <p:sp>
        <p:nvSpPr>
          <p:cNvPr id="9" name="a4u_n698"/>
          <p:cNvSpPr txBox="1"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600"/>
          </a:p>
        </p:txBody>
      </p:sp>
      <p:sp>
        <p:nvSpPr>
          <p:cNvPr id="10" name="a4u_t699"/>
          <p:cNvSpPr txBox="1"/>
          <p:nvPr/>
        </p:nvSpPr>
        <p:spPr>
          <a:xfrm>
            <a:off x="1188720" y="3886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for LEFT/RIGHT — put your main table in FROM and prefer LEFT JOIN.</a:t>
            </a:r>
            <a:endParaRPr lang="en-US" dirty="0" sz="1500"/>
          </a:p>
        </p:txBody>
      </p:sp>
      <p:pic>
        <p:nvPicPr>
          <p:cNvPr id="11" name="a0fd300_v700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2468880" cy="1563624"/>
          </a:xfrm>
          <a:prstGeom prst="rect">
            <a:avLst/>
          </a:prstGeom>
        </p:spPr>
      </p:pic>
      <p:sp>
        <p:nvSpPr>
          <p:cNvPr id="12" name="a5u_next701"/>
          <p:cNvSpPr txBox="1"/>
          <p:nvPr/>
        </p:nvSpPr>
        <p:spPr>
          <a:xfrm>
            <a:off x="6217920" y="31089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solidFill>
              <a:srgbClr val="475569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 </a:t>
            </a:r>
            <a:r>
              <a:rPr sz="13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joins — working with unmatching data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k70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spc="300" kern="0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dirty="0" sz="1300"/>
          </a:p>
        </p:txBody>
      </p:sp>
      <p:sp>
        <p:nvSpPr>
          <p:cNvPr id="3" name="a0ud200_t703"/>
          <p:cNvSpPr txBox="1"/>
          <p:nvPr/>
        </p:nvSpPr>
        <p:spPr>
          <a:xfrm>
            <a:off x="548640" y="777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Joins</a:t>
            </a:r>
            <a:endParaRPr lang="en-US" dirty="0" sz="4000"/>
          </a:p>
        </p:txBody>
      </p:sp>
      <p:sp>
        <p:nvSpPr>
          <p:cNvPr id="4" name="a0fd400_s704"/>
          <p:cNvSpPr txBox="1"/>
          <p:nvPr/>
        </p:nvSpPr>
        <p:spPr>
          <a:xfrm>
            <a:off x="54864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unmatching data — and combining everything with everything</a:t>
            </a:r>
            <a:endParaRPr lang="en-US" dirty="0" sz="1600"/>
          </a:p>
        </p:txBody>
      </p:sp>
      <p:sp>
        <p:nvSpPr>
          <p:cNvPr id="5" name="a1u_c705"/>
          <p:cNvSpPr/>
          <p:nvPr/>
        </p:nvSpPr>
        <p:spPr>
          <a:xfrm>
            <a:off x="457200" y="21488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a1u_sv706" descr="6e5385d95f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1554480" cy="984504"/>
          </a:xfrm>
          <a:prstGeom prst="rect">
            <a:avLst/>
          </a:prstGeom>
        </p:spPr>
      </p:pic>
      <p:sp>
        <p:nvSpPr>
          <p:cNvPr id="7" name="a1u_n707"/>
          <p:cNvSpPr txBox="1"/>
          <p:nvPr/>
        </p:nvSpPr>
        <p:spPr>
          <a:xfrm>
            <a:off x="54864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ANTI JOIN</a:t>
            </a:r>
            <a:endParaRPr lang="en-US" dirty="0" sz="1300"/>
          </a:p>
        </p:txBody>
      </p:sp>
      <p:sp>
        <p:nvSpPr>
          <p:cNvPr id="8" name="a1u_d708"/>
          <p:cNvSpPr txBox="1"/>
          <p:nvPr/>
        </p:nvSpPr>
        <p:spPr>
          <a:xfrm>
            <a:off x="548640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algn="ctr" marL="0" indent="0">
              <a:buNone/>
            </a:pPr>
            <a:r>
              <a:rPr sz="12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rows with no match</a:t>
            </a:r>
            <a:endParaRPr lang="en-US" dirty="0" sz="1200"/>
          </a:p>
        </p:txBody>
      </p:sp>
      <p:sp>
        <p:nvSpPr>
          <p:cNvPr id="9" name="a2u_c709"/>
          <p:cNvSpPr/>
          <p:nvPr/>
        </p:nvSpPr>
        <p:spPr>
          <a:xfrm>
            <a:off x="2560320" y="21488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0" name="a2u_sv710" descr="d7ef2766b5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331720"/>
            <a:ext cx="1554480" cy="984504"/>
          </a:xfrm>
          <a:prstGeom prst="rect">
            <a:avLst/>
          </a:prstGeom>
        </p:spPr>
      </p:pic>
      <p:sp>
        <p:nvSpPr>
          <p:cNvPr id="11" name="a2u_n711"/>
          <p:cNvSpPr txBox="1"/>
          <p:nvPr/>
        </p:nvSpPr>
        <p:spPr>
          <a:xfrm>
            <a:off x="265176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ANTI JOIN</a:t>
            </a:r>
            <a:endParaRPr lang="en-US" dirty="0" sz="1300"/>
          </a:p>
        </p:txBody>
      </p:sp>
      <p:sp>
        <p:nvSpPr>
          <p:cNvPr id="12" name="a2u_d712"/>
          <p:cNvSpPr txBox="1"/>
          <p:nvPr/>
        </p:nvSpPr>
        <p:spPr>
          <a:xfrm>
            <a:off x="2651760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algn="ctr" marL="0" indent="0">
              <a:buNone/>
            </a:pPr>
            <a:r>
              <a:rPr sz="12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rows with no match</a:t>
            </a:r>
            <a:endParaRPr lang="en-US" dirty="0" sz="1200"/>
          </a:p>
        </p:txBody>
      </p:sp>
      <p:sp>
        <p:nvSpPr>
          <p:cNvPr id="13" name="a3u_c713"/>
          <p:cNvSpPr/>
          <p:nvPr/>
        </p:nvSpPr>
        <p:spPr>
          <a:xfrm>
            <a:off x="4663440" y="21488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4" name="a3u_sv714" descr="dab9d2179b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31720"/>
            <a:ext cx="1554480" cy="984504"/>
          </a:xfrm>
          <a:prstGeom prst="rect">
            <a:avLst/>
          </a:prstGeom>
        </p:spPr>
      </p:pic>
      <p:sp>
        <p:nvSpPr>
          <p:cNvPr id="15" name="a3u_n715"/>
          <p:cNvSpPr txBox="1"/>
          <p:nvPr/>
        </p:nvSpPr>
        <p:spPr>
          <a:xfrm>
            <a:off x="475488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ANTI JOIN</a:t>
            </a:r>
            <a:endParaRPr lang="en-US" dirty="0" sz="1300"/>
          </a:p>
        </p:txBody>
      </p:sp>
      <p:sp>
        <p:nvSpPr>
          <p:cNvPr id="16" name="a3u_d716"/>
          <p:cNvSpPr txBox="1"/>
          <p:nvPr/>
        </p:nvSpPr>
        <p:spPr>
          <a:xfrm>
            <a:off x="4754880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algn="ctr" marL="0" indent="0">
              <a:buNone/>
            </a:pPr>
            <a:r>
              <a:rPr sz="12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rows on both sides</a:t>
            </a:r>
            <a:endParaRPr lang="en-US" dirty="0" sz="1200"/>
          </a:p>
        </p:txBody>
      </p:sp>
      <p:sp>
        <p:nvSpPr>
          <p:cNvPr id="17" name="a4u_c717"/>
          <p:cNvSpPr/>
          <p:nvPr/>
        </p:nvSpPr>
        <p:spPr>
          <a:xfrm>
            <a:off x="6766560" y="21488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8" name="a4u_sv718" descr="b5dc689932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331720"/>
            <a:ext cx="1554480" cy="984504"/>
          </a:xfrm>
          <a:prstGeom prst="rect">
            <a:avLst/>
          </a:prstGeom>
        </p:spPr>
      </p:pic>
      <p:sp>
        <p:nvSpPr>
          <p:cNvPr id="19" name="a4u_n719"/>
          <p:cNvSpPr txBox="1"/>
          <p:nvPr/>
        </p:nvSpPr>
        <p:spPr>
          <a:xfrm>
            <a:off x="685800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JOIN</a:t>
            </a:r>
            <a:endParaRPr lang="en-US" dirty="0" sz="1300"/>
          </a:p>
        </p:txBody>
      </p:sp>
      <p:sp>
        <p:nvSpPr>
          <p:cNvPr id="20" name="a4u_d720"/>
          <p:cNvSpPr txBox="1"/>
          <p:nvPr/>
        </p:nvSpPr>
        <p:spPr>
          <a:xfrm>
            <a:off x="6858000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algn="ctr" marL="0" indent="0">
              <a:buNone/>
            </a:pPr>
            <a:r>
              <a:rPr sz="12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combination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721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dirty="0" sz="6000"/>
          </a:p>
        </p:txBody>
      </p:sp>
      <p:sp>
        <p:nvSpPr>
          <p:cNvPr id="3" name="a0ud200_h722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ANTI JOIN</a:t>
            </a:r>
            <a:endParaRPr lang="en-US" dirty="0" sz="4000"/>
          </a:p>
        </p:txBody>
      </p:sp>
      <p:sp>
        <p:nvSpPr>
          <p:cNvPr id="4" name="a0fd450_t723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from the left table that have no match on the right</a:t>
            </a:r>
            <a:endParaRPr lang="en-US" dirty="0" sz="1700"/>
          </a:p>
        </p:txBody>
      </p:sp>
      <p:pic>
        <p:nvPicPr>
          <p:cNvPr id="5" name="a0fd300_v724" descr="6e5385d95f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ANTI JOIN — The Concept</a:t>
            </a:r>
            <a:endParaRPr lang="en-US" dirty="0" sz="2800"/>
          </a:p>
        </p:txBody>
      </p:sp>
      <p:pic>
        <p:nvPicPr>
          <p:cNvPr id="3" name="a1f_sv725" descr="b9b2efc24d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71600" cy="868680"/>
          </a:xfrm>
          <a:prstGeom prst="rect">
            <a:avLst/>
          </a:prstGeom>
        </p:spPr>
      </p:pic>
      <p:sp>
        <p:nvSpPr>
          <p:cNvPr id="4" name="a2f_ar726"/>
          <p:cNvSpPr/>
          <p:nvPr/>
        </p:nvSpPr>
        <p:spPr>
          <a:xfrm>
            <a:off x="1874520" y="1417320"/>
            <a:ext cx="320040" cy="228600"/>
          </a:xfrm>
          <a:prstGeom prst="righ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a2f_sv727" descr="678de5af87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097280"/>
            <a:ext cx="1371600" cy="868680"/>
          </a:xfrm>
          <a:prstGeom prst="rect">
            <a:avLst/>
          </a:prstGeom>
        </p:spPr>
      </p:pic>
      <p:sp>
        <p:nvSpPr>
          <p:cNvPr id="6" name="a1f_l1728"/>
          <p:cNvSpPr txBox="1"/>
          <p:nvPr/>
        </p:nvSpPr>
        <p:spPr>
          <a:xfrm>
            <a:off x="45720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dirty="0" sz="1100"/>
          </a:p>
          <a:p>
            <a:pPr algn="ctr" marL="0" indent="0">
              <a:buNone/>
            </a:pPr>
            <a:r>
              <a:rPr sz="11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dirty="0" sz="1100"/>
          </a:p>
        </p:txBody>
      </p:sp>
      <p:sp>
        <p:nvSpPr>
          <p:cNvPr id="7" name="a2f_l2729"/>
          <p:cNvSpPr txBox="1"/>
          <p:nvPr/>
        </p:nvSpPr>
        <p:spPr>
          <a:xfrm>
            <a:off x="219456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dirty="0" sz="1100"/>
          </a:p>
          <a:p>
            <a:pPr algn="ctr" marL="0" indent="0">
              <a:buNone/>
            </a:pPr>
            <a:r>
              <a:rPr sz="11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B.key IS NULL</a:t>
            </a:r>
            <a:endParaRPr lang="en-US" dirty="0" sz="1100"/>
          </a:p>
        </p:txBody>
      </p:sp>
      <p:sp>
        <p:nvSpPr>
          <p:cNvPr id="8" name="a3u_pill730"/>
          <p:cNvSpPr txBox="1"/>
          <p:nvPr/>
        </p:nvSpPr>
        <p:spPr>
          <a:xfrm>
            <a:off x="457200" y="274320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unmatching rows</a:t>
            </a:r>
            <a:endParaRPr lang="en-US" dirty="0" sz="1200"/>
          </a:p>
        </p:txBody>
      </p:sp>
      <p:sp>
        <p:nvSpPr>
          <p:cNvPr id="9" name="a3ud200_pill731"/>
          <p:cNvSpPr txBox="1"/>
          <p:nvPr/>
        </p:nvSpPr>
        <p:spPr>
          <a:xfrm>
            <a:off x="457200" y="324612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solidFill>
              <a:srgbClr val="EEF2F6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used only as a filter</a:t>
            </a:r>
            <a:endParaRPr lang="en-US" dirty="0" sz="1200"/>
          </a:p>
        </p:txBody>
      </p:sp>
      <p:sp>
        <p:nvSpPr>
          <p:cNvPr id="10" name="a6u_nb732"/>
          <p:cNvSpPr/>
          <p:nvPr/>
        </p:nvSpPr>
        <p:spPr>
          <a:xfrm>
            <a:off x="457200" y="384048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a6u_ni733" descr="b6ae7cf156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87368"/>
            <a:ext cx="365760" cy="365760"/>
          </a:xfrm>
          <a:prstGeom prst="rect">
            <a:avLst/>
          </a:prstGeom>
        </p:spPr>
      </p:pic>
      <p:sp>
        <p:nvSpPr>
          <p:cNvPr id="12" name="a6u_nt734"/>
          <p:cNvSpPr txBox="1"/>
          <p:nvPr/>
        </p:nvSpPr>
        <p:spPr>
          <a:xfrm>
            <a:off x="1051560" y="3840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ANTI JOIN keyword (e.g. in SQL Server). Build it from a classic join plus a WHERE filter.</a:t>
            </a:r>
            <a:endParaRPr lang="en-US" dirty="0" sz="1100"/>
          </a:p>
        </p:txBody>
      </p:sp>
      <p:sp>
        <p:nvSpPr>
          <p:cNvPr id="13" name="Text 8"/>
          <p:cNvSpPr txBox="1"/>
          <p:nvPr/>
        </p:nvSpPr>
        <p:spPr>
          <a:xfrm>
            <a:off x="4023360" y="914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rows from the left table that have no match in the right table.</a:t>
            </a:r>
            <a:endParaRPr lang="en-US" dirty="0" sz="1600"/>
          </a:p>
        </p:txBody>
      </p:sp>
      <p:sp>
        <p:nvSpPr>
          <p:cNvPr id="14" name="a4f_codebg735"/>
          <p:cNvSpPr/>
          <p:nvPr/>
        </p:nvSpPr>
        <p:spPr>
          <a:xfrm>
            <a:off x="4023360" y="1691640"/>
            <a:ext cx="46634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a4f_codelbl736"/>
          <p:cNvSpPr txBox="1"/>
          <p:nvPr/>
        </p:nvSpPr>
        <p:spPr>
          <a:xfrm>
            <a:off x="7223760" y="1737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900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dirty="0" sz="900"/>
          </a:p>
        </p:txBody>
      </p:sp>
      <p:sp>
        <p:nvSpPr>
          <p:cNvPr id="16" name="a5f_hl737"/>
          <p:cNvSpPr/>
          <p:nvPr/>
        </p:nvSpPr>
        <p:spPr>
          <a:xfrm>
            <a:off x="4096512" y="2852928"/>
            <a:ext cx="4517136" cy="256032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a4wd0_code738"/>
          <p:cNvSpPr txBox="1"/>
          <p:nvPr/>
        </p:nvSpPr>
        <p:spPr>
          <a:xfrm>
            <a:off x="4206240" y="182880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300"/>
          </a:p>
        </p:txBody>
      </p:sp>
      <p:sp>
        <p:nvSpPr>
          <p:cNvPr id="18" name="a4wd300_code739"/>
          <p:cNvSpPr txBox="1"/>
          <p:nvPr/>
        </p:nvSpPr>
        <p:spPr>
          <a:xfrm>
            <a:off x="4206240" y="20848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dirty="0" sz="1300"/>
          </a:p>
        </p:txBody>
      </p:sp>
      <p:sp>
        <p:nvSpPr>
          <p:cNvPr id="19" name="a4wd600_code740"/>
          <p:cNvSpPr txBox="1"/>
          <p:nvPr/>
        </p:nvSpPr>
        <p:spPr>
          <a:xfrm>
            <a:off x="4206240" y="234086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dirty="0" sz="1300"/>
          </a:p>
        </p:txBody>
      </p:sp>
      <p:sp>
        <p:nvSpPr>
          <p:cNvPr id="20" name="a4wd900_code741"/>
          <p:cNvSpPr txBox="1"/>
          <p:nvPr/>
        </p:nvSpPr>
        <p:spPr>
          <a:xfrm>
            <a:off x="4206240" y="25968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dirty="0" sz="1300"/>
          </a:p>
        </p:txBody>
      </p:sp>
      <p:sp>
        <p:nvSpPr>
          <p:cNvPr id="21" name="a5wd0_code742"/>
          <p:cNvSpPr txBox="1"/>
          <p:nvPr/>
        </p:nvSpPr>
        <p:spPr>
          <a:xfrm>
            <a:off x="4206240" y="28529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dirty="0" sz="1300"/>
          </a:p>
        </p:txBody>
      </p:sp>
      <p:sp>
        <p:nvSpPr>
          <p:cNvPr id="22" name="a6f_cb743"/>
          <p:cNvSpPr/>
          <p:nvPr/>
        </p:nvSpPr>
        <p:spPr>
          <a:xfrm>
            <a:off x="4023360" y="352044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a6f_ct744"/>
          <p:cNvSpPr txBox="1"/>
          <p:nvPr/>
        </p:nvSpPr>
        <p:spPr>
          <a:xfrm>
            <a:off x="4206240" y="352044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matters!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right-side key means "no match" — that's the filter.</a:t>
            </a:r>
            <a:endParaRPr lang="en-US" dirty="0" sz="1200"/>
          </a:p>
        </p:txBody>
      </p:sp>
      <p:sp>
        <p:nvSpPr>
          <p:cNvPr id="24" name="a6f_u745"/>
          <p:cNvSpPr txBox="1"/>
          <p:nvPr/>
        </p:nvSpPr>
        <p:spPr>
          <a:xfrm>
            <a:off x="402336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to:</a:t>
            </a:r>
            <a:endParaRPr lang="en-US" dirty="0" sz="1200"/>
          </a:p>
        </p:txBody>
      </p:sp>
      <p:sp>
        <p:nvSpPr>
          <p:cNvPr id="25" name="a6ud200_chip746"/>
          <p:cNvSpPr txBox="1"/>
          <p:nvPr/>
        </p:nvSpPr>
        <p:spPr>
          <a:xfrm>
            <a:off x="4892040" y="42976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</a:t>
            </a:r>
            <a:endParaRPr lang="en-US" dirty="0" sz="1100"/>
          </a:p>
        </p:txBody>
      </p:sp>
      <p:sp>
        <p:nvSpPr>
          <p:cNvPr id="26" name="a6ud350_chip747"/>
          <p:cNvSpPr txBox="1"/>
          <p:nvPr/>
        </p:nvSpPr>
        <p:spPr>
          <a:xfrm>
            <a:off x="6080760" y="42976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dirty="0" sz="1100"/>
          </a:p>
        </p:txBody>
      </p:sp>
      <p:sp>
        <p:nvSpPr>
          <p:cNvPr id="27" name="a6ud500_chip748"/>
          <p:cNvSpPr txBox="1"/>
          <p:nvPr/>
        </p:nvSpPr>
        <p:spPr>
          <a:xfrm>
            <a:off x="7269480" y="42976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existence</a:t>
            </a:r>
            <a:endParaRPr lang="en-US" dirty="0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16" grpId="0" animBg="1"/>
      <p:bldP spid="21" grpId="0" animBg="1"/>
      <p:bldP spid="10" grpId="0" animBg="1"/>
      <p:bldP spid="11" grpId="0" animBg="1"/>
      <p:bldP spid="12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ANTI JOIN — In Practice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customers who haven't placed any order.</a:t>
            </a:r>
            <a:endParaRPr lang="en-US" dirty="0" sz="1400"/>
          </a:p>
        </p:txBody>
      </p:sp>
      <p:sp>
        <p:nvSpPr>
          <p:cNvPr id="4" name="a1f_codebg749"/>
          <p:cNvSpPr/>
          <p:nvPr/>
        </p:nvSpPr>
        <p:spPr>
          <a:xfrm>
            <a:off x="457200" y="1600200"/>
            <a:ext cx="3886200" cy="2322576"/>
          </a:xfrm>
          <a:prstGeom prst="roundRect">
            <a:avLst>
              <a:gd name="adj" fmla="val 31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3f_hl750"/>
          <p:cNvSpPr/>
          <p:nvPr/>
        </p:nvSpPr>
        <p:spPr>
          <a:xfrm>
            <a:off x="530352" y="3529584"/>
            <a:ext cx="3739896" cy="256032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a1wd0_code751"/>
          <p:cNvSpPr txBox="1"/>
          <p:nvPr/>
        </p:nvSpPr>
        <p:spPr>
          <a:xfrm>
            <a:off x="64008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200"/>
          </a:p>
        </p:txBody>
      </p:sp>
      <p:sp>
        <p:nvSpPr>
          <p:cNvPr id="7" name="a1wd120_code752"/>
          <p:cNvSpPr txBox="1"/>
          <p:nvPr/>
        </p:nvSpPr>
        <p:spPr>
          <a:xfrm>
            <a:off x="640080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8" name="a1wd240_code753"/>
          <p:cNvSpPr txBox="1"/>
          <p:nvPr/>
        </p:nvSpPr>
        <p:spPr>
          <a:xfrm>
            <a:off x="640080" y="2249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9" name="a1wd360_code754"/>
          <p:cNvSpPr txBox="1"/>
          <p:nvPr/>
        </p:nvSpPr>
        <p:spPr>
          <a:xfrm>
            <a:off x="640080" y="2505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200"/>
          </a:p>
        </p:txBody>
      </p:sp>
      <p:sp>
        <p:nvSpPr>
          <p:cNvPr id="10" name="a1wd480_code755"/>
          <p:cNvSpPr txBox="1"/>
          <p:nvPr/>
        </p:nvSpPr>
        <p:spPr>
          <a:xfrm>
            <a:off x="64008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11" name="a1wd600_code756"/>
          <p:cNvSpPr txBox="1"/>
          <p:nvPr/>
        </p:nvSpPr>
        <p:spPr>
          <a:xfrm>
            <a:off x="64008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2" name="a1wd720_code757"/>
          <p:cNvSpPr txBox="1"/>
          <p:nvPr/>
        </p:nvSpPr>
        <p:spPr>
          <a:xfrm>
            <a:off x="640080" y="3273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dirty="0" sz="1200"/>
          </a:p>
        </p:txBody>
      </p:sp>
      <p:sp>
        <p:nvSpPr>
          <p:cNvPr id="13" name="a3wd0_code758"/>
          <p:cNvSpPr txBox="1"/>
          <p:nvPr/>
        </p:nvSpPr>
        <p:spPr>
          <a:xfrm>
            <a:off x="640080" y="3529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4" name="a2f_l759"/>
          <p:cNvSpPr txBox="1"/>
          <p:nvPr/>
        </p:nvSpPr>
        <p:spPr>
          <a:xfrm>
            <a:off x="461772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LEFT JOIN result</a:t>
            </a:r>
            <a:endParaRPr lang="en-US" dirty="0" sz="1100"/>
          </a:p>
        </p:txBody>
      </p:sp>
      <p:sp>
        <p:nvSpPr>
          <p:cNvPr id="15" name="a3f_l760"/>
          <p:cNvSpPr txBox="1"/>
          <p:nvPr/>
        </p:nvSpPr>
        <p:spPr>
          <a:xfrm>
            <a:off x="672084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WHERE filter</a:t>
            </a:r>
            <a:endParaRPr lang="en-US" dirty="0" sz="1100"/>
          </a:p>
        </p:txBody>
      </p:sp>
      <p:sp>
        <p:nvSpPr>
          <p:cNvPr id="16" name="a2f_cell761"/>
          <p:cNvSpPr txBox="1"/>
          <p:nvPr/>
        </p:nvSpPr>
        <p:spPr>
          <a:xfrm>
            <a:off x="4617720" y="1828800"/>
            <a:ext cx="4572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17" name="a2wd0_cell762"/>
          <p:cNvSpPr txBox="1"/>
          <p:nvPr/>
        </p:nvSpPr>
        <p:spPr>
          <a:xfrm>
            <a:off x="4617720" y="210312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8" name="a2wd150_cell763"/>
          <p:cNvSpPr txBox="1"/>
          <p:nvPr/>
        </p:nvSpPr>
        <p:spPr>
          <a:xfrm>
            <a:off x="4617720" y="237744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19" name="a2wd300_cell764"/>
          <p:cNvSpPr txBox="1"/>
          <p:nvPr/>
        </p:nvSpPr>
        <p:spPr>
          <a:xfrm>
            <a:off x="4617720" y="265176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20" name="a2wd450_cell765"/>
          <p:cNvSpPr txBox="1"/>
          <p:nvPr/>
        </p:nvSpPr>
        <p:spPr>
          <a:xfrm>
            <a:off x="4617720" y="292608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21" name="a2wd600_cell766"/>
          <p:cNvSpPr txBox="1"/>
          <p:nvPr/>
        </p:nvSpPr>
        <p:spPr>
          <a:xfrm>
            <a:off x="4617720" y="320040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22" name="a2f_cell767"/>
          <p:cNvSpPr txBox="1"/>
          <p:nvPr/>
        </p:nvSpPr>
        <p:spPr>
          <a:xfrm>
            <a:off x="5074920" y="1828800"/>
            <a:ext cx="9144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23" name="a2wd0_cell768"/>
          <p:cNvSpPr txBox="1"/>
          <p:nvPr/>
        </p:nvSpPr>
        <p:spPr>
          <a:xfrm>
            <a:off x="5074920" y="21031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24" name="a2wd150_cell769"/>
          <p:cNvSpPr txBox="1"/>
          <p:nvPr/>
        </p:nvSpPr>
        <p:spPr>
          <a:xfrm>
            <a:off x="5074920" y="23774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25" name="a2wd300_cell770"/>
          <p:cNvSpPr txBox="1"/>
          <p:nvPr/>
        </p:nvSpPr>
        <p:spPr>
          <a:xfrm>
            <a:off x="5074920" y="26517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26" name="a2wd450_cell771"/>
          <p:cNvSpPr txBox="1"/>
          <p:nvPr/>
        </p:nvSpPr>
        <p:spPr>
          <a:xfrm>
            <a:off x="5074920" y="29260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27" name="a2wd600_cell772"/>
          <p:cNvSpPr txBox="1"/>
          <p:nvPr/>
        </p:nvSpPr>
        <p:spPr>
          <a:xfrm>
            <a:off x="5074920" y="32004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28" name="a2f_cell773"/>
          <p:cNvSpPr txBox="1"/>
          <p:nvPr/>
        </p:nvSpPr>
        <p:spPr>
          <a:xfrm>
            <a:off x="5989320" y="1828800"/>
            <a:ext cx="7772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29" name="a2wd0_cell774"/>
          <p:cNvSpPr txBox="1"/>
          <p:nvPr/>
        </p:nvSpPr>
        <p:spPr>
          <a:xfrm>
            <a:off x="5989320" y="210312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30" name="a2wd150_cell775"/>
          <p:cNvSpPr txBox="1"/>
          <p:nvPr/>
        </p:nvSpPr>
        <p:spPr>
          <a:xfrm>
            <a:off x="5989320" y="237744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31" name="a2wd300_cell776"/>
          <p:cNvSpPr txBox="1"/>
          <p:nvPr/>
        </p:nvSpPr>
        <p:spPr>
          <a:xfrm>
            <a:off x="5989320" y="265176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32" name="a2wd450_cell777"/>
          <p:cNvSpPr txBox="1"/>
          <p:nvPr/>
        </p:nvSpPr>
        <p:spPr>
          <a:xfrm>
            <a:off x="5989320" y="2926080"/>
            <a:ext cx="7772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3" name="a2wd600_cell778"/>
          <p:cNvSpPr txBox="1"/>
          <p:nvPr/>
        </p:nvSpPr>
        <p:spPr>
          <a:xfrm>
            <a:off x="5989320" y="3200400"/>
            <a:ext cx="7772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4" name="a2f_cell779"/>
          <p:cNvSpPr txBox="1"/>
          <p:nvPr/>
        </p:nvSpPr>
        <p:spPr>
          <a:xfrm>
            <a:off x="6766560" y="1828800"/>
            <a:ext cx="91440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dirty="0" sz="1100"/>
          </a:p>
        </p:txBody>
      </p:sp>
      <p:sp>
        <p:nvSpPr>
          <p:cNvPr id="35" name="a2wd0_cell780"/>
          <p:cNvSpPr txBox="1"/>
          <p:nvPr/>
        </p:nvSpPr>
        <p:spPr>
          <a:xfrm>
            <a:off x="6766560" y="21031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36" name="a2wd150_cell781"/>
          <p:cNvSpPr txBox="1"/>
          <p:nvPr/>
        </p:nvSpPr>
        <p:spPr>
          <a:xfrm>
            <a:off x="6766560" y="23774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37" name="a2wd300_cell782"/>
          <p:cNvSpPr txBox="1"/>
          <p:nvPr/>
        </p:nvSpPr>
        <p:spPr>
          <a:xfrm>
            <a:off x="6766560" y="26517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38" name="a2wd450_cell783"/>
          <p:cNvSpPr txBox="1"/>
          <p:nvPr/>
        </p:nvSpPr>
        <p:spPr>
          <a:xfrm>
            <a:off x="6766560" y="292608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9" name="a2wd600_cell784"/>
          <p:cNvSpPr txBox="1"/>
          <p:nvPr/>
        </p:nvSpPr>
        <p:spPr>
          <a:xfrm>
            <a:off x="6766560" y="320040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40" name="a2f_cell785"/>
          <p:cNvSpPr txBox="1"/>
          <p:nvPr/>
        </p:nvSpPr>
        <p:spPr>
          <a:xfrm>
            <a:off x="7680960" y="182880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41" name="a2wd0_cell786"/>
          <p:cNvSpPr txBox="1"/>
          <p:nvPr/>
        </p:nvSpPr>
        <p:spPr>
          <a:xfrm>
            <a:off x="7680960" y="210312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42" name="a2wd150_cell787"/>
          <p:cNvSpPr txBox="1"/>
          <p:nvPr/>
        </p:nvSpPr>
        <p:spPr>
          <a:xfrm>
            <a:off x="7680960" y="237744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43" name="a2wd300_cell788"/>
          <p:cNvSpPr txBox="1"/>
          <p:nvPr/>
        </p:nvSpPr>
        <p:spPr>
          <a:xfrm>
            <a:off x="7680960" y="26517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44" name="a2wd450_cell789"/>
          <p:cNvSpPr txBox="1"/>
          <p:nvPr/>
        </p:nvSpPr>
        <p:spPr>
          <a:xfrm>
            <a:off x="7680960" y="292608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45" name="a2wd600_cell790"/>
          <p:cNvSpPr txBox="1"/>
          <p:nvPr/>
        </p:nvSpPr>
        <p:spPr>
          <a:xfrm>
            <a:off x="7680960" y="320040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46" name="a3f_kc791"/>
          <p:cNvSpPr/>
          <p:nvPr/>
        </p:nvSpPr>
        <p:spPr>
          <a:xfrm>
            <a:off x="6748272" y="1810512"/>
            <a:ext cx="950976" cy="168249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47" name="a4f_fade792"/>
          <p:cNvSpPr/>
          <p:nvPr/>
        </p:nvSpPr>
        <p:spPr>
          <a:xfrm>
            <a:off x="4617720" y="210312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8" name="a4w_strike793"/>
          <p:cNvSpPr/>
          <p:nvPr/>
        </p:nvSpPr>
        <p:spPr>
          <a:xfrm>
            <a:off x="4663440" y="224028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49" name="a4f_fade794"/>
          <p:cNvSpPr/>
          <p:nvPr/>
        </p:nvSpPr>
        <p:spPr>
          <a:xfrm>
            <a:off x="4617720" y="237744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0" name="a4w_strike795"/>
          <p:cNvSpPr/>
          <p:nvPr/>
        </p:nvSpPr>
        <p:spPr>
          <a:xfrm>
            <a:off x="4663440" y="251460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51" name="a4f_fade796"/>
          <p:cNvSpPr/>
          <p:nvPr/>
        </p:nvSpPr>
        <p:spPr>
          <a:xfrm>
            <a:off x="4617720" y="265176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2" name="a4w_strike797"/>
          <p:cNvSpPr/>
          <p:nvPr/>
        </p:nvSpPr>
        <p:spPr>
          <a:xfrm>
            <a:off x="4663440" y="278892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53" name="a4fd400_keep798"/>
          <p:cNvSpPr/>
          <p:nvPr/>
        </p:nvSpPr>
        <p:spPr>
          <a:xfrm>
            <a:off x="4590288" y="2935224"/>
            <a:ext cx="3666744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54" name="a4fd400_keep799"/>
          <p:cNvSpPr/>
          <p:nvPr/>
        </p:nvSpPr>
        <p:spPr>
          <a:xfrm>
            <a:off x="4590288" y="3209544"/>
            <a:ext cx="3666744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55" name="a5u_nb800"/>
          <p:cNvSpPr/>
          <p:nvPr/>
        </p:nvSpPr>
        <p:spPr>
          <a:xfrm>
            <a:off x="4617720" y="370332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6" name="a5u_ni801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931920"/>
            <a:ext cx="320040" cy="320040"/>
          </a:xfrm>
          <a:prstGeom prst="rect">
            <a:avLst/>
          </a:prstGeom>
        </p:spPr>
      </p:pic>
      <p:sp>
        <p:nvSpPr>
          <p:cNvPr id="57" name="a5u_nt802"/>
          <p:cNvSpPr txBox="1"/>
          <p:nvPr/>
        </p:nvSpPr>
        <p:spPr>
          <a:xfrm>
            <a:off x="5166360" y="37033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Martin and Peter remain — customers in the database who never ordered.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" grpId="0" animBg="1"/>
      <p:bldP spid="13" grpId="0" animBg="1"/>
      <p:bldP spid="1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803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dirty="0" sz="6000"/>
          </a:p>
        </p:txBody>
      </p:sp>
      <p:sp>
        <p:nvSpPr>
          <p:cNvPr id="3" name="a0ud200_h804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ANTI JOIN</a:t>
            </a:r>
            <a:endParaRPr lang="en-US" dirty="0" sz="4000"/>
          </a:p>
        </p:txBody>
      </p:sp>
      <p:sp>
        <p:nvSpPr>
          <p:cNvPr id="4" name="a0fd450_t805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from the right table that have no match on the left</a:t>
            </a:r>
            <a:endParaRPr lang="en-US" dirty="0" sz="1700"/>
          </a:p>
        </p:txBody>
      </p:sp>
      <p:pic>
        <p:nvPicPr>
          <p:cNvPr id="5" name="a0fd300_v806" descr="d7ef2766b5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ANTI JOIN — The Concept</a:t>
            </a:r>
            <a:endParaRPr lang="en-US" dirty="0" sz="2800"/>
          </a:p>
        </p:txBody>
      </p:sp>
      <p:pic>
        <p:nvPicPr>
          <p:cNvPr id="3" name="a1f_sv807" descr="3f3325626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71600" cy="868680"/>
          </a:xfrm>
          <a:prstGeom prst="rect">
            <a:avLst/>
          </a:prstGeom>
        </p:spPr>
      </p:pic>
      <p:sp>
        <p:nvSpPr>
          <p:cNvPr id="4" name="a2f_ar808"/>
          <p:cNvSpPr/>
          <p:nvPr/>
        </p:nvSpPr>
        <p:spPr>
          <a:xfrm>
            <a:off x="1874520" y="1417320"/>
            <a:ext cx="320040" cy="228600"/>
          </a:xfrm>
          <a:prstGeom prst="righ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a2f_sv809" descr="2514820399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097280"/>
            <a:ext cx="1371600" cy="868680"/>
          </a:xfrm>
          <a:prstGeom prst="rect">
            <a:avLst/>
          </a:prstGeom>
        </p:spPr>
      </p:pic>
      <p:sp>
        <p:nvSpPr>
          <p:cNvPr id="6" name="a1f_l1810"/>
          <p:cNvSpPr txBox="1"/>
          <p:nvPr/>
        </p:nvSpPr>
        <p:spPr>
          <a:xfrm>
            <a:off x="45720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dirty="0" sz="1100"/>
          </a:p>
          <a:p>
            <a:pPr algn="ctr" marL="0" indent="0">
              <a:buNone/>
            </a:pPr>
            <a:r>
              <a:rPr sz="11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dirty="0" sz="1100"/>
          </a:p>
        </p:txBody>
      </p:sp>
      <p:sp>
        <p:nvSpPr>
          <p:cNvPr id="7" name="a2f_l2811"/>
          <p:cNvSpPr txBox="1"/>
          <p:nvPr/>
        </p:nvSpPr>
        <p:spPr>
          <a:xfrm>
            <a:off x="219456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dirty="0" sz="1100"/>
          </a:p>
          <a:p>
            <a:pPr algn="ctr" marL="0" indent="0">
              <a:buNone/>
            </a:pPr>
            <a:r>
              <a:rPr sz="11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A.key IS NULL</a:t>
            </a:r>
            <a:endParaRPr lang="en-US" dirty="0" sz="1100"/>
          </a:p>
        </p:txBody>
      </p:sp>
      <p:sp>
        <p:nvSpPr>
          <p:cNvPr id="8" name="a3u_pill812"/>
          <p:cNvSpPr txBox="1"/>
          <p:nvPr/>
        </p:nvSpPr>
        <p:spPr>
          <a:xfrm>
            <a:off x="457200" y="274320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solidFill>
              <a:srgbClr val="EEF2F6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used only as a filter</a:t>
            </a:r>
            <a:endParaRPr lang="en-US" dirty="0" sz="1200"/>
          </a:p>
        </p:txBody>
      </p:sp>
      <p:sp>
        <p:nvSpPr>
          <p:cNvPr id="9" name="a3ud200_pill813"/>
          <p:cNvSpPr txBox="1"/>
          <p:nvPr/>
        </p:nvSpPr>
        <p:spPr>
          <a:xfrm>
            <a:off x="457200" y="324612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unmatching rows</a:t>
            </a:r>
            <a:endParaRPr lang="en-US" dirty="0" sz="1200"/>
          </a:p>
        </p:txBody>
      </p:sp>
      <p:sp>
        <p:nvSpPr>
          <p:cNvPr id="10" name="a6u_nb814"/>
          <p:cNvSpPr/>
          <p:nvPr/>
        </p:nvSpPr>
        <p:spPr>
          <a:xfrm>
            <a:off x="457200" y="384048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a6u_ni815" descr="b6ae7cf156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87368"/>
            <a:ext cx="365760" cy="365760"/>
          </a:xfrm>
          <a:prstGeom prst="rect">
            <a:avLst/>
          </a:prstGeom>
        </p:spPr>
      </p:pic>
      <p:sp>
        <p:nvSpPr>
          <p:cNvPr id="12" name="a6u_nt816"/>
          <p:cNvSpPr txBox="1"/>
          <p:nvPr/>
        </p:nvSpPr>
        <p:spPr>
          <a:xfrm>
            <a:off x="1051560" y="3840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ANTI JOIN keyword (e.g. in SQL Server). Build it from a classic join plus a WHERE filter.</a:t>
            </a:r>
            <a:endParaRPr lang="en-US" dirty="0" sz="1100"/>
          </a:p>
        </p:txBody>
      </p:sp>
      <p:sp>
        <p:nvSpPr>
          <p:cNvPr id="13" name="Text 8"/>
          <p:cNvSpPr txBox="1"/>
          <p:nvPr/>
        </p:nvSpPr>
        <p:spPr>
          <a:xfrm>
            <a:off x="4023360" y="914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rows from the right table that have no match in the left table.</a:t>
            </a:r>
            <a:endParaRPr lang="en-US" dirty="0" sz="1600"/>
          </a:p>
        </p:txBody>
      </p:sp>
      <p:sp>
        <p:nvSpPr>
          <p:cNvPr id="14" name="a4f_codebg817"/>
          <p:cNvSpPr/>
          <p:nvPr/>
        </p:nvSpPr>
        <p:spPr>
          <a:xfrm>
            <a:off x="4023360" y="1691640"/>
            <a:ext cx="46634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a4f_codelbl818"/>
          <p:cNvSpPr txBox="1"/>
          <p:nvPr/>
        </p:nvSpPr>
        <p:spPr>
          <a:xfrm>
            <a:off x="7223760" y="1737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900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dirty="0" sz="900"/>
          </a:p>
        </p:txBody>
      </p:sp>
      <p:sp>
        <p:nvSpPr>
          <p:cNvPr id="16" name="a5f_hl819"/>
          <p:cNvSpPr/>
          <p:nvPr/>
        </p:nvSpPr>
        <p:spPr>
          <a:xfrm>
            <a:off x="4096512" y="2852928"/>
            <a:ext cx="4517136" cy="256032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a4wd0_code820"/>
          <p:cNvSpPr txBox="1"/>
          <p:nvPr/>
        </p:nvSpPr>
        <p:spPr>
          <a:xfrm>
            <a:off x="4206240" y="182880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300"/>
          </a:p>
        </p:txBody>
      </p:sp>
      <p:sp>
        <p:nvSpPr>
          <p:cNvPr id="18" name="a4wd300_code821"/>
          <p:cNvSpPr txBox="1"/>
          <p:nvPr/>
        </p:nvSpPr>
        <p:spPr>
          <a:xfrm>
            <a:off x="4206240" y="20848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dirty="0" sz="1300"/>
          </a:p>
        </p:txBody>
      </p:sp>
      <p:sp>
        <p:nvSpPr>
          <p:cNvPr id="19" name="a4wd600_code822"/>
          <p:cNvSpPr txBox="1"/>
          <p:nvPr/>
        </p:nvSpPr>
        <p:spPr>
          <a:xfrm>
            <a:off x="4206240" y="234086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dirty="0" sz="1300"/>
          </a:p>
        </p:txBody>
      </p:sp>
      <p:sp>
        <p:nvSpPr>
          <p:cNvPr id="20" name="a4wd900_code823"/>
          <p:cNvSpPr txBox="1"/>
          <p:nvPr/>
        </p:nvSpPr>
        <p:spPr>
          <a:xfrm>
            <a:off x="4206240" y="25968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dirty="0" sz="1300"/>
          </a:p>
        </p:txBody>
      </p:sp>
      <p:sp>
        <p:nvSpPr>
          <p:cNvPr id="21" name="a5wd0_code824"/>
          <p:cNvSpPr txBox="1"/>
          <p:nvPr/>
        </p:nvSpPr>
        <p:spPr>
          <a:xfrm>
            <a:off x="4206240" y="28529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dirty="0" sz="1300"/>
          </a:p>
        </p:txBody>
      </p:sp>
      <p:sp>
        <p:nvSpPr>
          <p:cNvPr id="22" name="a6f_cb825"/>
          <p:cNvSpPr/>
          <p:nvPr/>
        </p:nvSpPr>
        <p:spPr>
          <a:xfrm>
            <a:off x="4023360" y="352044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a6f_ct826"/>
          <p:cNvSpPr txBox="1"/>
          <p:nvPr/>
        </p:nvSpPr>
        <p:spPr>
          <a:xfrm>
            <a:off x="4206240" y="352044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matters!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time filter on the LEFT table's key.</a:t>
            </a:r>
            <a:endParaRPr lang="en-US" dirty="0" sz="1200"/>
          </a:p>
        </p:txBody>
      </p:sp>
      <p:sp>
        <p:nvSpPr>
          <p:cNvPr id="24" name="a6f_u827"/>
          <p:cNvSpPr txBox="1"/>
          <p:nvPr/>
        </p:nvSpPr>
        <p:spPr>
          <a:xfrm>
            <a:off x="402336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to:</a:t>
            </a:r>
            <a:endParaRPr lang="en-US" dirty="0" sz="1200"/>
          </a:p>
        </p:txBody>
      </p:sp>
      <p:sp>
        <p:nvSpPr>
          <p:cNvPr id="25" name="a6ud200_chip828"/>
          <p:cNvSpPr txBox="1"/>
          <p:nvPr/>
        </p:nvSpPr>
        <p:spPr>
          <a:xfrm>
            <a:off x="4892040" y="42976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</a:t>
            </a:r>
            <a:endParaRPr lang="en-US" dirty="0" sz="1100"/>
          </a:p>
        </p:txBody>
      </p:sp>
      <p:sp>
        <p:nvSpPr>
          <p:cNvPr id="26" name="a6ud350_chip829"/>
          <p:cNvSpPr txBox="1"/>
          <p:nvPr/>
        </p:nvSpPr>
        <p:spPr>
          <a:xfrm>
            <a:off x="6080760" y="42976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dirty="0" sz="1100"/>
          </a:p>
        </p:txBody>
      </p:sp>
      <p:sp>
        <p:nvSpPr>
          <p:cNvPr id="27" name="a6ud500_chip830"/>
          <p:cNvSpPr txBox="1"/>
          <p:nvPr/>
        </p:nvSpPr>
        <p:spPr>
          <a:xfrm>
            <a:off x="7269480" y="42976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existence</a:t>
            </a:r>
            <a:endParaRPr lang="en-US" dirty="0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16" grpId="0" animBg="1"/>
      <p:bldP spid="21" grpId="0" animBg="1"/>
      <p:bldP spid="10" grpId="0" animBg="1"/>
      <p:bldP spid="11" grpId="0" animBg="1"/>
      <p:bldP spid="12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ANTI JOIN — In Practice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orders without matching customers.</a:t>
            </a:r>
            <a:endParaRPr lang="en-US" dirty="0" sz="1400"/>
          </a:p>
        </p:txBody>
      </p:sp>
      <p:sp>
        <p:nvSpPr>
          <p:cNvPr id="4" name="a1f_codebg831"/>
          <p:cNvSpPr/>
          <p:nvPr/>
        </p:nvSpPr>
        <p:spPr>
          <a:xfrm>
            <a:off x="457200" y="1600200"/>
            <a:ext cx="3886200" cy="2322576"/>
          </a:xfrm>
          <a:prstGeom prst="roundRect">
            <a:avLst>
              <a:gd name="adj" fmla="val 31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3f_hl832"/>
          <p:cNvSpPr/>
          <p:nvPr/>
        </p:nvSpPr>
        <p:spPr>
          <a:xfrm>
            <a:off x="530352" y="3529584"/>
            <a:ext cx="3739896" cy="256032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a1wd0_code833"/>
          <p:cNvSpPr txBox="1"/>
          <p:nvPr/>
        </p:nvSpPr>
        <p:spPr>
          <a:xfrm>
            <a:off x="64008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200"/>
          </a:p>
        </p:txBody>
      </p:sp>
      <p:sp>
        <p:nvSpPr>
          <p:cNvPr id="7" name="a1wd120_code834"/>
          <p:cNvSpPr txBox="1"/>
          <p:nvPr/>
        </p:nvSpPr>
        <p:spPr>
          <a:xfrm>
            <a:off x="640080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8" name="a1wd240_code835"/>
          <p:cNvSpPr txBox="1"/>
          <p:nvPr/>
        </p:nvSpPr>
        <p:spPr>
          <a:xfrm>
            <a:off x="640080" y="2249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9" name="a1wd360_code836"/>
          <p:cNvSpPr txBox="1"/>
          <p:nvPr/>
        </p:nvSpPr>
        <p:spPr>
          <a:xfrm>
            <a:off x="640080" y="2505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200"/>
          </a:p>
        </p:txBody>
      </p:sp>
      <p:sp>
        <p:nvSpPr>
          <p:cNvPr id="10" name="a1wd480_code837"/>
          <p:cNvSpPr txBox="1"/>
          <p:nvPr/>
        </p:nvSpPr>
        <p:spPr>
          <a:xfrm>
            <a:off x="64008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11" name="a1wd600_code838"/>
          <p:cNvSpPr txBox="1"/>
          <p:nvPr/>
        </p:nvSpPr>
        <p:spPr>
          <a:xfrm>
            <a:off x="64008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2" name="a1wd720_code839"/>
          <p:cNvSpPr txBox="1"/>
          <p:nvPr/>
        </p:nvSpPr>
        <p:spPr>
          <a:xfrm>
            <a:off x="640080" y="3273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dirty="0" sz="1200"/>
          </a:p>
        </p:txBody>
      </p:sp>
      <p:sp>
        <p:nvSpPr>
          <p:cNvPr id="13" name="a3wd0_code840"/>
          <p:cNvSpPr txBox="1"/>
          <p:nvPr/>
        </p:nvSpPr>
        <p:spPr>
          <a:xfrm>
            <a:off x="640080" y="3529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4" name="a2f_l841"/>
          <p:cNvSpPr txBox="1"/>
          <p:nvPr/>
        </p:nvSpPr>
        <p:spPr>
          <a:xfrm>
            <a:off x="461772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RIGHT JOIN result</a:t>
            </a:r>
            <a:endParaRPr lang="en-US" dirty="0" sz="1100"/>
          </a:p>
        </p:txBody>
      </p:sp>
      <p:sp>
        <p:nvSpPr>
          <p:cNvPr id="15" name="a3f_l842"/>
          <p:cNvSpPr txBox="1"/>
          <p:nvPr/>
        </p:nvSpPr>
        <p:spPr>
          <a:xfrm>
            <a:off x="672084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WHERE filter</a:t>
            </a:r>
            <a:endParaRPr lang="en-US" dirty="0" sz="1100"/>
          </a:p>
        </p:txBody>
      </p:sp>
      <p:sp>
        <p:nvSpPr>
          <p:cNvPr id="16" name="a2f_cell843"/>
          <p:cNvSpPr txBox="1"/>
          <p:nvPr/>
        </p:nvSpPr>
        <p:spPr>
          <a:xfrm>
            <a:off x="4617720" y="1828800"/>
            <a:ext cx="4572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17" name="a2wd0_cell844"/>
          <p:cNvSpPr txBox="1"/>
          <p:nvPr/>
        </p:nvSpPr>
        <p:spPr>
          <a:xfrm>
            <a:off x="4617720" y="210312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8" name="a2wd150_cell845"/>
          <p:cNvSpPr txBox="1"/>
          <p:nvPr/>
        </p:nvSpPr>
        <p:spPr>
          <a:xfrm>
            <a:off x="4617720" y="237744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19" name="a2wd300_cell846"/>
          <p:cNvSpPr txBox="1"/>
          <p:nvPr/>
        </p:nvSpPr>
        <p:spPr>
          <a:xfrm>
            <a:off x="4617720" y="265176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20" name="a2wd450_cell847"/>
          <p:cNvSpPr txBox="1"/>
          <p:nvPr/>
        </p:nvSpPr>
        <p:spPr>
          <a:xfrm>
            <a:off x="4617720" y="2926080"/>
            <a:ext cx="4572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21" name="a2f_cell848"/>
          <p:cNvSpPr txBox="1"/>
          <p:nvPr/>
        </p:nvSpPr>
        <p:spPr>
          <a:xfrm>
            <a:off x="5074920" y="1828800"/>
            <a:ext cx="9144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22" name="a2wd0_cell849"/>
          <p:cNvSpPr txBox="1"/>
          <p:nvPr/>
        </p:nvSpPr>
        <p:spPr>
          <a:xfrm>
            <a:off x="5074920" y="21031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23" name="a2wd150_cell850"/>
          <p:cNvSpPr txBox="1"/>
          <p:nvPr/>
        </p:nvSpPr>
        <p:spPr>
          <a:xfrm>
            <a:off x="5074920" y="23774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24" name="a2wd300_cell851"/>
          <p:cNvSpPr txBox="1"/>
          <p:nvPr/>
        </p:nvSpPr>
        <p:spPr>
          <a:xfrm>
            <a:off x="5074920" y="26517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25" name="a2wd450_cell852"/>
          <p:cNvSpPr txBox="1"/>
          <p:nvPr/>
        </p:nvSpPr>
        <p:spPr>
          <a:xfrm>
            <a:off x="5074920" y="292608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26" name="a2f_cell853"/>
          <p:cNvSpPr txBox="1"/>
          <p:nvPr/>
        </p:nvSpPr>
        <p:spPr>
          <a:xfrm>
            <a:off x="5989320" y="1828800"/>
            <a:ext cx="7772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27" name="a2wd0_cell854"/>
          <p:cNvSpPr txBox="1"/>
          <p:nvPr/>
        </p:nvSpPr>
        <p:spPr>
          <a:xfrm>
            <a:off x="5989320" y="210312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28" name="a2wd150_cell855"/>
          <p:cNvSpPr txBox="1"/>
          <p:nvPr/>
        </p:nvSpPr>
        <p:spPr>
          <a:xfrm>
            <a:off x="5989320" y="237744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29" name="a2wd300_cell856"/>
          <p:cNvSpPr txBox="1"/>
          <p:nvPr/>
        </p:nvSpPr>
        <p:spPr>
          <a:xfrm>
            <a:off x="5989320" y="265176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30" name="a2wd450_cell857"/>
          <p:cNvSpPr txBox="1"/>
          <p:nvPr/>
        </p:nvSpPr>
        <p:spPr>
          <a:xfrm>
            <a:off x="5989320" y="292608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dirty="0" sz="1100"/>
          </a:p>
        </p:txBody>
      </p:sp>
      <p:sp>
        <p:nvSpPr>
          <p:cNvPr id="31" name="a2f_cell858"/>
          <p:cNvSpPr txBox="1"/>
          <p:nvPr/>
        </p:nvSpPr>
        <p:spPr>
          <a:xfrm>
            <a:off x="6766560" y="1828800"/>
            <a:ext cx="91440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dirty="0" sz="1100"/>
          </a:p>
        </p:txBody>
      </p:sp>
      <p:sp>
        <p:nvSpPr>
          <p:cNvPr id="32" name="a2wd0_cell859"/>
          <p:cNvSpPr txBox="1"/>
          <p:nvPr/>
        </p:nvSpPr>
        <p:spPr>
          <a:xfrm>
            <a:off x="6766560" y="21031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33" name="a2wd150_cell860"/>
          <p:cNvSpPr txBox="1"/>
          <p:nvPr/>
        </p:nvSpPr>
        <p:spPr>
          <a:xfrm>
            <a:off x="6766560" y="23774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34" name="a2wd300_cell861"/>
          <p:cNvSpPr txBox="1"/>
          <p:nvPr/>
        </p:nvSpPr>
        <p:spPr>
          <a:xfrm>
            <a:off x="6766560" y="26517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35" name="a2wd450_cell862"/>
          <p:cNvSpPr txBox="1"/>
          <p:nvPr/>
        </p:nvSpPr>
        <p:spPr>
          <a:xfrm>
            <a:off x="6766560" y="29260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 sz="1100"/>
          </a:p>
        </p:txBody>
      </p:sp>
      <p:sp>
        <p:nvSpPr>
          <p:cNvPr id="36" name="a2f_cell863"/>
          <p:cNvSpPr txBox="1"/>
          <p:nvPr/>
        </p:nvSpPr>
        <p:spPr>
          <a:xfrm>
            <a:off x="7680960" y="182880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37" name="a2wd0_cell864"/>
          <p:cNvSpPr txBox="1"/>
          <p:nvPr/>
        </p:nvSpPr>
        <p:spPr>
          <a:xfrm>
            <a:off x="7680960" y="210312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38" name="a2wd150_cell865"/>
          <p:cNvSpPr txBox="1"/>
          <p:nvPr/>
        </p:nvSpPr>
        <p:spPr>
          <a:xfrm>
            <a:off x="7680960" y="237744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39" name="a2wd300_cell866"/>
          <p:cNvSpPr txBox="1"/>
          <p:nvPr/>
        </p:nvSpPr>
        <p:spPr>
          <a:xfrm>
            <a:off x="7680960" y="26517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40" name="a2wd450_cell867"/>
          <p:cNvSpPr txBox="1"/>
          <p:nvPr/>
        </p:nvSpPr>
        <p:spPr>
          <a:xfrm>
            <a:off x="7680960" y="292608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 sz="1100"/>
          </a:p>
        </p:txBody>
      </p:sp>
      <p:sp>
        <p:nvSpPr>
          <p:cNvPr id="41" name="a3f_kc868"/>
          <p:cNvSpPr/>
          <p:nvPr/>
        </p:nvSpPr>
        <p:spPr>
          <a:xfrm>
            <a:off x="4599432" y="1810512"/>
            <a:ext cx="493776" cy="140817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42" name="a4f_fade869"/>
          <p:cNvSpPr/>
          <p:nvPr/>
        </p:nvSpPr>
        <p:spPr>
          <a:xfrm>
            <a:off x="4617720" y="210312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3" name="a4w_strike870"/>
          <p:cNvSpPr/>
          <p:nvPr/>
        </p:nvSpPr>
        <p:spPr>
          <a:xfrm>
            <a:off x="4663440" y="224028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44" name="a4f_fade871"/>
          <p:cNvSpPr/>
          <p:nvPr/>
        </p:nvSpPr>
        <p:spPr>
          <a:xfrm>
            <a:off x="4617720" y="237744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5" name="a4w_strike872"/>
          <p:cNvSpPr/>
          <p:nvPr/>
        </p:nvSpPr>
        <p:spPr>
          <a:xfrm>
            <a:off x="4663440" y="251460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46" name="a4f_fade873"/>
          <p:cNvSpPr/>
          <p:nvPr/>
        </p:nvSpPr>
        <p:spPr>
          <a:xfrm>
            <a:off x="4617720" y="265176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47" name="a4w_strike874"/>
          <p:cNvSpPr/>
          <p:nvPr/>
        </p:nvSpPr>
        <p:spPr>
          <a:xfrm>
            <a:off x="4663440" y="278892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48" name="a4fd400_keep875"/>
          <p:cNvSpPr/>
          <p:nvPr/>
        </p:nvSpPr>
        <p:spPr>
          <a:xfrm>
            <a:off x="4590288" y="2935224"/>
            <a:ext cx="3666744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49" name="a5u_nb876"/>
          <p:cNvSpPr/>
          <p:nvPr/>
        </p:nvSpPr>
        <p:spPr>
          <a:xfrm>
            <a:off x="4617720" y="34290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0" name="a5u_ni877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57600"/>
            <a:ext cx="320040" cy="320040"/>
          </a:xfrm>
          <a:prstGeom prst="rect">
            <a:avLst/>
          </a:prstGeom>
        </p:spPr>
      </p:pic>
      <p:sp>
        <p:nvSpPr>
          <p:cNvPr id="51" name="a5u_nt878"/>
          <p:cNvSpPr txBox="1"/>
          <p:nvPr/>
        </p:nvSpPr>
        <p:spPr>
          <a:xfrm>
            <a:off x="5166360" y="34290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1004 points to customer 6, who doesn't exist — a data-quality problem worth catching.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5" grpId="0" animBg="1"/>
      <p:bldP spid="13" grpId="0" animBg="1"/>
      <p:bldP spid="15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Right Anti Join Without RIGHT JOIN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orphan orders — using LEFT JOIN only</a:t>
            </a:r>
            <a:endParaRPr lang="en-US" dirty="0" sz="130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version</a:t>
            </a:r>
            <a:endParaRPr lang="en-US" dirty="0" sz="1300"/>
          </a:p>
        </p:txBody>
      </p:sp>
      <p:sp>
        <p:nvSpPr>
          <p:cNvPr id="5" name="s_codebg879"/>
          <p:cNvSpPr/>
          <p:nvPr/>
        </p:nvSpPr>
        <p:spPr>
          <a:xfrm>
            <a:off x="457200" y="146304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_code880"/>
          <p:cNvSpPr txBox="1"/>
          <p:nvPr/>
        </p:nvSpPr>
        <p:spPr>
          <a:xfrm>
            <a:off x="640080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200"/>
          </a:p>
        </p:txBody>
      </p:sp>
      <p:sp>
        <p:nvSpPr>
          <p:cNvPr id="7" name="s_code881"/>
          <p:cNvSpPr txBox="1"/>
          <p:nvPr/>
        </p:nvSpPr>
        <p:spPr>
          <a:xfrm>
            <a:off x="640080" y="18562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8" name="s_code882"/>
          <p:cNvSpPr txBox="1"/>
          <p:nvPr/>
        </p:nvSpPr>
        <p:spPr>
          <a:xfrm>
            <a:off x="640080" y="21122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9" name="s_code883"/>
          <p:cNvSpPr txBox="1"/>
          <p:nvPr/>
        </p:nvSpPr>
        <p:spPr>
          <a:xfrm>
            <a:off x="640080" y="2368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dirty="0" sz="1200"/>
          </a:p>
        </p:txBody>
      </p:sp>
      <p:sp>
        <p:nvSpPr>
          <p:cNvPr id="10" name="s_code884"/>
          <p:cNvSpPr txBox="1"/>
          <p:nvPr/>
        </p:nvSpPr>
        <p:spPr>
          <a:xfrm>
            <a:off x="640080" y="2624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1" name="a1f_eq885"/>
          <p:cNvSpPr txBox="1"/>
          <p:nvPr/>
        </p:nvSpPr>
        <p:spPr>
          <a:xfrm>
            <a:off x="4343400" y="2011680"/>
            <a:ext cx="457200" cy="4572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2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dirty="0" sz="2200"/>
          </a:p>
        </p:txBody>
      </p:sp>
      <p:sp>
        <p:nvSpPr>
          <p:cNvPr id="12" name="a1f_l886"/>
          <p:cNvSpPr txBox="1"/>
          <p:nvPr/>
        </p:nvSpPr>
        <p:spPr>
          <a:xfrm>
            <a:off x="493776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(tables swapped)</a:t>
            </a:r>
            <a:endParaRPr lang="en-US" dirty="0" sz="1300"/>
          </a:p>
        </p:txBody>
      </p:sp>
      <p:sp>
        <p:nvSpPr>
          <p:cNvPr id="13" name="a1f_codebg887"/>
          <p:cNvSpPr/>
          <p:nvPr/>
        </p:nvSpPr>
        <p:spPr>
          <a:xfrm>
            <a:off x="4937760" y="146304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a1wd0_code888"/>
          <p:cNvSpPr txBox="1"/>
          <p:nvPr/>
        </p:nvSpPr>
        <p:spPr>
          <a:xfrm>
            <a:off x="5120640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200"/>
          </a:p>
        </p:txBody>
      </p:sp>
      <p:sp>
        <p:nvSpPr>
          <p:cNvPr id="15" name="a1wd180_code889"/>
          <p:cNvSpPr txBox="1"/>
          <p:nvPr/>
        </p:nvSpPr>
        <p:spPr>
          <a:xfrm>
            <a:off x="5120640" y="18562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6" name="a1wd360_code890"/>
          <p:cNvSpPr txBox="1"/>
          <p:nvPr/>
        </p:nvSpPr>
        <p:spPr>
          <a:xfrm>
            <a:off x="5120640" y="21122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17" name="a1wd540_code891"/>
          <p:cNvSpPr txBox="1"/>
          <p:nvPr/>
        </p:nvSpPr>
        <p:spPr>
          <a:xfrm>
            <a:off x="5120640" y="2368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dirty="0" sz="1200"/>
          </a:p>
        </p:txBody>
      </p:sp>
      <p:sp>
        <p:nvSpPr>
          <p:cNvPr id="18" name="a1wd720_code892"/>
          <p:cNvSpPr txBox="1"/>
          <p:nvPr/>
        </p:nvSpPr>
        <p:spPr>
          <a:xfrm>
            <a:off x="5120640" y="2624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9" name="a1fd1000_c893"/>
          <p:cNvSpPr txBox="1"/>
          <p:nvPr/>
        </p:nvSpPr>
        <p:spPr>
          <a:xfrm>
            <a:off x="4937760" y="3090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tables + join type; ON and WHERE stay the same</a:t>
            </a:r>
            <a:endParaRPr lang="en-US" dirty="0" sz="1100"/>
          </a:p>
        </p:txBody>
      </p:sp>
      <p:sp>
        <p:nvSpPr>
          <p:cNvPr id="20" name="a2u_tb894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1" name="a2u_ti895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05072"/>
            <a:ext cx="457200" cy="457200"/>
          </a:xfrm>
          <a:prstGeom prst="rect">
            <a:avLst/>
          </a:prstGeom>
        </p:spPr>
      </p:pic>
      <p:sp>
        <p:nvSpPr>
          <p:cNvPr id="22" name="a2u_tt896"/>
          <p:cNvSpPr txBox="1"/>
          <p:nvPr/>
        </p:nvSpPr>
        <p:spPr>
          <a:xfrm>
            <a:off x="1371600" y="374904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table you want to keep (orders) and LEFT JOIN the lookup. With SELECT * the left table's columns simply come first — the rows are identical.</a:t>
            </a:r>
            <a:endParaRPr lang="en-US" dirty="0" sz="14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897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dirty="0" sz="6000"/>
          </a:p>
        </p:txBody>
      </p:sp>
      <p:sp>
        <p:nvSpPr>
          <p:cNvPr id="3" name="a0ud200_h898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ANTI JOIN</a:t>
            </a:r>
            <a:endParaRPr lang="en-US" dirty="0" sz="4000"/>
          </a:p>
        </p:txBody>
      </p:sp>
      <p:sp>
        <p:nvSpPr>
          <p:cNvPr id="4" name="a0fd450_t899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rows from both tables — the opposite of INNER JOIN</a:t>
            </a:r>
            <a:endParaRPr lang="en-US" dirty="0" sz="1700"/>
          </a:p>
        </p:txBody>
      </p:sp>
      <p:pic>
        <p:nvPicPr>
          <p:cNvPr id="5" name="a0fd300_v900" descr="dab9d2179b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ANTI JOIN — The Concept</a:t>
            </a:r>
            <a:endParaRPr lang="en-US" dirty="0" sz="2800"/>
          </a:p>
        </p:txBody>
      </p:sp>
      <p:pic>
        <p:nvPicPr>
          <p:cNvPr id="3" name="a1f_sv901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71600" cy="868680"/>
          </a:xfrm>
          <a:prstGeom prst="rect">
            <a:avLst/>
          </a:prstGeom>
        </p:spPr>
      </p:pic>
      <p:sp>
        <p:nvSpPr>
          <p:cNvPr id="4" name="a2f_ar902"/>
          <p:cNvSpPr/>
          <p:nvPr/>
        </p:nvSpPr>
        <p:spPr>
          <a:xfrm>
            <a:off x="1874520" y="1417320"/>
            <a:ext cx="320040" cy="228600"/>
          </a:xfrm>
          <a:prstGeom prst="righ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a2f_sv903" descr="cf9af9b4c3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097280"/>
            <a:ext cx="1371600" cy="868680"/>
          </a:xfrm>
          <a:prstGeom prst="rect">
            <a:avLst/>
          </a:prstGeom>
        </p:spPr>
      </p:pic>
      <p:sp>
        <p:nvSpPr>
          <p:cNvPr id="6" name="a1f_l1904"/>
          <p:cNvSpPr txBox="1"/>
          <p:nvPr/>
        </p:nvSpPr>
        <p:spPr>
          <a:xfrm>
            <a:off x="45720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dirty="0" sz="1100"/>
          </a:p>
          <a:p>
            <a:pPr algn="ctr" marL="0" indent="0">
              <a:buNone/>
            </a:pPr>
            <a:r>
              <a:rPr sz="11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JOIN</a:t>
            </a:r>
            <a:endParaRPr lang="en-US" dirty="0" sz="1100"/>
          </a:p>
        </p:txBody>
      </p:sp>
      <p:sp>
        <p:nvSpPr>
          <p:cNvPr id="7" name="a2f_l2905"/>
          <p:cNvSpPr txBox="1"/>
          <p:nvPr/>
        </p:nvSpPr>
        <p:spPr>
          <a:xfrm>
            <a:off x="219456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dirty="0" sz="1100"/>
          </a:p>
          <a:p>
            <a:pPr algn="ctr" marL="0" indent="0">
              <a:buNone/>
            </a:pPr>
            <a:r>
              <a:rPr sz="11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either key IS NULL</a:t>
            </a:r>
            <a:endParaRPr lang="en-US" dirty="0" sz="1100"/>
          </a:p>
        </p:txBody>
      </p:sp>
      <p:sp>
        <p:nvSpPr>
          <p:cNvPr id="8" name="a3u_pill906"/>
          <p:cNvSpPr txBox="1"/>
          <p:nvPr/>
        </p:nvSpPr>
        <p:spPr>
          <a:xfrm>
            <a:off x="457200" y="274320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unmatching rows</a:t>
            </a:r>
            <a:endParaRPr lang="en-US" dirty="0" sz="1200"/>
          </a:p>
        </p:txBody>
      </p:sp>
      <p:sp>
        <p:nvSpPr>
          <p:cNvPr id="9" name="a3ud200_pill907"/>
          <p:cNvSpPr txBox="1"/>
          <p:nvPr/>
        </p:nvSpPr>
        <p:spPr>
          <a:xfrm>
            <a:off x="457200" y="3246120"/>
            <a:ext cx="3246120" cy="41148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unmatching rows</a:t>
            </a:r>
            <a:endParaRPr lang="en-US" dirty="0" sz="1200"/>
          </a:p>
        </p:txBody>
      </p:sp>
      <p:sp>
        <p:nvSpPr>
          <p:cNvPr id="10" name="a6u_nb908"/>
          <p:cNvSpPr/>
          <p:nvPr/>
        </p:nvSpPr>
        <p:spPr>
          <a:xfrm>
            <a:off x="457200" y="384048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a6u_ni909" descr="b6ae7cf156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87368"/>
            <a:ext cx="365760" cy="365760"/>
          </a:xfrm>
          <a:prstGeom prst="rect">
            <a:avLst/>
          </a:prstGeom>
        </p:spPr>
      </p:pic>
      <p:sp>
        <p:nvSpPr>
          <p:cNvPr id="12" name="a6u_nt910"/>
          <p:cNvSpPr txBox="1"/>
          <p:nvPr/>
        </p:nvSpPr>
        <p:spPr>
          <a:xfrm>
            <a:off x="1051560" y="3840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ANTI JOIN keyword (e.g. in SQL Server). Build it from a classic join plus a WHERE filter.</a:t>
            </a:r>
            <a:endParaRPr lang="en-US" dirty="0" sz="1100"/>
          </a:p>
        </p:txBody>
      </p:sp>
      <p:sp>
        <p:nvSpPr>
          <p:cNvPr id="13" name="Text 8"/>
          <p:cNvSpPr txBox="1"/>
          <p:nvPr/>
        </p:nvSpPr>
        <p:spPr>
          <a:xfrm>
            <a:off x="4023360" y="914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the rows that don't match in either table — the opposite of INNER JOIN.</a:t>
            </a:r>
            <a:endParaRPr lang="en-US" dirty="0" sz="1600"/>
          </a:p>
        </p:txBody>
      </p:sp>
      <p:sp>
        <p:nvSpPr>
          <p:cNvPr id="14" name="a4f_codebg911"/>
          <p:cNvSpPr/>
          <p:nvPr/>
        </p:nvSpPr>
        <p:spPr>
          <a:xfrm>
            <a:off x="4023360" y="1691640"/>
            <a:ext cx="4663440" cy="1810512"/>
          </a:xfrm>
          <a:prstGeom prst="roundRect">
            <a:avLst>
              <a:gd name="adj" fmla="val 404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a4f_codelbl912"/>
          <p:cNvSpPr txBox="1"/>
          <p:nvPr/>
        </p:nvSpPr>
        <p:spPr>
          <a:xfrm>
            <a:off x="7223760" y="1737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900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dirty="0" sz="900"/>
          </a:p>
        </p:txBody>
      </p:sp>
      <p:sp>
        <p:nvSpPr>
          <p:cNvPr id="16" name="a5f_hl913"/>
          <p:cNvSpPr/>
          <p:nvPr/>
        </p:nvSpPr>
        <p:spPr>
          <a:xfrm>
            <a:off x="4096512" y="2852928"/>
            <a:ext cx="4517136" cy="512064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a4wd0_code914"/>
          <p:cNvSpPr txBox="1"/>
          <p:nvPr/>
        </p:nvSpPr>
        <p:spPr>
          <a:xfrm>
            <a:off x="4206240" y="182880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300"/>
          </a:p>
        </p:txBody>
      </p:sp>
      <p:sp>
        <p:nvSpPr>
          <p:cNvPr id="18" name="a4wd300_code915"/>
          <p:cNvSpPr txBox="1"/>
          <p:nvPr/>
        </p:nvSpPr>
        <p:spPr>
          <a:xfrm>
            <a:off x="4206240" y="20848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dirty="0" sz="1300"/>
          </a:p>
        </p:txBody>
      </p:sp>
      <p:sp>
        <p:nvSpPr>
          <p:cNvPr id="19" name="a4wd600_code916"/>
          <p:cNvSpPr txBox="1"/>
          <p:nvPr/>
        </p:nvSpPr>
        <p:spPr>
          <a:xfrm>
            <a:off x="4206240" y="234086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dirty="0" sz="1300"/>
          </a:p>
        </p:txBody>
      </p:sp>
      <p:sp>
        <p:nvSpPr>
          <p:cNvPr id="20" name="a4wd900_code917"/>
          <p:cNvSpPr txBox="1"/>
          <p:nvPr/>
        </p:nvSpPr>
        <p:spPr>
          <a:xfrm>
            <a:off x="4206240" y="25968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dirty="0" sz="1300"/>
          </a:p>
        </p:txBody>
      </p:sp>
      <p:sp>
        <p:nvSpPr>
          <p:cNvPr id="21" name="a5wd0_code918"/>
          <p:cNvSpPr txBox="1"/>
          <p:nvPr/>
        </p:nvSpPr>
        <p:spPr>
          <a:xfrm>
            <a:off x="4206240" y="28529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dirty="0" sz="1300"/>
          </a:p>
        </p:txBody>
      </p:sp>
      <p:sp>
        <p:nvSpPr>
          <p:cNvPr id="22" name="a5wd0_code919"/>
          <p:cNvSpPr txBox="1"/>
          <p:nvPr/>
        </p:nvSpPr>
        <p:spPr>
          <a:xfrm>
            <a:off x="4206240" y="310896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dirty="0" sz="1300"/>
          </a:p>
        </p:txBody>
      </p:sp>
      <p:sp>
        <p:nvSpPr>
          <p:cNvPr id="23" name="a6f_cb920"/>
          <p:cNvSpPr/>
          <p:nvPr/>
        </p:nvSpPr>
        <p:spPr>
          <a:xfrm>
            <a:off x="4023360" y="3593592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a6f_ct921"/>
          <p:cNvSpPr txBox="1"/>
          <p:nvPr/>
        </p:nvSpPr>
        <p:spPr>
          <a:xfrm>
            <a:off x="4206240" y="359359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OR, not AND.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on either side qualifies. Table order doesn't matter.</a:t>
            </a:r>
            <a:endParaRPr lang="en-US" dirty="0" sz="1200"/>
          </a:p>
        </p:txBody>
      </p:sp>
      <p:sp>
        <p:nvSpPr>
          <p:cNvPr id="25" name="a6f_u922"/>
          <p:cNvSpPr txBox="1"/>
          <p:nvPr/>
        </p:nvSpPr>
        <p:spPr>
          <a:xfrm>
            <a:off x="402336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to:</a:t>
            </a:r>
            <a:endParaRPr lang="en-US" dirty="0" sz="1200"/>
          </a:p>
        </p:txBody>
      </p:sp>
      <p:sp>
        <p:nvSpPr>
          <p:cNvPr id="26" name="a6ud200_chip923"/>
          <p:cNvSpPr txBox="1"/>
          <p:nvPr/>
        </p:nvSpPr>
        <p:spPr>
          <a:xfrm>
            <a:off x="4892040" y="42976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</a:t>
            </a:r>
            <a:endParaRPr lang="en-US" dirty="0" sz="1100"/>
          </a:p>
        </p:txBody>
      </p:sp>
      <p:sp>
        <p:nvSpPr>
          <p:cNvPr id="27" name="a6ud350_chip924"/>
          <p:cNvSpPr txBox="1"/>
          <p:nvPr/>
        </p:nvSpPr>
        <p:spPr>
          <a:xfrm>
            <a:off x="6080760" y="42976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dirty="0" sz="1100"/>
          </a:p>
        </p:txBody>
      </p:sp>
      <p:sp>
        <p:nvSpPr>
          <p:cNvPr id="28" name="a6ud500_chip925"/>
          <p:cNvSpPr txBox="1"/>
          <p:nvPr/>
        </p:nvSpPr>
        <p:spPr>
          <a:xfrm>
            <a:off x="7269480" y="42976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existence</a:t>
            </a:r>
            <a:endParaRPr lang="en-US" dirty="0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16" grpId="0" animBg="1"/>
      <p:bldP spid="21" grpId="0" animBg="1"/>
      <p:bldP spid="22" grpId="0" animBg="1"/>
      <p:bldP spid="10" grpId="0" animBg="1"/>
      <p:bldP spid="11" grpId="0" animBg="1"/>
      <p:bldP spid="1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ANTI JOIN — In Practice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customers without orders and orders without customers.</a:t>
            </a:r>
            <a:endParaRPr lang="en-US" dirty="0" sz="1400"/>
          </a:p>
        </p:txBody>
      </p:sp>
      <p:sp>
        <p:nvSpPr>
          <p:cNvPr id="4" name="a1f_codebg926"/>
          <p:cNvSpPr/>
          <p:nvPr/>
        </p:nvSpPr>
        <p:spPr>
          <a:xfrm>
            <a:off x="457200" y="1600200"/>
            <a:ext cx="3886200" cy="2578608"/>
          </a:xfrm>
          <a:prstGeom prst="roundRect">
            <a:avLst>
              <a:gd name="adj" fmla="val 283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3f_hl927"/>
          <p:cNvSpPr/>
          <p:nvPr/>
        </p:nvSpPr>
        <p:spPr>
          <a:xfrm>
            <a:off x="530352" y="3529584"/>
            <a:ext cx="3739896" cy="512064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a1wd0_code928"/>
          <p:cNvSpPr txBox="1"/>
          <p:nvPr/>
        </p:nvSpPr>
        <p:spPr>
          <a:xfrm>
            <a:off x="64008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200"/>
          </a:p>
        </p:txBody>
      </p:sp>
      <p:sp>
        <p:nvSpPr>
          <p:cNvPr id="7" name="a1wd120_code929"/>
          <p:cNvSpPr txBox="1"/>
          <p:nvPr/>
        </p:nvSpPr>
        <p:spPr>
          <a:xfrm>
            <a:off x="640080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8" name="a1wd240_code930"/>
          <p:cNvSpPr txBox="1"/>
          <p:nvPr/>
        </p:nvSpPr>
        <p:spPr>
          <a:xfrm>
            <a:off x="640080" y="2249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9" name="a1wd360_code931"/>
          <p:cNvSpPr txBox="1"/>
          <p:nvPr/>
        </p:nvSpPr>
        <p:spPr>
          <a:xfrm>
            <a:off x="640080" y="2505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200"/>
          </a:p>
        </p:txBody>
      </p:sp>
      <p:sp>
        <p:nvSpPr>
          <p:cNvPr id="10" name="a1wd480_code932"/>
          <p:cNvSpPr txBox="1"/>
          <p:nvPr/>
        </p:nvSpPr>
        <p:spPr>
          <a:xfrm>
            <a:off x="64008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11" name="a1wd600_code933"/>
          <p:cNvSpPr txBox="1"/>
          <p:nvPr/>
        </p:nvSpPr>
        <p:spPr>
          <a:xfrm>
            <a:off x="64008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2" name="a1wd720_code934"/>
          <p:cNvSpPr txBox="1"/>
          <p:nvPr/>
        </p:nvSpPr>
        <p:spPr>
          <a:xfrm>
            <a:off x="640080" y="3273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dirty="0" sz="1200"/>
          </a:p>
        </p:txBody>
      </p:sp>
      <p:sp>
        <p:nvSpPr>
          <p:cNvPr id="13" name="a3wd0_code935"/>
          <p:cNvSpPr txBox="1"/>
          <p:nvPr/>
        </p:nvSpPr>
        <p:spPr>
          <a:xfrm>
            <a:off x="640080" y="3529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dirty="0" sz="1200"/>
          </a:p>
        </p:txBody>
      </p:sp>
      <p:sp>
        <p:nvSpPr>
          <p:cNvPr id="14" name="a3wd0_code936"/>
          <p:cNvSpPr txBox="1"/>
          <p:nvPr/>
        </p:nvSpPr>
        <p:spPr>
          <a:xfrm>
            <a:off x="640080" y="3785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5" name="a2f_l937"/>
          <p:cNvSpPr txBox="1"/>
          <p:nvPr/>
        </p:nvSpPr>
        <p:spPr>
          <a:xfrm>
            <a:off x="461772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FULL JOIN result</a:t>
            </a:r>
            <a:endParaRPr lang="en-US" dirty="0" sz="1100"/>
          </a:p>
        </p:txBody>
      </p:sp>
      <p:sp>
        <p:nvSpPr>
          <p:cNvPr id="16" name="a3f_l938"/>
          <p:cNvSpPr txBox="1"/>
          <p:nvPr/>
        </p:nvSpPr>
        <p:spPr>
          <a:xfrm>
            <a:off x="672084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WHERE filter</a:t>
            </a:r>
            <a:endParaRPr lang="en-US" dirty="0" sz="1100"/>
          </a:p>
        </p:txBody>
      </p:sp>
      <p:sp>
        <p:nvSpPr>
          <p:cNvPr id="17" name="a2f_cell939"/>
          <p:cNvSpPr txBox="1"/>
          <p:nvPr/>
        </p:nvSpPr>
        <p:spPr>
          <a:xfrm>
            <a:off x="4617720" y="1828800"/>
            <a:ext cx="4572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18" name="a2wd0_cell940"/>
          <p:cNvSpPr txBox="1"/>
          <p:nvPr/>
        </p:nvSpPr>
        <p:spPr>
          <a:xfrm>
            <a:off x="4617720" y="210312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9" name="a2wd150_cell941"/>
          <p:cNvSpPr txBox="1"/>
          <p:nvPr/>
        </p:nvSpPr>
        <p:spPr>
          <a:xfrm>
            <a:off x="4617720" y="237744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20" name="a2wd300_cell942"/>
          <p:cNvSpPr txBox="1"/>
          <p:nvPr/>
        </p:nvSpPr>
        <p:spPr>
          <a:xfrm>
            <a:off x="4617720" y="265176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21" name="a2wd450_cell943"/>
          <p:cNvSpPr txBox="1"/>
          <p:nvPr/>
        </p:nvSpPr>
        <p:spPr>
          <a:xfrm>
            <a:off x="4617720" y="292608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22" name="a2wd600_cell944"/>
          <p:cNvSpPr txBox="1"/>
          <p:nvPr/>
        </p:nvSpPr>
        <p:spPr>
          <a:xfrm>
            <a:off x="4617720" y="320040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23" name="a2wd750_cell945"/>
          <p:cNvSpPr txBox="1"/>
          <p:nvPr/>
        </p:nvSpPr>
        <p:spPr>
          <a:xfrm>
            <a:off x="4617720" y="3474720"/>
            <a:ext cx="4572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24" name="a2f_cell946"/>
          <p:cNvSpPr txBox="1"/>
          <p:nvPr/>
        </p:nvSpPr>
        <p:spPr>
          <a:xfrm>
            <a:off x="5074920" y="1828800"/>
            <a:ext cx="9144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25" name="a2wd0_cell947"/>
          <p:cNvSpPr txBox="1"/>
          <p:nvPr/>
        </p:nvSpPr>
        <p:spPr>
          <a:xfrm>
            <a:off x="5074920" y="21031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26" name="a2wd150_cell948"/>
          <p:cNvSpPr txBox="1"/>
          <p:nvPr/>
        </p:nvSpPr>
        <p:spPr>
          <a:xfrm>
            <a:off x="5074920" y="23774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27" name="a2wd300_cell949"/>
          <p:cNvSpPr txBox="1"/>
          <p:nvPr/>
        </p:nvSpPr>
        <p:spPr>
          <a:xfrm>
            <a:off x="5074920" y="26517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28" name="a2wd450_cell950"/>
          <p:cNvSpPr txBox="1"/>
          <p:nvPr/>
        </p:nvSpPr>
        <p:spPr>
          <a:xfrm>
            <a:off x="5074920" y="29260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29" name="a2wd600_cell951"/>
          <p:cNvSpPr txBox="1"/>
          <p:nvPr/>
        </p:nvSpPr>
        <p:spPr>
          <a:xfrm>
            <a:off x="5074920" y="32004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30" name="a2wd750_cell952"/>
          <p:cNvSpPr txBox="1"/>
          <p:nvPr/>
        </p:nvSpPr>
        <p:spPr>
          <a:xfrm>
            <a:off x="5074920" y="347472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1" name="a2f_cell953"/>
          <p:cNvSpPr txBox="1"/>
          <p:nvPr/>
        </p:nvSpPr>
        <p:spPr>
          <a:xfrm>
            <a:off x="5989320" y="1828800"/>
            <a:ext cx="7772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32" name="a2wd0_cell954"/>
          <p:cNvSpPr txBox="1"/>
          <p:nvPr/>
        </p:nvSpPr>
        <p:spPr>
          <a:xfrm>
            <a:off x="5989320" y="210312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33" name="a2wd150_cell955"/>
          <p:cNvSpPr txBox="1"/>
          <p:nvPr/>
        </p:nvSpPr>
        <p:spPr>
          <a:xfrm>
            <a:off x="5989320" y="237744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34" name="a2wd300_cell956"/>
          <p:cNvSpPr txBox="1"/>
          <p:nvPr/>
        </p:nvSpPr>
        <p:spPr>
          <a:xfrm>
            <a:off x="5989320" y="265176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35" name="a2wd450_cell957"/>
          <p:cNvSpPr txBox="1"/>
          <p:nvPr/>
        </p:nvSpPr>
        <p:spPr>
          <a:xfrm>
            <a:off x="5989320" y="2926080"/>
            <a:ext cx="7772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6" name="a2wd600_cell958"/>
          <p:cNvSpPr txBox="1"/>
          <p:nvPr/>
        </p:nvSpPr>
        <p:spPr>
          <a:xfrm>
            <a:off x="5989320" y="3200400"/>
            <a:ext cx="7772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7" name="a2wd750_cell959"/>
          <p:cNvSpPr txBox="1"/>
          <p:nvPr/>
        </p:nvSpPr>
        <p:spPr>
          <a:xfrm>
            <a:off x="5989320" y="347472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dirty="0" sz="1100"/>
          </a:p>
        </p:txBody>
      </p:sp>
      <p:sp>
        <p:nvSpPr>
          <p:cNvPr id="38" name="a2f_cell960"/>
          <p:cNvSpPr txBox="1"/>
          <p:nvPr/>
        </p:nvSpPr>
        <p:spPr>
          <a:xfrm>
            <a:off x="6766560" y="1828800"/>
            <a:ext cx="91440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dirty="0" sz="1100"/>
          </a:p>
        </p:txBody>
      </p:sp>
      <p:sp>
        <p:nvSpPr>
          <p:cNvPr id="39" name="a2wd0_cell961"/>
          <p:cNvSpPr txBox="1"/>
          <p:nvPr/>
        </p:nvSpPr>
        <p:spPr>
          <a:xfrm>
            <a:off x="6766560" y="21031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40" name="a2wd150_cell962"/>
          <p:cNvSpPr txBox="1"/>
          <p:nvPr/>
        </p:nvSpPr>
        <p:spPr>
          <a:xfrm>
            <a:off x="6766560" y="23774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41" name="a2wd300_cell963"/>
          <p:cNvSpPr txBox="1"/>
          <p:nvPr/>
        </p:nvSpPr>
        <p:spPr>
          <a:xfrm>
            <a:off x="6766560" y="26517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42" name="a2wd450_cell964"/>
          <p:cNvSpPr txBox="1"/>
          <p:nvPr/>
        </p:nvSpPr>
        <p:spPr>
          <a:xfrm>
            <a:off x="6766560" y="292608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43" name="a2wd600_cell965"/>
          <p:cNvSpPr txBox="1"/>
          <p:nvPr/>
        </p:nvSpPr>
        <p:spPr>
          <a:xfrm>
            <a:off x="6766560" y="320040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44" name="a2wd750_cell966"/>
          <p:cNvSpPr txBox="1"/>
          <p:nvPr/>
        </p:nvSpPr>
        <p:spPr>
          <a:xfrm>
            <a:off x="6766560" y="34747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 sz="1100"/>
          </a:p>
        </p:txBody>
      </p:sp>
      <p:sp>
        <p:nvSpPr>
          <p:cNvPr id="45" name="a2f_cell967"/>
          <p:cNvSpPr txBox="1"/>
          <p:nvPr/>
        </p:nvSpPr>
        <p:spPr>
          <a:xfrm>
            <a:off x="7680960" y="182880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46" name="a2wd0_cell968"/>
          <p:cNvSpPr txBox="1"/>
          <p:nvPr/>
        </p:nvSpPr>
        <p:spPr>
          <a:xfrm>
            <a:off x="7680960" y="210312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47" name="a2wd150_cell969"/>
          <p:cNvSpPr txBox="1"/>
          <p:nvPr/>
        </p:nvSpPr>
        <p:spPr>
          <a:xfrm>
            <a:off x="7680960" y="237744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48" name="a2wd300_cell970"/>
          <p:cNvSpPr txBox="1"/>
          <p:nvPr/>
        </p:nvSpPr>
        <p:spPr>
          <a:xfrm>
            <a:off x="7680960" y="26517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49" name="a2wd450_cell971"/>
          <p:cNvSpPr txBox="1"/>
          <p:nvPr/>
        </p:nvSpPr>
        <p:spPr>
          <a:xfrm>
            <a:off x="7680960" y="292608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50" name="a2wd600_cell972"/>
          <p:cNvSpPr txBox="1"/>
          <p:nvPr/>
        </p:nvSpPr>
        <p:spPr>
          <a:xfrm>
            <a:off x="7680960" y="320040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51" name="a2wd750_cell973"/>
          <p:cNvSpPr txBox="1"/>
          <p:nvPr/>
        </p:nvSpPr>
        <p:spPr>
          <a:xfrm>
            <a:off x="7680960" y="347472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 sz="1100"/>
          </a:p>
        </p:txBody>
      </p:sp>
      <p:sp>
        <p:nvSpPr>
          <p:cNvPr id="52" name="a3f_kc974"/>
          <p:cNvSpPr/>
          <p:nvPr/>
        </p:nvSpPr>
        <p:spPr>
          <a:xfrm>
            <a:off x="4599432" y="1810512"/>
            <a:ext cx="493776" cy="195681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53" name="a3f_kc975"/>
          <p:cNvSpPr/>
          <p:nvPr/>
        </p:nvSpPr>
        <p:spPr>
          <a:xfrm>
            <a:off x="6748272" y="1810512"/>
            <a:ext cx="950976" cy="195681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54" name="a4f_fade976"/>
          <p:cNvSpPr/>
          <p:nvPr/>
        </p:nvSpPr>
        <p:spPr>
          <a:xfrm>
            <a:off x="4617720" y="210312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5" name="a4w_strike977"/>
          <p:cNvSpPr/>
          <p:nvPr/>
        </p:nvSpPr>
        <p:spPr>
          <a:xfrm>
            <a:off x="4663440" y="224028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56" name="a4f_fade978"/>
          <p:cNvSpPr/>
          <p:nvPr/>
        </p:nvSpPr>
        <p:spPr>
          <a:xfrm>
            <a:off x="4617720" y="237744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7" name="a4w_strike979"/>
          <p:cNvSpPr/>
          <p:nvPr/>
        </p:nvSpPr>
        <p:spPr>
          <a:xfrm>
            <a:off x="4663440" y="251460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58" name="a4f_fade980"/>
          <p:cNvSpPr/>
          <p:nvPr/>
        </p:nvSpPr>
        <p:spPr>
          <a:xfrm>
            <a:off x="4617720" y="265176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9" name="a4w_strike981"/>
          <p:cNvSpPr/>
          <p:nvPr/>
        </p:nvSpPr>
        <p:spPr>
          <a:xfrm>
            <a:off x="4663440" y="278892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60" name="a4fd400_keep982"/>
          <p:cNvSpPr/>
          <p:nvPr/>
        </p:nvSpPr>
        <p:spPr>
          <a:xfrm>
            <a:off x="4590288" y="2935224"/>
            <a:ext cx="3666744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61" name="a4fd400_keep983"/>
          <p:cNvSpPr/>
          <p:nvPr/>
        </p:nvSpPr>
        <p:spPr>
          <a:xfrm>
            <a:off x="4590288" y="3209544"/>
            <a:ext cx="3666744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62" name="a4fd400_keep984"/>
          <p:cNvSpPr/>
          <p:nvPr/>
        </p:nvSpPr>
        <p:spPr>
          <a:xfrm>
            <a:off x="4590288" y="3483864"/>
            <a:ext cx="3666744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63" name="a5u_nb985"/>
          <p:cNvSpPr/>
          <p:nvPr/>
        </p:nvSpPr>
        <p:spPr>
          <a:xfrm>
            <a:off x="4617720" y="397764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4" name="a5u_ni986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206240"/>
            <a:ext cx="320040" cy="320040"/>
          </a:xfrm>
          <a:prstGeom prst="rect">
            <a:avLst/>
          </a:prstGeom>
        </p:spPr>
      </p:pic>
      <p:sp>
        <p:nvSpPr>
          <p:cNvPr id="65" name="a5u_nt987"/>
          <p:cNvSpPr txBox="1"/>
          <p:nvPr/>
        </p:nvSpPr>
        <p:spPr>
          <a:xfrm>
            <a:off x="5166360" y="39776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“boring” matched rows are dropped; only the odd cases on either side remain.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" grpId="0" animBg="1"/>
      <p:bldP spid="13" grpId="0" animBg="1"/>
      <p:bldP spid="14" grpId="0" animBg="1"/>
      <p:bldP spid="16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INNER JOIN Without INNER JOIN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their orders, only for those who ordered — without using INNER JOIN.</a:t>
            </a:r>
            <a:endParaRPr lang="en-US" dirty="0" sz="1400"/>
          </a:p>
        </p:txBody>
      </p:sp>
      <p:sp>
        <p:nvSpPr>
          <p:cNvPr id="4" name="a1f_codebg988"/>
          <p:cNvSpPr/>
          <p:nvPr/>
        </p:nvSpPr>
        <p:spPr>
          <a:xfrm>
            <a:off x="457200" y="1600200"/>
            <a:ext cx="3886200" cy="2322576"/>
          </a:xfrm>
          <a:prstGeom prst="roundRect">
            <a:avLst>
              <a:gd name="adj" fmla="val 31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3f_hl989"/>
          <p:cNvSpPr/>
          <p:nvPr/>
        </p:nvSpPr>
        <p:spPr>
          <a:xfrm>
            <a:off x="530352" y="3529584"/>
            <a:ext cx="3739896" cy="256032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a1wd0_code990"/>
          <p:cNvSpPr txBox="1"/>
          <p:nvPr/>
        </p:nvSpPr>
        <p:spPr>
          <a:xfrm>
            <a:off x="64008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200"/>
          </a:p>
        </p:txBody>
      </p:sp>
      <p:sp>
        <p:nvSpPr>
          <p:cNvPr id="7" name="a1wd120_code991"/>
          <p:cNvSpPr txBox="1"/>
          <p:nvPr/>
        </p:nvSpPr>
        <p:spPr>
          <a:xfrm>
            <a:off x="640080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8" name="a1wd240_code992"/>
          <p:cNvSpPr txBox="1"/>
          <p:nvPr/>
        </p:nvSpPr>
        <p:spPr>
          <a:xfrm>
            <a:off x="640080" y="2249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9" name="a1wd360_code993"/>
          <p:cNvSpPr txBox="1"/>
          <p:nvPr/>
        </p:nvSpPr>
        <p:spPr>
          <a:xfrm>
            <a:off x="640080" y="2505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dirty="0" sz="1200"/>
          </a:p>
        </p:txBody>
      </p:sp>
      <p:sp>
        <p:nvSpPr>
          <p:cNvPr id="10" name="a1wd480_code994"/>
          <p:cNvSpPr txBox="1"/>
          <p:nvPr/>
        </p:nvSpPr>
        <p:spPr>
          <a:xfrm>
            <a:off x="64008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dirty="0" sz="1200"/>
          </a:p>
        </p:txBody>
      </p:sp>
      <p:sp>
        <p:nvSpPr>
          <p:cNvPr id="11" name="a1wd600_code995"/>
          <p:cNvSpPr txBox="1"/>
          <p:nvPr/>
        </p:nvSpPr>
        <p:spPr>
          <a:xfrm>
            <a:off x="64008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dirty="0" sz="1200"/>
          </a:p>
        </p:txBody>
      </p:sp>
      <p:sp>
        <p:nvSpPr>
          <p:cNvPr id="12" name="a1wd720_code996"/>
          <p:cNvSpPr txBox="1"/>
          <p:nvPr/>
        </p:nvSpPr>
        <p:spPr>
          <a:xfrm>
            <a:off x="640080" y="3273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dirty="0" sz="1200"/>
          </a:p>
        </p:txBody>
      </p:sp>
      <p:sp>
        <p:nvSpPr>
          <p:cNvPr id="13" name="a3wd0_code997"/>
          <p:cNvSpPr txBox="1"/>
          <p:nvPr/>
        </p:nvSpPr>
        <p:spPr>
          <a:xfrm>
            <a:off x="640080" y="3529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4" name="a2f_l998"/>
          <p:cNvSpPr txBox="1"/>
          <p:nvPr/>
        </p:nvSpPr>
        <p:spPr>
          <a:xfrm>
            <a:off x="461772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LEFT JOIN result</a:t>
            </a:r>
            <a:endParaRPr lang="en-US" dirty="0" sz="1100"/>
          </a:p>
        </p:txBody>
      </p:sp>
      <p:sp>
        <p:nvSpPr>
          <p:cNvPr id="15" name="a3f_l999"/>
          <p:cNvSpPr txBox="1"/>
          <p:nvPr/>
        </p:nvSpPr>
        <p:spPr>
          <a:xfrm>
            <a:off x="672084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WHERE filter</a:t>
            </a:r>
            <a:endParaRPr lang="en-US" dirty="0" sz="1100"/>
          </a:p>
        </p:txBody>
      </p:sp>
      <p:sp>
        <p:nvSpPr>
          <p:cNvPr id="16" name="a2f_cell1000"/>
          <p:cNvSpPr txBox="1"/>
          <p:nvPr/>
        </p:nvSpPr>
        <p:spPr>
          <a:xfrm>
            <a:off x="4617720" y="1828800"/>
            <a:ext cx="4572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17" name="a2wd0_cell1001"/>
          <p:cNvSpPr txBox="1"/>
          <p:nvPr/>
        </p:nvSpPr>
        <p:spPr>
          <a:xfrm>
            <a:off x="4617720" y="210312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8" name="a2wd150_cell1002"/>
          <p:cNvSpPr txBox="1"/>
          <p:nvPr/>
        </p:nvSpPr>
        <p:spPr>
          <a:xfrm>
            <a:off x="4617720" y="237744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19" name="a2wd300_cell1003"/>
          <p:cNvSpPr txBox="1"/>
          <p:nvPr/>
        </p:nvSpPr>
        <p:spPr>
          <a:xfrm>
            <a:off x="4617720" y="265176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20" name="a2wd450_cell1004"/>
          <p:cNvSpPr txBox="1"/>
          <p:nvPr/>
        </p:nvSpPr>
        <p:spPr>
          <a:xfrm>
            <a:off x="4617720" y="292608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21" name="a2wd600_cell1005"/>
          <p:cNvSpPr txBox="1"/>
          <p:nvPr/>
        </p:nvSpPr>
        <p:spPr>
          <a:xfrm>
            <a:off x="4617720" y="320040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22" name="a2f_cell1006"/>
          <p:cNvSpPr txBox="1"/>
          <p:nvPr/>
        </p:nvSpPr>
        <p:spPr>
          <a:xfrm>
            <a:off x="5074920" y="1828800"/>
            <a:ext cx="9144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23" name="a2wd0_cell1007"/>
          <p:cNvSpPr txBox="1"/>
          <p:nvPr/>
        </p:nvSpPr>
        <p:spPr>
          <a:xfrm>
            <a:off x="5074920" y="21031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24" name="a2wd150_cell1008"/>
          <p:cNvSpPr txBox="1"/>
          <p:nvPr/>
        </p:nvSpPr>
        <p:spPr>
          <a:xfrm>
            <a:off x="5074920" y="23774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25" name="a2wd300_cell1009"/>
          <p:cNvSpPr txBox="1"/>
          <p:nvPr/>
        </p:nvSpPr>
        <p:spPr>
          <a:xfrm>
            <a:off x="5074920" y="26517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26" name="a2wd450_cell1010"/>
          <p:cNvSpPr txBox="1"/>
          <p:nvPr/>
        </p:nvSpPr>
        <p:spPr>
          <a:xfrm>
            <a:off x="5074920" y="29260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27" name="a2wd600_cell1011"/>
          <p:cNvSpPr txBox="1"/>
          <p:nvPr/>
        </p:nvSpPr>
        <p:spPr>
          <a:xfrm>
            <a:off x="5074920" y="32004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28" name="a2f_cell1012"/>
          <p:cNvSpPr txBox="1"/>
          <p:nvPr/>
        </p:nvSpPr>
        <p:spPr>
          <a:xfrm>
            <a:off x="5989320" y="1828800"/>
            <a:ext cx="7772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29" name="a2wd0_cell1013"/>
          <p:cNvSpPr txBox="1"/>
          <p:nvPr/>
        </p:nvSpPr>
        <p:spPr>
          <a:xfrm>
            <a:off x="5989320" y="210312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30" name="a2wd150_cell1014"/>
          <p:cNvSpPr txBox="1"/>
          <p:nvPr/>
        </p:nvSpPr>
        <p:spPr>
          <a:xfrm>
            <a:off x="5989320" y="237744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31" name="a2wd300_cell1015"/>
          <p:cNvSpPr txBox="1"/>
          <p:nvPr/>
        </p:nvSpPr>
        <p:spPr>
          <a:xfrm>
            <a:off x="5989320" y="265176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</a:t>
            </a:r>
            <a:endParaRPr lang="en-US" dirty="0" sz="1100"/>
          </a:p>
        </p:txBody>
      </p:sp>
      <p:sp>
        <p:nvSpPr>
          <p:cNvPr id="32" name="a2wd450_cell1016"/>
          <p:cNvSpPr txBox="1"/>
          <p:nvPr/>
        </p:nvSpPr>
        <p:spPr>
          <a:xfrm>
            <a:off x="5989320" y="2926080"/>
            <a:ext cx="7772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3" name="a2wd600_cell1017"/>
          <p:cNvSpPr txBox="1"/>
          <p:nvPr/>
        </p:nvSpPr>
        <p:spPr>
          <a:xfrm>
            <a:off x="5989320" y="3200400"/>
            <a:ext cx="7772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4" name="a2f_cell1018"/>
          <p:cNvSpPr txBox="1"/>
          <p:nvPr/>
        </p:nvSpPr>
        <p:spPr>
          <a:xfrm>
            <a:off x="6766560" y="1828800"/>
            <a:ext cx="91440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dirty="0" sz="1100"/>
          </a:p>
        </p:txBody>
      </p:sp>
      <p:sp>
        <p:nvSpPr>
          <p:cNvPr id="35" name="a2wd0_cell1019"/>
          <p:cNvSpPr txBox="1"/>
          <p:nvPr/>
        </p:nvSpPr>
        <p:spPr>
          <a:xfrm>
            <a:off x="6766560" y="21031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36" name="a2wd150_cell1020"/>
          <p:cNvSpPr txBox="1"/>
          <p:nvPr/>
        </p:nvSpPr>
        <p:spPr>
          <a:xfrm>
            <a:off x="6766560" y="23774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37" name="a2wd300_cell1021"/>
          <p:cNvSpPr txBox="1"/>
          <p:nvPr/>
        </p:nvSpPr>
        <p:spPr>
          <a:xfrm>
            <a:off x="6766560" y="26517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38" name="a2wd450_cell1022"/>
          <p:cNvSpPr txBox="1"/>
          <p:nvPr/>
        </p:nvSpPr>
        <p:spPr>
          <a:xfrm>
            <a:off x="6766560" y="292608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39" name="a2wd600_cell1023"/>
          <p:cNvSpPr txBox="1"/>
          <p:nvPr/>
        </p:nvSpPr>
        <p:spPr>
          <a:xfrm>
            <a:off x="6766560" y="3200400"/>
            <a:ext cx="9144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40" name="a2f_cell1024"/>
          <p:cNvSpPr txBox="1"/>
          <p:nvPr/>
        </p:nvSpPr>
        <p:spPr>
          <a:xfrm>
            <a:off x="7680960" y="182880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41" name="a2wd0_cell1025"/>
          <p:cNvSpPr txBox="1"/>
          <p:nvPr/>
        </p:nvSpPr>
        <p:spPr>
          <a:xfrm>
            <a:off x="7680960" y="210312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42" name="a2wd150_cell1026"/>
          <p:cNvSpPr txBox="1"/>
          <p:nvPr/>
        </p:nvSpPr>
        <p:spPr>
          <a:xfrm>
            <a:off x="7680960" y="237744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43" name="a2wd300_cell1027"/>
          <p:cNvSpPr txBox="1"/>
          <p:nvPr/>
        </p:nvSpPr>
        <p:spPr>
          <a:xfrm>
            <a:off x="7680960" y="26517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dirty="0" sz="1100"/>
          </a:p>
        </p:txBody>
      </p:sp>
      <p:sp>
        <p:nvSpPr>
          <p:cNvPr id="44" name="a2wd450_cell1028"/>
          <p:cNvSpPr txBox="1"/>
          <p:nvPr/>
        </p:nvSpPr>
        <p:spPr>
          <a:xfrm>
            <a:off x="7680960" y="292608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45" name="a2wd600_cell1029"/>
          <p:cNvSpPr txBox="1"/>
          <p:nvPr/>
        </p:nvSpPr>
        <p:spPr>
          <a:xfrm>
            <a:off x="7680960" y="3200400"/>
            <a:ext cx="54864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46" name="a3f_kc1030"/>
          <p:cNvSpPr/>
          <p:nvPr/>
        </p:nvSpPr>
        <p:spPr>
          <a:xfrm>
            <a:off x="6748272" y="1810512"/>
            <a:ext cx="950976" cy="168249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47" name="a4fd400_keep1031"/>
          <p:cNvSpPr/>
          <p:nvPr/>
        </p:nvSpPr>
        <p:spPr>
          <a:xfrm>
            <a:off x="4590288" y="2112264"/>
            <a:ext cx="3666744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48" name="a4fd400_keep1032"/>
          <p:cNvSpPr/>
          <p:nvPr/>
        </p:nvSpPr>
        <p:spPr>
          <a:xfrm>
            <a:off x="4590288" y="2386584"/>
            <a:ext cx="3666744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49" name="a4fd400_keep1033"/>
          <p:cNvSpPr/>
          <p:nvPr/>
        </p:nvSpPr>
        <p:spPr>
          <a:xfrm>
            <a:off x="4590288" y="2660904"/>
            <a:ext cx="3666744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50" name="a4f_fade1034"/>
          <p:cNvSpPr/>
          <p:nvPr/>
        </p:nvSpPr>
        <p:spPr>
          <a:xfrm>
            <a:off x="4617720" y="292608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1" name="a4w_strike1035"/>
          <p:cNvSpPr/>
          <p:nvPr/>
        </p:nvSpPr>
        <p:spPr>
          <a:xfrm>
            <a:off x="4663440" y="306324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52" name="a4f_fade1036"/>
          <p:cNvSpPr/>
          <p:nvPr/>
        </p:nvSpPr>
        <p:spPr>
          <a:xfrm>
            <a:off x="4617720" y="3200400"/>
            <a:ext cx="3611880" cy="27432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53" name="a4w_strike1037"/>
          <p:cNvSpPr/>
          <p:nvPr/>
        </p:nvSpPr>
        <p:spPr>
          <a:xfrm>
            <a:off x="4663440" y="3337560"/>
            <a:ext cx="352044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54" name="a5u_nb1038"/>
          <p:cNvSpPr/>
          <p:nvPr/>
        </p:nvSpPr>
        <p:spPr>
          <a:xfrm>
            <a:off x="4617720" y="370332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5" name="a5u_ni1039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931920"/>
            <a:ext cx="320040" cy="320040"/>
          </a:xfrm>
          <a:prstGeom prst="rect">
            <a:avLst/>
          </a:prstGeom>
        </p:spPr>
      </p:pic>
      <p:sp>
        <p:nvSpPr>
          <p:cNvPr id="56" name="a5u_nt1040"/>
          <p:cNvSpPr txBox="1"/>
          <p:nvPr/>
        </p:nvSpPr>
        <p:spPr>
          <a:xfrm>
            <a:off x="5166360" y="37033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NULL keeps only matched rows — exactly the INNER JOIN result. Build queries step by step.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" grpId="0" animBg="1"/>
      <p:bldP spid="13" grpId="0" animBg="1"/>
      <p:bldP spid="1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1041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dirty="0" sz="6000"/>
          </a:p>
        </p:txBody>
      </p:sp>
      <p:sp>
        <p:nvSpPr>
          <p:cNvPr id="3" name="a0ud200_h1042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</a:t>
            </a:r>
            <a:endParaRPr lang="en-US" dirty="0" sz="4000"/>
          </a:p>
        </p:txBody>
      </p:sp>
      <p:sp>
        <p:nvSpPr>
          <p:cNvPr id="4" name="a0fd450_t1043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from the left combined with every row from the right</a:t>
            </a:r>
            <a:endParaRPr lang="en-US" dirty="0" sz="1700"/>
          </a:p>
        </p:txBody>
      </p:sp>
      <p:pic>
        <p:nvPicPr>
          <p:cNvPr id="5" name="a0fd300_v1044" descr="b5dc689932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 — The Concept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(A)</a:t>
            </a:r>
            <a:endParaRPr lang="en-US" dirty="0" sz="1100"/>
          </a:p>
        </p:txBody>
      </p:sp>
      <p:sp>
        <p:nvSpPr>
          <p:cNvPr id="4" name="Text 2"/>
          <p:cNvSpPr txBox="1"/>
          <p:nvPr/>
        </p:nvSpPr>
        <p:spPr>
          <a:xfrm>
            <a:off x="2377440" y="914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(B)</a:t>
            </a:r>
            <a:endParaRPr lang="en-US" dirty="0" sz="1100"/>
          </a:p>
        </p:txBody>
      </p:sp>
      <p:sp>
        <p:nvSpPr>
          <p:cNvPr id="5" name="s_cell1045"/>
          <p:cNvSpPr txBox="1"/>
          <p:nvPr/>
        </p:nvSpPr>
        <p:spPr>
          <a:xfrm>
            <a:off x="457200" y="1417320"/>
            <a:ext cx="914400" cy="329184"/>
          </a:xfrm>
          <a:prstGeom prst="rect">
            <a:avLst/>
          </a:prstGeom>
          <a:solidFill>
            <a:srgbClr val="CCFBF1"/>
          </a:solidFill>
          <a:ln w="9525">
            <a:solidFill>
              <a:srgbClr val="14B8A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</a:t>
            </a:r>
            <a:endParaRPr lang="en-US" dirty="0" sz="1100"/>
          </a:p>
        </p:txBody>
      </p:sp>
      <p:sp>
        <p:nvSpPr>
          <p:cNvPr id="6" name="s_cell1046"/>
          <p:cNvSpPr txBox="1"/>
          <p:nvPr/>
        </p:nvSpPr>
        <p:spPr>
          <a:xfrm>
            <a:off x="457200" y="1965960"/>
            <a:ext cx="914400" cy="329184"/>
          </a:xfrm>
          <a:prstGeom prst="rect">
            <a:avLst/>
          </a:prstGeom>
          <a:solidFill>
            <a:srgbClr val="CCFBF1"/>
          </a:solidFill>
          <a:ln w="9525">
            <a:solidFill>
              <a:srgbClr val="14B8A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dirty="0" sz="1100"/>
          </a:p>
        </p:txBody>
      </p:sp>
      <p:sp>
        <p:nvSpPr>
          <p:cNvPr id="7" name="s_cell1047"/>
          <p:cNvSpPr txBox="1"/>
          <p:nvPr/>
        </p:nvSpPr>
        <p:spPr>
          <a:xfrm>
            <a:off x="2377440" y="1188720"/>
            <a:ext cx="914400" cy="329184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dirty="0" sz="1100"/>
          </a:p>
        </p:txBody>
      </p:sp>
      <p:sp>
        <p:nvSpPr>
          <p:cNvPr id="8" name="s_cell1048"/>
          <p:cNvSpPr txBox="1"/>
          <p:nvPr/>
        </p:nvSpPr>
        <p:spPr>
          <a:xfrm>
            <a:off x="2377440" y="1691640"/>
            <a:ext cx="914400" cy="329184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dirty="0" sz="1100"/>
          </a:p>
        </p:txBody>
      </p:sp>
      <p:sp>
        <p:nvSpPr>
          <p:cNvPr id="9" name="s_cell1049"/>
          <p:cNvSpPr txBox="1"/>
          <p:nvPr/>
        </p:nvSpPr>
        <p:spPr>
          <a:xfrm>
            <a:off x="2377440" y="2194560"/>
            <a:ext cx="914400" cy="329184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dirty="0" sz="1100"/>
          </a:p>
        </p:txBody>
      </p:sp>
      <p:sp>
        <p:nvSpPr>
          <p:cNvPr id="10" name="a1wd0_conn1050"/>
          <p:cNvSpPr/>
          <p:nvPr/>
        </p:nvSpPr>
        <p:spPr>
          <a:xfrm flipV="1">
            <a:off x="1389888" y="1353312"/>
            <a:ext cx="969264" cy="2286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1" name="a1ud200_combo1051"/>
          <p:cNvSpPr txBox="1"/>
          <p:nvPr/>
        </p:nvSpPr>
        <p:spPr>
          <a:xfrm>
            <a:off x="457200" y="2880360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 · Red</a:t>
            </a:r>
            <a:endParaRPr lang="en-US" dirty="0" sz="1000"/>
          </a:p>
        </p:txBody>
      </p:sp>
      <p:sp>
        <p:nvSpPr>
          <p:cNvPr id="12" name="a1wd200_conn1052"/>
          <p:cNvSpPr/>
          <p:nvPr/>
        </p:nvSpPr>
        <p:spPr>
          <a:xfrm>
            <a:off x="1389888" y="1581912"/>
            <a:ext cx="969264" cy="2743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3" name="a1ud400_combo1053"/>
          <p:cNvSpPr txBox="1"/>
          <p:nvPr/>
        </p:nvSpPr>
        <p:spPr>
          <a:xfrm>
            <a:off x="1554480" y="2880360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 · Blue</a:t>
            </a:r>
            <a:endParaRPr lang="en-US" dirty="0" sz="1000"/>
          </a:p>
        </p:txBody>
      </p:sp>
      <p:sp>
        <p:nvSpPr>
          <p:cNvPr id="14" name="a1wd400_conn1054"/>
          <p:cNvSpPr/>
          <p:nvPr/>
        </p:nvSpPr>
        <p:spPr>
          <a:xfrm>
            <a:off x="1389888" y="1581912"/>
            <a:ext cx="969264" cy="7772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a1ud600_combo1055"/>
          <p:cNvSpPr txBox="1"/>
          <p:nvPr/>
        </p:nvSpPr>
        <p:spPr>
          <a:xfrm>
            <a:off x="2651760" y="2880360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 · Green</a:t>
            </a:r>
            <a:endParaRPr lang="en-US" dirty="0" sz="1000"/>
          </a:p>
        </p:txBody>
      </p:sp>
      <p:sp>
        <p:nvSpPr>
          <p:cNvPr id="16" name="a2wd0_conn1056"/>
          <p:cNvSpPr/>
          <p:nvPr/>
        </p:nvSpPr>
        <p:spPr>
          <a:xfrm flipV="1">
            <a:off x="1389888" y="1353312"/>
            <a:ext cx="969264" cy="7772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a2ud200_combo1057"/>
          <p:cNvSpPr txBox="1"/>
          <p:nvPr/>
        </p:nvSpPr>
        <p:spPr>
          <a:xfrm>
            <a:off x="457200" y="3319272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· Red</a:t>
            </a:r>
            <a:endParaRPr lang="en-US" dirty="0" sz="1000"/>
          </a:p>
        </p:txBody>
      </p:sp>
      <p:sp>
        <p:nvSpPr>
          <p:cNvPr id="18" name="a2wd200_conn1058"/>
          <p:cNvSpPr/>
          <p:nvPr/>
        </p:nvSpPr>
        <p:spPr>
          <a:xfrm flipV="1">
            <a:off x="1389888" y="1856232"/>
            <a:ext cx="969264" cy="2743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a2ud400_combo1059"/>
          <p:cNvSpPr txBox="1"/>
          <p:nvPr/>
        </p:nvSpPr>
        <p:spPr>
          <a:xfrm>
            <a:off x="1554480" y="3319272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· Blue</a:t>
            </a:r>
            <a:endParaRPr lang="en-US" dirty="0" sz="1000"/>
          </a:p>
        </p:txBody>
      </p:sp>
      <p:sp>
        <p:nvSpPr>
          <p:cNvPr id="20" name="a2wd400_conn1060"/>
          <p:cNvSpPr/>
          <p:nvPr/>
        </p:nvSpPr>
        <p:spPr>
          <a:xfrm>
            <a:off x="1389888" y="2130552"/>
            <a:ext cx="969264" cy="2286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1" name="a2ud600_combo1061"/>
          <p:cNvSpPr txBox="1"/>
          <p:nvPr/>
        </p:nvSpPr>
        <p:spPr>
          <a:xfrm>
            <a:off x="2651760" y="3319272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· Green</a:t>
            </a:r>
            <a:endParaRPr lang="en-US" dirty="0" sz="1000"/>
          </a:p>
        </p:txBody>
      </p:sp>
      <p:sp>
        <p:nvSpPr>
          <p:cNvPr id="22" name="a3u_stat1062"/>
          <p:cNvSpPr txBox="1"/>
          <p:nvPr/>
        </p:nvSpPr>
        <p:spPr>
          <a:xfrm>
            <a:off x="45720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rows × 3 rows = </a:t>
            </a:r>
            <a:r>
              <a:rPr sz="15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combinations</a:t>
            </a:r>
            <a:endParaRPr lang="en-US" dirty="0" sz="1500"/>
          </a:p>
        </p:txBody>
      </p:sp>
      <p:sp>
        <p:nvSpPr>
          <p:cNvPr id="23" name="Text 21"/>
          <p:cNvSpPr txBox="1"/>
          <p:nvPr/>
        </p:nvSpPr>
        <p:spPr>
          <a:xfrm>
            <a:off x="4023360" y="914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every row of A combined with every row of B — all possible combinations (a Cartesian product).</a:t>
            </a:r>
            <a:endParaRPr lang="en-US" dirty="0" sz="1500"/>
          </a:p>
        </p:txBody>
      </p:sp>
      <p:sp>
        <p:nvSpPr>
          <p:cNvPr id="24" name="a4f_codebg1063"/>
          <p:cNvSpPr/>
          <p:nvPr/>
        </p:nvSpPr>
        <p:spPr>
          <a:xfrm>
            <a:off x="4023360" y="169164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a4f_codelbl1064"/>
          <p:cNvSpPr txBox="1"/>
          <p:nvPr/>
        </p:nvSpPr>
        <p:spPr>
          <a:xfrm>
            <a:off x="7223760" y="1737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r" marL="0" indent="0">
              <a:buNone/>
            </a:pPr>
            <a:r>
              <a:rPr sz="900"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dirty="0" sz="900"/>
          </a:p>
        </p:txBody>
      </p:sp>
      <p:sp>
        <p:nvSpPr>
          <p:cNvPr id="26" name="a4wd0_code1065"/>
          <p:cNvSpPr txBox="1"/>
          <p:nvPr/>
        </p:nvSpPr>
        <p:spPr>
          <a:xfrm>
            <a:off x="4206240" y="18288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300"/>
          </a:p>
        </p:txBody>
      </p:sp>
      <p:sp>
        <p:nvSpPr>
          <p:cNvPr id="27" name="a4wd300_code1066"/>
          <p:cNvSpPr txBox="1"/>
          <p:nvPr/>
        </p:nvSpPr>
        <p:spPr>
          <a:xfrm>
            <a:off x="4206240" y="21031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dirty="0" sz="1300"/>
          </a:p>
        </p:txBody>
      </p:sp>
      <p:sp>
        <p:nvSpPr>
          <p:cNvPr id="28" name="a4wd600_code1067"/>
          <p:cNvSpPr txBox="1"/>
          <p:nvPr/>
        </p:nvSpPr>
        <p:spPr>
          <a:xfrm>
            <a:off x="4206240" y="2377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dirty="0" sz="1300"/>
          </a:p>
        </p:txBody>
      </p:sp>
      <p:sp>
        <p:nvSpPr>
          <p:cNvPr id="29" name="a5f_cb1068"/>
          <p:cNvSpPr/>
          <p:nvPr/>
        </p:nvSpPr>
        <p:spPr>
          <a:xfrm>
            <a:off x="4023360" y="288036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a5f_ct1069"/>
          <p:cNvSpPr txBox="1"/>
          <p:nvPr/>
        </p:nvSpPr>
        <p:spPr>
          <a:xfrm>
            <a:off x="4206240" y="288036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 condition.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doesn't matter — nothing to compare.</a:t>
            </a:r>
            <a:endParaRPr lang="en-US" dirty="0" sz="1200"/>
          </a:p>
        </p:txBody>
      </p:sp>
      <p:sp>
        <p:nvSpPr>
          <p:cNvPr id="31" name="a6f_wb1070"/>
          <p:cNvSpPr/>
          <p:nvPr/>
        </p:nvSpPr>
        <p:spPr>
          <a:xfrm>
            <a:off x="4023360" y="356616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2" name="a6f_wi1071" descr="62a4287d7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3694176"/>
            <a:ext cx="310896" cy="310896"/>
          </a:xfrm>
          <a:prstGeom prst="rect">
            <a:avLst/>
          </a:prstGeom>
        </p:spPr>
      </p:pic>
      <p:sp>
        <p:nvSpPr>
          <p:cNvPr id="33" name="a6f_wt1072"/>
          <p:cNvSpPr txBox="1"/>
          <p:nvPr/>
        </p:nvSpPr>
        <p:spPr>
          <a:xfrm>
            <a:off x="4572000" y="35661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care: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multiply — big tables mean huge, slow results.</a:t>
            </a:r>
            <a:endParaRPr lang="en-US" dirty="0" sz="1200"/>
          </a:p>
        </p:txBody>
      </p:sp>
      <p:sp>
        <p:nvSpPr>
          <p:cNvPr id="34" name="a7f_u1073"/>
          <p:cNvSpPr txBox="1"/>
          <p:nvPr/>
        </p:nvSpPr>
        <p:spPr>
          <a:xfrm>
            <a:off x="402336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</a:t>
            </a:r>
            <a:endParaRPr lang="en-US" dirty="0" sz="1200"/>
          </a:p>
        </p:txBody>
      </p:sp>
      <p:sp>
        <p:nvSpPr>
          <p:cNvPr id="35" name="a7ud0_chip1074"/>
          <p:cNvSpPr txBox="1"/>
          <p:nvPr/>
        </p:nvSpPr>
        <p:spPr>
          <a:xfrm>
            <a:off x="4892040" y="42976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dirty="0" sz="1100"/>
          </a:p>
        </p:txBody>
      </p:sp>
      <p:sp>
        <p:nvSpPr>
          <p:cNvPr id="36" name="a7ud150_chip1075"/>
          <p:cNvSpPr txBox="1"/>
          <p:nvPr/>
        </p:nvSpPr>
        <p:spPr>
          <a:xfrm>
            <a:off x="6126480" y="429768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dirty="0" sz="1100"/>
          </a:p>
        </p:txBody>
      </p:sp>
      <p:sp>
        <p:nvSpPr>
          <p:cNvPr id="37" name="a7ud300_chip1076"/>
          <p:cNvSpPr txBox="1"/>
          <p:nvPr/>
        </p:nvSpPr>
        <p:spPr>
          <a:xfrm>
            <a:off x="7360920" y="42976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combinations</a:t>
            </a:r>
            <a:endParaRPr lang="en-US" dirty="0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 — In Practice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possible combinations of customers and orders.</a:t>
            </a:r>
            <a:endParaRPr lang="en-US" dirty="0" sz="1400"/>
          </a:p>
        </p:txBody>
      </p:sp>
      <p:sp>
        <p:nvSpPr>
          <p:cNvPr id="4" name="a1f_codebg1077"/>
          <p:cNvSpPr/>
          <p:nvPr/>
        </p:nvSpPr>
        <p:spPr>
          <a:xfrm>
            <a:off x="457200" y="1600200"/>
            <a:ext cx="38862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1wd0_code1078"/>
          <p:cNvSpPr txBox="1"/>
          <p:nvPr/>
        </p:nvSpPr>
        <p:spPr>
          <a:xfrm>
            <a:off x="64008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dirty="0" sz="1300"/>
          </a:p>
        </p:txBody>
      </p:sp>
      <p:sp>
        <p:nvSpPr>
          <p:cNvPr id="6" name="a1wd250_code1079"/>
          <p:cNvSpPr txBox="1"/>
          <p:nvPr/>
        </p:nvSpPr>
        <p:spPr>
          <a:xfrm>
            <a:off x="64008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dirty="0" sz="1300"/>
          </a:p>
        </p:txBody>
      </p:sp>
      <p:sp>
        <p:nvSpPr>
          <p:cNvPr id="7" name="a1wd500_code1080"/>
          <p:cNvSpPr txBox="1"/>
          <p:nvPr/>
        </p:nvSpPr>
        <p:spPr>
          <a:xfrm>
            <a:off x="64008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300" lang="en-US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3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300"/>
          </a:p>
        </p:txBody>
      </p:sp>
      <p:sp>
        <p:nvSpPr>
          <p:cNvPr id="8" name="a3u_sb1081"/>
          <p:cNvSpPr/>
          <p:nvPr/>
        </p:nvSpPr>
        <p:spPr>
          <a:xfrm>
            <a:off x="457200" y="2788920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3u_st1082"/>
          <p:cNvSpPr txBox="1"/>
          <p:nvPr/>
        </p:nvSpPr>
        <p:spPr>
          <a:xfrm>
            <a:off x="640080" y="2834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36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sz="36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r>
              <a:rPr sz="36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sz="36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20</a:t>
            </a:r>
            <a:endParaRPr lang="en-US" dirty="0" sz="3600"/>
          </a:p>
        </p:txBody>
      </p:sp>
      <p:sp>
        <p:nvSpPr>
          <p:cNvPr id="10" name="a3u_sl1083"/>
          <p:cNvSpPr txBox="1"/>
          <p:nvPr/>
        </p:nvSpPr>
        <p:spPr>
          <a:xfrm>
            <a:off x="2468880" y="28346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× orders = rows in the result</a:t>
            </a:r>
            <a:endParaRPr lang="en-US" dirty="0" sz="1200"/>
          </a:p>
        </p:txBody>
      </p:sp>
      <p:sp>
        <p:nvSpPr>
          <p:cNvPr id="11" name="a2f_l1084"/>
          <p:cNvSpPr txBox="1"/>
          <p:nvPr/>
        </p:nvSpPr>
        <p:spPr>
          <a:xfrm>
            <a:off x="461772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(first 6 of 20 rows)</a:t>
            </a:r>
            <a:endParaRPr lang="en-US" dirty="0" sz="1100"/>
          </a:p>
        </p:txBody>
      </p:sp>
      <p:sp>
        <p:nvSpPr>
          <p:cNvPr id="12" name="a2f_cell1085"/>
          <p:cNvSpPr txBox="1"/>
          <p:nvPr/>
        </p:nvSpPr>
        <p:spPr>
          <a:xfrm>
            <a:off x="4617720" y="1828800"/>
            <a:ext cx="4572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100"/>
          </a:p>
        </p:txBody>
      </p:sp>
      <p:sp>
        <p:nvSpPr>
          <p:cNvPr id="13" name="a2wd0_cell1086"/>
          <p:cNvSpPr txBox="1"/>
          <p:nvPr/>
        </p:nvSpPr>
        <p:spPr>
          <a:xfrm>
            <a:off x="4617720" y="210312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4" name="a2wd150_cell1087"/>
          <p:cNvSpPr txBox="1"/>
          <p:nvPr/>
        </p:nvSpPr>
        <p:spPr>
          <a:xfrm>
            <a:off x="4617720" y="237744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15" name="a2wd300_cell1088"/>
          <p:cNvSpPr txBox="1"/>
          <p:nvPr/>
        </p:nvSpPr>
        <p:spPr>
          <a:xfrm>
            <a:off x="4617720" y="265176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100"/>
          </a:p>
        </p:txBody>
      </p:sp>
      <p:sp>
        <p:nvSpPr>
          <p:cNvPr id="16" name="a2wd450_cell1089"/>
          <p:cNvSpPr txBox="1"/>
          <p:nvPr/>
        </p:nvSpPr>
        <p:spPr>
          <a:xfrm>
            <a:off x="4617720" y="292608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100"/>
          </a:p>
        </p:txBody>
      </p:sp>
      <p:sp>
        <p:nvSpPr>
          <p:cNvPr id="17" name="a2wd600_cell1090"/>
          <p:cNvSpPr txBox="1"/>
          <p:nvPr/>
        </p:nvSpPr>
        <p:spPr>
          <a:xfrm>
            <a:off x="4617720" y="320040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100"/>
          </a:p>
        </p:txBody>
      </p:sp>
      <p:sp>
        <p:nvSpPr>
          <p:cNvPr id="18" name="a2wd750_cell1091"/>
          <p:cNvSpPr txBox="1"/>
          <p:nvPr/>
        </p:nvSpPr>
        <p:spPr>
          <a:xfrm>
            <a:off x="4617720" y="3474720"/>
            <a:ext cx="457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19" name="a2f_cell1092"/>
          <p:cNvSpPr txBox="1"/>
          <p:nvPr/>
        </p:nvSpPr>
        <p:spPr>
          <a:xfrm>
            <a:off x="5074920" y="1828800"/>
            <a:ext cx="9144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dirty="0" sz="1100"/>
          </a:p>
        </p:txBody>
      </p:sp>
      <p:sp>
        <p:nvSpPr>
          <p:cNvPr id="20" name="a2wd0_cell1093"/>
          <p:cNvSpPr txBox="1"/>
          <p:nvPr/>
        </p:nvSpPr>
        <p:spPr>
          <a:xfrm>
            <a:off x="5074920" y="21031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21" name="a2wd150_cell1094"/>
          <p:cNvSpPr txBox="1"/>
          <p:nvPr/>
        </p:nvSpPr>
        <p:spPr>
          <a:xfrm>
            <a:off x="5074920" y="23774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dirty="0" sz="1100"/>
          </a:p>
        </p:txBody>
      </p:sp>
      <p:sp>
        <p:nvSpPr>
          <p:cNvPr id="22" name="a2wd300_cell1095"/>
          <p:cNvSpPr txBox="1"/>
          <p:nvPr/>
        </p:nvSpPr>
        <p:spPr>
          <a:xfrm>
            <a:off x="5074920" y="26517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</a:t>
            </a:r>
            <a:endParaRPr lang="en-US" dirty="0" sz="1100"/>
          </a:p>
        </p:txBody>
      </p:sp>
      <p:sp>
        <p:nvSpPr>
          <p:cNvPr id="23" name="a2wd450_cell1096"/>
          <p:cNvSpPr txBox="1"/>
          <p:nvPr/>
        </p:nvSpPr>
        <p:spPr>
          <a:xfrm>
            <a:off x="5074920" y="29260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dirty="0" sz="1100"/>
          </a:p>
        </p:txBody>
      </p:sp>
      <p:sp>
        <p:nvSpPr>
          <p:cNvPr id="24" name="a2wd600_cell1097"/>
          <p:cNvSpPr txBox="1"/>
          <p:nvPr/>
        </p:nvSpPr>
        <p:spPr>
          <a:xfrm>
            <a:off x="5074920" y="32004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</a:t>
            </a:r>
            <a:endParaRPr lang="en-US" dirty="0" sz="1100"/>
          </a:p>
        </p:txBody>
      </p:sp>
      <p:sp>
        <p:nvSpPr>
          <p:cNvPr id="25" name="a2wd750_cell1098"/>
          <p:cNvSpPr txBox="1"/>
          <p:nvPr/>
        </p:nvSpPr>
        <p:spPr>
          <a:xfrm>
            <a:off x="5074920" y="34747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dirty="0" sz="1100"/>
          </a:p>
        </p:txBody>
      </p:sp>
      <p:sp>
        <p:nvSpPr>
          <p:cNvPr id="26" name="a2f_cell1099"/>
          <p:cNvSpPr txBox="1"/>
          <p:nvPr/>
        </p:nvSpPr>
        <p:spPr>
          <a:xfrm>
            <a:off x="5989320" y="1828800"/>
            <a:ext cx="7772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dirty="0" sz="1100"/>
          </a:p>
        </p:txBody>
      </p:sp>
      <p:sp>
        <p:nvSpPr>
          <p:cNvPr id="27" name="a2wd0_cell1100"/>
          <p:cNvSpPr txBox="1"/>
          <p:nvPr/>
        </p:nvSpPr>
        <p:spPr>
          <a:xfrm>
            <a:off x="5989320" y="210312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28" name="a2wd150_cell1101"/>
          <p:cNvSpPr txBox="1"/>
          <p:nvPr/>
        </p:nvSpPr>
        <p:spPr>
          <a:xfrm>
            <a:off x="5989320" y="237744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29" name="a2wd300_cell1102"/>
          <p:cNvSpPr txBox="1"/>
          <p:nvPr/>
        </p:nvSpPr>
        <p:spPr>
          <a:xfrm>
            <a:off x="5989320" y="265176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30" name="a2wd450_cell1103"/>
          <p:cNvSpPr txBox="1"/>
          <p:nvPr/>
        </p:nvSpPr>
        <p:spPr>
          <a:xfrm>
            <a:off x="5989320" y="292608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31" name="a2wd600_cell1104"/>
          <p:cNvSpPr txBox="1"/>
          <p:nvPr/>
        </p:nvSpPr>
        <p:spPr>
          <a:xfrm>
            <a:off x="5989320" y="320040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dirty="0" sz="1100"/>
          </a:p>
        </p:txBody>
      </p:sp>
      <p:sp>
        <p:nvSpPr>
          <p:cNvPr id="32" name="a2wd750_cell1105"/>
          <p:cNvSpPr txBox="1"/>
          <p:nvPr/>
        </p:nvSpPr>
        <p:spPr>
          <a:xfrm>
            <a:off x="5989320" y="3474720"/>
            <a:ext cx="777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</a:t>
            </a:r>
            <a:endParaRPr lang="en-US" dirty="0" sz="1100"/>
          </a:p>
        </p:txBody>
      </p:sp>
      <p:sp>
        <p:nvSpPr>
          <p:cNvPr id="33" name="a2f_cell1106"/>
          <p:cNvSpPr txBox="1"/>
          <p:nvPr/>
        </p:nvSpPr>
        <p:spPr>
          <a:xfrm>
            <a:off x="6766560" y="1828800"/>
            <a:ext cx="91440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dirty="0" sz="1100"/>
          </a:p>
        </p:txBody>
      </p:sp>
      <p:sp>
        <p:nvSpPr>
          <p:cNvPr id="34" name="a2wd0_cell1107"/>
          <p:cNvSpPr txBox="1"/>
          <p:nvPr/>
        </p:nvSpPr>
        <p:spPr>
          <a:xfrm>
            <a:off x="6766560" y="21031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35" name="a2wd150_cell1108"/>
          <p:cNvSpPr txBox="1"/>
          <p:nvPr/>
        </p:nvSpPr>
        <p:spPr>
          <a:xfrm>
            <a:off x="6766560" y="237744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36" name="a2wd300_cell1109"/>
          <p:cNvSpPr txBox="1"/>
          <p:nvPr/>
        </p:nvSpPr>
        <p:spPr>
          <a:xfrm>
            <a:off x="6766560" y="265176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37" name="a2wd450_cell1110"/>
          <p:cNvSpPr txBox="1"/>
          <p:nvPr/>
        </p:nvSpPr>
        <p:spPr>
          <a:xfrm>
            <a:off x="6766560" y="292608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38" name="a2wd600_cell1111"/>
          <p:cNvSpPr txBox="1"/>
          <p:nvPr/>
        </p:nvSpPr>
        <p:spPr>
          <a:xfrm>
            <a:off x="6766560" y="320040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100"/>
          </a:p>
        </p:txBody>
      </p:sp>
      <p:sp>
        <p:nvSpPr>
          <p:cNvPr id="39" name="a2wd750_cell1112"/>
          <p:cNvSpPr txBox="1"/>
          <p:nvPr/>
        </p:nvSpPr>
        <p:spPr>
          <a:xfrm>
            <a:off x="6766560" y="3474720"/>
            <a:ext cx="914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100"/>
          </a:p>
        </p:txBody>
      </p:sp>
      <p:sp>
        <p:nvSpPr>
          <p:cNvPr id="40" name="a2f_cell1113"/>
          <p:cNvSpPr txBox="1"/>
          <p:nvPr/>
        </p:nvSpPr>
        <p:spPr>
          <a:xfrm>
            <a:off x="7680960" y="1828800"/>
            <a:ext cx="548640" cy="2743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 sz="1100"/>
          </a:p>
        </p:txBody>
      </p:sp>
      <p:sp>
        <p:nvSpPr>
          <p:cNvPr id="41" name="a2wd0_cell1114"/>
          <p:cNvSpPr txBox="1"/>
          <p:nvPr/>
        </p:nvSpPr>
        <p:spPr>
          <a:xfrm>
            <a:off x="7680960" y="210312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42" name="a2wd150_cell1115"/>
          <p:cNvSpPr txBox="1"/>
          <p:nvPr/>
        </p:nvSpPr>
        <p:spPr>
          <a:xfrm>
            <a:off x="7680960" y="237744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43" name="a2wd300_cell1116"/>
          <p:cNvSpPr txBox="1"/>
          <p:nvPr/>
        </p:nvSpPr>
        <p:spPr>
          <a:xfrm>
            <a:off x="7680960" y="265176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44" name="a2wd450_cell1117"/>
          <p:cNvSpPr txBox="1"/>
          <p:nvPr/>
        </p:nvSpPr>
        <p:spPr>
          <a:xfrm>
            <a:off x="7680960" y="292608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45" name="a2wd600_cell1118"/>
          <p:cNvSpPr txBox="1"/>
          <p:nvPr/>
        </p:nvSpPr>
        <p:spPr>
          <a:xfrm>
            <a:off x="7680960" y="320040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dirty="0" sz="1100"/>
          </a:p>
        </p:txBody>
      </p:sp>
      <p:sp>
        <p:nvSpPr>
          <p:cNvPr id="46" name="a2wd750_cell1119"/>
          <p:cNvSpPr txBox="1"/>
          <p:nvPr/>
        </p:nvSpPr>
        <p:spPr>
          <a:xfrm>
            <a:off x="7680960" y="3474720"/>
            <a:ext cx="548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dirty="0" sz="1100"/>
          </a:p>
        </p:txBody>
      </p:sp>
      <p:sp>
        <p:nvSpPr>
          <p:cNvPr id="47" name="a2fd900_more1120"/>
          <p:cNvSpPr txBox="1"/>
          <p:nvPr/>
        </p:nvSpPr>
        <p:spPr>
          <a:xfrm>
            <a:off x="4617720" y="37490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14 more rows</a:t>
            </a:r>
            <a:endParaRPr lang="en-US" dirty="0" sz="1100"/>
          </a:p>
        </p:txBody>
      </p:sp>
      <p:sp>
        <p:nvSpPr>
          <p:cNvPr id="48" name="a4f_real1121"/>
          <p:cNvSpPr/>
          <p:nvPr/>
        </p:nvSpPr>
        <p:spPr>
          <a:xfrm>
            <a:off x="4590288" y="2112264"/>
            <a:ext cx="3666744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6A34A"/>
            </a:solidFill>
            <a:prstDash val="solid"/>
          </a:ln>
        </p:spPr>
      </p:sp>
      <p:sp>
        <p:nvSpPr>
          <p:cNvPr id="49" name="a4fd300_fake1122"/>
          <p:cNvSpPr/>
          <p:nvPr/>
        </p:nvSpPr>
        <p:spPr>
          <a:xfrm>
            <a:off x="4590288" y="2386584"/>
            <a:ext cx="3666744" cy="107899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C2626"/>
            </a:solidFill>
            <a:prstDash val="dash"/>
          </a:ln>
        </p:spPr>
      </p:sp>
      <p:sp>
        <p:nvSpPr>
          <p:cNvPr id="50" name="a4ud500_nb1123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51" name="a4ud500_ni1124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42816"/>
            <a:ext cx="384048" cy="384048"/>
          </a:xfrm>
          <a:prstGeom prst="rect">
            <a:avLst/>
          </a:prstGeom>
        </p:spPr>
      </p:pic>
      <p:sp>
        <p:nvSpPr>
          <p:cNvPr id="52" name="a4ud500_nt1125"/>
          <p:cNvSpPr txBox="1"/>
          <p:nvPr/>
        </p:nvSpPr>
        <p:spPr>
          <a:xfrm>
            <a:off x="118872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1001 belongs only to Maria </a:t>
            </a:r>
            <a:r>
              <a:rPr sz="13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yet CROSS JOIN pairs it with </a:t>
            </a:r>
            <a:r>
              <a:rPr sz="13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</a:t>
            </a:r>
            <a:r>
              <a:rPr sz="13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rules, just combinations.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8" grpId="0" animBg="1"/>
      <p:bldP spid="9" grpId="0" animBg="1"/>
      <p:bldP spid="10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Advanced Joins at a Glance</a:t>
            </a:r>
            <a:endParaRPr lang="en-US" dirty="0" sz="2800"/>
          </a:p>
        </p:txBody>
      </p:sp>
      <p:sp>
        <p:nvSpPr>
          <p:cNvPr id="3" name="a1u_c1126"/>
          <p:cNvSpPr/>
          <p:nvPr/>
        </p:nvSpPr>
        <p:spPr>
          <a:xfrm>
            <a:off x="457200" y="100584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a1u_sv1127" descr="678de5af87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645920" cy="1042416"/>
          </a:xfrm>
          <a:prstGeom prst="rect">
            <a:avLst/>
          </a:prstGeom>
        </p:spPr>
      </p:pic>
      <p:sp>
        <p:nvSpPr>
          <p:cNvPr id="5" name="a1u_n1128"/>
          <p:cNvSpPr txBox="1"/>
          <p:nvPr/>
        </p:nvSpPr>
        <p:spPr>
          <a:xfrm>
            <a:off x="54864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ANTI JOIN</a:t>
            </a:r>
            <a:endParaRPr lang="en-US" dirty="0" sz="1400"/>
          </a:p>
        </p:txBody>
      </p:sp>
      <p:sp>
        <p:nvSpPr>
          <p:cNvPr id="6" name="a1u_b1129"/>
          <p:cNvSpPr txBox="1"/>
          <p:nvPr/>
        </p:nvSpPr>
        <p:spPr>
          <a:xfrm>
            <a:off x="640080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rows with no match</a:t>
            </a:r>
            <a:endParaRPr lang="en-US" dirty="0" sz="1000"/>
          </a:p>
        </p:txBody>
      </p:sp>
      <p:sp>
        <p:nvSpPr>
          <p:cNvPr id="7" name="a1u_b1130"/>
          <p:cNvSpPr txBox="1"/>
          <p:nvPr/>
        </p:nvSpPr>
        <p:spPr>
          <a:xfrm>
            <a:off x="64008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</a:t>
            </a:r>
            <a:endParaRPr lang="en-US" dirty="0" sz="10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+ WHERE B.key IS NULL</a:t>
            </a:r>
            <a:endParaRPr lang="en-US" dirty="0" sz="1000"/>
          </a:p>
        </p:txBody>
      </p:sp>
      <p:sp>
        <p:nvSpPr>
          <p:cNvPr id="8" name="a1u_b1131"/>
          <p:cNvSpPr txBox="1"/>
          <p:nvPr/>
        </p:nvSpPr>
        <p:spPr>
          <a:xfrm>
            <a:off x="640080" y="4160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ORDER</a:t>
            </a:r>
            <a:endParaRPr lang="en-US" dirty="0" sz="1000"/>
          </a:p>
          <a:p>
            <a:pPr marL="0" indent="0">
              <a:buNone/>
            </a:pP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dirty="0" sz="1000"/>
          </a:p>
        </p:txBody>
      </p:sp>
      <p:sp>
        <p:nvSpPr>
          <p:cNvPr id="9" name="a2u_c1132"/>
          <p:cNvSpPr/>
          <p:nvPr/>
        </p:nvSpPr>
        <p:spPr>
          <a:xfrm>
            <a:off x="2560320" y="100584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a2u_sv1133" descr="2514820399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143000"/>
            <a:ext cx="1645920" cy="1042416"/>
          </a:xfrm>
          <a:prstGeom prst="rect">
            <a:avLst/>
          </a:prstGeom>
        </p:spPr>
      </p:pic>
      <p:sp>
        <p:nvSpPr>
          <p:cNvPr id="11" name="a2u_n1134"/>
          <p:cNvSpPr txBox="1"/>
          <p:nvPr/>
        </p:nvSpPr>
        <p:spPr>
          <a:xfrm>
            <a:off x="26517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ANTI JOIN</a:t>
            </a:r>
            <a:endParaRPr lang="en-US" dirty="0" sz="1400"/>
          </a:p>
        </p:txBody>
      </p:sp>
      <p:sp>
        <p:nvSpPr>
          <p:cNvPr id="12" name="a2u_b1135"/>
          <p:cNvSpPr txBox="1"/>
          <p:nvPr/>
        </p:nvSpPr>
        <p:spPr>
          <a:xfrm>
            <a:off x="2743200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rows with no match</a:t>
            </a:r>
            <a:endParaRPr lang="en-US" dirty="0" sz="1000"/>
          </a:p>
        </p:txBody>
      </p:sp>
      <p:sp>
        <p:nvSpPr>
          <p:cNvPr id="13" name="a2u_b1136"/>
          <p:cNvSpPr txBox="1"/>
          <p:nvPr/>
        </p:nvSpPr>
        <p:spPr>
          <a:xfrm>
            <a:off x="274320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</a:t>
            </a:r>
            <a:endParaRPr lang="en-US" dirty="0" sz="10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+ WHERE A.key IS NULL</a:t>
            </a:r>
            <a:endParaRPr lang="en-US" dirty="0" sz="1000"/>
          </a:p>
        </p:txBody>
      </p:sp>
      <p:sp>
        <p:nvSpPr>
          <p:cNvPr id="14" name="a2u_b1137"/>
          <p:cNvSpPr txBox="1"/>
          <p:nvPr/>
        </p:nvSpPr>
        <p:spPr>
          <a:xfrm>
            <a:off x="2743200" y="4160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ORDER</a:t>
            </a:r>
            <a:endParaRPr lang="en-US" dirty="0" sz="1000"/>
          </a:p>
          <a:p>
            <a:pPr marL="0" indent="0">
              <a:buNone/>
            </a:pP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dirty="0" sz="1000"/>
          </a:p>
        </p:txBody>
      </p:sp>
      <p:sp>
        <p:nvSpPr>
          <p:cNvPr id="15" name="a3u_c1138"/>
          <p:cNvSpPr/>
          <p:nvPr/>
        </p:nvSpPr>
        <p:spPr>
          <a:xfrm>
            <a:off x="4663440" y="100584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a3u_sv1139" descr="cf9af9b4c3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43000"/>
            <a:ext cx="1645920" cy="1042416"/>
          </a:xfrm>
          <a:prstGeom prst="rect">
            <a:avLst/>
          </a:prstGeom>
        </p:spPr>
      </p:pic>
      <p:sp>
        <p:nvSpPr>
          <p:cNvPr id="17" name="a3u_n1140"/>
          <p:cNvSpPr txBox="1"/>
          <p:nvPr/>
        </p:nvSpPr>
        <p:spPr>
          <a:xfrm>
            <a:off x="47548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ANTI JOIN</a:t>
            </a:r>
            <a:endParaRPr lang="en-US" dirty="0" sz="1400"/>
          </a:p>
        </p:txBody>
      </p:sp>
      <p:sp>
        <p:nvSpPr>
          <p:cNvPr id="18" name="a3u_b1141"/>
          <p:cNvSpPr txBox="1"/>
          <p:nvPr/>
        </p:nvSpPr>
        <p:spPr>
          <a:xfrm>
            <a:off x="4846320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Unmatched, both sides</a:t>
            </a:r>
            <a:endParaRPr lang="en-US" dirty="0" sz="1000"/>
          </a:p>
        </p:txBody>
      </p:sp>
      <p:sp>
        <p:nvSpPr>
          <p:cNvPr id="19" name="a3u_b1142"/>
          <p:cNvSpPr txBox="1"/>
          <p:nvPr/>
        </p:nvSpPr>
        <p:spPr>
          <a:xfrm>
            <a:off x="484632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</a:t>
            </a:r>
            <a:endParaRPr lang="en-US" dirty="0" sz="10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JOIN + WHERE A.key IS NULL OR B.key IS NULL</a:t>
            </a:r>
            <a:endParaRPr lang="en-US" dirty="0" sz="1000"/>
          </a:p>
        </p:txBody>
      </p:sp>
      <p:sp>
        <p:nvSpPr>
          <p:cNvPr id="20" name="a3u_b1143"/>
          <p:cNvSpPr txBox="1"/>
          <p:nvPr/>
        </p:nvSpPr>
        <p:spPr>
          <a:xfrm>
            <a:off x="4846320" y="4160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ORDER</a:t>
            </a:r>
            <a:endParaRPr lang="en-US" dirty="0" sz="1000"/>
          </a:p>
          <a:p>
            <a:pPr marL="0" indent="0">
              <a:buNone/>
            </a:pPr>
            <a:r>
              <a:rPr sz="11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dirty="0" sz="1000"/>
          </a:p>
        </p:txBody>
      </p:sp>
      <p:sp>
        <p:nvSpPr>
          <p:cNvPr id="21" name="a4u_c1144"/>
          <p:cNvSpPr/>
          <p:nvPr/>
        </p:nvSpPr>
        <p:spPr>
          <a:xfrm>
            <a:off x="6766560" y="1005840"/>
            <a:ext cx="1920240" cy="37490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a4u_sv1145" descr="b5dc689932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143000"/>
            <a:ext cx="1645920" cy="1042416"/>
          </a:xfrm>
          <a:prstGeom prst="rect">
            <a:avLst/>
          </a:prstGeom>
        </p:spPr>
      </p:pic>
      <p:sp>
        <p:nvSpPr>
          <p:cNvPr id="23" name="a4u_n1146"/>
          <p:cNvSpPr txBox="1"/>
          <p:nvPr/>
        </p:nvSpPr>
        <p:spPr>
          <a:xfrm>
            <a:off x="68580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JOIN</a:t>
            </a:r>
            <a:endParaRPr lang="en-US" dirty="0" sz="1400"/>
          </a:p>
        </p:txBody>
      </p:sp>
      <p:sp>
        <p:nvSpPr>
          <p:cNvPr id="24" name="a4u_b1147"/>
          <p:cNvSpPr txBox="1"/>
          <p:nvPr/>
        </p:nvSpPr>
        <p:spPr>
          <a:xfrm>
            <a:off x="6949440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combination (A × B)</a:t>
            </a:r>
            <a:endParaRPr lang="en-US" dirty="0" sz="1000"/>
          </a:p>
        </p:txBody>
      </p:sp>
      <p:sp>
        <p:nvSpPr>
          <p:cNvPr id="25" name="a4u_b1148"/>
          <p:cNvSpPr txBox="1"/>
          <p:nvPr/>
        </p:nvSpPr>
        <p:spPr>
          <a:xfrm>
            <a:off x="694944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</a:t>
            </a:r>
            <a:endParaRPr lang="en-US" dirty="0" sz="10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 — no ON clause</a:t>
            </a:r>
            <a:endParaRPr lang="en-US" dirty="0" sz="1000"/>
          </a:p>
        </p:txBody>
      </p:sp>
      <p:sp>
        <p:nvSpPr>
          <p:cNvPr id="26" name="a4u_b1149"/>
          <p:cNvSpPr txBox="1"/>
          <p:nvPr/>
        </p:nvSpPr>
        <p:spPr>
          <a:xfrm>
            <a:off x="6949440" y="4160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ORDER</a:t>
            </a:r>
            <a:endParaRPr lang="en-US" dirty="0" sz="1000"/>
          </a:p>
          <a:p>
            <a:pPr marL="0" indent="0">
              <a:buNone/>
            </a:pPr>
            <a:r>
              <a:rPr sz="11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dirty="0" sz="10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h115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3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· Advanced Joins</a:t>
            </a:r>
            <a:endParaRPr lang="en-US" dirty="0" sz="3200"/>
          </a:p>
        </p:txBody>
      </p:sp>
      <p:sp>
        <p:nvSpPr>
          <p:cNvPr id="3" name="a1u_n1151"/>
          <p:cNvSpPr txBox="1"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600"/>
          </a:p>
        </p:txBody>
      </p:sp>
      <p:sp>
        <p:nvSpPr>
          <p:cNvPr id="4" name="a1u_t1152"/>
          <p:cNvSpPr txBox="1"/>
          <p:nvPr/>
        </p:nvSpPr>
        <p:spPr>
          <a:xfrm>
            <a:off x="1188720" y="1417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ANTI JOIN keyword: use a classic join, then WHERE key IS NULL.</a:t>
            </a:r>
            <a:endParaRPr lang="en-US" dirty="0" sz="1500"/>
          </a:p>
        </p:txBody>
      </p:sp>
      <p:sp>
        <p:nvSpPr>
          <p:cNvPr id="5" name="a2u_n1153"/>
          <p:cNvSpPr txBox="1"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600"/>
          </a:p>
        </p:txBody>
      </p:sp>
      <p:sp>
        <p:nvSpPr>
          <p:cNvPr id="6" name="a2u_t1154"/>
          <p:cNvSpPr txBox="1"/>
          <p:nvPr/>
        </p:nvSpPr>
        <p:spPr>
          <a:xfrm>
            <a:off x="1188720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on the key of the table you are only using as a lookup.</a:t>
            </a:r>
            <a:endParaRPr lang="en-US" dirty="0" sz="1500"/>
          </a:p>
        </p:txBody>
      </p:sp>
      <p:sp>
        <p:nvSpPr>
          <p:cNvPr id="7" name="a3u_n1155"/>
          <p:cNvSpPr txBox="1"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600"/>
          </a:p>
        </p:txBody>
      </p:sp>
      <p:sp>
        <p:nvSpPr>
          <p:cNvPr id="8" name="a3u_t1156"/>
          <p:cNvSpPr txBox="1"/>
          <p:nvPr/>
        </p:nvSpPr>
        <p:spPr>
          <a:xfrm>
            <a:off x="118872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ANTI JOIN is the opposite of INNER JOIN — combine the two IS NULL checks with OR.</a:t>
            </a:r>
            <a:endParaRPr lang="en-US" dirty="0" sz="1500"/>
          </a:p>
        </p:txBody>
      </p:sp>
      <p:sp>
        <p:nvSpPr>
          <p:cNvPr id="9" name="a4u_n1157"/>
          <p:cNvSpPr txBox="1"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600"/>
          </a:p>
        </p:txBody>
      </p:sp>
      <p:sp>
        <p:nvSpPr>
          <p:cNvPr id="10" name="a4u_t1158"/>
          <p:cNvSpPr txBox="1"/>
          <p:nvPr/>
        </p:nvSpPr>
        <p:spPr>
          <a:xfrm>
            <a:off x="1188720" y="3886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 has no ON clause; rows multiply (5 × 4 = 20), so use it sparingly.</a:t>
            </a:r>
            <a:endParaRPr lang="en-US" dirty="0" sz="1500"/>
          </a:p>
        </p:txBody>
      </p:sp>
      <p:pic>
        <p:nvPicPr>
          <p:cNvPr id="11" name="a0fd300_v1159" descr="dab9d2179b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2468880" cy="1563624"/>
          </a:xfrm>
          <a:prstGeom prst="rect">
            <a:avLst/>
          </a:prstGeom>
        </p:spPr>
      </p:pic>
      <p:sp>
        <p:nvSpPr>
          <p:cNvPr id="12" name="a5u_bonus1160"/>
          <p:cNvSpPr txBox="1"/>
          <p:nvPr/>
        </p:nvSpPr>
        <p:spPr>
          <a:xfrm>
            <a:off x="6217920" y="31089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>
            <a:solidFill>
              <a:srgbClr val="475569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</a:t>
            </a:r>
            <a:r>
              <a:rPr sz="13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+ WHERE key IS NOT NULL gives the INNER JOIN result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k1161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spc="300" kern="0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dirty="0" sz="1300"/>
          </a:p>
        </p:txBody>
      </p:sp>
      <p:sp>
        <p:nvSpPr>
          <p:cNvPr id="3" name="a0ud200_t1162"/>
          <p:cNvSpPr txBox="1"/>
          <p:nvPr/>
        </p:nvSpPr>
        <p:spPr>
          <a:xfrm>
            <a:off x="548640" y="777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Set Operators</a:t>
            </a:r>
            <a:endParaRPr lang="en-US" dirty="0" sz="4000"/>
          </a:p>
        </p:txBody>
      </p:sp>
      <p:sp>
        <p:nvSpPr>
          <p:cNvPr id="4" name="a0fd400_s1163"/>
          <p:cNvSpPr txBox="1"/>
          <p:nvPr/>
        </p:nvSpPr>
        <p:spPr>
          <a:xfrm>
            <a:off x="54864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rows of multiple queries into one result set</a:t>
            </a:r>
            <a:endParaRPr lang="en-US" dirty="0" sz="1600"/>
          </a:p>
        </p:txBody>
      </p:sp>
      <p:sp>
        <p:nvSpPr>
          <p:cNvPr id="5" name="a1u_c1164"/>
          <p:cNvSpPr/>
          <p:nvPr/>
        </p:nvSpPr>
        <p:spPr>
          <a:xfrm>
            <a:off x="457200" y="21488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a1u_sv1165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1554480" cy="984504"/>
          </a:xfrm>
          <a:prstGeom prst="rect">
            <a:avLst/>
          </a:prstGeom>
        </p:spPr>
      </p:pic>
      <p:sp>
        <p:nvSpPr>
          <p:cNvPr id="7" name="a1u_n1166"/>
          <p:cNvSpPr txBox="1"/>
          <p:nvPr/>
        </p:nvSpPr>
        <p:spPr>
          <a:xfrm>
            <a:off x="54864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400"/>
          </a:p>
        </p:txBody>
      </p:sp>
      <p:sp>
        <p:nvSpPr>
          <p:cNvPr id="8" name="a1u_d1167"/>
          <p:cNvSpPr txBox="1"/>
          <p:nvPr/>
        </p:nvSpPr>
        <p:spPr>
          <a:xfrm>
            <a:off x="548640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algn="ctr" marL="0" indent="0">
              <a:buNone/>
            </a:pPr>
            <a:r>
              <a:rPr sz="12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rows, no duplicates</a:t>
            </a:r>
            <a:endParaRPr lang="en-US" dirty="0" sz="1200"/>
          </a:p>
        </p:txBody>
      </p:sp>
      <p:sp>
        <p:nvSpPr>
          <p:cNvPr id="9" name="a2u_c1168"/>
          <p:cNvSpPr/>
          <p:nvPr/>
        </p:nvSpPr>
        <p:spPr>
          <a:xfrm>
            <a:off x="2560320" y="21488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0" name="a2u_sv1169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331720"/>
            <a:ext cx="1554480" cy="984504"/>
          </a:xfrm>
          <a:prstGeom prst="rect">
            <a:avLst/>
          </a:prstGeom>
        </p:spPr>
      </p:pic>
      <p:sp>
        <p:nvSpPr>
          <p:cNvPr id="11" name="a2u_n1170"/>
          <p:cNvSpPr txBox="1"/>
          <p:nvPr/>
        </p:nvSpPr>
        <p:spPr>
          <a:xfrm>
            <a:off x="265176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dirty="0" sz="1400"/>
          </a:p>
        </p:txBody>
      </p:sp>
      <p:sp>
        <p:nvSpPr>
          <p:cNvPr id="12" name="a2u_d1171"/>
          <p:cNvSpPr txBox="1"/>
          <p:nvPr/>
        </p:nvSpPr>
        <p:spPr>
          <a:xfrm>
            <a:off x="2651760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algn="ctr" marL="0" indent="0">
              <a:buNone/>
            </a:pPr>
            <a:r>
              <a:rPr sz="12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rows, duplicates kept</a:t>
            </a:r>
            <a:endParaRPr lang="en-US" dirty="0" sz="1200"/>
          </a:p>
        </p:txBody>
      </p:sp>
      <p:sp>
        <p:nvSpPr>
          <p:cNvPr id="13" name="a3u_c1172"/>
          <p:cNvSpPr/>
          <p:nvPr/>
        </p:nvSpPr>
        <p:spPr>
          <a:xfrm>
            <a:off x="4663440" y="21488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4" name="a3u_sv1173" descr="6e5385d95f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1554480" cy="984504"/>
          </a:xfrm>
          <a:prstGeom prst="rect">
            <a:avLst/>
          </a:prstGeom>
        </p:spPr>
      </p:pic>
      <p:sp>
        <p:nvSpPr>
          <p:cNvPr id="15" name="a3u_n1174"/>
          <p:cNvSpPr txBox="1"/>
          <p:nvPr/>
        </p:nvSpPr>
        <p:spPr>
          <a:xfrm>
            <a:off x="475488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dirty="0" sz="1400"/>
          </a:p>
        </p:txBody>
      </p:sp>
      <p:sp>
        <p:nvSpPr>
          <p:cNvPr id="16" name="a3u_d1175"/>
          <p:cNvSpPr txBox="1"/>
          <p:nvPr/>
        </p:nvSpPr>
        <p:spPr>
          <a:xfrm>
            <a:off x="4754880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algn="ctr" marL="0" indent="0">
              <a:buNone/>
            </a:pPr>
            <a:r>
              <a:rPr sz="12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1st query but not the 2nd</a:t>
            </a:r>
            <a:endParaRPr lang="en-US" dirty="0" sz="1200"/>
          </a:p>
        </p:txBody>
      </p:sp>
      <p:sp>
        <p:nvSpPr>
          <p:cNvPr id="17" name="a4u_c1176"/>
          <p:cNvSpPr/>
          <p:nvPr/>
        </p:nvSpPr>
        <p:spPr>
          <a:xfrm>
            <a:off x="6766560" y="214884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8" name="a4u_sv1177" descr="219ee9bd1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331720"/>
            <a:ext cx="1554480" cy="984504"/>
          </a:xfrm>
          <a:prstGeom prst="rect">
            <a:avLst/>
          </a:prstGeom>
        </p:spPr>
      </p:pic>
      <p:sp>
        <p:nvSpPr>
          <p:cNvPr id="19" name="a4u_n1178"/>
          <p:cNvSpPr txBox="1"/>
          <p:nvPr/>
        </p:nvSpPr>
        <p:spPr>
          <a:xfrm>
            <a:off x="685800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dirty="0" sz="1400"/>
          </a:p>
        </p:txBody>
      </p:sp>
      <p:sp>
        <p:nvSpPr>
          <p:cNvPr id="20" name="a4u_d1179"/>
          <p:cNvSpPr txBox="1"/>
          <p:nvPr/>
        </p:nvSpPr>
        <p:spPr>
          <a:xfrm>
            <a:off x="6858000" y="3794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algn="ctr" marL="0" indent="0">
              <a:buNone/>
            </a:pPr>
            <a:r>
              <a:rPr sz="12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found in both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vs. Set Operators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combine data from multiple queries into a single result — but in different directions</a:t>
            </a:r>
            <a:endParaRPr lang="en-US" dirty="0" sz="1300"/>
          </a:p>
        </p:txBody>
      </p:sp>
      <p:sp>
        <p:nvSpPr>
          <p:cNvPr id="4" name="a0f_box1180"/>
          <p:cNvSpPr txBox="1"/>
          <p:nvPr/>
        </p:nvSpPr>
        <p:spPr>
          <a:xfrm>
            <a:off x="2103120" y="123444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5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dirty="0" sz="1500"/>
          </a:p>
        </p:txBody>
      </p:sp>
      <p:sp>
        <p:nvSpPr>
          <p:cNvPr id="5" name="a0f_box1181"/>
          <p:cNvSpPr txBox="1"/>
          <p:nvPr/>
        </p:nvSpPr>
        <p:spPr>
          <a:xfrm>
            <a:off x="5440680" y="123444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5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OPERATORS</a:t>
            </a:r>
            <a:endParaRPr lang="en-US" dirty="0" sz="1500"/>
          </a:p>
        </p:txBody>
      </p:sp>
      <p:sp>
        <p:nvSpPr>
          <p:cNvPr id="6" name="a1f_box1182"/>
          <p:cNvSpPr txBox="1"/>
          <p:nvPr/>
        </p:nvSpPr>
        <p:spPr>
          <a:xfrm>
            <a:off x="457200" y="182880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</a:t>
            </a:r>
            <a:endParaRPr lang="en-US" dirty="0" sz="1300"/>
          </a:p>
        </p:txBody>
      </p:sp>
      <p:sp>
        <p:nvSpPr>
          <p:cNvPr id="7" name="a1wd100_box1183"/>
          <p:cNvSpPr txBox="1"/>
          <p:nvPr/>
        </p:nvSpPr>
        <p:spPr>
          <a:xfrm>
            <a:off x="2103120" y="182880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— side by side (wider table)</a:t>
            </a:r>
            <a:endParaRPr lang="en-US" dirty="0" sz="1300"/>
          </a:p>
        </p:txBody>
      </p:sp>
      <p:sp>
        <p:nvSpPr>
          <p:cNvPr id="8" name="a1wd300_box1184"/>
          <p:cNvSpPr txBox="1"/>
          <p:nvPr/>
        </p:nvSpPr>
        <p:spPr>
          <a:xfrm>
            <a:off x="5440680" y="1828800"/>
            <a:ext cx="3246120" cy="73152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— stacked below (longer table)</a:t>
            </a:r>
            <a:endParaRPr lang="en-US" dirty="0" sz="1300"/>
          </a:p>
        </p:txBody>
      </p:sp>
      <p:sp>
        <p:nvSpPr>
          <p:cNvPr id="9" name="a2f_box1185"/>
          <p:cNvSpPr txBox="1"/>
          <p:nvPr/>
        </p:nvSpPr>
        <p:spPr>
          <a:xfrm>
            <a:off x="457200" y="269748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dirty="0" sz="1300"/>
          </a:p>
        </p:txBody>
      </p:sp>
      <p:sp>
        <p:nvSpPr>
          <p:cNvPr id="10" name="a2wd100_box1186"/>
          <p:cNvSpPr txBox="1"/>
          <p:nvPr/>
        </p:nvSpPr>
        <p:spPr>
          <a:xfrm>
            <a:off x="2103120" y="269748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column to match rows</a:t>
            </a:r>
            <a:endParaRPr lang="en-US" dirty="0" sz="1300"/>
          </a:p>
        </p:txBody>
      </p:sp>
      <p:sp>
        <p:nvSpPr>
          <p:cNvPr id="11" name="a2wd300_box1187"/>
          <p:cNvSpPr txBox="1"/>
          <p:nvPr/>
        </p:nvSpPr>
        <p:spPr>
          <a:xfrm>
            <a:off x="5440680" y="2697480"/>
            <a:ext cx="3246120" cy="73152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columns in each query — no key needed</a:t>
            </a:r>
            <a:endParaRPr lang="en-US" dirty="0" sz="1300"/>
          </a:p>
        </p:txBody>
      </p:sp>
      <p:sp>
        <p:nvSpPr>
          <p:cNvPr id="12" name="a3f_box1188"/>
          <p:cNvSpPr txBox="1"/>
          <p:nvPr/>
        </p:nvSpPr>
        <p:spPr>
          <a:xfrm>
            <a:off x="457200" y="356616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dirty="0" sz="1300"/>
          </a:p>
        </p:txBody>
      </p:sp>
      <p:sp>
        <p:nvSpPr>
          <p:cNvPr id="13" name="a3wd100_box1189"/>
          <p:cNvSpPr txBox="1"/>
          <p:nvPr/>
        </p:nvSpPr>
        <p:spPr>
          <a:xfrm>
            <a:off x="2103120" y="356616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· LEFT · RIGHT · FULL</a:t>
            </a:r>
            <a:endParaRPr lang="en-US" dirty="0" sz="1300"/>
          </a:p>
        </p:txBody>
      </p:sp>
      <p:sp>
        <p:nvSpPr>
          <p:cNvPr id="14" name="a3wd300_box1190"/>
          <p:cNvSpPr txBox="1"/>
          <p:nvPr/>
        </p:nvSpPr>
        <p:spPr>
          <a:xfrm>
            <a:off x="5440680" y="3566160"/>
            <a:ext cx="3246120" cy="73152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· UNION ALL · EXCEPT (MINUS) · INTERSECT</a:t>
            </a:r>
            <a:endParaRPr lang="en-US" dirty="0" sz="1300"/>
          </a:p>
        </p:txBody>
      </p:sp>
      <p:sp>
        <p:nvSpPr>
          <p:cNvPr id="15" name="a4u_rt1191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columns? Join. Need more rows? Use a set operator.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 Syntax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 SELECT statements with the operator placed between them</a:t>
            </a:r>
            <a:endParaRPr lang="en-US" dirty="0" sz="1300"/>
          </a:p>
        </p:txBody>
      </p:sp>
      <p:sp>
        <p:nvSpPr>
          <p:cNvPr id="4" name="a1f_codebg1192"/>
          <p:cNvSpPr/>
          <p:nvPr/>
        </p:nvSpPr>
        <p:spPr>
          <a:xfrm>
            <a:off x="457200" y="132588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1wd0_code1193"/>
          <p:cNvSpPr txBox="1"/>
          <p:nvPr/>
        </p:nvSpPr>
        <p:spPr>
          <a:xfrm>
            <a:off x="640080" y="14630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400"/>
          </a:p>
        </p:txBody>
      </p:sp>
      <p:sp>
        <p:nvSpPr>
          <p:cNvPr id="6" name="a1wd0_code1194"/>
          <p:cNvSpPr txBox="1"/>
          <p:nvPr/>
        </p:nvSpPr>
        <p:spPr>
          <a:xfrm>
            <a:off x="640080" y="1828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dirty="0" sz="1400"/>
          </a:p>
        </p:txBody>
      </p:sp>
      <p:sp>
        <p:nvSpPr>
          <p:cNvPr id="7" name="a2wd0_code1195"/>
          <p:cNvSpPr txBox="1"/>
          <p:nvPr/>
        </p:nvSpPr>
        <p:spPr>
          <a:xfrm>
            <a:off x="640080" y="21945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400"/>
          </a:p>
        </p:txBody>
      </p:sp>
      <p:sp>
        <p:nvSpPr>
          <p:cNvPr id="8" name="a3wd0_code1196"/>
          <p:cNvSpPr txBox="1"/>
          <p:nvPr/>
        </p:nvSpPr>
        <p:spPr>
          <a:xfrm>
            <a:off x="640080" y="2560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400"/>
          </a:p>
        </p:txBody>
      </p:sp>
      <p:sp>
        <p:nvSpPr>
          <p:cNvPr id="9" name="a3wd0_code1197"/>
          <p:cNvSpPr txBox="1"/>
          <p:nvPr/>
        </p:nvSpPr>
        <p:spPr>
          <a:xfrm>
            <a:off x="640080" y="2926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r>
              <a:rPr sz="14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400"/>
          </a:p>
        </p:txBody>
      </p:sp>
      <p:sp>
        <p:nvSpPr>
          <p:cNvPr id="10" name="a1f_br1198"/>
          <p:cNvSpPr/>
          <p:nvPr/>
        </p:nvSpPr>
        <p:spPr>
          <a:xfrm>
            <a:off x="5120640" y="1481328"/>
            <a:ext cx="54864" cy="6949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a1f_box1199"/>
          <p:cNvSpPr txBox="1"/>
          <p:nvPr/>
        </p:nvSpPr>
        <p:spPr>
          <a:xfrm>
            <a:off x="5303520" y="1627632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query</a:t>
            </a:r>
            <a:endParaRPr lang="en-US" dirty="0" sz="1300"/>
          </a:p>
        </p:txBody>
      </p:sp>
      <p:sp>
        <p:nvSpPr>
          <p:cNvPr id="12" name="a2f_br1200"/>
          <p:cNvSpPr/>
          <p:nvPr/>
        </p:nvSpPr>
        <p:spPr>
          <a:xfrm>
            <a:off x="5120640" y="2212848"/>
            <a:ext cx="54864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a2f_box1201"/>
          <p:cNvSpPr txBox="1"/>
          <p:nvPr/>
        </p:nvSpPr>
        <p:spPr>
          <a:xfrm>
            <a:off x="5303520" y="2176272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</a:t>
            </a:r>
            <a:endParaRPr lang="en-US" dirty="0" sz="1300"/>
          </a:p>
        </p:txBody>
      </p:sp>
      <p:sp>
        <p:nvSpPr>
          <p:cNvPr id="14" name="a3f_br1202"/>
          <p:cNvSpPr/>
          <p:nvPr/>
        </p:nvSpPr>
        <p:spPr>
          <a:xfrm>
            <a:off x="5120640" y="2578608"/>
            <a:ext cx="54864" cy="6949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a3f_box1203"/>
          <p:cNvSpPr txBox="1"/>
          <p:nvPr/>
        </p:nvSpPr>
        <p:spPr>
          <a:xfrm>
            <a:off x="5303520" y="2724912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query</a:t>
            </a:r>
            <a:endParaRPr lang="en-US" dirty="0" sz="1300"/>
          </a:p>
        </p:txBody>
      </p:sp>
      <p:sp>
        <p:nvSpPr>
          <p:cNvPr id="16" name="a4f_any1204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 four operators can go in the middle:</a:t>
            </a:r>
            <a:endParaRPr lang="en-US" dirty="0" sz="1300"/>
          </a:p>
        </p:txBody>
      </p:sp>
      <p:sp>
        <p:nvSpPr>
          <p:cNvPr id="17" name="a4ud150_box1205"/>
          <p:cNvSpPr txBox="1"/>
          <p:nvPr/>
        </p:nvSpPr>
        <p:spPr>
          <a:xfrm>
            <a:off x="457200" y="402336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300"/>
          </a:p>
        </p:txBody>
      </p:sp>
      <p:sp>
        <p:nvSpPr>
          <p:cNvPr id="18" name="a4ud270_box1206"/>
          <p:cNvSpPr txBox="1"/>
          <p:nvPr/>
        </p:nvSpPr>
        <p:spPr>
          <a:xfrm>
            <a:off x="2057400" y="402336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dirty="0" sz="1300"/>
          </a:p>
        </p:txBody>
      </p:sp>
      <p:sp>
        <p:nvSpPr>
          <p:cNvPr id="19" name="a4ud390_box1207"/>
          <p:cNvSpPr txBox="1"/>
          <p:nvPr/>
        </p:nvSpPr>
        <p:spPr>
          <a:xfrm>
            <a:off x="3657600" y="402336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dirty="0" sz="1300"/>
          </a:p>
        </p:txBody>
      </p:sp>
      <p:sp>
        <p:nvSpPr>
          <p:cNvPr id="20" name="a4ud510_box1208"/>
          <p:cNvSpPr txBox="1"/>
          <p:nvPr/>
        </p:nvSpPr>
        <p:spPr>
          <a:xfrm>
            <a:off x="5257800" y="402336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7" grpId="0" animBg="1"/>
      <p:bldP spid="12" grpId="0" animBg="1"/>
      <p:bldP spid="13" grpId="0" animBg="1"/>
      <p:bldP spid="8" grpId="0" animBg="1"/>
      <p:bldP spid="9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Rules of Set Operators</a:t>
            </a:r>
            <a:endParaRPr lang="en-US" dirty="0" sz="2800"/>
          </a:p>
        </p:txBody>
      </p:sp>
      <p:sp>
        <p:nvSpPr>
          <p:cNvPr id="3" name="a1u_c1209"/>
          <p:cNvSpPr/>
          <p:nvPr/>
        </p:nvSpPr>
        <p:spPr>
          <a:xfrm>
            <a:off x="457200" y="1005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u_box1210"/>
          <p:cNvSpPr txBox="1"/>
          <p:nvPr/>
        </p:nvSpPr>
        <p:spPr>
          <a:xfrm>
            <a:off x="685800" y="12070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600"/>
          </a:p>
        </p:txBody>
      </p:sp>
      <p:sp>
        <p:nvSpPr>
          <p:cNvPr id="5" name="a1u_h1211"/>
          <p:cNvSpPr txBox="1"/>
          <p:nvPr/>
        </p:nvSpPr>
        <p:spPr>
          <a:xfrm>
            <a:off x="68580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once</a:t>
            </a:r>
            <a:endParaRPr lang="en-US" dirty="0" sz="1500"/>
          </a:p>
        </p:txBody>
      </p:sp>
      <p:sp>
        <p:nvSpPr>
          <p:cNvPr id="6" name="a1u_d1212"/>
          <p:cNvSpPr txBox="1"/>
          <p:nvPr/>
        </p:nvSpPr>
        <p:spPr>
          <a:xfrm>
            <a:off x="685800" y="20848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only once, at the very end of the whole query.</a:t>
            </a:r>
            <a:endParaRPr lang="en-US" dirty="0" sz="1200"/>
          </a:p>
        </p:txBody>
      </p:sp>
      <p:sp>
        <p:nvSpPr>
          <p:cNvPr id="7" name="a2u_c1213"/>
          <p:cNvSpPr/>
          <p:nvPr/>
        </p:nvSpPr>
        <p:spPr>
          <a:xfrm>
            <a:off x="3246120" y="1005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2u_box1214"/>
          <p:cNvSpPr txBox="1"/>
          <p:nvPr/>
        </p:nvSpPr>
        <p:spPr>
          <a:xfrm>
            <a:off x="3474720" y="12070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600"/>
          </a:p>
        </p:txBody>
      </p:sp>
      <p:sp>
        <p:nvSpPr>
          <p:cNvPr id="9" name="a2u_h1215"/>
          <p:cNvSpPr txBox="1"/>
          <p:nvPr/>
        </p:nvSpPr>
        <p:spPr>
          <a:xfrm>
            <a:off x="347472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of columns</a:t>
            </a:r>
            <a:endParaRPr lang="en-US" dirty="0" sz="1500"/>
          </a:p>
        </p:txBody>
      </p:sp>
      <p:sp>
        <p:nvSpPr>
          <p:cNvPr id="10" name="a2u_d1216"/>
          <p:cNvSpPr txBox="1"/>
          <p:nvPr/>
        </p:nvSpPr>
        <p:spPr>
          <a:xfrm>
            <a:off x="3474720" y="20848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must return the same column count.</a:t>
            </a:r>
            <a:endParaRPr lang="en-US" dirty="0" sz="1200"/>
          </a:p>
        </p:txBody>
      </p:sp>
      <p:sp>
        <p:nvSpPr>
          <p:cNvPr id="11" name="a3u_c1217"/>
          <p:cNvSpPr/>
          <p:nvPr/>
        </p:nvSpPr>
        <p:spPr>
          <a:xfrm>
            <a:off x="6035040" y="1005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3u_box1218"/>
          <p:cNvSpPr txBox="1"/>
          <p:nvPr/>
        </p:nvSpPr>
        <p:spPr>
          <a:xfrm>
            <a:off x="6263640" y="12070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600"/>
          </a:p>
        </p:txBody>
      </p:sp>
      <p:sp>
        <p:nvSpPr>
          <p:cNvPr id="13" name="a3u_h1219"/>
          <p:cNvSpPr txBox="1"/>
          <p:nvPr/>
        </p:nvSpPr>
        <p:spPr>
          <a:xfrm>
            <a:off x="626364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data types</a:t>
            </a:r>
            <a:endParaRPr lang="en-US" dirty="0" sz="1500"/>
          </a:p>
        </p:txBody>
      </p:sp>
      <p:sp>
        <p:nvSpPr>
          <p:cNvPr id="14" name="a3u_d1220"/>
          <p:cNvSpPr txBox="1"/>
          <p:nvPr/>
        </p:nvSpPr>
        <p:spPr>
          <a:xfrm>
            <a:off x="6263640" y="20848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the same position must have compatible types.</a:t>
            </a:r>
            <a:endParaRPr lang="en-US" dirty="0" sz="1200"/>
          </a:p>
        </p:txBody>
      </p:sp>
      <p:sp>
        <p:nvSpPr>
          <p:cNvPr id="15" name="a4u_c1221"/>
          <p:cNvSpPr/>
          <p:nvPr/>
        </p:nvSpPr>
        <p:spPr>
          <a:xfrm>
            <a:off x="457200" y="29260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4u_box1222"/>
          <p:cNvSpPr txBox="1"/>
          <p:nvPr/>
        </p:nvSpPr>
        <p:spPr>
          <a:xfrm>
            <a:off x="685800" y="31272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600"/>
          </a:p>
        </p:txBody>
      </p:sp>
      <p:sp>
        <p:nvSpPr>
          <p:cNvPr id="17" name="a4u_h1223"/>
          <p:cNvSpPr txBox="1"/>
          <p:nvPr/>
        </p:nvSpPr>
        <p:spPr>
          <a:xfrm>
            <a:off x="68580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 order</a:t>
            </a:r>
            <a:endParaRPr lang="en-US" dirty="0" sz="1500"/>
          </a:p>
        </p:txBody>
      </p:sp>
      <p:sp>
        <p:nvSpPr>
          <p:cNvPr id="18" name="a4u_d1224"/>
          <p:cNvSpPr txBox="1"/>
          <p:nvPr/>
        </p:nvSpPr>
        <p:spPr>
          <a:xfrm>
            <a:off x="685800" y="40050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are matched by position, not by name.</a:t>
            </a:r>
            <a:endParaRPr lang="en-US" dirty="0" sz="1200"/>
          </a:p>
        </p:txBody>
      </p:sp>
      <p:sp>
        <p:nvSpPr>
          <p:cNvPr id="19" name="a5u_c1225"/>
          <p:cNvSpPr/>
          <p:nvPr/>
        </p:nvSpPr>
        <p:spPr>
          <a:xfrm>
            <a:off x="3246120" y="29260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a5u_box1226"/>
          <p:cNvSpPr txBox="1"/>
          <p:nvPr/>
        </p:nvSpPr>
        <p:spPr>
          <a:xfrm>
            <a:off x="3474720" y="31272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 sz="1600"/>
          </a:p>
        </p:txBody>
      </p:sp>
      <p:sp>
        <p:nvSpPr>
          <p:cNvPr id="21" name="a5u_h1227"/>
          <p:cNvSpPr txBox="1"/>
          <p:nvPr/>
        </p:nvSpPr>
        <p:spPr>
          <a:xfrm>
            <a:off x="347472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query names columns</a:t>
            </a:r>
            <a:endParaRPr lang="en-US" dirty="0" sz="1500"/>
          </a:p>
        </p:txBody>
      </p:sp>
      <p:sp>
        <p:nvSpPr>
          <p:cNvPr id="22" name="a5u_d1228"/>
          <p:cNvSpPr txBox="1"/>
          <p:nvPr/>
        </p:nvSpPr>
        <p:spPr>
          <a:xfrm>
            <a:off x="3474720" y="40050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names and aliases (and types) come from the 1st query.</a:t>
            </a:r>
            <a:endParaRPr lang="en-US" dirty="0" sz="1200"/>
          </a:p>
        </p:txBody>
      </p:sp>
      <p:sp>
        <p:nvSpPr>
          <p:cNvPr id="23" name="a6u_c1229"/>
          <p:cNvSpPr/>
          <p:nvPr/>
        </p:nvSpPr>
        <p:spPr>
          <a:xfrm>
            <a:off x="6035040" y="292608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6u_box1230"/>
          <p:cNvSpPr txBox="1"/>
          <p:nvPr/>
        </p:nvSpPr>
        <p:spPr>
          <a:xfrm>
            <a:off x="6263640" y="31272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 sz="1600"/>
          </a:p>
        </p:txBody>
      </p:sp>
      <p:sp>
        <p:nvSpPr>
          <p:cNvPr id="25" name="a6u_h1231"/>
          <p:cNvSpPr txBox="1"/>
          <p:nvPr/>
        </p:nvSpPr>
        <p:spPr>
          <a:xfrm>
            <a:off x="626364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right information</a:t>
            </a:r>
            <a:endParaRPr lang="en-US" dirty="0" sz="1500"/>
          </a:p>
        </p:txBody>
      </p:sp>
      <p:sp>
        <p:nvSpPr>
          <p:cNvPr id="26" name="a6u_d1232"/>
          <p:cNvSpPr txBox="1"/>
          <p:nvPr/>
        </p:nvSpPr>
        <p:spPr>
          <a:xfrm>
            <a:off x="6263640" y="40050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doesn't mean correct data — check the meaning.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· ORDER BY Only Once, at the End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may use WHERE, JOIN, GROUP BY, HAVING — but not its own ORDER BY</a:t>
            </a:r>
            <a:endParaRPr lang="en-US" dirty="0" sz="1300"/>
          </a:p>
        </p:txBody>
      </p:sp>
      <p:sp>
        <p:nvSpPr>
          <p:cNvPr id="4" name="a1f_l1233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Not allowed</a:t>
            </a:r>
            <a:endParaRPr lang="en-US" dirty="0" sz="1400"/>
          </a:p>
        </p:txBody>
      </p:sp>
      <p:sp>
        <p:nvSpPr>
          <p:cNvPr id="5" name="a1f_codebg1234"/>
          <p:cNvSpPr/>
          <p:nvPr/>
        </p:nvSpPr>
        <p:spPr>
          <a:xfrm>
            <a:off x="457200" y="1508760"/>
            <a:ext cx="3886200" cy="2029968"/>
          </a:xfrm>
          <a:prstGeom prst="roundRect">
            <a:avLst>
              <a:gd name="adj" fmla="val 360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a1f_hl1235"/>
          <p:cNvSpPr/>
          <p:nvPr/>
        </p:nvSpPr>
        <p:spPr>
          <a:xfrm>
            <a:off x="530352" y="2231136"/>
            <a:ext cx="3739896" cy="2926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a1wd0_code1236"/>
          <p:cNvSpPr txBox="1"/>
          <p:nvPr/>
        </p:nvSpPr>
        <p:spPr>
          <a:xfrm>
            <a:off x="64008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8" name="a1wd100_code1237"/>
          <p:cNvSpPr txBox="1"/>
          <p:nvPr/>
        </p:nvSpPr>
        <p:spPr>
          <a:xfrm>
            <a:off x="640080" y="1938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dirty="0" sz="1200"/>
          </a:p>
        </p:txBody>
      </p:sp>
      <p:sp>
        <p:nvSpPr>
          <p:cNvPr id="9" name="a1wd200_code1238"/>
          <p:cNvSpPr txBox="1"/>
          <p:nvPr/>
        </p:nvSpPr>
        <p:spPr>
          <a:xfrm>
            <a:off x="640080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endParaRPr lang="en-US" dirty="0" sz="1200"/>
          </a:p>
        </p:txBody>
      </p:sp>
      <p:sp>
        <p:nvSpPr>
          <p:cNvPr id="10" name="a1wd300_code1239"/>
          <p:cNvSpPr txBox="1"/>
          <p:nvPr/>
        </p:nvSpPr>
        <p:spPr>
          <a:xfrm>
            <a:off x="640080" y="25237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200"/>
          </a:p>
        </p:txBody>
      </p:sp>
      <p:sp>
        <p:nvSpPr>
          <p:cNvPr id="11" name="a1wd400_code1240"/>
          <p:cNvSpPr txBox="1"/>
          <p:nvPr/>
        </p:nvSpPr>
        <p:spPr>
          <a:xfrm>
            <a:off x="64008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12" name="a1wd500_code1241"/>
          <p:cNvSpPr txBox="1"/>
          <p:nvPr/>
        </p:nvSpPr>
        <p:spPr>
          <a:xfrm>
            <a:off x="640080" y="3108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3" name="a2f_l1242"/>
          <p:cNvSpPr txBox="1"/>
          <p:nvPr/>
        </p:nvSpPr>
        <p:spPr>
          <a:xfrm>
            <a:off x="48006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Correct</a:t>
            </a:r>
            <a:endParaRPr lang="en-US" dirty="0" sz="1400"/>
          </a:p>
        </p:txBody>
      </p:sp>
      <p:sp>
        <p:nvSpPr>
          <p:cNvPr id="14" name="a2f_codebg1243"/>
          <p:cNvSpPr/>
          <p:nvPr/>
        </p:nvSpPr>
        <p:spPr>
          <a:xfrm>
            <a:off x="4800600" y="1508760"/>
            <a:ext cx="3886200" cy="2322576"/>
          </a:xfrm>
          <a:prstGeom prst="roundRect">
            <a:avLst>
              <a:gd name="adj" fmla="val 315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a3f_hl1244"/>
          <p:cNvSpPr/>
          <p:nvPr/>
        </p:nvSpPr>
        <p:spPr>
          <a:xfrm>
            <a:off x="4873752" y="3401568"/>
            <a:ext cx="3739896" cy="2926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a2wd0_code1245"/>
          <p:cNvSpPr txBox="1"/>
          <p:nvPr/>
        </p:nvSpPr>
        <p:spPr>
          <a:xfrm>
            <a:off x="498348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17" name="a2wd100_code1246"/>
          <p:cNvSpPr txBox="1"/>
          <p:nvPr/>
        </p:nvSpPr>
        <p:spPr>
          <a:xfrm>
            <a:off x="4983480" y="1938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dirty="0" sz="1200"/>
          </a:p>
        </p:txBody>
      </p:sp>
      <p:sp>
        <p:nvSpPr>
          <p:cNvPr id="18" name="a2wd200_code1247"/>
          <p:cNvSpPr txBox="1"/>
          <p:nvPr/>
        </p:nvSpPr>
        <p:spPr>
          <a:xfrm>
            <a:off x="4983480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dirty="0" sz="1200"/>
          </a:p>
        </p:txBody>
      </p:sp>
      <p:sp>
        <p:nvSpPr>
          <p:cNvPr id="19" name="a2wd300_code1248"/>
          <p:cNvSpPr txBox="1"/>
          <p:nvPr/>
        </p:nvSpPr>
        <p:spPr>
          <a:xfrm>
            <a:off x="4983480" y="25237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200"/>
          </a:p>
        </p:txBody>
      </p:sp>
      <p:sp>
        <p:nvSpPr>
          <p:cNvPr id="20" name="a2wd400_code1249"/>
          <p:cNvSpPr txBox="1"/>
          <p:nvPr/>
        </p:nvSpPr>
        <p:spPr>
          <a:xfrm>
            <a:off x="498348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21" name="a2wd500_code1250"/>
          <p:cNvSpPr txBox="1"/>
          <p:nvPr/>
        </p:nvSpPr>
        <p:spPr>
          <a:xfrm>
            <a:off x="4983480" y="3108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dirty="0" sz="1200"/>
          </a:p>
        </p:txBody>
      </p:sp>
      <p:sp>
        <p:nvSpPr>
          <p:cNvPr id="22" name="a2wd600_code1251"/>
          <p:cNvSpPr txBox="1"/>
          <p:nvPr/>
        </p:nvSpPr>
        <p:spPr>
          <a:xfrm>
            <a:off x="4983480" y="3401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23" name="a3u_nb1252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a3u_nt1253"/>
          <p:cNvSpPr txBox="1"/>
          <p:nvPr/>
        </p:nvSpPr>
        <p:spPr>
          <a:xfrm>
            <a:off x="68580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sz="14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sorts the final combined result, so it belongs after the last query.</a:t>
            </a:r>
            <a:endParaRPr lang="en-US" dirty="0" sz="14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15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2 &amp; 3 · Column Count and Data Types</a:t>
            </a:r>
            <a:endParaRPr lang="en-US" dirty="0" sz="2800"/>
          </a:p>
        </p:txBody>
      </p:sp>
      <p:sp>
        <p:nvSpPr>
          <p:cNvPr id="3" name="a1f_c1254"/>
          <p:cNvSpPr/>
          <p:nvPr/>
        </p:nvSpPr>
        <p:spPr>
          <a:xfrm>
            <a:off x="457200" y="960120"/>
            <a:ext cx="39776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1f_h1255"/>
          <p:cNvSpPr txBox="1"/>
          <p:nvPr/>
        </p:nvSpPr>
        <p:spPr>
          <a:xfrm>
            <a:off x="68580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· Same number of columns</a:t>
            </a:r>
            <a:endParaRPr lang="en-US" dirty="0" sz="1600"/>
          </a:p>
        </p:txBody>
      </p:sp>
      <p:sp>
        <p:nvSpPr>
          <p:cNvPr id="5" name="a1f_codebg1256"/>
          <p:cNvSpPr/>
          <p:nvPr/>
        </p:nvSpPr>
        <p:spPr>
          <a:xfrm>
            <a:off x="640080" y="1463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a1wd0_code1257"/>
          <p:cNvSpPr txBox="1"/>
          <p:nvPr/>
        </p:nvSpPr>
        <p:spPr>
          <a:xfrm>
            <a:off x="822960" y="1600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100"/>
          </a:p>
        </p:txBody>
      </p:sp>
      <p:sp>
        <p:nvSpPr>
          <p:cNvPr id="7" name="a1wd80_code1258"/>
          <p:cNvSpPr txBox="1"/>
          <p:nvPr/>
        </p:nvSpPr>
        <p:spPr>
          <a:xfrm>
            <a:off x="822960" y="1828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dirty="0" sz="1100"/>
          </a:p>
        </p:txBody>
      </p:sp>
      <p:sp>
        <p:nvSpPr>
          <p:cNvPr id="8" name="a1wd160_code1259"/>
          <p:cNvSpPr txBox="1"/>
          <p:nvPr/>
        </p:nvSpPr>
        <p:spPr>
          <a:xfrm>
            <a:off x="822960" y="2057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100"/>
          </a:p>
        </p:txBody>
      </p:sp>
      <p:sp>
        <p:nvSpPr>
          <p:cNvPr id="9" name="a1wd240_code1260"/>
          <p:cNvSpPr txBox="1"/>
          <p:nvPr/>
        </p:nvSpPr>
        <p:spPr>
          <a:xfrm>
            <a:off x="822960" y="2286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100"/>
          </a:p>
        </p:txBody>
      </p:sp>
      <p:sp>
        <p:nvSpPr>
          <p:cNvPr id="10" name="a1wd320_code1261"/>
          <p:cNvSpPr txBox="1"/>
          <p:nvPr/>
        </p:nvSpPr>
        <p:spPr>
          <a:xfrm>
            <a:off x="822960" y="2514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100"/>
          </a:p>
        </p:txBody>
      </p:sp>
      <p:sp>
        <p:nvSpPr>
          <p:cNvPr id="11" name="a3f_err1262"/>
          <p:cNvSpPr txBox="1"/>
          <p:nvPr/>
        </p:nvSpPr>
        <p:spPr>
          <a:xfrm>
            <a:off x="640080" y="292608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>
            <a:solidFill>
              <a:srgbClr val="FECACA"/>
            </a:solidFill>
          </a:ln>
        </p:spPr>
        <p:txBody>
          <a:bodyPr wrap="square" lIns="101600" tIns="0" rIns="10160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Error: </a:t>
            </a:r>
            <a:r>
              <a:rPr sz="1100" i="1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combined with UNION, INTERSECT or EXCEPT must have an equal number of expressions.</a:t>
            </a:r>
            <a:endParaRPr lang="en-US" dirty="0" sz="1100"/>
          </a:p>
        </p:txBody>
      </p:sp>
      <p:sp>
        <p:nvSpPr>
          <p:cNvPr id="12" name="a3fd400_fix1263"/>
          <p:cNvSpPr txBox="1"/>
          <p:nvPr/>
        </p:nvSpPr>
        <p:spPr>
          <a:xfrm>
            <a:off x="640080" y="3886200"/>
            <a:ext cx="3611880" cy="73152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>
            <a:solidFill>
              <a:srgbClr val="BBF7D0"/>
            </a:solidFill>
          </a:ln>
        </p:spPr>
        <p:txBody>
          <a:bodyPr wrap="square" lIns="101600" tIns="0" rIns="1016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Fix: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columns vs 2 — remove CustomerID so both return 2.</a:t>
            </a:r>
            <a:endParaRPr lang="en-US" dirty="0" sz="1200"/>
          </a:p>
        </p:txBody>
      </p:sp>
      <p:sp>
        <p:nvSpPr>
          <p:cNvPr id="13" name="a2f_c1264"/>
          <p:cNvSpPr/>
          <p:nvPr/>
        </p:nvSpPr>
        <p:spPr>
          <a:xfrm>
            <a:off x="4709160" y="960120"/>
            <a:ext cx="39776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2f_h1265"/>
          <p:cNvSpPr txBox="1"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6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· Matching data types</a:t>
            </a:r>
            <a:endParaRPr lang="en-US" dirty="0" sz="1600"/>
          </a:p>
        </p:txBody>
      </p:sp>
      <p:sp>
        <p:nvSpPr>
          <p:cNvPr id="15" name="a2f_codebg1266"/>
          <p:cNvSpPr/>
          <p:nvPr/>
        </p:nvSpPr>
        <p:spPr>
          <a:xfrm>
            <a:off x="4892040" y="14630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a2wd0_code1267"/>
          <p:cNvSpPr txBox="1"/>
          <p:nvPr/>
        </p:nvSpPr>
        <p:spPr>
          <a:xfrm>
            <a:off x="5074920" y="1600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100"/>
          </a:p>
        </p:txBody>
      </p:sp>
      <p:sp>
        <p:nvSpPr>
          <p:cNvPr id="17" name="a2wd80_code1268"/>
          <p:cNvSpPr txBox="1"/>
          <p:nvPr/>
        </p:nvSpPr>
        <p:spPr>
          <a:xfrm>
            <a:off x="5074920" y="1828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dirty="0" sz="1100"/>
          </a:p>
        </p:txBody>
      </p:sp>
      <p:sp>
        <p:nvSpPr>
          <p:cNvPr id="18" name="a2wd160_code1269"/>
          <p:cNvSpPr txBox="1"/>
          <p:nvPr/>
        </p:nvSpPr>
        <p:spPr>
          <a:xfrm>
            <a:off x="5074920" y="2057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100"/>
          </a:p>
        </p:txBody>
      </p:sp>
      <p:sp>
        <p:nvSpPr>
          <p:cNvPr id="19" name="a2wd240_code1270"/>
          <p:cNvSpPr txBox="1"/>
          <p:nvPr/>
        </p:nvSpPr>
        <p:spPr>
          <a:xfrm>
            <a:off x="5074920" y="2286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100"/>
          </a:p>
        </p:txBody>
      </p:sp>
      <p:sp>
        <p:nvSpPr>
          <p:cNvPr id="20" name="a2wd320_code1271"/>
          <p:cNvSpPr txBox="1"/>
          <p:nvPr/>
        </p:nvSpPr>
        <p:spPr>
          <a:xfrm>
            <a:off x="5074920" y="2514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100"/>
          </a:p>
        </p:txBody>
      </p:sp>
      <p:sp>
        <p:nvSpPr>
          <p:cNvPr id="21" name="a4f_err1272"/>
          <p:cNvSpPr txBox="1"/>
          <p:nvPr/>
        </p:nvSpPr>
        <p:spPr>
          <a:xfrm>
            <a:off x="4892040" y="292608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>
            <a:solidFill>
              <a:srgbClr val="FECACA"/>
            </a:solidFill>
          </a:ln>
        </p:spPr>
        <p:txBody>
          <a:bodyPr wrap="square" lIns="101600" tIns="0" rIns="10160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Error: </a:t>
            </a:r>
            <a:r>
              <a:rPr sz="1100" i="1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failed when converting the varchar value 'Frank' to data type int.</a:t>
            </a:r>
            <a:endParaRPr lang="en-US" dirty="0" sz="1100"/>
          </a:p>
        </p:txBody>
      </p:sp>
      <p:sp>
        <p:nvSpPr>
          <p:cNvPr id="22" name="a4fd400_fix1273"/>
          <p:cNvSpPr txBox="1"/>
          <p:nvPr/>
        </p:nvSpPr>
        <p:spPr>
          <a:xfrm>
            <a:off x="4892040" y="3886200"/>
            <a:ext cx="3611880" cy="73152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>
            <a:solidFill>
              <a:srgbClr val="BBF7D0"/>
            </a:solidFill>
          </a:ln>
        </p:spPr>
        <p:txBody>
          <a:bodyPr wrap="square" lIns="101600" tIns="0" rIns="1016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Fix: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vs VARCHAR — use EmployeeID (INT) in the 2nd query.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11" grpId="0" animBg="1"/>
      <p:bldP spid="12" grpId="0" animBg="1"/>
      <p:bldP spid="21" grpId="0" animBg="1"/>
      <p:bldP spid="22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 · Same Column Order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maps columns by position — 1st to 1st, 2nd to 2nd — never by name</a:t>
            </a:r>
            <a:endParaRPr lang="en-US" dirty="0" sz="1300"/>
          </a:p>
        </p:txBody>
      </p:sp>
      <p:sp>
        <p:nvSpPr>
          <p:cNvPr id="4" name="a1f_l1274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Swapped order</a:t>
            </a:r>
            <a:endParaRPr lang="en-US" dirty="0" sz="1400"/>
          </a:p>
        </p:txBody>
      </p:sp>
      <p:sp>
        <p:nvSpPr>
          <p:cNvPr id="5" name="a1f_q1275"/>
          <p:cNvSpPr txBox="1"/>
          <p:nvPr/>
        </p:nvSpPr>
        <p:spPr>
          <a:xfrm>
            <a:off x="457200" y="1645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query</a:t>
            </a:r>
            <a:endParaRPr lang="en-US" dirty="0" sz="1100"/>
          </a:p>
        </p:txBody>
      </p:sp>
      <p:sp>
        <p:nvSpPr>
          <p:cNvPr id="6" name="a1f_box1276"/>
          <p:cNvSpPr txBox="1"/>
          <p:nvPr/>
        </p:nvSpPr>
        <p:spPr>
          <a:xfrm>
            <a:off x="1325880" y="1645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 · VARCHAR</a:t>
            </a:r>
            <a:endParaRPr lang="en-US" dirty="0" sz="1200"/>
          </a:p>
        </p:txBody>
      </p:sp>
      <p:sp>
        <p:nvSpPr>
          <p:cNvPr id="7" name="a1f_box1277"/>
          <p:cNvSpPr txBox="1"/>
          <p:nvPr/>
        </p:nvSpPr>
        <p:spPr>
          <a:xfrm>
            <a:off x="3108960" y="1645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· INT</a:t>
            </a:r>
            <a:endParaRPr lang="en-US" dirty="0" sz="1200"/>
          </a:p>
        </p:txBody>
      </p:sp>
      <p:sp>
        <p:nvSpPr>
          <p:cNvPr id="8" name="a1f_q1278"/>
          <p:cNvSpPr txBox="1"/>
          <p:nvPr/>
        </p:nvSpPr>
        <p:spPr>
          <a:xfrm>
            <a:off x="457200" y="2788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query</a:t>
            </a:r>
            <a:endParaRPr lang="en-US" dirty="0" sz="1100"/>
          </a:p>
        </p:txBody>
      </p:sp>
      <p:sp>
        <p:nvSpPr>
          <p:cNvPr id="9" name="a1f_box1279"/>
          <p:cNvSpPr txBox="1"/>
          <p:nvPr/>
        </p:nvSpPr>
        <p:spPr>
          <a:xfrm>
            <a:off x="1325880" y="2788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· INT</a:t>
            </a:r>
            <a:endParaRPr lang="en-US" dirty="0" sz="1200"/>
          </a:p>
        </p:txBody>
      </p:sp>
      <p:sp>
        <p:nvSpPr>
          <p:cNvPr id="10" name="a1f_box1280"/>
          <p:cNvSpPr txBox="1"/>
          <p:nvPr/>
        </p:nvSpPr>
        <p:spPr>
          <a:xfrm>
            <a:off x="3108960" y="2788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 · VARCHAR</a:t>
            </a:r>
            <a:endParaRPr lang="en-US" dirty="0" sz="1200"/>
          </a:p>
        </p:txBody>
      </p:sp>
      <p:sp>
        <p:nvSpPr>
          <p:cNvPr id="11" name="a2w_ln1281"/>
          <p:cNvSpPr/>
          <p:nvPr/>
        </p:nvSpPr>
        <p:spPr>
          <a:xfrm>
            <a:off x="2148840" y="2194560"/>
            <a:ext cx="0" cy="548640"/>
          </a:xfrm>
          <a:prstGeom prst="line">
            <a:avLst/>
          </a:prstGeom>
          <a:noFill/>
          <a:ln w="31750">
            <a:solidFill>
              <a:srgbClr val="DC2626"/>
            </a:solidFill>
            <a:headEnd type="triangle"/>
            <a:prstDash val="solid"/>
            <a:tailEnd type="triangle"/>
          </a:ln>
        </p:spPr>
      </p:sp>
      <p:sp>
        <p:nvSpPr>
          <p:cNvPr id="12" name="a2f_bdg1282"/>
          <p:cNvSpPr txBox="1"/>
          <p:nvPr/>
        </p:nvSpPr>
        <p:spPr>
          <a:xfrm>
            <a:off x="2258568" y="2359152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13" name="a2w_ln1283"/>
          <p:cNvSpPr/>
          <p:nvPr/>
        </p:nvSpPr>
        <p:spPr>
          <a:xfrm>
            <a:off x="3931920" y="2194560"/>
            <a:ext cx="0" cy="548640"/>
          </a:xfrm>
          <a:prstGeom prst="line">
            <a:avLst/>
          </a:prstGeom>
          <a:noFill/>
          <a:ln w="31750">
            <a:solidFill>
              <a:srgbClr val="DC2626"/>
            </a:solidFill>
            <a:headEnd type="triangle"/>
            <a:prstDash val="solid"/>
            <a:tailEnd type="triangle"/>
          </a:ln>
        </p:spPr>
      </p:sp>
      <p:sp>
        <p:nvSpPr>
          <p:cNvPr id="14" name="a2f_bdg1284"/>
          <p:cNvSpPr txBox="1"/>
          <p:nvPr/>
        </p:nvSpPr>
        <p:spPr>
          <a:xfrm>
            <a:off x="4041648" y="2359152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15" name="a3f_l1285"/>
          <p:cNvSpPr txBox="1"/>
          <p:nvPr/>
        </p:nvSpPr>
        <p:spPr>
          <a:xfrm>
            <a:off x="5120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Same order</a:t>
            </a:r>
            <a:endParaRPr lang="en-US" dirty="0" sz="1400"/>
          </a:p>
        </p:txBody>
      </p:sp>
      <p:sp>
        <p:nvSpPr>
          <p:cNvPr id="16" name="a3f_box1286"/>
          <p:cNvSpPr txBox="1"/>
          <p:nvPr/>
        </p:nvSpPr>
        <p:spPr>
          <a:xfrm>
            <a:off x="5120640" y="1645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· INT</a:t>
            </a:r>
            <a:endParaRPr lang="en-US" dirty="0" sz="1200"/>
          </a:p>
        </p:txBody>
      </p:sp>
      <p:sp>
        <p:nvSpPr>
          <p:cNvPr id="17" name="a3f_box1287"/>
          <p:cNvSpPr txBox="1"/>
          <p:nvPr/>
        </p:nvSpPr>
        <p:spPr>
          <a:xfrm>
            <a:off x="6903720" y="1645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 · VARCHAR</a:t>
            </a:r>
            <a:endParaRPr lang="en-US" dirty="0" sz="1200"/>
          </a:p>
        </p:txBody>
      </p:sp>
      <p:sp>
        <p:nvSpPr>
          <p:cNvPr id="18" name="a3f_box1288"/>
          <p:cNvSpPr txBox="1"/>
          <p:nvPr/>
        </p:nvSpPr>
        <p:spPr>
          <a:xfrm>
            <a:off x="5120640" y="2788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 · INT</a:t>
            </a:r>
            <a:endParaRPr lang="en-US" dirty="0" sz="1200"/>
          </a:p>
        </p:txBody>
      </p:sp>
      <p:sp>
        <p:nvSpPr>
          <p:cNvPr id="19" name="a3f_box1289"/>
          <p:cNvSpPr txBox="1"/>
          <p:nvPr/>
        </p:nvSpPr>
        <p:spPr>
          <a:xfrm>
            <a:off x="6903720" y="2788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 · VARCHAR</a:t>
            </a:r>
            <a:endParaRPr lang="en-US" dirty="0" sz="1200"/>
          </a:p>
        </p:txBody>
      </p:sp>
      <p:sp>
        <p:nvSpPr>
          <p:cNvPr id="20" name="a4w_ln1290"/>
          <p:cNvSpPr/>
          <p:nvPr/>
        </p:nvSpPr>
        <p:spPr>
          <a:xfrm>
            <a:off x="5943600" y="2194560"/>
            <a:ext cx="0" cy="548640"/>
          </a:xfrm>
          <a:prstGeom prst="line">
            <a:avLst/>
          </a:prstGeom>
          <a:noFill/>
          <a:ln w="31750">
            <a:solidFill>
              <a:srgbClr val="16A34A"/>
            </a:solidFill>
            <a:headEnd type="triangle"/>
            <a:prstDash val="solid"/>
            <a:tailEnd type="triangle"/>
          </a:ln>
        </p:spPr>
      </p:sp>
      <p:sp>
        <p:nvSpPr>
          <p:cNvPr id="21" name="a4f_bdg1291"/>
          <p:cNvSpPr txBox="1"/>
          <p:nvPr/>
        </p:nvSpPr>
        <p:spPr>
          <a:xfrm>
            <a:off x="6053328" y="2359152"/>
            <a:ext cx="219456" cy="21945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 sz="900"/>
          </a:p>
        </p:txBody>
      </p:sp>
      <p:sp>
        <p:nvSpPr>
          <p:cNvPr id="22" name="a4w_ln1292"/>
          <p:cNvSpPr/>
          <p:nvPr/>
        </p:nvSpPr>
        <p:spPr>
          <a:xfrm>
            <a:off x="7726680" y="2194560"/>
            <a:ext cx="0" cy="548640"/>
          </a:xfrm>
          <a:prstGeom prst="line">
            <a:avLst/>
          </a:prstGeom>
          <a:noFill/>
          <a:ln w="31750">
            <a:solidFill>
              <a:srgbClr val="16A34A"/>
            </a:solidFill>
            <a:headEnd type="triangle"/>
            <a:prstDash val="solid"/>
            <a:tailEnd type="triangle"/>
          </a:ln>
        </p:spPr>
      </p:sp>
      <p:sp>
        <p:nvSpPr>
          <p:cNvPr id="23" name="a4f_bdg1293"/>
          <p:cNvSpPr txBox="1"/>
          <p:nvPr/>
        </p:nvSpPr>
        <p:spPr>
          <a:xfrm>
            <a:off x="7836408" y="2359152"/>
            <a:ext cx="219456" cy="21945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 sz="900"/>
          </a:p>
        </p:txBody>
      </p:sp>
      <p:sp>
        <p:nvSpPr>
          <p:cNvPr id="24" name="a5u_nb1294"/>
          <p:cNvSpPr/>
          <p:nvPr/>
        </p:nvSpPr>
        <p:spPr>
          <a:xfrm>
            <a:off x="457200" y="37033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5" name="a5u_nt1295"/>
          <p:cNvSpPr txBox="1"/>
          <p:nvPr/>
        </p:nvSpPr>
        <p:spPr>
          <a:xfrm>
            <a:off x="685800" y="3703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information isn't enough. </a:t>
            </a:r>
            <a:r>
              <a:rPr sz="13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queries hold an ID and a last name, but in different positions — so SQL pairs LastName with EmployeeID and fails converting a name to INT. Keep the column order identical.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 · The First Query Names the Columns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in later queries are ignored</a:t>
            </a:r>
            <a:endParaRPr lang="en-US" dirty="0" sz="1300"/>
          </a:p>
        </p:txBody>
      </p:sp>
      <p:sp>
        <p:nvSpPr>
          <p:cNvPr id="4" name="a1f_codebg1296"/>
          <p:cNvSpPr/>
          <p:nvPr/>
        </p:nvSpPr>
        <p:spPr>
          <a:xfrm>
            <a:off x="457200" y="118872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1wd0_code1297"/>
          <p:cNvSpPr txBox="1"/>
          <p:nvPr/>
        </p:nvSpPr>
        <p:spPr>
          <a:xfrm>
            <a:off x="640080" y="1325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200"/>
          </a:p>
        </p:txBody>
      </p:sp>
      <p:sp>
        <p:nvSpPr>
          <p:cNvPr id="6" name="a1wd80_code1298"/>
          <p:cNvSpPr txBox="1"/>
          <p:nvPr/>
        </p:nvSpPr>
        <p:spPr>
          <a:xfrm>
            <a:off x="640080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7" name="a1wd160_code1299"/>
          <p:cNvSpPr txBox="1"/>
          <p:nvPr/>
        </p:nvSpPr>
        <p:spPr>
          <a:xfrm>
            <a:off x="640080" y="1874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8" name="a1wd240_code1300"/>
          <p:cNvSpPr txBox="1"/>
          <p:nvPr/>
        </p:nvSpPr>
        <p:spPr>
          <a:xfrm>
            <a:off x="640080" y="2148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dirty="0" sz="1200"/>
          </a:p>
        </p:txBody>
      </p:sp>
      <p:sp>
        <p:nvSpPr>
          <p:cNvPr id="9" name="a1wd320_code1301"/>
          <p:cNvSpPr txBox="1"/>
          <p:nvPr/>
        </p:nvSpPr>
        <p:spPr>
          <a:xfrm>
            <a:off x="640080" y="2423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200"/>
          </a:p>
        </p:txBody>
      </p:sp>
      <p:sp>
        <p:nvSpPr>
          <p:cNvPr id="10" name="a1wd400_code1302"/>
          <p:cNvSpPr txBox="1"/>
          <p:nvPr/>
        </p:nvSpPr>
        <p:spPr>
          <a:xfrm>
            <a:off x="640080" y="2697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200"/>
          </a:p>
        </p:txBody>
      </p:sp>
      <p:sp>
        <p:nvSpPr>
          <p:cNvPr id="11" name="a1wd480_code1303"/>
          <p:cNvSpPr txBox="1"/>
          <p:nvPr/>
        </p:nvSpPr>
        <p:spPr>
          <a:xfrm>
            <a:off x="640080" y="2971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EmployeeID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200"/>
          </a:p>
        </p:txBody>
      </p:sp>
      <p:sp>
        <p:nvSpPr>
          <p:cNvPr id="12" name="a1wd560_code1304"/>
          <p:cNvSpPr txBox="1"/>
          <p:nvPr/>
        </p:nvSpPr>
        <p:spPr>
          <a:xfrm>
            <a:off x="640080" y="3246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endParaRPr lang="en-US" dirty="0" sz="1200"/>
          </a:p>
        </p:txBody>
      </p:sp>
      <p:sp>
        <p:nvSpPr>
          <p:cNvPr id="13" name="a1wd640_code1305"/>
          <p:cNvSpPr txBox="1"/>
          <p:nvPr/>
        </p:nvSpPr>
        <p:spPr>
          <a:xfrm>
            <a:off x="640080" y="3520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4" name="a2f_hl11306"/>
          <p:cNvSpPr/>
          <p:nvPr/>
        </p:nvSpPr>
        <p:spPr>
          <a:xfrm>
            <a:off x="530352" y="1600200"/>
            <a:ext cx="4059936" cy="274320"/>
          </a:xfrm>
          <a:prstGeom prst="rect">
            <a:avLst/>
          </a:prstGeom>
          <a:solidFill>
            <a:srgbClr val="16A34A">
              <a:alpha val="0"/>
            </a:srgbClr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15" name="a3f_hl21307"/>
          <p:cNvSpPr/>
          <p:nvPr/>
        </p:nvSpPr>
        <p:spPr>
          <a:xfrm>
            <a:off x="530352" y="3246120"/>
            <a:ext cx="4059936" cy="274320"/>
          </a:xfrm>
          <a:prstGeom prst="rect">
            <a:avLst/>
          </a:prstGeom>
          <a:solidFill>
            <a:srgbClr val="DC2626">
              <a:alpha val="0"/>
            </a:srgbClr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6" name="a2f_rl1308"/>
          <p:cNvSpPr txBox="1"/>
          <p:nvPr/>
        </p:nvSpPr>
        <p:spPr>
          <a:xfrm>
            <a:off x="51206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columns</a:t>
            </a:r>
            <a:endParaRPr lang="en-US" dirty="0" sz="1300"/>
          </a:p>
        </p:txBody>
      </p:sp>
      <p:sp>
        <p:nvSpPr>
          <p:cNvPr id="17" name="a2f_box1309"/>
          <p:cNvSpPr txBox="1"/>
          <p:nvPr/>
        </p:nvSpPr>
        <p:spPr>
          <a:xfrm>
            <a:off x="5120640" y="1554480"/>
            <a:ext cx="1737360" cy="457200"/>
          </a:xfrm>
          <a:prstGeom prst="rect">
            <a:avLst>
              <a:gd name="adj" fmla="val 12000"/>
            </a:avLst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dirty="0" sz="1400"/>
          </a:p>
        </p:txBody>
      </p:sp>
      <p:sp>
        <p:nvSpPr>
          <p:cNvPr id="18" name="a3f_box1310"/>
          <p:cNvSpPr txBox="1"/>
          <p:nvPr/>
        </p:nvSpPr>
        <p:spPr>
          <a:xfrm>
            <a:off x="6858000" y="1554480"/>
            <a:ext cx="1737360" cy="457200"/>
          </a:xfrm>
          <a:prstGeom prst="rect">
            <a:avLst>
              <a:gd name="adj" fmla="val 12000"/>
            </a:avLst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400"/>
          </a:p>
        </p:txBody>
      </p:sp>
      <p:sp>
        <p:nvSpPr>
          <p:cNvPr id="19" name="a2fd300_t1311"/>
          <p:cNvSpPr txBox="1"/>
          <p:nvPr/>
        </p:nvSpPr>
        <p:spPr>
          <a:xfrm>
            <a:off x="512064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alias from the 1st query is used</a:t>
            </a:r>
            <a:endParaRPr lang="en-US" dirty="0" sz="1200"/>
          </a:p>
        </p:txBody>
      </p:sp>
      <p:sp>
        <p:nvSpPr>
          <p:cNvPr id="20" name="a3fd300_t1312"/>
          <p:cNvSpPr txBox="1"/>
          <p:nvPr/>
        </p:nvSpPr>
        <p:spPr>
          <a:xfrm>
            <a:off x="512064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 — alias in the 2nd query is ignored</a:t>
            </a:r>
            <a:endParaRPr lang="en-US" dirty="0" sz="1200"/>
          </a:p>
        </p:txBody>
      </p:sp>
      <p:sp>
        <p:nvSpPr>
          <p:cNvPr id="21" name="a4u_tb1313"/>
          <p:cNvSpPr/>
          <p:nvPr/>
        </p:nvSpPr>
        <p:spPr>
          <a:xfrm>
            <a:off x="5120640" y="31089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2" name="a4u_ti1314" descr="b6ae7cf15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474720"/>
            <a:ext cx="411480" cy="411480"/>
          </a:xfrm>
          <a:prstGeom prst="rect">
            <a:avLst/>
          </a:prstGeom>
        </p:spPr>
      </p:pic>
      <p:sp>
        <p:nvSpPr>
          <p:cNvPr id="23" name="a4u_tt1315"/>
          <p:cNvSpPr txBox="1"/>
          <p:nvPr/>
        </p:nvSpPr>
        <p:spPr>
          <a:xfrm>
            <a:off x="5760720" y="3108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 only in the first query. It also sets the data types of the combined result.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15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6 · Map the Right Information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checks types, not meaning — no error doesn't mean a correct result</a:t>
            </a:r>
            <a:endParaRPr lang="en-US" dirty="0" sz="1300"/>
          </a:p>
        </p:txBody>
      </p:sp>
      <p:sp>
        <p:nvSpPr>
          <p:cNvPr id="4" name="a1f_codebg1316"/>
          <p:cNvSpPr/>
          <p:nvPr/>
        </p:nvSpPr>
        <p:spPr>
          <a:xfrm>
            <a:off x="457200" y="12344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2f_hl1317"/>
          <p:cNvSpPr/>
          <p:nvPr/>
        </p:nvSpPr>
        <p:spPr>
          <a:xfrm>
            <a:off x="530352" y="2249424"/>
            <a:ext cx="3785616" cy="292608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a1wd0_code1318"/>
          <p:cNvSpPr txBox="1"/>
          <p:nvPr/>
        </p:nvSpPr>
        <p:spPr>
          <a:xfrm>
            <a:off x="640080" y="1371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7" name="a1wd100_code1319"/>
          <p:cNvSpPr txBox="1"/>
          <p:nvPr/>
        </p:nvSpPr>
        <p:spPr>
          <a:xfrm>
            <a:off x="640080" y="16642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dirty="0" sz="1200"/>
          </a:p>
        </p:txBody>
      </p:sp>
      <p:sp>
        <p:nvSpPr>
          <p:cNvPr id="8" name="a1wd200_code1320"/>
          <p:cNvSpPr txBox="1"/>
          <p:nvPr/>
        </p:nvSpPr>
        <p:spPr>
          <a:xfrm>
            <a:off x="640080" y="195681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200"/>
          </a:p>
        </p:txBody>
      </p:sp>
      <p:sp>
        <p:nvSpPr>
          <p:cNvPr id="9" name="a1wd300_code1321"/>
          <p:cNvSpPr txBox="1"/>
          <p:nvPr/>
        </p:nvSpPr>
        <p:spPr>
          <a:xfrm>
            <a:off x="640080" y="22494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endParaRPr lang="en-US" dirty="0" sz="1200"/>
          </a:p>
        </p:txBody>
      </p:sp>
      <p:sp>
        <p:nvSpPr>
          <p:cNvPr id="10" name="a1wd400_code1322"/>
          <p:cNvSpPr txBox="1"/>
          <p:nvPr/>
        </p:nvSpPr>
        <p:spPr>
          <a:xfrm>
            <a:off x="640080" y="25420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11" name="a3f_cell1323"/>
          <p:cNvSpPr txBox="1"/>
          <p:nvPr/>
        </p:nvSpPr>
        <p:spPr>
          <a:xfrm>
            <a:off x="4846320" y="1188720"/>
            <a:ext cx="18288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100"/>
          </a:p>
        </p:txBody>
      </p:sp>
      <p:sp>
        <p:nvSpPr>
          <p:cNvPr id="12" name="a3wd0_cell1324"/>
          <p:cNvSpPr txBox="1"/>
          <p:nvPr/>
        </p:nvSpPr>
        <p:spPr>
          <a:xfrm>
            <a:off x="4846320" y="146304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100"/>
          </a:p>
        </p:txBody>
      </p:sp>
      <p:sp>
        <p:nvSpPr>
          <p:cNvPr id="13" name="a3wd80_cell1325"/>
          <p:cNvSpPr txBox="1"/>
          <p:nvPr/>
        </p:nvSpPr>
        <p:spPr>
          <a:xfrm>
            <a:off x="4846320" y="173736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100"/>
          </a:p>
        </p:txBody>
      </p:sp>
      <p:sp>
        <p:nvSpPr>
          <p:cNvPr id="14" name="a3wd160_cell1326"/>
          <p:cNvSpPr txBox="1"/>
          <p:nvPr/>
        </p:nvSpPr>
        <p:spPr>
          <a:xfrm>
            <a:off x="4846320" y="201168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100"/>
          </a:p>
        </p:txBody>
      </p:sp>
      <p:sp>
        <p:nvSpPr>
          <p:cNvPr id="15" name="a3wd240_cell1327"/>
          <p:cNvSpPr txBox="1"/>
          <p:nvPr/>
        </p:nvSpPr>
        <p:spPr>
          <a:xfrm>
            <a:off x="4846320" y="228600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100"/>
          </a:p>
        </p:txBody>
      </p:sp>
      <p:sp>
        <p:nvSpPr>
          <p:cNvPr id="16" name="a3wd320_cell1328"/>
          <p:cNvSpPr txBox="1"/>
          <p:nvPr/>
        </p:nvSpPr>
        <p:spPr>
          <a:xfrm>
            <a:off x="4846320" y="256032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100"/>
          </a:p>
        </p:txBody>
      </p:sp>
      <p:sp>
        <p:nvSpPr>
          <p:cNvPr id="17" name="a3wd400_cell1329"/>
          <p:cNvSpPr txBox="1"/>
          <p:nvPr/>
        </p:nvSpPr>
        <p:spPr>
          <a:xfrm>
            <a:off x="4846320" y="283464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endParaRPr lang="en-US" dirty="0" sz="1100"/>
          </a:p>
        </p:txBody>
      </p:sp>
      <p:sp>
        <p:nvSpPr>
          <p:cNvPr id="18" name="a3wd480_cell1330"/>
          <p:cNvSpPr txBox="1"/>
          <p:nvPr/>
        </p:nvSpPr>
        <p:spPr>
          <a:xfrm>
            <a:off x="4846320" y="310896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100"/>
          </a:p>
        </p:txBody>
      </p:sp>
      <p:sp>
        <p:nvSpPr>
          <p:cNvPr id="19" name="a3wd560_cell1331"/>
          <p:cNvSpPr txBox="1"/>
          <p:nvPr/>
        </p:nvSpPr>
        <p:spPr>
          <a:xfrm>
            <a:off x="4846320" y="3383280"/>
            <a:ext cx="18288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20" name="a3wd640_cell1332"/>
          <p:cNvSpPr txBox="1"/>
          <p:nvPr/>
        </p:nvSpPr>
        <p:spPr>
          <a:xfrm>
            <a:off x="4846320" y="365760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dirty="0" sz="1100"/>
          </a:p>
        </p:txBody>
      </p:sp>
      <p:sp>
        <p:nvSpPr>
          <p:cNvPr id="21" name="a3wd720_cell1333"/>
          <p:cNvSpPr txBox="1"/>
          <p:nvPr/>
        </p:nvSpPr>
        <p:spPr>
          <a:xfrm>
            <a:off x="4846320" y="393192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</a:t>
            </a:r>
            <a:endParaRPr lang="en-US" dirty="0" sz="1100"/>
          </a:p>
        </p:txBody>
      </p:sp>
      <p:sp>
        <p:nvSpPr>
          <p:cNvPr id="22" name="a3f_cell1334"/>
          <p:cNvSpPr txBox="1"/>
          <p:nvPr/>
        </p:nvSpPr>
        <p:spPr>
          <a:xfrm>
            <a:off x="6675120" y="1188720"/>
            <a:ext cx="1828800" cy="274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100"/>
          </a:p>
        </p:txBody>
      </p:sp>
      <p:sp>
        <p:nvSpPr>
          <p:cNvPr id="23" name="a3wd0_cell1335"/>
          <p:cNvSpPr txBox="1"/>
          <p:nvPr/>
        </p:nvSpPr>
        <p:spPr>
          <a:xfrm>
            <a:off x="6675120" y="146304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Goldberg</a:t>
            </a:r>
            <a:endParaRPr lang="en-US" dirty="0" sz="1100"/>
          </a:p>
        </p:txBody>
      </p:sp>
      <p:sp>
        <p:nvSpPr>
          <p:cNvPr id="24" name="a3wd80_cell1336"/>
          <p:cNvSpPr txBox="1"/>
          <p:nvPr/>
        </p:nvSpPr>
        <p:spPr>
          <a:xfrm>
            <a:off x="6675120" y="173736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100"/>
          </a:p>
        </p:txBody>
      </p:sp>
      <p:sp>
        <p:nvSpPr>
          <p:cNvPr id="25" name="a3wd160_cell1337"/>
          <p:cNvSpPr txBox="1"/>
          <p:nvPr/>
        </p:nvSpPr>
        <p:spPr>
          <a:xfrm>
            <a:off x="6675120" y="2011680"/>
            <a:ext cx="1828800" cy="274320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100"/>
          </a:p>
        </p:txBody>
      </p:sp>
      <p:sp>
        <p:nvSpPr>
          <p:cNvPr id="26" name="a3wd240_cell1338"/>
          <p:cNvSpPr txBox="1"/>
          <p:nvPr/>
        </p:nvSpPr>
        <p:spPr>
          <a:xfrm>
            <a:off x="6675120" y="228600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Schwarz</a:t>
            </a:r>
            <a:endParaRPr lang="en-US" dirty="0" sz="1100"/>
          </a:p>
        </p:txBody>
      </p:sp>
      <p:sp>
        <p:nvSpPr>
          <p:cNvPr id="27" name="a3wd320_cell1339"/>
          <p:cNvSpPr txBox="1"/>
          <p:nvPr/>
        </p:nvSpPr>
        <p:spPr>
          <a:xfrm>
            <a:off x="6675120" y="256032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</a:t>
            </a:r>
            <a:endParaRPr lang="en-US" dirty="0" sz="1100"/>
          </a:p>
        </p:txBody>
      </p:sp>
      <p:sp>
        <p:nvSpPr>
          <p:cNvPr id="28" name="a3wd400_cell1340"/>
          <p:cNvSpPr txBox="1"/>
          <p:nvPr/>
        </p:nvSpPr>
        <p:spPr>
          <a:xfrm>
            <a:off x="6675120" y="283464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100"/>
          </a:p>
        </p:txBody>
      </p:sp>
      <p:sp>
        <p:nvSpPr>
          <p:cNvPr id="29" name="a3wd480_cell1341"/>
          <p:cNvSpPr txBox="1"/>
          <p:nvPr/>
        </p:nvSpPr>
        <p:spPr>
          <a:xfrm>
            <a:off x="6675120" y="310896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100"/>
          </a:p>
        </p:txBody>
      </p:sp>
      <p:sp>
        <p:nvSpPr>
          <p:cNvPr id="30" name="a3wd560_cell1342"/>
          <p:cNvSpPr txBox="1"/>
          <p:nvPr/>
        </p:nvSpPr>
        <p:spPr>
          <a:xfrm>
            <a:off x="6675120" y="338328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100"/>
          </a:p>
        </p:txBody>
      </p:sp>
      <p:sp>
        <p:nvSpPr>
          <p:cNvPr id="31" name="a3wd640_cell1343"/>
          <p:cNvSpPr txBox="1"/>
          <p:nvPr/>
        </p:nvSpPr>
        <p:spPr>
          <a:xfrm>
            <a:off x="6675120" y="365760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100"/>
          </a:p>
        </p:txBody>
      </p:sp>
      <p:sp>
        <p:nvSpPr>
          <p:cNvPr id="32" name="a3wd720_cell1344"/>
          <p:cNvSpPr txBox="1"/>
          <p:nvPr/>
        </p:nvSpPr>
        <p:spPr>
          <a:xfrm>
            <a:off x="6675120" y="393192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100"/>
          </a:p>
        </p:txBody>
      </p:sp>
      <p:sp>
        <p:nvSpPr>
          <p:cNvPr id="33" name="a4f_bad1345"/>
          <p:cNvSpPr/>
          <p:nvPr/>
        </p:nvSpPr>
        <p:spPr>
          <a:xfrm>
            <a:off x="4818888" y="2816352"/>
            <a:ext cx="3712464" cy="1408176"/>
          </a:xfrm>
          <a:prstGeom prst="rect">
            <a:avLst/>
          </a:prstGeom>
          <a:solidFill>
            <a:srgbClr val="DC2626">
              <a:alpha val="1200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34" name="a4fd200_bl1346"/>
          <p:cNvSpPr txBox="1"/>
          <p:nvPr/>
        </p:nvSpPr>
        <p:spPr>
          <a:xfrm>
            <a:off x="484632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names in FirstName ✘</a:t>
            </a:r>
            <a:endParaRPr lang="en-US" dirty="0" sz="1200"/>
          </a:p>
        </p:txBody>
      </p:sp>
      <p:sp>
        <p:nvSpPr>
          <p:cNvPr id="35" name="a5u_nb1347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6" name="a5u_ni1348" descr="62a4287d7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66160"/>
            <a:ext cx="411480" cy="411480"/>
          </a:xfrm>
          <a:prstGeom prst="rect">
            <a:avLst/>
          </a:prstGeom>
        </p:spPr>
      </p:pic>
      <p:sp>
        <p:nvSpPr>
          <p:cNvPr id="37" name="a5u_nt1349"/>
          <p:cNvSpPr txBox="1"/>
          <p:nvPr/>
        </p:nvSpPr>
        <p:spPr>
          <a:xfrm>
            <a:off x="1188720" y="3063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— and it's wrong. </a:t>
            </a:r>
            <a:r>
              <a:rPr sz="13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columns are VARCHAR, so SQL happily combines them. You are responsible for mapping columns that mean the same thing.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1350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dirty="0" sz="6000"/>
          </a:p>
        </p:txBody>
      </p:sp>
      <p:sp>
        <p:nvSpPr>
          <p:cNvPr id="3" name="a0ud200_h1351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dirty="0" sz="4000"/>
          </a:p>
        </p:txBody>
      </p:sp>
      <p:sp>
        <p:nvSpPr>
          <p:cNvPr id="4" name="a0fd450_t1352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distinct rows from both queries — duplicates removed</a:t>
            </a:r>
            <a:endParaRPr lang="en-US" dirty="0" sz="1700"/>
          </a:p>
        </p:txBody>
      </p:sp>
      <p:pic>
        <p:nvPicPr>
          <p:cNvPr id="5" name="a0fd300_v1353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— Concept &amp; Query</a:t>
            </a:r>
            <a:endParaRPr lang="en-US" dirty="0" sz="2800"/>
          </a:p>
        </p:txBody>
      </p:sp>
      <p:pic>
        <p:nvPicPr>
          <p:cNvPr id="3" name="Image 0" descr="b6cc453b66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3657600" cy="2316480"/>
          </a:xfrm>
          <a:prstGeom prst="rect">
            <a:avLst/>
          </a:prstGeom>
        </p:spPr>
      </p:pic>
      <p:sp>
        <p:nvSpPr>
          <p:cNvPr id="4" name="a2f_nm1354"/>
          <p:cNvSpPr txBox="1"/>
          <p:nvPr/>
        </p:nvSpPr>
        <p:spPr>
          <a:xfrm>
            <a:off x="868680" y="17480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200"/>
          </a:p>
        </p:txBody>
      </p:sp>
      <p:sp>
        <p:nvSpPr>
          <p:cNvPr id="5" name="a2f_nm1355"/>
          <p:cNvSpPr txBox="1"/>
          <p:nvPr/>
        </p:nvSpPr>
        <p:spPr>
          <a:xfrm>
            <a:off x="868680" y="19949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200"/>
          </a:p>
        </p:txBody>
      </p:sp>
      <p:sp>
        <p:nvSpPr>
          <p:cNvPr id="6" name="a2f_nm1356"/>
          <p:cNvSpPr txBox="1"/>
          <p:nvPr/>
        </p:nvSpPr>
        <p:spPr>
          <a:xfrm>
            <a:off x="868680" y="224180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200"/>
          </a:p>
        </p:txBody>
      </p:sp>
      <p:sp>
        <p:nvSpPr>
          <p:cNvPr id="7" name="a2fd250_nm1357"/>
          <p:cNvSpPr txBox="1"/>
          <p:nvPr/>
        </p:nvSpPr>
        <p:spPr>
          <a:xfrm>
            <a:off x="1783080" y="187147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200"/>
          </a:p>
        </p:txBody>
      </p:sp>
      <p:sp>
        <p:nvSpPr>
          <p:cNvPr id="8" name="a2fd250_nm1358"/>
          <p:cNvSpPr txBox="1"/>
          <p:nvPr/>
        </p:nvSpPr>
        <p:spPr>
          <a:xfrm>
            <a:off x="1783080" y="21183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200"/>
          </a:p>
        </p:txBody>
      </p:sp>
      <p:sp>
        <p:nvSpPr>
          <p:cNvPr id="9" name="a2fd500_nm1359"/>
          <p:cNvSpPr txBox="1"/>
          <p:nvPr/>
        </p:nvSpPr>
        <p:spPr>
          <a:xfrm>
            <a:off x="2697480" y="17480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200"/>
          </a:p>
        </p:txBody>
      </p:sp>
      <p:sp>
        <p:nvSpPr>
          <p:cNvPr id="10" name="a2fd500_nm1360"/>
          <p:cNvSpPr txBox="1"/>
          <p:nvPr/>
        </p:nvSpPr>
        <p:spPr>
          <a:xfrm>
            <a:off x="2697480" y="19949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200"/>
          </a:p>
        </p:txBody>
      </p:sp>
      <p:sp>
        <p:nvSpPr>
          <p:cNvPr id="11" name="a2fd500_nm1361"/>
          <p:cNvSpPr txBox="1"/>
          <p:nvPr/>
        </p:nvSpPr>
        <p:spPr>
          <a:xfrm>
            <a:off x="2697480" y="224180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200"/>
          </a:p>
        </p:txBody>
      </p:sp>
      <p:sp>
        <p:nvSpPr>
          <p:cNvPr id="12" name="Text 9"/>
          <p:cNvSpPr txBox="1"/>
          <p:nvPr/>
        </p:nvSpPr>
        <p:spPr>
          <a:xfrm>
            <a:off x="457200" y="3304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(1st query)</a:t>
            </a:r>
            <a:endParaRPr lang="en-US" dirty="0" sz="1100"/>
          </a:p>
        </p:txBody>
      </p:sp>
      <p:sp>
        <p:nvSpPr>
          <p:cNvPr id="13" name="Text 10"/>
          <p:cNvSpPr txBox="1"/>
          <p:nvPr/>
        </p:nvSpPr>
        <p:spPr>
          <a:xfrm>
            <a:off x="2286000" y="3304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(2nd query)</a:t>
            </a:r>
            <a:endParaRPr lang="en-US" dirty="0" sz="1100"/>
          </a:p>
        </p:txBody>
      </p:sp>
      <p:sp>
        <p:nvSpPr>
          <p:cNvPr id="14" name="a4u_pill1362"/>
          <p:cNvSpPr txBox="1"/>
          <p:nvPr/>
        </p:nvSpPr>
        <p:spPr>
          <a:xfrm>
            <a:off x="457200" y="370332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— each row appears once</a:t>
            </a:r>
            <a:endParaRPr lang="en-US" dirty="0" sz="1200"/>
          </a:p>
        </p:txBody>
      </p:sp>
      <p:sp>
        <p:nvSpPr>
          <p:cNvPr id="15" name="a4ud200_pill1363"/>
          <p:cNvSpPr txBox="1"/>
          <p:nvPr/>
        </p:nvSpPr>
        <p:spPr>
          <a:xfrm>
            <a:off x="457200" y="420624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order: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dirty="0" sz="1200"/>
          </a:p>
        </p:txBody>
      </p:sp>
      <p:sp>
        <p:nvSpPr>
          <p:cNvPr id="16" name="Text 13"/>
          <p:cNvSpPr txBox="1"/>
          <p:nvPr/>
        </p:nvSpPr>
        <p:spPr>
          <a:xfrm>
            <a:off x="4434840" y="914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distinct rows from both queries; duplicate rows are removed.</a:t>
            </a:r>
            <a:endParaRPr lang="en-US" dirty="0" sz="1500"/>
          </a:p>
        </p:txBody>
      </p:sp>
      <p:sp>
        <p:nvSpPr>
          <p:cNvPr id="17" name="a1f_codebg1364"/>
          <p:cNvSpPr/>
          <p:nvPr/>
        </p:nvSpPr>
        <p:spPr>
          <a:xfrm>
            <a:off x="4434840" y="1691640"/>
            <a:ext cx="42519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a1f_hl1365"/>
          <p:cNvSpPr/>
          <p:nvPr/>
        </p:nvSpPr>
        <p:spPr>
          <a:xfrm>
            <a:off x="4507992" y="2340864"/>
            <a:ext cx="4105656" cy="256032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a1wd0_code1366"/>
          <p:cNvSpPr txBox="1"/>
          <p:nvPr/>
        </p:nvSpPr>
        <p:spPr>
          <a:xfrm>
            <a:off x="4617720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20" name="a1wd120_code1367"/>
          <p:cNvSpPr txBox="1"/>
          <p:nvPr/>
        </p:nvSpPr>
        <p:spPr>
          <a:xfrm>
            <a:off x="4617720" y="2084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dirty="0" sz="1200"/>
          </a:p>
        </p:txBody>
      </p:sp>
      <p:sp>
        <p:nvSpPr>
          <p:cNvPr id="21" name="a1wd240_code1368"/>
          <p:cNvSpPr txBox="1"/>
          <p:nvPr/>
        </p:nvSpPr>
        <p:spPr>
          <a:xfrm>
            <a:off x="4617720" y="2340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200"/>
          </a:p>
        </p:txBody>
      </p:sp>
      <p:sp>
        <p:nvSpPr>
          <p:cNvPr id="22" name="a1wd360_code1369"/>
          <p:cNvSpPr txBox="1"/>
          <p:nvPr/>
        </p:nvSpPr>
        <p:spPr>
          <a:xfrm>
            <a:off x="4617720" y="2596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23" name="a1wd480_code1370"/>
          <p:cNvSpPr txBox="1"/>
          <p:nvPr/>
        </p:nvSpPr>
        <p:spPr>
          <a:xfrm>
            <a:off x="461772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24" name="a3f_rl1371"/>
          <p:cNvSpPr txBox="1"/>
          <p:nvPr/>
        </p:nvSpPr>
        <p:spPr>
          <a:xfrm>
            <a:off x="44348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8 rows</a:t>
            </a:r>
            <a:endParaRPr lang="en-US" dirty="0" sz="1200"/>
          </a:p>
        </p:txBody>
      </p:sp>
      <p:sp>
        <p:nvSpPr>
          <p:cNvPr id="25" name="a3ud0_box1372"/>
          <p:cNvSpPr txBox="1"/>
          <p:nvPr/>
        </p:nvSpPr>
        <p:spPr>
          <a:xfrm>
            <a:off x="4434840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100"/>
          </a:p>
        </p:txBody>
      </p:sp>
      <p:sp>
        <p:nvSpPr>
          <p:cNvPr id="26" name="a3ud90_box1373"/>
          <p:cNvSpPr txBox="1"/>
          <p:nvPr/>
        </p:nvSpPr>
        <p:spPr>
          <a:xfrm>
            <a:off x="5294376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100"/>
          </a:p>
        </p:txBody>
      </p:sp>
      <p:sp>
        <p:nvSpPr>
          <p:cNvPr id="27" name="a3ud180_box1374"/>
          <p:cNvSpPr txBox="1"/>
          <p:nvPr/>
        </p:nvSpPr>
        <p:spPr>
          <a:xfrm>
            <a:off x="6153912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100"/>
          </a:p>
        </p:txBody>
      </p:sp>
      <p:sp>
        <p:nvSpPr>
          <p:cNvPr id="28" name="a3ud270_box1375"/>
          <p:cNvSpPr txBox="1"/>
          <p:nvPr/>
        </p:nvSpPr>
        <p:spPr>
          <a:xfrm>
            <a:off x="7013448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100"/>
          </a:p>
        </p:txBody>
      </p:sp>
      <p:sp>
        <p:nvSpPr>
          <p:cNvPr id="29" name="a3ud360_box1376"/>
          <p:cNvSpPr txBox="1"/>
          <p:nvPr/>
        </p:nvSpPr>
        <p:spPr>
          <a:xfrm>
            <a:off x="7872984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100"/>
          </a:p>
        </p:txBody>
      </p:sp>
      <p:sp>
        <p:nvSpPr>
          <p:cNvPr id="30" name="a3ud450_box1377"/>
          <p:cNvSpPr txBox="1"/>
          <p:nvPr/>
        </p:nvSpPr>
        <p:spPr>
          <a:xfrm>
            <a:off x="4434840" y="3986784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100"/>
          </a:p>
        </p:txBody>
      </p:sp>
      <p:sp>
        <p:nvSpPr>
          <p:cNvPr id="31" name="a3ud540_box1378"/>
          <p:cNvSpPr txBox="1"/>
          <p:nvPr/>
        </p:nvSpPr>
        <p:spPr>
          <a:xfrm>
            <a:off x="5294376" y="3986784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100"/>
          </a:p>
        </p:txBody>
      </p:sp>
      <p:sp>
        <p:nvSpPr>
          <p:cNvPr id="32" name="a3ud630_box1379"/>
          <p:cNvSpPr txBox="1"/>
          <p:nvPr/>
        </p:nvSpPr>
        <p:spPr>
          <a:xfrm>
            <a:off x="6153912" y="3986784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14" grpId="0" animBg="1"/>
      <p:bldP spid="15" grpId="0" animBg="1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UNION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data from employees and customers into one table</a:t>
            </a:r>
            <a:endParaRPr lang="en-US" dirty="0" sz="130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query · Employees</a:t>
            </a:r>
            <a:endParaRPr lang="en-US" dirty="0" sz="1100"/>
          </a:p>
        </p:txBody>
      </p:sp>
      <p:sp>
        <p:nvSpPr>
          <p:cNvPr id="5" name="s_cell1380"/>
          <p:cNvSpPr txBox="1"/>
          <p:nvPr/>
        </p:nvSpPr>
        <p:spPr>
          <a:xfrm>
            <a:off x="457200" y="1463040"/>
            <a:ext cx="868680" cy="2560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6" name="s_cell1381"/>
          <p:cNvSpPr txBox="1"/>
          <p:nvPr/>
        </p:nvSpPr>
        <p:spPr>
          <a:xfrm>
            <a:off x="45720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000"/>
          </a:p>
        </p:txBody>
      </p:sp>
      <p:sp>
        <p:nvSpPr>
          <p:cNvPr id="7" name="s_cell1382"/>
          <p:cNvSpPr txBox="1"/>
          <p:nvPr/>
        </p:nvSpPr>
        <p:spPr>
          <a:xfrm>
            <a:off x="45720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8" name="s_cell1383"/>
          <p:cNvSpPr txBox="1"/>
          <p:nvPr/>
        </p:nvSpPr>
        <p:spPr>
          <a:xfrm>
            <a:off x="457200" y="223113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9" name="s_cell1384"/>
          <p:cNvSpPr txBox="1"/>
          <p:nvPr/>
        </p:nvSpPr>
        <p:spPr>
          <a:xfrm>
            <a:off x="45720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000"/>
          </a:p>
        </p:txBody>
      </p:sp>
      <p:sp>
        <p:nvSpPr>
          <p:cNvPr id="10" name="s_cell1385"/>
          <p:cNvSpPr txBox="1"/>
          <p:nvPr/>
        </p:nvSpPr>
        <p:spPr>
          <a:xfrm>
            <a:off x="45720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000"/>
          </a:p>
        </p:txBody>
      </p:sp>
      <p:sp>
        <p:nvSpPr>
          <p:cNvPr id="11" name="s_cell1386"/>
          <p:cNvSpPr txBox="1"/>
          <p:nvPr/>
        </p:nvSpPr>
        <p:spPr>
          <a:xfrm>
            <a:off x="1325880" y="1463040"/>
            <a:ext cx="868680" cy="2560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12" name="s_cell1387"/>
          <p:cNvSpPr txBox="1"/>
          <p:nvPr/>
        </p:nvSpPr>
        <p:spPr>
          <a:xfrm>
            <a:off x="132588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endParaRPr lang="en-US" dirty="0" sz="1000"/>
          </a:p>
        </p:txBody>
      </p:sp>
      <p:sp>
        <p:nvSpPr>
          <p:cNvPr id="13" name="s_cell1388"/>
          <p:cNvSpPr txBox="1"/>
          <p:nvPr/>
        </p:nvSpPr>
        <p:spPr>
          <a:xfrm>
            <a:off x="132588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14" name="s_cell1389"/>
          <p:cNvSpPr txBox="1"/>
          <p:nvPr/>
        </p:nvSpPr>
        <p:spPr>
          <a:xfrm>
            <a:off x="1325880" y="2231136"/>
            <a:ext cx="86868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15" name="s_cell1390"/>
          <p:cNvSpPr txBox="1"/>
          <p:nvPr/>
        </p:nvSpPr>
        <p:spPr>
          <a:xfrm>
            <a:off x="132588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dirty="0" sz="1000"/>
          </a:p>
        </p:txBody>
      </p:sp>
      <p:sp>
        <p:nvSpPr>
          <p:cNvPr id="16" name="s_cell1391"/>
          <p:cNvSpPr txBox="1"/>
          <p:nvPr/>
        </p:nvSpPr>
        <p:spPr>
          <a:xfrm>
            <a:off x="132588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</a:t>
            </a:r>
            <a:endParaRPr lang="en-US" dirty="0" sz="1000"/>
          </a:p>
        </p:txBody>
      </p:sp>
      <p:sp>
        <p:nvSpPr>
          <p:cNvPr id="17" name="Text 15"/>
          <p:cNvSpPr txBox="1"/>
          <p:nvPr/>
        </p:nvSpPr>
        <p:spPr>
          <a:xfrm>
            <a:off x="2514600" y="1188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query · Customers</a:t>
            </a:r>
            <a:endParaRPr lang="en-US" dirty="0" sz="1100"/>
          </a:p>
        </p:txBody>
      </p:sp>
      <p:sp>
        <p:nvSpPr>
          <p:cNvPr id="18" name="s_cell1392"/>
          <p:cNvSpPr txBox="1"/>
          <p:nvPr/>
        </p:nvSpPr>
        <p:spPr>
          <a:xfrm>
            <a:off x="2514600" y="1463040"/>
            <a:ext cx="868680" cy="256032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19" name="s_cell1393"/>
          <p:cNvSpPr txBox="1"/>
          <p:nvPr/>
        </p:nvSpPr>
        <p:spPr>
          <a:xfrm>
            <a:off x="251460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000"/>
          </a:p>
        </p:txBody>
      </p:sp>
      <p:sp>
        <p:nvSpPr>
          <p:cNvPr id="20" name="s_cell1394"/>
          <p:cNvSpPr txBox="1"/>
          <p:nvPr/>
        </p:nvSpPr>
        <p:spPr>
          <a:xfrm>
            <a:off x="251460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21" name="s_cell1395"/>
          <p:cNvSpPr txBox="1"/>
          <p:nvPr/>
        </p:nvSpPr>
        <p:spPr>
          <a:xfrm>
            <a:off x="2514600" y="223113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22" name="s_cell1396"/>
          <p:cNvSpPr txBox="1"/>
          <p:nvPr/>
        </p:nvSpPr>
        <p:spPr>
          <a:xfrm>
            <a:off x="251460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000"/>
          </a:p>
        </p:txBody>
      </p:sp>
      <p:sp>
        <p:nvSpPr>
          <p:cNvPr id="23" name="s_cell1397"/>
          <p:cNvSpPr txBox="1"/>
          <p:nvPr/>
        </p:nvSpPr>
        <p:spPr>
          <a:xfrm>
            <a:off x="251460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000"/>
          </a:p>
        </p:txBody>
      </p:sp>
      <p:sp>
        <p:nvSpPr>
          <p:cNvPr id="24" name="s_cell1398"/>
          <p:cNvSpPr txBox="1"/>
          <p:nvPr/>
        </p:nvSpPr>
        <p:spPr>
          <a:xfrm>
            <a:off x="3383280" y="1463040"/>
            <a:ext cx="868680" cy="256032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25" name="s_cell1399"/>
          <p:cNvSpPr txBox="1"/>
          <p:nvPr/>
        </p:nvSpPr>
        <p:spPr>
          <a:xfrm>
            <a:off x="338328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Goldberg</a:t>
            </a:r>
            <a:endParaRPr lang="en-US" dirty="0" sz="1000"/>
          </a:p>
        </p:txBody>
      </p:sp>
      <p:sp>
        <p:nvSpPr>
          <p:cNvPr id="26" name="s_cell1400"/>
          <p:cNvSpPr txBox="1"/>
          <p:nvPr/>
        </p:nvSpPr>
        <p:spPr>
          <a:xfrm>
            <a:off x="338328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27" name="s_cell1401"/>
          <p:cNvSpPr txBox="1"/>
          <p:nvPr/>
        </p:nvSpPr>
        <p:spPr>
          <a:xfrm>
            <a:off x="3383280" y="2231136"/>
            <a:ext cx="86868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28" name="s_cell1402"/>
          <p:cNvSpPr txBox="1"/>
          <p:nvPr/>
        </p:nvSpPr>
        <p:spPr>
          <a:xfrm>
            <a:off x="338328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Schwarz</a:t>
            </a:r>
            <a:endParaRPr lang="en-US" dirty="0" sz="1000"/>
          </a:p>
        </p:txBody>
      </p:sp>
      <p:sp>
        <p:nvSpPr>
          <p:cNvPr id="29" name="s_cell1403"/>
          <p:cNvSpPr txBox="1"/>
          <p:nvPr/>
        </p:nvSpPr>
        <p:spPr>
          <a:xfrm>
            <a:off x="338328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</a:t>
            </a:r>
            <a:endParaRPr lang="en-US" dirty="0" sz="1000"/>
          </a:p>
        </p:txBody>
      </p:sp>
      <p:sp>
        <p:nvSpPr>
          <p:cNvPr id="30" name="a1f_rl1404"/>
          <p:cNvSpPr txBox="1"/>
          <p:nvPr/>
        </p:nvSpPr>
        <p:spPr>
          <a:xfrm>
            <a:off x="484632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100"/>
          </a:p>
        </p:txBody>
      </p:sp>
      <p:sp>
        <p:nvSpPr>
          <p:cNvPr id="31" name="a1f_cell1405"/>
          <p:cNvSpPr txBox="1"/>
          <p:nvPr/>
        </p:nvSpPr>
        <p:spPr>
          <a:xfrm>
            <a:off x="4846320" y="1463040"/>
            <a:ext cx="960120" cy="256032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32" name="a1f_cell1406"/>
          <p:cNvSpPr txBox="1"/>
          <p:nvPr/>
        </p:nvSpPr>
        <p:spPr>
          <a:xfrm>
            <a:off x="5806440" y="1463040"/>
            <a:ext cx="960120" cy="256032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900" b="1" spc="200" kern="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</a:t>
            </a:r>
            <a:endParaRPr lang="en-US" dirty="0" sz="900"/>
          </a:p>
        </p:txBody>
      </p:sp>
      <p:sp>
        <p:nvSpPr>
          <p:cNvPr id="35" name="a1fd200_log1407"/>
          <p:cNvSpPr txBox="1"/>
          <p:nvPr/>
        </p:nvSpPr>
        <p:spPr>
          <a:xfrm>
            <a:off x="640080" y="3383280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Column names come from the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query</a:t>
            </a:r>
            <a:endParaRPr lang="en-US" dirty="0" sz="1000"/>
          </a:p>
        </p:txBody>
      </p:sp>
      <p:sp>
        <p:nvSpPr>
          <p:cNvPr id="36" name="a2wd0_dot1408"/>
          <p:cNvSpPr/>
          <p:nvPr/>
        </p:nvSpPr>
        <p:spPr>
          <a:xfrm>
            <a:off x="4663440" y="179222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a2wd0_cell1409"/>
          <p:cNvSpPr txBox="1"/>
          <p:nvPr/>
        </p:nvSpPr>
        <p:spPr>
          <a:xfrm>
            <a:off x="4846320" y="1719072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000"/>
          </a:p>
        </p:txBody>
      </p:sp>
      <p:sp>
        <p:nvSpPr>
          <p:cNvPr id="38" name="a2wd0_cell1410"/>
          <p:cNvSpPr txBox="1"/>
          <p:nvPr/>
        </p:nvSpPr>
        <p:spPr>
          <a:xfrm>
            <a:off x="5806440" y="1719072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endParaRPr lang="en-US" dirty="0" sz="1000"/>
          </a:p>
        </p:txBody>
      </p:sp>
      <p:sp>
        <p:nvSpPr>
          <p:cNvPr id="39" name="a2wd100_dot1411"/>
          <p:cNvSpPr/>
          <p:nvPr/>
        </p:nvSpPr>
        <p:spPr>
          <a:xfrm>
            <a:off x="4663440" y="20482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a2wd100_cell1412"/>
          <p:cNvSpPr txBox="1"/>
          <p:nvPr/>
        </p:nvSpPr>
        <p:spPr>
          <a:xfrm>
            <a:off x="4846320" y="1975104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41" name="a2wd100_cell1413"/>
          <p:cNvSpPr txBox="1"/>
          <p:nvPr/>
        </p:nvSpPr>
        <p:spPr>
          <a:xfrm>
            <a:off x="5806440" y="1975104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42" name="a2wd200_dot1414"/>
          <p:cNvSpPr/>
          <p:nvPr/>
        </p:nvSpPr>
        <p:spPr>
          <a:xfrm>
            <a:off x="4663440" y="230428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a2wd200_cell1415"/>
          <p:cNvSpPr txBox="1"/>
          <p:nvPr/>
        </p:nvSpPr>
        <p:spPr>
          <a:xfrm>
            <a:off x="4846320" y="2231136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44" name="a2wd200_cell1416"/>
          <p:cNvSpPr txBox="1"/>
          <p:nvPr/>
        </p:nvSpPr>
        <p:spPr>
          <a:xfrm>
            <a:off x="5806440" y="2231136"/>
            <a:ext cx="96012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45" name="a2wd300_dot1417"/>
          <p:cNvSpPr/>
          <p:nvPr/>
        </p:nvSpPr>
        <p:spPr>
          <a:xfrm>
            <a:off x="4663440" y="2560320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a2wd300_cell1418"/>
          <p:cNvSpPr txBox="1"/>
          <p:nvPr/>
        </p:nvSpPr>
        <p:spPr>
          <a:xfrm>
            <a:off x="4846320" y="2487168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000"/>
          </a:p>
        </p:txBody>
      </p:sp>
      <p:sp>
        <p:nvSpPr>
          <p:cNvPr id="47" name="a2wd300_cell1419"/>
          <p:cNvSpPr txBox="1"/>
          <p:nvPr/>
        </p:nvSpPr>
        <p:spPr>
          <a:xfrm>
            <a:off x="5806440" y="2487168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dirty="0" sz="1000"/>
          </a:p>
        </p:txBody>
      </p:sp>
      <p:sp>
        <p:nvSpPr>
          <p:cNvPr id="48" name="a2wd400_dot1420"/>
          <p:cNvSpPr/>
          <p:nvPr/>
        </p:nvSpPr>
        <p:spPr>
          <a:xfrm>
            <a:off x="4663440" y="281635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a2wd400_cell1421"/>
          <p:cNvSpPr txBox="1"/>
          <p:nvPr/>
        </p:nvSpPr>
        <p:spPr>
          <a:xfrm>
            <a:off x="4846320" y="2743200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000"/>
          </a:p>
        </p:txBody>
      </p:sp>
      <p:sp>
        <p:nvSpPr>
          <p:cNvPr id="50" name="a2wd400_cell1422"/>
          <p:cNvSpPr txBox="1"/>
          <p:nvPr/>
        </p:nvSpPr>
        <p:spPr>
          <a:xfrm>
            <a:off x="5806440" y="2743200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</a:t>
            </a:r>
            <a:endParaRPr lang="en-US" dirty="0" sz="1000"/>
          </a:p>
        </p:txBody>
      </p:sp>
      <p:sp>
        <p:nvSpPr>
          <p:cNvPr id="51" name="a2fd200_log1423"/>
          <p:cNvSpPr txBox="1"/>
          <p:nvPr/>
        </p:nvSpPr>
        <p:spPr>
          <a:xfrm>
            <a:off x="640080" y="3557016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Add all employee rows</a:t>
            </a:r>
            <a:endParaRPr lang="en-US" dirty="0" sz="1000"/>
          </a:p>
        </p:txBody>
      </p:sp>
      <p:sp>
        <p:nvSpPr>
          <p:cNvPr id="52" name="a3f_bdg1424"/>
          <p:cNvSpPr txBox="1"/>
          <p:nvPr/>
        </p:nvSpPr>
        <p:spPr>
          <a:xfrm>
            <a:off x="4306824" y="1737360"/>
            <a:ext cx="219456" cy="21945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 sz="900"/>
          </a:p>
        </p:txBody>
      </p:sp>
      <p:sp>
        <p:nvSpPr>
          <p:cNvPr id="53" name="a3wd200_dot1425"/>
          <p:cNvSpPr/>
          <p:nvPr/>
        </p:nvSpPr>
        <p:spPr>
          <a:xfrm>
            <a:off x="4663440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a3wd200_cell1426"/>
          <p:cNvSpPr txBox="1"/>
          <p:nvPr/>
        </p:nvSpPr>
        <p:spPr>
          <a:xfrm>
            <a:off x="4846320" y="2999232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000"/>
          </a:p>
        </p:txBody>
      </p:sp>
      <p:sp>
        <p:nvSpPr>
          <p:cNvPr id="55" name="a3wd200_cell1427"/>
          <p:cNvSpPr txBox="1"/>
          <p:nvPr/>
        </p:nvSpPr>
        <p:spPr>
          <a:xfrm>
            <a:off x="5806440" y="2999232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Goldberg</a:t>
            </a:r>
            <a:endParaRPr lang="en-US" dirty="0" sz="1000"/>
          </a:p>
        </p:txBody>
      </p:sp>
      <p:sp>
        <p:nvSpPr>
          <p:cNvPr id="56" name="a3fd200_log1428"/>
          <p:cNvSpPr txBox="1"/>
          <p:nvPr/>
        </p:nvSpPr>
        <p:spPr>
          <a:xfrm>
            <a:off x="640080" y="3730752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Joseph → not in result yet →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dirty="0" sz="1000"/>
          </a:p>
        </p:txBody>
      </p:sp>
      <p:sp>
        <p:nvSpPr>
          <p:cNvPr id="57" name="a4f_bdg1429"/>
          <p:cNvSpPr txBox="1"/>
          <p:nvPr/>
        </p:nvSpPr>
        <p:spPr>
          <a:xfrm>
            <a:off x="4306824" y="1993392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58" name="a4fd200_log1430"/>
          <p:cNvSpPr txBox="1"/>
          <p:nvPr/>
        </p:nvSpPr>
        <p:spPr>
          <a:xfrm>
            <a:off x="640080" y="3904488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Kevin Brown → already in result → </a:t>
            </a:r>
            <a:r>
              <a:rPr sz="10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dirty="0" sz="1000"/>
          </a:p>
        </p:txBody>
      </p:sp>
      <p:sp>
        <p:nvSpPr>
          <p:cNvPr id="59" name="a5f_bdg1431"/>
          <p:cNvSpPr txBox="1"/>
          <p:nvPr/>
        </p:nvSpPr>
        <p:spPr>
          <a:xfrm>
            <a:off x="4306824" y="2249424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60" name="a5fd200_log1432"/>
          <p:cNvSpPr txBox="1"/>
          <p:nvPr/>
        </p:nvSpPr>
        <p:spPr>
          <a:xfrm>
            <a:off x="640080" y="4078224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Mary → already in result → </a:t>
            </a:r>
            <a:r>
              <a:rPr sz="10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dirty="0" sz="1000"/>
          </a:p>
        </p:txBody>
      </p:sp>
      <p:sp>
        <p:nvSpPr>
          <p:cNvPr id="61" name="a6f_bdg1433"/>
          <p:cNvSpPr txBox="1"/>
          <p:nvPr/>
        </p:nvSpPr>
        <p:spPr>
          <a:xfrm>
            <a:off x="4306824" y="2505456"/>
            <a:ext cx="219456" cy="21945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 sz="900"/>
          </a:p>
        </p:txBody>
      </p:sp>
      <p:sp>
        <p:nvSpPr>
          <p:cNvPr id="62" name="a6wd200_dot1434"/>
          <p:cNvSpPr/>
          <p:nvPr/>
        </p:nvSpPr>
        <p:spPr>
          <a:xfrm>
            <a:off x="4663440" y="33284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a6wd200_cell1435"/>
          <p:cNvSpPr txBox="1"/>
          <p:nvPr/>
        </p:nvSpPr>
        <p:spPr>
          <a:xfrm>
            <a:off x="4846320" y="3255264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000"/>
          </a:p>
        </p:txBody>
      </p:sp>
      <p:sp>
        <p:nvSpPr>
          <p:cNvPr id="64" name="a6wd200_cell1436"/>
          <p:cNvSpPr txBox="1"/>
          <p:nvPr/>
        </p:nvSpPr>
        <p:spPr>
          <a:xfrm>
            <a:off x="5806440" y="3255264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Schwarz</a:t>
            </a:r>
            <a:endParaRPr lang="en-US" dirty="0" sz="1000"/>
          </a:p>
        </p:txBody>
      </p:sp>
      <p:sp>
        <p:nvSpPr>
          <p:cNvPr id="65" name="a6fd200_log1437"/>
          <p:cNvSpPr txBox="1"/>
          <p:nvPr/>
        </p:nvSpPr>
        <p:spPr>
          <a:xfrm>
            <a:off x="640080" y="4251960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Mark → not in result yet →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dirty="0" sz="1000"/>
          </a:p>
        </p:txBody>
      </p:sp>
      <p:sp>
        <p:nvSpPr>
          <p:cNvPr id="66" name="a7f_bdg1438"/>
          <p:cNvSpPr txBox="1"/>
          <p:nvPr/>
        </p:nvSpPr>
        <p:spPr>
          <a:xfrm>
            <a:off x="4306824" y="2761488"/>
            <a:ext cx="219456" cy="21945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 sz="900"/>
          </a:p>
        </p:txBody>
      </p:sp>
      <p:sp>
        <p:nvSpPr>
          <p:cNvPr id="67" name="a7wd200_dot1439"/>
          <p:cNvSpPr/>
          <p:nvPr/>
        </p:nvSpPr>
        <p:spPr>
          <a:xfrm>
            <a:off x="4663440" y="35844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a7wd200_cell1440"/>
          <p:cNvSpPr txBox="1"/>
          <p:nvPr/>
        </p:nvSpPr>
        <p:spPr>
          <a:xfrm>
            <a:off x="4846320" y="3511296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000"/>
          </a:p>
        </p:txBody>
      </p:sp>
      <p:sp>
        <p:nvSpPr>
          <p:cNvPr id="69" name="a7wd200_cell1441"/>
          <p:cNvSpPr txBox="1"/>
          <p:nvPr/>
        </p:nvSpPr>
        <p:spPr>
          <a:xfrm>
            <a:off x="5806440" y="3511296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</a:t>
            </a:r>
            <a:endParaRPr lang="en-US" dirty="0" sz="1000"/>
          </a:p>
        </p:txBody>
      </p:sp>
      <p:sp>
        <p:nvSpPr>
          <p:cNvPr id="70" name="a7fd200_log1442"/>
          <p:cNvSpPr txBox="1"/>
          <p:nvPr/>
        </p:nvSpPr>
        <p:spPr>
          <a:xfrm>
            <a:off x="640080" y="4425696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Anna → not in result yet →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dirty="0" sz="1000"/>
          </a:p>
        </p:txBody>
      </p:sp>
      <p:sp>
        <p:nvSpPr>
          <p:cNvPr id="71" name="a8u_tb1443"/>
          <p:cNvSpPr/>
          <p:nvPr/>
        </p:nvSpPr>
        <p:spPr>
          <a:xfrm>
            <a:off x="6995160" y="11887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2" name="a8u_tt1444"/>
          <p:cNvSpPr txBox="1"/>
          <p:nvPr/>
        </p:nvSpPr>
        <p:spPr>
          <a:xfrm>
            <a:off x="7132320" y="1188720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people. SQL adds a row only if it isn't already in the result.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1445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 sz="6000"/>
          </a:p>
        </p:txBody>
      </p:sp>
      <p:sp>
        <p:nvSpPr>
          <p:cNvPr id="3" name="a0ud200_h1446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</a:t>
            </a:r>
            <a:endParaRPr lang="en-US" dirty="0" sz="4000"/>
          </a:p>
        </p:txBody>
      </p:sp>
      <p:sp>
        <p:nvSpPr>
          <p:cNvPr id="4" name="a0fd450_t1447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queries — duplicates kept</a:t>
            </a:r>
            <a:endParaRPr lang="en-US" dirty="0" sz="1700"/>
          </a:p>
        </p:txBody>
      </p:sp>
      <p:pic>
        <p:nvPicPr>
          <p:cNvPr id="5" name="a0fd300_v1448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 — Concept &amp; Query</a:t>
            </a:r>
            <a:endParaRPr lang="en-US" dirty="0" sz="2800"/>
          </a:p>
        </p:txBody>
      </p:sp>
      <p:pic>
        <p:nvPicPr>
          <p:cNvPr id="3" name="Image 0" descr="b6cc453b66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3657600" cy="2316480"/>
          </a:xfrm>
          <a:prstGeom prst="rect">
            <a:avLst/>
          </a:prstGeom>
        </p:spPr>
      </p:pic>
      <p:sp>
        <p:nvSpPr>
          <p:cNvPr id="4" name="a2f_nm1449"/>
          <p:cNvSpPr txBox="1"/>
          <p:nvPr/>
        </p:nvSpPr>
        <p:spPr>
          <a:xfrm>
            <a:off x="868680" y="17480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200"/>
          </a:p>
        </p:txBody>
      </p:sp>
      <p:sp>
        <p:nvSpPr>
          <p:cNvPr id="5" name="a2f_nm1450"/>
          <p:cNvSpPr txBox="1"/>
          <p:nvPr/>
        </p:nvSpPr>
        <p:spPr>
          <a:xfrm>
            <a:off x="868680" y="19949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200"/>
          </a:p>
        </p:txBody>
      </p:sp>
      <p:sp>
        <p:nvSpPr>
          <p:cNvPr id="6" name="a2f_nm1451"/>
          <p:cNvSpPr txBox="1"/>
          <p:nvPr/>
        </p:nvSpPr>
        <p:spPr>
          <a:xfrm>
            <a:off x="868680" y="224180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200"/>
          </a:p>
        </p:txBody>
      </p:sp>
      <p:sp>
        <p:nvSpPr>
          <p:cNvPr id="7" name="a2fd250_nm1452"/>
          <p:cNvSpPr txBox="1"/>
          <p:nvPr/>
        </p:nvSpPr>
        <p:spPr>
          <a:xfrm>
            <a:off x="1783080" y="187147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200"/>
          </a:p>
        </p:txBody>
      </p:sp>
      <p:sp>
        <p:nvSpPr>
          <p:cNvPr id="8" name="a2fd250_nm1453"/>
          <p:cNvSpPr txBox="1"/>
          <p:nvPr/>
        </p:nvSpPr>
        <p:spPr>
          <a:xfrm>
            <a:off x="1783080" y="21183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200"/>
          </a:p>
        </p:txBody>
      </p:sp>
      <p:sp>
        <p:nvSpPr>
          <p:cNvPr id="9" name="a2fd500_nm1454"/>
          <p:cNvSpPr txBox="1"/>
          <p:nvPr/>
        </p:nvSpPr>
        <p:spPr>
          <a:xfrm>
            <a:off x="2697480" y="17480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200"/>
          </a:p>
        </p:txBody>
      </p:sp>
      <p:sp>
        <p:nvSpPr>
          <p:cNvPr id="10" name="a2fd500_nm1455"/>
          <p:cNvSpPr txBox="1"/>
          <p:nvPr/>
        </p:nvSpPr>
        <p:spPr>
          <a:xfrm>
            <a:off x="2697480" y="19949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200"/>
          </a:p>
        </p:txBody>
      </p:sp>
      <p:sp>
        <p:nvSpPr>
          <p:cNvPr id="11" name="a2fd500_nm1456"/>
          <p:cNvSpPr txBox="1"/>
          <p:nvPr/>
        </p:nvSpPr>
        <p:spPr>
          <a:xfrm>
            <a:off x="2697480" y="224180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200"/>
          </a:p>
        </p:txBody>
      </p:sp>
      <p:sp>
        <p:nvSpPr>
          <p:cNvPr id="12" name="Text 9"/>
          <p:cNvSpPr txBox="1"/>
          <p:nvPr/>
        </p:nvSpPr>
        <p:spPr>
          <a:xfrm>
            <a:off x="457200" y="3304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(1st query)</a:t>
            </a:r>
            <a:endParaRPr lang="en-US" dirty="0" sz="1100"/>
          </a:p>
        </p:txBody>
      </p:sp>
      <p:sp>
        <p:nvSpPr>
          <p:cNvPr id="13" name="Text 10"/>
          <p:cNvSpPr txBox="1"/>
          <p:nvPr/>
        </p:nvSpPr>
        <p:spPr>
          <a:xfrm>
            <a:off x="2286000" y="3304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(2nd query)</a:t>
            </a:r>
            <a:endParaRPr lang="en-US" dirty="0" sz="1100"/>
          </a:p>
        </p:txBody>
      </p:sp>
      <p:sp>
        <p:nvSpPr>
          <p:cNvPr id="14" name="a4u_pill1457"/>
          <p:cNvSpPr txBox="1"/>
          <p:nvPr/>
        </p:nvSpPr>
        <p:spPr>
          <a:xfrm>
            <a:off x="457200" y="370332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(the only operator that does)</a:t>
            </a:r>
            <a:endParaRPr lang="en-US" dirty="0" sz="1200"/>
          </a:p>
        </p:txBody>
      </p:sp>
      <p:sp>
        <p:nvSpPr>
          <p:cNvPr id="15" name="a4ud200_pill1458"/>
          <p:cNvSpPr txBox="1"/>
          <p:nvPr/>
        </p:nvSpPr>
        <p:spPr>
          <a:xfrm>
            <a:off x="457200" y="420624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order: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dirty="0" sz="1200"/>
          </a:p>
        </p:txBody>
      </p:sp>
      <p:sp>
        <p:nvSpPr>
          <p:cNvPr id="16" name="Text 13"/>
          <p:cNvSpPr txBox="1"/>
          <p:nvPr/>
        </p:nvSpPr>
        <p:spPr>
          <a:xfrm>
            <a:off x="4434840" y="914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both queries — duplicates are NOT removed.</a:t>
            </a:r>
            <a:endParaRPr lang="en-US" dirty="0" sz="1500"/>
          </a:p>
        </p:txBody>
      </p:sp>
      <p:sp>
        <p:nvSpPr>
          <p:cNvPr id="17" name="a1f_codebg1459"/>
          <p:cNvSpPr/>
          <p:nvPr/>
        </p:nvSpPr>
        <p:spPr>
          <a:xfrm>
            <a:off x="4434840" y="1691640"/>
            <a:ext cx="42519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a1f_hl1460"/>
          <p:cNvSpPr/>
          <p:nvPr/>
        </p:nvSpPr>
        <p:spPr>
          <a:xfrm>
            <a:off x="4507992" y="2340864"/>
            <a:ext cx="4105656" cy="256032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a1wd0_code1461"/>
          <p:cNvSpPr txBox="1"/>
          <p:nvPr/>
        </p:nvSpPr>
        <p:spPr>
          <a:xfrm>
            <a:off x="4617720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20" name="a1wd120_code1462"/>
          <p:cNvSpPr txBox="1"/>
          <p:nvPr/>
        </p:nvSpPr>
        <p:spPr>
          <a:xfrm>
            <a:off x="4617720" y="2084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dirty="0" sz="1200"/>
          </a:p>
        </p:txBody>
      </p:sp>
      <p:sp>
        <p:nvSpPr>
          <p:cNvPr id="21" name="a1wd240_code1463"/>
          <p:cNvSpPr txBox="1"/>
          <p:nvPr/>
        </p:nvSpPr>
        <p:spPr>
          <a:xfrm>
            <a:off x="4617720" y="2340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dirty="0" sz="1200"/>
          </a:p>
        </p:txBody>
      </p:sp>
      <p:sp>
        <p:nvSpPr>
          <p:cNvPr id="22" name="a1wd360_code1464"/>
          <p:cNvSpPr txBox="1"/>
          <p:nvPr/>
        </p:nvSpPr>
        <p:spPr>
          <a:xfrm>
            <a:off x="4617720" y="2596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23" name="a1wd480_code1465"/>
          <p:cNvSpPr txBox="1"/>
          <p:nvPr/>
        </p:nvSpPr>
        <p:spPr>
          <a:xfrm>
            <a:off x="461772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24" name="a3f_rl1466"/>
          <p:cNvSpPr txBox="1"/>
          <p:nvPr/>
        </p:nvSpPr>
        <p:spPr>
          <a:xfrm>
            <a:off x="44348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10 rows</a:t>
            </a:r>
            <a:endParaRPr lang="en-US" dirty="0" sz="1200"/>
          </a:p>
        </p:txBody>
      </p:sp>
      <p:sp>
        <p:nvSpPr>
          <p:cNvPr id="25" name="a3ud0_box1467"/>
          <p:cNvSpPr txBox="1"/>
          <p:nvPr/>
        </p:nvSpPr>
        <p:spPr>
          <a:xfrm>
            <a:off x="4434840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100"/>
          </a:p>
        </p:txBody>
      </p:sp>
      <p:sp>
        <p:nvSpPr>
          <p:cNvPr id="26" name="a3ud90_box1468"/>
          <p:cNvSpPr txBox="1"/>
          <p:nvPr/>
        </p:nvSpPr>
        <p:spPr>
          <a:xfrm>
            <a:off x="5294376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100"/>
          </a:p>
        </p:txBody>
      </p:sp>
      <p:sp>
        <p:nvSpPr>
          <p:cNvPr id="27" name="a3ud180_box1469"/>
          <p:cNvSpPr txBox="1"/>
          <p:nvPr/>
        </p:nvSpPr>
        <p:spPr>
          <a:xfrm>
            <a:off x="6153912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100"/>
          </a:p>
        </p:txBody>
      </p:sp>
      <p:sp>
        <p:nvSpPr>
          <p:cNvPr id="28" name="a3ud270_box1470"/>
          <p:cNvSpPr txBox="1"/>
          <p:nvPr/>
        </p:nvSpPr>
        <p:spPr>
          <a:xfrm>
            <a:off x="7013448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100"/>
          </a:p>
        </p:txBody>
      </p:sp>
      <p:sp>
        <p:nvSpPr>
          <p:cNvPr id="29" name="a3ud360_box1471"/>
          <p:cNvSpPr txBox="1"/>
          <p:nvPr/>
        </p:nvSpPr>
        <p:spPr>
          <a:xfrm>
            <a:off x="7872984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100"/>
          </a:p>
        </p:txBody>
      </p:sp>
      <p:sp>
        <p:nvSpPr>
          <p:cNvPr id="30" name="a3ud450_box1472"/>
          <p:cNvSpPr txBox="1"/>
          <p:nvPr/>
        </p:nvSpPr>
        <p:spPr>
          <a:xfrm>
            <a:off x="4434840" y="3986784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100"/>
          </a:p>
        </p:txBody>
      </p:sp>
      <p:sp>
        <p:nvSpPr>
          <p:cNvPr id="31" name="a3ud540_box1473"/>
          <p:cNvSpPr txBox="1"/>
          <p:nvPr/>
        </p:nvSpPr>
        <p:spPr>
          <a:xfrm>
            <a:off x="5294376" y="3986784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100"/>
          </a:p>
        </p:txBody>
      </p:sp>
      <p:sp>
        <p:nvSpPr>
          <p:cNvPr id="32" name="a3ud630_box1474"/>
          <p:cNvSpPr txBox="1"/>
          <p:nvPr/>
        </p:nvSpPr>
        <p:spPr>
          <a:xfrm>
            <a:off x="6153912" y="3986784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100"/>
          </a:p>
        </p:txBody>
      </p:sp>
      <p:sp>
        <p:nvSpPr>
          <p:cNvPr id="33" name="a3ud720_box1475"/>
          <p:cNvSpPr txBox="1"/>
          <p:nvPr/>
        </p:nvSpPr>
        <p:spPr>
          <a:xfrm>
            <a:off x="7013448" y="3986784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100"/>
          </a:p>
        </p:txBody>
      </p:sp>
      <p:sp>
        <p:nvSpPr>
          <p:cNvPr id="34" name="a3ud810_box1476"/>
          <p:cNvSpPr txBox="1"/>
          <p:nvPr/>
        </p:nvSpPr>
        <p:spPr>
          <a:xfrm>
            <a:off x="7872984" y="3986784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4" grpId="0" animBg="1"/>
      <p:bldP spid="15" grpId="0" animBg="1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vs UNION ALL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which</a:t>
            </a:r>
            <a:endParaRPr lang="en-US" dirty="0" sz="1300"/>
          </a:p>
        </p:txBody>
      </p:sp>
      <p:sp>
        <p:nvSpPr>
          <p:cNvPr id="4" name="a1u_c1477"/>
          <p:cNvSpPr/>
          <p:nvPr/>
        </p:nvSpPr>
        <p:spPr>
          <a:xfrm>
            <a:off x="457200" y="1143000"/>
            <a:ext cx="38862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1u_n1478"/>
          <p:cNvSpPr txBox="1"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000" b="1" lang="en-US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2000"/>
          </a:p>
        </p:txBody>
      </p:sp>
      <p:sp>
        <p:nvSpPr>
          <p:cNvPr id="6" name="a1u_s1479"/>
          <p:cNvSpPr txBox="1"/>
          <p:nvPr/>
        </p:nvSpPr>
        <p:spPr>
          <a:xfrm>
            <a:off x="731520" y="1783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36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rows</a:t>
            </a:r>
            <a:endParaRPr lang="en-US" dirty="0" sz="3600"/>
          </a:p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duplicates</a:t>
            </a:r>
            <a:endParaRPr lang="en-US" dirty="0" sz="3600"/>
          </a:p>
        </p:txBody>
      </p:sp>
      <p:sp>
        <p:nvSpPr>
          <p:cNvPr id="7" name="a1ud300_p1480"/>
          <p:cNvSpPr txBox="1"/>
          <p:nvPr/>
        </p:nvSpPr>
        <p:spPr>
          <a:xfrm>
            <a:off x="731520" y="2926080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01600" tIns="0" rIns="10160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step: compares rows to drop duplicates</a:t>
            </a:r>
            <a:endParaRPr lang="en-US" dirty="0" sz="1200"/>
          </a:p>
        </p:txBody>
      </p:sp>
      <p:sp>
        <p:nvSpPr>
          <p:cNvPr id="8" name="a1ud500_p1481"/>
          <p:cNvSpPr txBox="1"/>
          <p:nvPr/>
        </p:nvSpPr>
        <p:spPr>
          <a:xfrm>
            <a:off x="731520" y="3474720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01600" tIns="0" rIns="10160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duplicates must be removed</a:t>
            </a:r>
            <a:endParaRPr lang="en-US" dirty="0" sz="1200"/>
          </a:p>
        </p:txBody>
      </p:sp>
      <p:sp>
        <p:nvSpPr>
          <p:cNvPr id="9" name="a2u_c1482"/>
          <p:cNvSpPr/>
          <p:nvPr/>
        </p:nvSpPr>
        <p:spPr>
          <a:xfrm>
            <a:off x="4800600" y="1143000"/>
            <a:ext cx="38862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2u_n1483"/>
          <p:cNvSpPr txBox="1"/>
          <p:nvPr/>
        </p:nvSpPr>
        <p:spPr>
          <a:xfrm>
            <a:off x="507492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000" b="1" lang="en-US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dirty="0" sz="2000"/>
          </a:p>
        </p:txBody>
      </p:sp>
      <p:sp>
        <p:nvSpPr>
          <p:cNvPr id="11" name="a2u_s1484"/>
          <p:cNvSpPr txBox="1"/>
          <p:nvPr/>
        </p:nvSpPr>
        <p:spPr>
          <a:xfrm>
            <a:off x="5074920" y="1783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36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</a:t>
            </a:r>
            <a:endParaRPr lang="en-US" dirty="0" sz="3600"/>
          </a:p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duplicates</a:t>
            </a:r>
            <a:endParaRPr lang="en-US" dirty="0" sz="3600"/>
          </a:p>
        </p:txBody>
      </p:sp>
      <p:sp>
        <p:nvSpPr>
          <p:cNvPr id="12" name="a2ud300_p1485"/>
          <p:cNvSpPr txBox="1"/>
          <p:nvPr/>
        </p:nvSpPr>
        <p:spPr>
          <a:xfrm>
            <a:off x="5074920" y="2926080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00" tIns="0" rIns="10160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check → faster</a:t>
            </a:r>
            <a:endParaRPr lang="en-US" dirty="0" sz="1200"/>
          </a:p>
        </p:txBody>
      </p:sp>
      <p:sp>
        <p:nvSpPr>
          <p:cNvPr id="13" name="a2ud500_p1486"/>
          <p:cNvSpPr txBox="1"/>
          <p:nvPr/>
        </p:nvSpPr>
        <p:spPr>
          <a:xfrm>
            <a:off x="5074920" y="3474720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00" tIns="0" rIns="10160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know there are no duplicates</a:t>
            </a:r>
            <a:endParaRPr lang="en-US" dirty="0" sz="1200"/>
          </a:p>
        </p:txBody>
      </p:sp>
      <p:sp>
        <p:nvSpPr>
          <p:cNvPr id="14" name="a2ud700_p1487"/>
          <p:cNvSpPr txBox="1"/>
          <p:nvPr/>
        </p:nvSpPr>
        <p:spPr>
          <a:xfrm>
            <a:off x="5074920" y="4023360"/>
            <a:ext cx="333756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00" tIns="0" rIns="10160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 find duplicates (data quality checks)</a:t>
            </a:r>
            <a:endParaRPr lang="en-US" dirty="0" sz="1200"/>
          </a:p>
        </p:txBody>
      </p:sp>
      <p:sp>
        <p:nvSpPr>
          <p:cNvPr id="15" name="a3u_tip148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sure the queries can't overlap, prefer UNION ALL for performance.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UNION ALL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employees and customers into one table, including duplicates</a:t>
            </a:r>
            <a:endParaRPr lang="en-US" dirty="0" sz="130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query · Employees</a:t>
            </a:r>
            <a:endParaRPr lang="en-US" dirty="0" sz="1100"/>
          </a:p>
        </p:txBody>
      </p:sp>
      <p:sp>
        <p:nvSpPr>
          <p:cNvPr id="5" name="s_cell1489"/>
          <p:cNvSpPr txBox="1"/>
          <p:nvPr/>
        </p:nvSpPr>
        <p:spPr>
          <a:xfrm>
            <a:off x="457200" y="1463040"/>
            <a:ext cx="868680" cy="2560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6" name="s_cell1490"/>
          <p:cNvSpPr txBox="1"/>
          <p:nvPr/>
        </p:nvSpPr>
        <p:spPr>
          <a:xfrm>
            <a:off x="45720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000"/>
          </a:p>
        </p:txBody>
      </p:sp>
      <p:sp>
        <p:nvSpPr>
          <p:cNvPr id="7" name="s_cell1491"/>
          <p:cNvSpPr txBox="1"/>
          <p:nvPr/>
        </p:nvSpPr>
        <p:spPr>
          <a:xfrm>
            <a:off x="45720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8" name="s_cell1492"/>
          <p:cNvSpPr txBox="1"/>
          <p:nvPr/>
        </p:nvSpPr>
        <p:spPr>
          <a:xfrm>
            <a:off x="457200" y="223113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9" name="s_cell1493"/>
          <p:cNvSpPr txBox="1"/>
          <p:nvPr/>
        </p:nvSpPr>
        <p:spPr>
          <a:xfrm>
            <a:off x="45720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000"/>
          </a:p>
        </p:txBody>
      </p:sp>
      <p:sp>
        <p:nvSpPr>
          <p:cNvPr id="10" name="s_cell1494"/>
          <p:cNvSpPr txBox="1"/>
          <p:nvPr/>
        </p:nvSpPr>
        <p:spPr>
          <a:xfrm>
            <a:off x="45720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000"/>
          </a:p>
        </p:txBody>
      </p:sp>
      <p:sp>
        <p:nvSpPr>
          <p:cNvPr id="11" name="s_cell1495"/>
          <p:cNvSpPr txBox="1"/>
          <p:nvPr/>
        </p:nvSpPr>
        <p:spPr>
          <a:xfrm>
            <a:off x="1325880" y="1463040"/>
            <a:ext cx="868680" cy="2560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12" name="s_cell1496"/>
          <p:cNvSpPr txBox="1"/>
          <p:nvPr/>
        </p:nvSpPr>
        <p:spPr>
          <a:xfrm>
            <a:off x="132588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endParaRPr lang="en-US" dirty="0" sz="1000"/>
          </a:p>
        </p:txBody>
      </p:sp>
      <p:sp>
        <p:nvSpPr>
          <p:cNvPr id="13" name="s_cell1497"/>
          <p:cNvSpPr txBox="1"/>
          <p:nvPr/>
        </p:nvSpPr>
        <p:spPr>
          <a:xfrm>
            <a:off x="132588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14" name="s_cell1498"/>
          <p:cNvSpPr txBox="1"/>
          <p:nvPr/>
        </p:nvSpPr>
        <p:spPr>
          <a:xfrm>
            <a:off x="1325880" y="2231136"/>
            <a:ext cx="86868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15" name="s_cell1499"/>
          <p:cNvSpPr txBox="1"/>
          <p:nvPr/>
        </p:nvSpPr>
        <p:spPr>
          <a:xfrm>
            <a:off x="132588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dirty="0" sz="1000"/>
          </a:p>
        </p:txBody>
      </p:sp>
      <p:sp>
        <p:nvSpPr>
          <p:cNvPr id="16" name="s_cell1500"/>
          <p:cNvSpPr txBox="1"/>
          <p:nvPr/>
        </p:nvSpPr>
        <p:spPr>
          <a:xfrm>
            <a:off x="132588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</a:t>
            </a:r>
            <a:endParaRPr lang="en-US" dirty="0" sz="1000"/>
          </a:p>
        </p:txBody>
      </p:sp>
      <p:sp>
        <p:nvSpPr>
          <p:cNvPr id="17" name="Text 15"/>
          <p:cNvSpPr txBox="1"/>
          <p:nvPr/>
        </p:nvSpPr>
        <p:spPr>
          <a:xfrm>
            <a:off x="2514600" y="1188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query · Customers</a:t>
            </a:r>
            <a:endParaRPr lang="en-US" dirty="0" sz="1100"/>
          </a:p>
        </p:txBody>
      </p:sp>
      <p:sp>
        <p:nvSpPr>
          <p:cNvPr id="18" name="s_cell1501"/>
          <p:cNvSpPr txBox="1"/>
          <p:nvPr/>
        </p:nvSpPr>
        <p:spPr>
          <a:xfrm>
            <a:off x="2514600" y="1463040"/>
            <a:ext cx="868680" cy="256032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19" name="s_cell1502"/>
          <p:cNvSpPr txBox="1"/>
          <p:nvPr/>
        </p:nvSpPr>
        <p:spPr>
          <a:xfrm>
            <a:off x="251460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000"/>
          </a:p>
        </p:txBody>
      </p:sp>
      <p:sp>
        <p:nvSpPr>
          <p:cNvPr id="20" name="s_cell1503"/>
          <p:cNvSpPr txBox="1"/>
          <p:nvPr/>
        </p:nvSpPr>
        <p:spPr>
          <a:xfrm>
            <a:off x="251460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21" name="s_cell1504"/>
          <p:cNvSpPr txBox="1"/>
          <p:nvPr/>
        </p:nvSpPr>
        <p:spPr>
          <a:xfrm>
            <a:off x="2514600" y="223113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22" name="s_cell1505"/>
          <p:cNvSpPr txBox="1"/>
          <p:nvPr/>
        </p:nvSpPr>
        <p:spPr>
          <a:xfrm>
            <a:off x="251460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000"/>
          </a:p>
        </p:txBody>
      </p:sp>
      <p:sp>
        <p:nvSpPr>
          <p:cNvPr id="23" name="s_cell1506"/>
          <p:cNvSpPr txBox="1"/>
          <p:nvPr/>
        </p:nvSpPr>
        <p:spPr>
          <a:xfrm>
            <a:off x="251460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000"/>
          </a:p>
        </p:txBody>
      </p:sp>
      <p:sp>
        <p:nvSpPr>
          <p:cNvPr id="24" name="s_cell1507"/>
          <p:cNvSpPr txBox="1"/>
          <p:nvPr/>
        </p:nvSpPr>
        <p:spPr>
          <a:xfrm>
            <a:off x="3383280" y="1463040"/>
            <a:ext cx="868680" cy="256032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25" name="s_cell1508"/>
          <p:cNvSpPr txBox="1"/>
          <p:nvPr/>
        </p:nvSpPr>
        <p:spPr>
          <a:xfrm>
            <a:off x="338328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Goldberg</a:t>
            </a:r>
            <a:endParaRPr lang="en-US" dirty="0" sz="1000"/>
          </a:p>
        </p:txBody>
      </p:sp>
      <p:sp>
        <p:nvSpPr>
          <p:cNvPr id="26" name="s_cell1509"/>
          <p:cNvSpPr txBox="1"/>
          <p:nvPr/>
        </p:nvSpPr>
        <p:spPr>
          <a:xfrm>
            <a:off x="338328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27" name="s_cell1510"/>
          <p:cNvSpPr txBox="1"/>
          <p:nvPr/>
        </p:nvSpPr>
        <p:spPr>
          <a:xfrm>
            <a:off x="3383280" y="2231136"/>
            <a:ext cx="86868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28" name="s_cell1511"/>
          <p:cNvSpPr txBox="1"/>
          <p:nvPr/>
        </p:nvSpPr>
        <p:spPr>
          <a:xfrm>
            <a:off x="338328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Schwarz</a:t>
            </a:r>
            <a:endParaRPr lang="en-US" dirty="0" sz="1000"/>
          </a:p>
        </p:txBody>
      </p:sp>
      <p:sp>
        <p:nvSpPr>
          <p:cNvPr id="29" name="s_cell1512"/>
          <p:cNvSpPr txBox="1"/>
          <p:nvPr/>
        </p:nvSpPr>
        <p:spPr>
          <a:xfrm>
            <a:off x="338328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</a:t>
            </a:r>
            <a:endParaRPr lang="en-US" dirty="0" sz="1000"/>
          </a:p>
        </p:txBody>
      </p:sp>
      <p:sp>
        <p:nvSpPr>
          <p:cNvPr id="30" name="a1f_rl1513"/>
          <p:cNvSpPr txBox="1"/>
          <p:nvPr/>
        </p:nvSpPr>
        <p:spPr>
          <a:xfrm>
            <a:off x="484632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100"/>
          </a:p>
        </p:txBody>
      </p:sp>
      <p:sp>
        <p:nvSpPr>
          <p:cNvPr id="31" name="a1f_cell1514"/>
          <p:cNvSpPr txBox="1"/>
          <p:nvPr/>
        </p:nvSpPr>
        <p:spPr>
          <a:xfrm>
            <a:off x="4846320" y="1463040"/>
            <a:ext cx="960120" cy="256032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32" name="a1f_cell1515"/>
          <p:cNvSpPr txBox="1"/>
          <p:nvPr/>
        </p:nvSpPr>
        <p:spPr>
          <a:xfrm>
            <a:off x="5806440" y="1463040"/>
            <a:ext cx="960120" cy="256032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900" b="1" spc="200" kern="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</a:t>
            </a:r>
            <a:endParaRPr lang="en-US" dirty="0" sz="900"/>
          </a:p>
        </p:txBody>
      </p:sp>
      <p:sp>
        <p:nvSpPr>
          <p:cNvPr id="35" name="a1fd200_log1516"/>
          <p:cNvSpPr txBox="1"/>
          <p:nvPr/>
        </p:nvSpPr>
        <p:spPr>
          <a:xfrm>
            <a:off x="640080" y="3383280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Column names come from the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query</a:t>
            </a:r>
            <a:endParaRPr lang="en-US" dirty="0" sz="1000"/>
          </a:p>
        </p:txBody>
      </p:sp>
      <p:sp>
        <p:nvSpPr>
          <p:cNvPr id="36" name="a2wd0_dot1517"/>
          <p:cNvSpPr/>
          <p:nvPr/>
        </p:nvSpPr>
        <p:spPr>
          <a:xfrm>
            <a:off x="4663440" y="179222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a2wd0_cell1518"/>
          <p:cNvSpPr txBox="1"/>
          <p:nvPr/>
        </p:nvSpPr>
        <p:spPr>
          <a:xfrm>
            <a:off x="4846320" y="1719072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000"/>
          </a:p>
        </p:txBody>
      </p:sp>
      <p:sp>
        <p:nvSpPr>
          <p:cNvPr id="38" name="a2wd0_cell1519"/>
          <p:cNvSpPr txBox="1"/>
          <p:nvPr/>
        </p:nvSpPr>
        <p:spPr>
          <a:xfrm>
            <a:off x="5806440" y="1719072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endParaRPr lang="en-US" dirty="0" sz="1000"/>
          </a:p>
        </p:txBody>
      </p:sp>
      <p:sp>
        <p:nvSpPr>
          <p:cNvPr id="39" name="a2wd100_dot1520"/>
          <p:cNvSpPr/>
          <p:nvPr/>
        </p:nvSpPr>
        <p:spPr>
          <a:xfrm>
            <a:off x="4663440" y="20482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a2wd100_cell1521"/>
          <p:cNvSpPr txBox="1"/>
          <p:nvPr/>
        </p:nvSpPr>
        <p:spPr>
          <a:xfrm>
            <a:off x="4846320" y="1975104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41" name="a2wd100_cell1522"/>
          <p:cNvSpPr txBox="1"/>
          <p:nvPr/>
        </p:nvSpPr>
        <p:spPr>
          <a:xfrm>
            <a:off x="5806440" y="1975104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42" name="a2wd200_dot1523"/>
          <p:cNvSpPr/>
          <p:nvPr/>
        </p:nvSpPr>
        <p:spPr>
          <a:xfrm>
            <a:off x="4663440" y="230428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a2wd200_cell1524"/>
          <p:cNvSpPr txBox="1"/>
          <p:nvPr/>
        </p:nvSpPr>
        <p:spPr>
          <a:xfrm>
            <a:off x="4846320" y="2231136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44" name="a2wd200_cell1525"/>
          <p:cNvSpPr txBox="1"/>
          <p:nvPr/>
        </p:nvSpPr>
        <p:spPr>
          <a:xfrm>
            <a:off x="5806440" y="2231136"/>
            <a:ext cx="96012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45" name="a2wd300_dot1526"/>
          <p:cNvSpPr/>
          <p:nvPr/>
        </p:nvSpPr>
        <p:spPr>
          <a:xfrm>
            <a:off x="4663440" y="2560320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a2wd300_cell1527"/>
          <p:cNvSpPr txBox="1"/>
          <p:nvPr/>
        </p:nvSpPr>
        <p:spPr>
          <a:xfrm>
            <a:off x="4846320" y="2487168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000"/>
          </a:p>
        </p:txBody>
      </p:sp>
      <p:sp>
        <p:nvSpPr>
          <p:cNvPr id="47" name="a2wd300_cell1528"/>
          <p:cNvSpPr txBox="1"/>
          <p:nvPr/>
        </p:nvSpPr>
        <p:spPr>
          <a:xfrm>
            <a:off x="5806440" y="2487168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dirty="0" sz="1000"/>
          </a:p>
        </p:txBody>
      </p:sp>
      <p:sp>
        <p:nvSpPr>
          <p:cNvPr id="48" name="a2wd400_dot1529"/>
          <p:cNvSpPr/>
          <p:nvPr/>
        </p:nvSpPr>
        <p:spPr>
          <a:xfrm>
            <a:off x="4663440" y="281635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a2wd400_cell1530"/>
          <p:cNvSpPr txBox="1"/>
          <p:nvPr/>
        </p:nvSpPr>
        <p:spPr>
          <a:xfrm>
            <a:off x="4846320" y="2743200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000"/>
          </a:p>
        </p:txBody>
      </p:sp>
      <p:sp>
        <p:nvSpPr>
          <p:cNvPr id="50" name="a2wd400_cell1531"/>
          <p:cNvSpPr txBox="1"/>
          <p:nvPr/>
        </p:nvSpPr>
        <p:spPr>
          <a:xfrm>
            <a:off x="5806440" y="2743200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</a:t>
            </a:r>
            <a:endParaRPr lang="en-US" dirty="0" sz="1000"/>
          </a:p>
        </p:txBody>
      </p:sp>
      <p:sp>
        <p:nvSpPr>
          <p:cNvPr id="51" name="a2fd200_log1532"/>
          <p:cNvSpPr txBox="1"/>
          <p:nvPr/>
        </p:nvSpPr>
        <p:spPr>
          <a:xfrm>
            <a:off x="640080" y="3557016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Append all employee rows —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checks</a:t>
            </a:r>
            <a:endParaRPr lang="en-US" dirty="0" sz="1000"/>
          </a:p>
        </p:txBody>
      </p:sp>
      <p:sp>
        <p:nvSpPr>
          <p:cNvPr id="52" name="a3wd0_dot1533"/>
          <p:cNvSpPr/>
          <p:nvPr/>
        </p:nvSpPr>
        <p:spPr>
          <a:xfrm>
            <a:off x="4663440" y="3072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a3wd0_cell1534"/>
          <p:cNvSpPr txBox="1"/>
          <p:nvPr/>
        </p:nvSpPr>
        <p:spPr>
          <a:xfrm>
            <a:off x="4846320" y="2999232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000"/>
          </a:p>
        </p:txBody>
      </p:sp>
      <p:sp>
        <p:nvSpPr>
          <p:cNvPr id="54" name="a3wd0_cell1535"/>
          <p:cNvSpPr txBox="1"/>
          <p:nvPr/>
        </p:nvSpPr>
        <p:spPr>
          <a:xfrm>
            <a:off x="5806440" y="2999232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Goldberg</a:t>
            </a:r>
            <a:endParaRPr lang="en-US" dirty="0" sz="1000"/>
          </a:p>
        </p:txBody>
      </p:sp>
      <p:sp>
        <p:nvSpPr>
          <p:cNvPr id="55" name="a3wd120_dot1536"/>
          <p:cNvSpPr/>
          <p:nvPr/>
        </p:nvSpPr>
        <p:spPr>
          <a:xfrm>
            <a:off x="4663440" y="33284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a3wd120_cell1537"/>
          <p:cNvSpPr txBox="1"/>
          <p:nvPr/>
        </p:nvSpPr>
        <p:spPr>
          <a:xfrm>
            <a:off x="4846320" y="3255264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57" name="a3wd120_cell1538"/>
          <p:cNvSpPr txBox="1"/>
          <p:nvPr/>
        </p:nvSpPr>
        <p:spPr>
          <a:xfrm>
            <a:off x="5806440" y="3255264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58" name="a3fd800_dupo1539"/>
          <p:cNvSpPr/>
          <p:nvPr/>
        </p:nvSpPr>
        <p:spPr>
          <a:xfrm>
            <a:off x="4828032" y="3264408"/>
            <a:ext cx="1956816" cy="23774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9" name="a3wd240_dot1540"/>
          <p:cNvSpPr/>
          <p:nvPr/>
        </p:nvSpPr>
        <p:spPr>
          <a:xfrm>
            <a:off x="4663440" y="35844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a3wd240_cell1541"/>
          <p:cNvSpPr txBox="1"/>
          <p:nvPr/>
        </p:nvSpPr>
        <p:spPr>
          <a:xfrm>
            <a:off x="4846320" y="3511296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61" name="a3wd240_cell1542"/>
          <p:cNvSpPr txBox="1"/>
          <p:nvPr/>
        </p:nvSpPr>
        <p:spPr>
          <a:xfrm>
            <a:off x="5806440" y="3511296"/>
            <a:ext cx="96012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62" name="a3fd800_dupo1543"/>
          <p:cNvSpPr/>
          <p:nvPr/>
        </p:nvSpPr>
        <p:spPr>
          <a:xfrm>
            <a:off x="4828032" y="3520440"/>
            <a:ext cx="1956816" cy="23774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3" name="a3wd360_dot1544"/>
          <p:cNvSpPr/>
          <p:nvPr/>
        </p:nvSpPr>
        <p:spPr>
          <a:xfrm>
            <a:off x="4663440" y="3840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a3wd360_cell1545"/>
          <p:cNvSpPr txBox="1"/>
          <p:nvPr/>
        </p:nvSpPr>
        <p:spPr>
          <a:xfrm>
            <a:off x="4846320" y="3767328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000"/>
          </a:p>
        </p:txBody>
      </p:sp>
      <p:sp>
        <p:nvSpPr>
          <p:cNvPr id="65" name="a3wd360_cell1546"/>
          <p:cNvSpPr txBox="1"/>
          <p:nvPr/>
        </p:nvSpPr>
        <p:spPr>
          <a:xfrm>
            <a:off x="5806440" y="3767328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Schwarz</a:t>
            </a:r>
            <a:endParaRPr lang="en-US" dirty="0" sz="1000"/>
          </a:p>
        </p:txBody>
      </p:sp>
      <p:sp>
        <p:nvSpPr>
          <p:cNvPr id="66" name="a3wd480_dot1547"/>
          <p:cNvSpPr/>
          <p:nvPr/>
        </p:nvSpPr>
        <p:spPr>
          <a:xfrm>
            <a:off x="4663440" y="40965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a3wd480_cell1548"/>
          <p:cNvSpPr txBox="1"/>
          <p:nvPr/>
        </p:nvSpPr>
        <p:spPr>
          <a:xfrm>
            <a:off x="4846320" y="4023360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000"/>
          </a:p>
        </p:txBody>
      </p:sp>
      <p:sp>
        <p:nvSpPr>
          <p:cNvPr id="68" name="a3wd480_cell1549"/>
          <p:cNvSpPr txBox="1"/>
          <p:nvPr/>
        </p:nvSpPr>
        <p:spPr>
          <a:xfrm>
            <a:off x="5806440" y="4023360"/>
            <a:ext cx="96012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</a:t>
            </a:r>
            <a:endParaRPr lang="en-US" dirty="0" sz="1000"/>
          </a:p>
        </p:txBody>
      </p:sp>
      <p:sp>
        <p:nvSpPr>
          <p:cNvPr id="69" name="a3fd200_log1550"/>
          <p:cNvSpPr txBox="1"/>
          <p:nvPr/>
        </p:nvSpPr>
        <p:spPr>
          <a:xfrm>
            <a:off x="640080" y="3730752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Append all customer rows —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checks</a:t>
            </a:r>
            <a:endParaRPr lang="en-US" dirty="0" sz="1000"/>
          </a:p>
        </p:txBody>
      </p:sp>
      <p:sp>
        <p:nvSpPr>
          <p:cNvPr id="70" name="a3fd900_log1551"/>
          <p:cNvSpPr txBox="1"/>
          <p:nvPr/>
        </p:nvSpPr>
        <p:spPr>
          <a:xfrm>
            <a:off x="640080" y="3904488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Kevin and Mary now appear </a:t>
            </a:r>
            <a:r>
              <a:rPr sz="10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</a:t>
            </a:r>
            <a:endParaRPr lang="en-US" dirty="0" sz="1000"/>
          </a:p>
        </p:txBody>
      </p:sp>
      <p:sp>
        <p:nvSpPr>
          <p:cNvPr id="71" name="a4u_tb1552"/>
          <p:cNvSpPr/>
          <p:nvPr/>
        </p:nvSpPr>
        <p:spPr>
          <a:xfrm>
            <a:off x="6995160" y="11887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2" name="a4u_tt1553"/>
          <p:cNvSpPr txBox="1"/>
          <p:nvPr/>
        </p:nvSpPr>
        <p:spPr>
          <a:xfrm>
            <a:off x="7132320" y="1188720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rows. No checks — rows are simply appended, so it's the fastest.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1554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dirty="0" sz="6000"/>
          </a:p>
        </p:txBody>
      </p:sp>
      <p:sp>
        <p:nvSpPr>
          <p:cNvPr id="3" name="a0ud200_h1555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</a:t>
            </a:r>
            <a:endParaRPr lang="en-US" dirty="0" sz="4000"/>
          </a:p>
        </p:txBody>
      </p:sp>
      <p:sp>
        <p:nvSpPr>
          <p:cNvPr id="4" name="a0fd450_t1556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from the first query that are not in the second (MINUS in some databases)</a:t>
            </a:r>
            <a:endParaRPr lang="en-US" dirty="0" sz="1700"/>
          </a:p>
        </p:txBody>
      </p:sp>
      <p:pic>
        <p:nvPicPr>
          <p:cNvPr id="5" name="a0fd300_v1557" descr="6e5385d95f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— Concept &amp; Query</a:t>
            </a:r>
            <a:endParaRPr lang="en-US" dirty="0" sz="2800"/>
          </a:p>
        </p:txBody>
      </p:sp>
      <p:pic>
        <p:nvPicPr>
          <p:cNvPr id="3" name="Image 0" descr="c3eff33f5d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3657600" cy="2316480"/>
          </a:xfrm>
          <a:prstGeom prst="rect">
            <a:avLst/>
          </a:prstGeom>
        </p:spPr>
      </p:pic>
      <p:sp>
        <p:nvSpPr>
          <p:cNvPr id="4" name="a2f_nm1558"/>
          <p:cNvSpPr txBox="1"/>
          <p:nvPr/>
        </p:nvSpPr>
        <p:spPr>
          <a:xfrm>
            <a:off x="868680" y="17480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200"/>
          </a:p>
        </p:txBody>
      </p:sp>
      <p:sp>
        <p:nvSpPr>
          <p:cNvPr id="5" name="a2f_nm1559"/>
          <p:cNvSpPr txBox="1"/>
          <p:nvPr/>
        </p:nvSpPr>
        <p:spPr>
          <a:xfrm>
            <a:off x="868680" y="19949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200"/>
          </a:p>
        </p:txBody>
      </p:sp>
      <p:sp>
        <p:nvSpPr>
          <p:cNvPr id="6" name="a2f_nm1560"/>
          <p:cNvSpPr txBox="1"/>
          <p:nvPr/>
        </p:nvSpPr>
        <p:spPr>
          <a:xfrm>
            <a:off x="868680" y="224180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200"/>
          </a:p>
        </p:txBody>
      </p:sp>
      <p:sp>
        <p:nvSpPr>
          <p:cNvPr id="7" name="a2fd250_nm1561"/>
          <p:cNvSpPr txBox="1"/>
          <p:nvPr/>
        </p:nvSpPr>
        <p:spPr>
          <a:xfrm>
            <a:off x="1783080" y="187147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200"/>
          </a:p>
        </p:txBody>
      </p:sp>
      <p:sp>
        <p:nvSpPr>
          <p:cNvPr id="8" name="a2fd250_nm1562"/>
          <p:cNvSpPr txBox="1"/>
          <p:nvPr/>
        </p:nvSpPr>
        <p:spPr>
          <a:xfrm>
            <a:off x="1783080" y="21183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200"/>
          </a:p>
        </p:txBody>
      </p:sp>
      <p:sp>
        <p:nvSpPr>
          <p:cNvPr id="9" name="a2fd500_nm1563"/>
          <p:cNvSpPr txBox="1"/>
          <p:nvPr/>
        </p:nvSpPr>
        <p:spPr>
          <a:xfrm>
            <a:off x="2697480" y="17480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200"/>
          </a:p>
        </p:txBody>
      </p:sp>
      <p:sp>
        <p:nvSpPr>
          <p:cNvPr id="10" name="a2fd500_nm1564"/>
          <p:cNvSpPr txBox="1"/>
          <p:nvPr/>
        </p:nvSpPr>
        <p:spPr>
          <a:xfrm>
            <a:off x="2697480" y="19949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200"/>
          </a:p>
        </p:txBody>
      </p:sp>
      <p:sp>
        <p:nvSpPr>
          <p:cNvPr id="11" name="a2fd500_nm1565"/>
          <p:cNvSpPr txBox="1"/>
          <p:nvPr/>
        </p:nvSpPr>
        <p:spPr>
          <a:xfrm>
            <a:off x="2697480" y="224180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200"/>
          </a:p>
        </p:txBody>
      </p:sp>
      <p:sp>
        <p:nvSpPr>
          <p:cNvPr id="12" name="Text 9"/>
          <p:cNvSpPr txBox="1"/>
          <p:nvPr/>
        </p:nvSpPr>
        <p:spPr>
          <a:xfrm>
            <a:off x="457200" y="3304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(1st query)</a:t>
            </a:r>
            <a:endParaRPr lang="en-US" dirty="0" sz="1100"/>
          </a:p>
        </p:txBody>
      </p:sp>
      <p:sp>
        <p:nvSpPr>
          <p:cNvPr id="13" name="Text 10"/>
          <p:cNvSpPr txBox="1"/>
          <p:nvPr/>
        </p:nvSpPr>
        <p:spPr>
          <a:xfrm>
            <a:off x="2286000" y="3304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(2nd query)</a:t>
            </a:r>
            <a:endParaRPr lang="en-US" dirty="0" sz="1100"/>
          </a:p>
        </p:txBody>
      </p:sp>
      <p:sp>
        <p:nvSpPr>
          <p:cNvPr id="14" name="a4u_pill1566"/>
          <p:cNvSpPr txBox="1"/>
          <p:nvPr/>
        </p:nvSpPr>
        <p:spPr>
          <a:xfrm>
            <a:off x="457200" y="370332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dirty="0" sz="1200"/>
          </a:p>
        </p:txBody>
      </p:sp>
      <p:sp>
        <p:nvSpPr>
          <p:cNvPr id="15" name="a4ud200_pill1567"/>
          <p:cNvSpPr txBox="1"/>
          <p:nvPr/>
        </p:nvSpPr>
        <p:spPr>
          <a:xfrm>
            <a:off x="457200" y="420624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solidFill>
              <a:srgbClr val="FEF2F2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order: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— the only one where it does</a:t>
            </a:r>
            <a:endParaRPr lang="en-US" dirty="0" sz="1200"/>
          </a:p>
        </p:txBody>
      </p:sp>
      <p:sp>
        <p:nvSpPr>
          <p:cNvPr id="16" name="Text 13"/>
          <p:cNvSpPr txBox="1"/>
          <p:nvPr/>
        </p:nvSpPr>
        <p:spPr>
          <a:xfrm>
            <a:off x="4434840" y="914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distinct rows from the 1st query that are not found in the 2nd query.</a:t>
            </a:r>
            <a:endParaRPr lang="en-US" dirty="0" sz="1500"/>
          </a:p>
        </p:txBody>
      </p:sp>
      <p:sp>
        <p:nvSpPr>
          <p:cNvPr id="17" name="a1f_codebg1568"/>
          <p:cNvSpPr/>
          <p:nvPr/>
        </p:nvSpPr>
        <p:spPr>
          <a:xfrm>
            <a:off x="4434840" y="1691640"/>
            <a:ext cx="42519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a1f_hl1569"/>
          <p:cNvSpPr/>
          <p:nvPr/>
        </p:nvSpPr>
        <p:spPr>
          <a:xfrm>
            <a:off x="4507992" y="2340864"/>
            <a:ext cx="4105656" cy="256032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a1wd0_code1570"/>
          <p:cNvSpPr txBox="1"/>
          <p:nvPr/>
        </p:nvSpPr>
        <p:spPr>
          <a:xfrm>
            <a:off x="4617720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20" name="a1wd120_code1571"/>
          <p:cNvSpPr txBox="1"/>
          <p:nvPr/>
        </p:nvSpPr>
        <p:spPr>
          <a:xfrm>
            <a:off x="4617720" y="2084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dirty="0" sz="1200"/>
          </a:p>
        </p:txBody>
      </p:sp>
      <p:sp>
        <p:nvSpPr>
          <p:cNvPr id="21" name="a1wd240_code1572"/>
          <p:cNvSpPr txBox="1"/>
          <p:nvPr/>
        </p:nvSpPr>
        <p:spPr>
          <a:xfrm>
            <a:off x="4617720" y="2340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dirty="0" sz="1200"/>
          </a:p>
        </p:txBody>
      </p:sp>
      <p:sp>
        <p:nvSpPr>
          <p:cNvPr id="22" name="a1wd360_code1573"/>
          <p:cNvSpPr txBox="1"/>
          <p:nvPr/>
        </p:nvSpPr>
        <p:spPr>
          <a:xfrm>
            <a:off x="4617720" y="2596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23" name="a1wd480_code1574"/>
          <p:cNvSpPr txBox="1"/>
          <p:nvPr/>
        </p:nvSpPr>
        <p:spPr>
          <a:xfrm>
            <a:off x="461772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24" name="a3f_rl1575"/>
          <p:cNvSpPr txBox="1"/>
          <p:nvPr/>
        </p:nvSpPr>
        <p:spPr>
          <a:xfrm>
            <a:off x="44348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3 rows</a:t>
            </a:r>
            <a:endParaRPr lang="en-US" dirty="0" sz="1200"/>
          </a:p>
        </p:txBody>
      </p:sp>
      <p:sp>
        <p:nvSpPr>
          <p:cNvPr id="25" name="a3ud0_box1576"/>
          <p:cNvSpPr txBox="1"/>
          <p:nvPr/>
        </p:nvSpPr>
        <p:spPr>
          <a:xfrm>
            <a:off x="4434840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100"/>
          </a:p>
        </p:txBody>
      </p:sp>
      <p:sp>
        <p:nvSpPr>
          <p:cNvPr id="26" name="a3ud90_box1577"/>
          <p:cNvSpPr txBox="1"/>
          <p:nvPr/>
        </p:nvSpPr>
        <p:spPr>
          <a:xfrm>
            <a:off x="5294376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100"/>
          </a:p>
        </p:txBody>
      </p:sp>
      <p:sp>
        <p:nvSpPr>
          <p:cNvPr id="27" name="a3ud180_box1578"/>
          <p:cNvSpPr txBox="1"/>
          <p:nvPr/>
        </p:nvSpPr>
        <p:spPr>
          <a:xfrm>
            <a:off x="6153912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4" grpId="0" animBg="1"/>
      <p:bldP spid="25" grpId="0" animBg="1"/>
      <p:bldP spid="26" grpId="0" animBg="1"/>
      <p:bldP spid="27" grpId="0" animBg="1"/>
      <p:bldP spid="14" grpId="0" animBg="1"/>
      <p:bldP spid="15" grpId="0" animBg="1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EXCEPT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employees who are not customers at the same time</a:t>
            </a:r>
            <a:endParaRPr lang="en-US" dirty="0" sz="130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query · Employees</a:t>
            </a:r>
            <a:endParaRPr lang="en-US" dirty="0" sz="1100"/>
          </a:p>
        </p:txBody>
      </p:sp>
      <p:sp>
        <p:nvSpPr>
          <p:cNvPr id="5" name="s_cell1579"/>
          <p:cNvSpPr txBox="1"/>
          <p:nvPr/>
        </p:nvSpPr>
        <p:spPr>
          <a:xfrm>
            <a:off x="457200" y="1463040"/>
            <a:ext cx="868680" cy="2560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6" name="s_cell1580"/>
          <p:cNvSpPr txBox="1"/>
          <p:nvPr/>
        </p:nvSpPr>
        <p:spPr>
          <a:xfrm>
            <a:off x="45720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000"/>
          </a:p>
        </p:txBody>
      </p:sp>
      <p:sp>
        <p:nvSpPr>
          <p:cNvPr id="7" name="s_cell1581"/>
          <p:cNvSpPr txBox="1"/>
          <p:nvPr/>
        </p:nvSpPr>
        <p:spPr>
          <a:xfrm>
            <a:off x="45720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8" name="s_cell1582"/>
          <p:cNvSpPr txBox="1"/>
          <p:nvPr/>
        </p:nvSpPr>
        <p:spPr>
          <a:xfrm>
            <a:off x="457200" y="223113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9" name="s_cell1583"/>
          <p:cNvSpPr txBox="1"/>
          <p:nvPr/>
        </p:nvSpPr>
        <p:spPr>
          <a:xfrm>
            <a:off x="45720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000"/>
          </a:p>
        </p:txBody>
      </p:sp>
      <p:sp>
        <p:nvSpPr>
          <p:cNvPr id="10" name="s_cell1584"/>
          <p:cNvSpPr txBox="1"/>
          <p:nvPr/>
        </p:nvSpPr>
        <p:spPr>
          <a:xfrm>
            <a:off x="45720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000"/>
          </a:p>
        </p:txBody>
      </p:sp>
      <p:sp>
        <p:nvSpPr>
          <p:cNvPr id="11" name="s_cell1585"/>
          <p:cNvSpPr txBox="1"/>
          <p:nvPr/>
        </p:nvSpPr>
        <p:spPr>
          <a:xfrm>
            <a:off x="1325880" y="1463040"/>
            <a:ext cx="868680" cy="2560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12" name="s_cell1586"/>
          <p:cNvSpPr txBox="1"/>
          <p:nvPr/>
        </p:nvSpPr>
        <p:spPr>
          <a:xfrm>
            <a:off x="132588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endParaRPr lang="en-US" dirty="0" sz="1000"/>
          </a:p>
        </p:txBody>
      </p:sp>
      <p:sp>
        <p:nvSpPr>
          <p:cNvPr id="13" name="s_cell1587"/>
          <p:cNvSpPr txBox="1"/>
          <p:nvPr/>
        </p:nvSpPr>
        <p:spPr>
          <a:xfrm>
            <a:off x="132588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14" name="s_cell1588"/>
          <p:cNvSpPr txBox="1"/>
          <p:nvPr/>
        </p:nvSpPr>
        <p:spPr>
          <a:xfrm>
            <a:off x="1325880" y="2231136"/>
            <a:ext cx="86868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15" name="s_cell1589"/>
          <p:cNvSpPr txBox="1"/>
          <p:nvPr/>
        </p:nvSpPr>
        <p:spPr>
          <a:xfrm>
            <a:off x="132588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dirty="0" sz="1000"/>
          </a:p>
        </p:txBody>
      </p:sp>
      <p:sp>
        <p:nvSpPr>
          <p:cNvPr id="16" name="s_cell1590"/>
          <p:cNvSpPr txBox="1"/>
          <p:nvPr/>
        </p:nvSpPr>
        <p:spPr>
          <a:xfrm>
            <a:off x="132588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</a:t>
            </a:r>
            <a:endParaRPr lang="en-US" dirty="0" sz="1000"/>
          </a:p>
        </p:txBody>
      </p:sp>
      <p:sp>
        <p:nvSpPr>
          <p:cNvPr id="17" name="Text 15"/>
          <p:cNvSpPr txBox="1"/>
          <p:nvPr/>
        </p:nvSpPr>
        <p:spPr>
          <a:xfrm>
            <a:off x="2514600" y="1188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query · Customers (lookup)</a:t>
            </a:r>
            <a:endParaRPr lang="en-US" dirty="0" sz="1100"/>
          </a:p>
        </p:txBody>
      </p:sp>
      <p:sp>
        <p:nvSpPr>
          <p:cNvPr id="18" name="s_cell1591"/>
          <p:cNvSpPr txBox="1"/>
          <p:nvPr/>
        </p:nvSpPr>
        <p:spPr>
          <a:xfrm>
            <a:off x="2514600" y="1463040"/>
            <a:ext cx="868680" cy="256032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19" name="s_cell1592"/>
          <p:cNvSpPr txBox="1"/>
          <p:nvPr/>
        </p:nvSpPr>
        <p:spPr>
          <a:xfrm>
            <a:off x="251460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000"/>
          </a:p>
        </p:txBody>
      </p:sp>
      <p:sp>
        <p:nvSpPr>
          <p:cNvPr id="20" name="s_cell1593"/>
          <p:cNvSpPr txBox="1"/>
          <p:nvPr/>
        </p:nvSpPr>
        <p:spPr>
          <a:xfrm>
            <a:off x="251460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21" name="s_cell1594"/>
          <p:cNvSpPr txBox="1"/>
          <p:nvPr/>
        </p:nvSpPr>
        <p:spPr>
          <a:xfrm>
            <a:off x="2514600" y="223113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22" name="s_cell1595"/>
          <p:cNvSpPr txBox="1"/>
          <p:nvPr/>
        </p:nvSpPr>
        <p:spPr>
          <a:xfrm>
            <a:off x="251460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000"/>
          </a:p>
        </p:txBody>
      </p:sp>
      <p:sp>
        <p:nvSpPr>
          <p:cNvPr id="23" name="s_cell1596"/>
          <p:cNvSpPr txBox="1"/>
          <p:nvPr/>
        </p:nvSpPr>
        <p:spPr>
          <a:xfrm>
            <a:off x="251460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000"/>
          </a:p>
        </p:txBody>
      </p:sp>
      <p:sp>
        <p:nvSpPr>
          <p:cNvPr id="24" name="s_cell1597"/>
          <p:cNvSpPr txBox="1"/>
          <p:nvPr/>
        </p:nvSpPr>
        <p:spPr>
          <a:xfrm>
            <a:off x="3383280" y="1463040"/>
            <a:ext cx="868680" cy="256032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25" name="s_cell1598"/>
          <p:cNvSpPr txBox="1"/>
          <p:nvPr/>
        </p:nvSpPr>
        <p:spPr>
          <a:xfrm>
            <a:off x="338328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Goldberg</a:t>
            </a:r>
            <a:endParaRPr lang="en-US" dirty="0" sz="1000"/>
          </a:p>
        </p:txBody>
      </p:sp>
      <p:sp>
        <p:nvSpPr>
          <p:cNvPr id="26" name="s_cell1599"/>
          <p:cNvSpPr txBox="1"/>
          <p:nvPr/>
        </p:nvSpPr>
        <p:spPr>
          <a:xfrm>
            <a:off x="338328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27" name="s_cell1600"/>
          <p:cNvSpPr txBox="1"/>
          <p:nvPr/>
        </p:nvSpPr>
        <p:spPr>
          <a:xfrm>
            <a:off x="3383280" y="2231136"/>
            <a:ext cx="86868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28" name="s_cell1601"/>
          <p:cNvSpPr txBox="1"/>
          <p:nvPr/>
        </p:nvSpPr>
        <p:spPr>
          <a:xfrm>
            <a:off x="338328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Schwarz</a:t>
            </a:r>
            <a:endParaRPr lang="en-US" dirty="0" sz="1000"/>
          </a:p>
        </p:txBody>
      </p:sp>
      <p:sp>
        <p:nvSpPr>
          <p:cNvPr id="29" name="s_cell1602"/>
          <p:cNvSpPr txBox="1"/>
          <p:nvPr/>
        </p:nvSpPr>
        <p:spPr>
          <a:xfrm>
            <a:off x="338328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</a:t>
            </a:r>
            <a:endParaRPr lang="en-US" dirty="0" sz="1000"/>
          </a:p>
        </p:txBody>
      </p:sp>
      <p:sp>
        <p:nvSpPr>
          <p:cNvPr id="30" name="a1f_rl1603"/>
          <p:cNvSpPr txBox="1"/>
          <p:nvPr/>
        </p:nvSpPr>
        <p:spPr>
          <a:xfrm>
            <a:off x="484632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100"/>
          </a:p>
        </p:txBody>
      </p:sp>
      <p:sp>
        <p:nvSpPr>
          <p:cNvPr id="31" name="a1f_cell1604"/>
          <p:cNvSpPr txBox="1"/>
          <p:nvPr/>
        </p:nvSpPr>
        <p:spPr>
          <a:xfrm>
            <a:off x="4846320" y="1463040"/>
            <a:ext cx="960120" cy="256032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32" name="a1f_cell1605"/>
          <p:cNvSpPr txBox="1"/>
          <p:nvPr/>
        </p:nvSpPr>
        <p:spPr>
          <a:xfrm>
            <a:off x="5806440" y="1463040"/>
            <a:ext cx="960120" cy="256032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900" b="1" spc="200" kern="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</a:t>
            </a:r>
            <a:endParaRPr lang="en-US" dirty="0" sz="900"/>
          </a:p>
        </p:txBody>
      </p:sp>
      <p:sp>
        <p:nvSpPr>
          <p:cNvPr id="35" name="a1fd200_log1606"/>
          <p:cNvSpPr txBox="1"/>
          <p:nvPr/>
        </p:nvSpPr>
        <p:spPr>
          <a:xfrm>
            <a:off x="640080" y="3383280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Column names come from the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query</a:t>
            </a:r>
            <a:endParaRPr lang="en-US" dirty="0" sz="1000"/>
          </a:p>
        </p:txBody>
      </p:sp>
      <p:sp>
        <p:nvSpPr>
          <p:cNvPr id="36" name="a2f_bdg1607"/>
          <p:cNvSpPr txBox="1"/>
          <p:nvPr/>
        </p:nvSpPr>
        <p:spPr>
          <a:xfrm>
            <a:off x="2249424" y="1737360"/>
            <a:ext cx="219456" cy="21945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 sz="900"/>
          </a:p>
        </p:txBody>
      </p:sp>
      <p:sp>
        <p:nvSpPr>
          <p:cNvPr id="37" name="a2wd200_dot1608"/>
          <p:cNvSpPr/>
          <p:nvPr/>
        </p:nvSpPr>
        <p:spPr>
          <a:xfrm>
            <a:off x="4663440" y="179222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a2wd200_cell1609"/>
          <p:cNvSpPr txBox="1"/>
          <p:nvPr/>
        </p:nvSpPr>
        <p:spPr>
          <a:xfrm>
            <a:off x="4846320" y="1719072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000"/>
          </a:p>
        </p:txBody>
      </p:sp>
      <p:sp>
        <p:nvSpPr>
          <p:cNvPr id="39" name="a2wd200_cell1610"/>
          <p:cNvSpPr txBox="1"/>
          <p:nvPr/>
        </p:nvSpPr>
        <p:spPr>
          <a:xfrm>
            <a:off x="5806440" y="1719072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endParaRPr lang="en-US" dirty="0" sz="1000"/>
          </a:p>
        </p:txBody>
      </p:sp>
      <p:sp>
        <p:nvSpPr>
          <p:cNvPr id="40" name="a2fd200_log1611"/>
          <p:cNvSpPr txBox="1"/>
          <p:nvPr/>
        </p:nvSpPr>
        <p:spPr>
          <a:xfrm>
            <a:off x="640080" y="3557016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Frank → not a customer →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dirty="0" sz="1000"/>
          </a:p>
        </p:txBody>
      </p:sp>
      <p:sp>
        <p:nvSpPr>
          <p:cNvPr id="41" name="a3f_bdg1612"/>
          <p:cNvSpPr txBox="1"/>
          <p:nvPr/>
        </p:nvSpPr>
        <p:spPr>
          <a:xfrm>
            <a:off x="2249424" y="1993392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42" name="a3fd150_ro1613"/>
          <p:cNvSpPr/>
          <p:nvPr/>
        </p:nvSpPr>
        <p:spPr>
          <a:xfrm>
            <a:off x="2496312" y="1984248"/>
            <a:ext cx="1773936" cy="23774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43" name="a3fd200_log1614"/>
          <p:cNvSpPr txBox="1"/>
          <p:nvPr/>
        </p:nvSpPr>
        <p:spPr>
          <a:xfrm>
            <a:off x="640080" y="3730752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Kevin → found in customers → </a:t>
            </a:r>
            <a:r>
              <a:rPr sz="10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dirty="0" sz="1000"/>
          </a:p>
        </p:txBody>
      </p:sp>
      <p:sp>
        <p:nvSpPr>
          <p:cNvPr id="44" name="a4f_bdg1615"/>
          <p:cNvSpPr txBox="1"/>
          <p:nvPr/>
        </p:nvSpPr>
        <p:spPr>
          <a:xfrm>
            <a:off x="2249424" y="2249424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45" name="a4fd150_ro1616"/>
          <p:cNvSpPr/>
          <p:nvPr/>
        </p:nvSpPr>
        <p:spPr>
          <a:xfrm>
            <a:off x="2496312" y="2240280"/>
            <a:ext cx="1773936" cy="23774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46" name="a4fd200_log1617"/>
          <p:cNvSpPr txBox="1"/>
          <p:nvPr/>
        </p:nvSpPr>
        <p:spPr>
          <a:xfrm>
            <a:off x="640080" y="3904488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Mary → found in customers → </a:t>
            </a:r>
            <a:r>
              <a:rPr sz="10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dirty="0" sz="1000"/>
          </a:p>
        </p:txBody>
      </p:sp>
      <p:sp>
        <p:nvSpPr>
          <p:cNvPr id="47" name="a5f_bdg1618"/>
          <p:cNvSpPr txBox="1"/>
          <p:nvPr/>
        </p:nvSpPr>
        <p:spPr>
          <a:xfrm>
            <a:off x="2249424" y="2505456"/>
            <a:ext cx="219456" cy="21945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 sz="900"/>
          </a:p>
        </p:txBody>
      </p:sp>
      <p:sp>
        <p:nvSpPr>
          <p:cNvPr id="48" name="a5wd200_dot1619"/>
          <p:cNvSpPr/>
          <p:nvPr/>
        </p:nvSpPr>
        <p:spPr>
          <a:xfrm>
            <a:off x="4663440" y="20482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a5wd200_cell1620"/>
          <p:cNvSpPr txBox="1"/>
          <p:nvPr/>
        </p:nvSpPr>
        <p:spPr>
          <a:xfrm>
            <a:off x="4846320" y="1975104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000"/>
          </a:p>
        </p:txBody>
      </p:sp>
      <p:sp>
        <p:nvSpPr>
          <p:cNvPr id="50" name="a5wd200_cell1621"/>
          <p:cNvSpPr txBox="1"/>
          <p:nvPr/>
        </p:nvSpPr>
        <p:spPr>
          <a:xfrm>
            <a:off x="5806440" y="1975104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dirty="0" sz="1000"/>
          </a:p>
        </p:txBody>
      </p:sp>
      <p:sp>
        <p:nvSpPr>
          <p:cNvPr id="51" name="a5fd200_log1622"/>
          <p:cNvSpPr txBox="1"/>
          <p:nvPr/>
        </p:nvSpPr>
        <p:spPr>
          <a:xfrm>
            <a:off x="640080" y="4078224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Michael → not a customer →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dirty="0" sz="1000"/>
          </a:p>
        </p:txBody>
      </p:sp>
      <p:sp>
        <p:nvSpPr>
          <p:cNvPr id="52" name="a6f_bdg1623"/>
          <p:cNvSpPr txBox="1"/>
          <p:nvPr/>
        </p:nvSpPr>
        <p:spPr>
          <a:xfrm>
            <a:off x="2249424" y="2761488"/>
            <a:ext cx="219456" cy="21945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 sz="900"/>
          </a:p>
        </p:txBody>
      </p:sp>
      <p:sp>
        <p:nvSpPr>
          <p:cNvPr id="53" name="a6wd200_dot1624"/>
          <p:cNvSpPr/>
          <p:nvPr/>
        </p:nvSpPr>
        <p:spPr>
          <a:xfrm>
            <a:off x="4663440" y="230428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4" name="a6wd200_cell1625"/>
          <p:cNvSpPr txBox="1"/>
          <p:nvPr/>
        </p:nvSpPr>
        <p:spPr>
          <a:xfrm>
            <a:off x="4846320" y="2231136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000"/>
          </a:p>
        </p:txBody>
      </p:sp>
      <p:sp>
        <p:nvSpPr>
          <p:cNvPr id="55" name="a6wd200_cell1626"/>
          <p:cNvSpPr txBox="1"/>
          <p:nvPr/>
        </p:nvSpPr>
        <p:spPr>
          <a:xfrm>
            <a:off x="5806440" y="2231136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</a:t>
            </a:r>
            <a:endParaRPr lang="en-US" dirty="0" sz="1000"/>
          </a:p>
        </p:txBody>
      </p:sp>
      <p:sp>
        <p:nvSpPr>
          <p:cNvPr id="56" name="a6fd200_log1627"/>
          <p:cNvSpPr txBox="1"/>
          <p:nvPr/>
        </p:nvSpPr>
        <p:spPr>
          <a:xfrm>
            <a:off x="640080" y="4251960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Carol → not a customer →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dirty="0" sz="1000"/>
          </a:p>
        </p:txBody>
      </p:sp>
      <p:sp>
        <p:nvSpPr>
          <p:cNvPr id="57" name="a7u_tb1628"/>
          <p:cNvSpPr/>
          <p:nvPr/>
        </p:nvSpPr>
        <p:spPr>
          <a:xfrm>
            <a:off x="6995160" y="11887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8" name="a7u_tt1629"/>
          <p:cNvSpPr txBox="1"/>
          <p:nvPr/>
        </p:nvSpPr>
        <p:spPr>
          <a:xfrm>
            <a:off x="7132320" y="1188720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queries and you get Joseph, Mark, Anna instead. Order matters!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n1630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60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dirty="0" sz="6000"/>
          </a:p>
        </p:txBody>
      </p:sp>
      <p:sp>
        <p:nvSpPr>
          <p:cNvPr id="3" name="a0ud200_h1631"/>
          <p:cNvSpPr txBox="1"/>
          <p:nvPr/>
        </p:nvSpPr>
        <p:spPr>
          <a:xfrm>
            <a:off x="5486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4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</a:t>
            </a:r>
            <a:endParaRPr lang="en-US" dirty="0" sz="4000"/>
          </a:p>
        </p:txBody>
      </p:sp>
      <p:sp>
        <p:nvSpPr>
          <p:cNvPr id="4" name="a0fd450_t1632"/>
          <p:cNvSpPr txBox="1"/>
          <p:nvPr/>
        </p:nvSpPr>
        <p:spPr>
          <a:xfrm>
            <a:off x="548640" y="2834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700"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rows that appear in both queries</a:t>
            </a:r>
            <a:endParaRPr lang="en-US" dirty="0" sz="1700"/>
          </a:p>
        </p:txBody>
      </p:sp>
      <p:pic>
        <p:nvPicPr>
          <p:cNvPr id="5" name="a0fd300_v1633" descr="219ee9bd1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0" cy="231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 — Concept &amp; Query</a:t>
            </a:r>
            <a:endParaRPr lang="en-US" dirty="0" sz="2800"/>
          </a:p>
        </p:txBody>
      </p:sp>
      <p:pic>
        <p:nvPicPr>
          <p:cNvPr id="3" name="Image 0" descr="1aa22eb5d0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3657600" cy="2316480"/>
          </a:xfrm>
          <a:prstGeom prst="rect">
            <a:avLst/>
          </a:prstGeom>
        </p:spPr>
      </p:pic>
      <p:sp>
        <p:nvSpPr>
          <p:cNvPr id="4" name="a2f_nm1634"/>
          <p:cNvSpPr txBox="1"/>
          <p:nvPr/>
        </p:nvSpPr>
        <p:spPr>
          <a:xfrm>
            <a:off x="868680" y="17480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200"/>
          </a:p>
        </p:txBody>
      </p:sp>
      <p:sp>
        <p:nvSpPr>
          <p:cNvPr id="5" name="a2f_nm1635"/>
          <p:cNvSpPr txBox="1"/>
          <p:nvPr/>
        </p:nvSpPr>
        <p:spPr>
          <a:xfrm>
            <a:off x="868680" y="19949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200"/>
          </a:p>
        </p:txBody>
      </p:sp>
      <p:sp>
        <p:nvSpPr>
          <p:cNvPr id="6" name="a2f_nm1636"/>
          <p:cNvSpPr txBox="1"/>
          <p:nvPr/>
        </p:nvSpPr>
        <p:spPr>
          <a:xfrm>
            <a:off x="868680" y="224180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200"/>
          </a:p>
        </p:txBody>
      </p:sp>
      <p:sp>
        <p:nvSpPr>
          <p:cNvPr id="7" name="a2fd250_nm1637"/>
          <p:cNvSpPr txBox="1"/>
          <p:nvPr/>
        </p:nvSpPr>
        <p:spPr>
          <a:xfrm>
            <a:off x="1783080" y="187147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200"/>
          </a:p>
        </p:txBody>
      </p:sp>
      <p:sp>
        <p:nvSpPr>
          <p:cNvPr id="8" name="a2fd250_nm1638"/>
          <p:cNvSpPr txBox="1"/>
          <p:nvPr/>
        </p:nvSpPr>
        <p:spPr>
          <a:xfrm>
            <a:off x="1783080" y="21183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200"/>
          </a:p>
        </p:txBody>
      </p:sp>
      <p:sp>
        <p:nvSpPr>
          <p:cNvPr id="9" name="a2fd500_nm1639"/>
          <p:cNvSpPr txBox="1"/>
          <p:nvPr/>
        </p:nvSpPr>
        <p:spPr>
          <a:xfrm>
            <a:off x="2697480" y="17480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200"/>
          </a:p>
        </p:txBody>
      </p:sp>
      <p:sp>
        <p:nvSpPr>
          <p:cNvPr id="10" name="a2fd500_nm1640"/>
          <p:cNvSpPr txBox="1"/>
          <p:nvPr/>
        </p:nvSpPr>
        <p:spPr>
          <a:xfrm>
            <a:off x="2697480" y="19949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200"/>
          </a:p>
        </p:txBody>
      </p:sp>
      <p:sp>
        <p:nvSpPr>
          <p:cNvPr id="11" name="a2fd500_nm1641"/>
          <p:cNvSpPr txBox="1"/>
          <p:nvPr/>
        </p:nvSpPr>
        <p:spPr>
          <a:xfrm>
            <a:off x="2697480" y="224180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200"/>
          </a:p>
        </p:txBody>
      </p:sp>
      <p:sp>
        <p:nvSpPr>
          <p:cNvPr id="12" name="Text 9"/>
          <p:cNvSpPr txBox="1"/>
          <p:nvPr/>
        </p:nvSpPr>
        <p:spPr>
          <a:xfrm>
            <a:off x="457200" y="3304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(1st query)</a:t>
            </a:r>
            <a:endParaRPr lang="en-US" dirty="0" sz="1100"/>
          </a:p>
        </p:txBody>
      </p:sp>
      <p:sp>
        <p:nvSpPr>
          <p:cNvPr id="13" name="Text 10"/>
          <p:cNvSpPr txBox="1"/>
          <p:nvPr/>
        </p:nvSpPr>
        <p:spPr>
          <a:xfrm>
            <a:off x="2286000" y="3304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(2nd query)</a:t>
            </a:r>
            <a:endParaRPr lang="en-US" dirty="0" sz="1100"/>
          </a:p>
        </p:txBody>
      </p:sp>
      <p:sp>
        <p:nvSpPr>
          <p:cNvPr id="14" name="a4u_pill1642"/>
          <p:cNvSpPr txBox="1"/>
          <p:nvPr/>
        </p:nvSpPr>
        <p:spPr>
          <a:xfrm>
            <a:off x="457200" y="370332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dirty="0" sz="1200"/>
          </a:p>
        </p:txBody>
      </p:sp>
      <p:sp>
        <p:nvSpPr>
          <p:cNvPr id="15" name="a4ud200_pill1643"/>
          <p:cNvSpPr txBox="1"/>
          <p:nvPr/>
        </p:nvSpPr>
        <p:spPr>
          <a:xfrm>
            <a:off x="457200" y="420624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39700" tIns="0" rIns="13970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order:  </a:t>
            </a: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dirty="0" sz="1200"/>
          </a:p>
        </p:txBody>
      </p:sp>
      <p:sp>
        <p:nvSpPr>
          <p:cNvPr id="16" name="Text 13"/>
          <p:cNvSpPr txBox="1"/>
          <p:nvPr/>
        </p:nvSpPr>
        <p:spPr>
          <a:xfrm>
            <a:off x="4434840" y="914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the rows common to both queries — similar in spirit to INNER JOIN.</a:t>
            </a:r>
            <a:endParaRPr lang="en-US" dirty="0" sz="1500"/>
          </a:p>
        </p:txBody>
      </p:sp>
      <p:sp>
        <p:nvSpPr>
          <p:cNvPr id="17" name="a1f_codebg1644"/>
          <p:cNvSpPr/>
          <p:nvPr/>
        </p:nvSpPr>
        <p:spPr>
          <a:xfrm>
            <a:off x="4434840" y="1691640"/>
            <a:ext cx="425196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a1f_hl1645"/>
          <p:cNvSpPr/>
          <p:nvPr/>
        </p:nvSpPr>
        <p:spPr>
          <a:xfrm>
            <a:off x="4507992" y="2340864"/>
            <a:ext cx="4105656" cy="256032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a1wd0_code1646"/>
          <p:cNvSpPr txBox="1"/>
          <p:nvPr/>
        </p:nvSpPr>
        <p:spPr>
          <a:xfrm>
            <a:off x="4617720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20" name="a1wd120_code1647"/>
          <p:cNvSpPr txBox="1"/>
          <p:nvPr/>
        </p:nvSpPr>
        <p:spPr>
          <a:xfrm>
            <a:off x="4617720" y="2084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dirty="0" sz="1200"/>
          </a:p>
        </p:txBody>
      </p:sp>
      <p:sp>
        <p:nvSpPr>
          <p:cNvPr id="21" name="a1wd240_code1648"/>
          <p:cNvSpPr txBox="1"/>
          <p:nvPr/>
        </p:nvSpPr>
        <p:spPr>
          <a:xfrm>
            <a:off x="4617720" y="2340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dirty="0" sz="1200"/>
          </a:p>
        </p:txBody>
      </p:sp>
      <p:sp>
        <p:nvSpPr>
          <p:cNvPr id="22" name="a1wd360_code1649"/>
          <p:cNvSpPr txBox="1"/>
          <p:nvPr/>
        </p:nvSpPr>
        <p:spPr>
          <a:xfrm>
            <a:off x="4617720" y="2596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dirty="0" sz="1200"/>
          </a:p>
        </p:txBody>
      </p:sp>
      <p:sp>
        <p:nvSpPr>
          <p:cNvPr id="23" name="a1wd480_code1650"/>
          <p:cNvSpPr txBox="1"/>
          <p:nvPr/>
        </p:nvSpPr>
        <p:spPr>
          <a:xfrm>
            <a:off x="461772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2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200"/>
          </a:p>
        </p:txBody>
      </p:sp>
      <p:sp>
        <p:nvSpPr>
          <p:cNvPr id="24" name="a3f_rl1651"/>
          <p:cNvSpPr txBox="1"/>
          <p:nvPr/>
        </p:nvSpPr>
        <p:spPr>
          <a:xfrm>
            <a:off x="44348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2 rows</a:t>
            </a:r>
            <a:endParaRPr lang="en-US" dirty="0" sz="1200"/>
          </a:p>
        </p:txBody>
      </p:sp>
      <p:sp>
        <p:nvSpPr>
          <p:cNvPr id="25" name="a3ud0_box1652"/>
          <p:cNvSpPr txBox="1"/>
          <p:nvPr/>
        </p:nvSpPr>
        <p:spPr>
          <a:xfrm>
            <a:off x="4434840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100"/>
          </a:p>
        </p:txBody>
      </p:sp>
      <p:sp>
        <p:nvSpPr>
          <p:cNvPr id="26" name="a3ud90_box1653"/>
          <p:cNvSpPr txBox="1"/>
          <p:nvPr/>
        </p:nvSpPr>
        <p:spPr>
          <a:xfrm>
            <a:off x="5294376" y="3566160"/>
            <a:ext cx="786384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4" grpId="0" animBg="1"/>
      <p:bldP spid="25" grpId="0" animBg="1"/>
      <p:bldP spid="26" grpId="0" animBg="1"/>
      <p:bldP spid="14" grpId="0" animBg="1"/>
      <p:bldP spid="15" grpId="0" animBg="1"/>
    </p:bld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INTERSECT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employees who are also customers</a:t>
            </a:r>
            <a:endParaRPr lang="en-US" dirty="0" sz="130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query · Employees</a:t>
            </a:r>
            <a:endParaRPr lang="en-US" dirty="0" sz="1100"/>
          </a:p>
        </p:txBody>
      </p:sp>
      <p:sp>
        <p:nvSpPr>
          <p:cNvPr id="5" name="s_cell1654"/>
          <p:cNvSpPr txBox="1"/>
          <p:nvPr/>
        </p:nvSpPr>
        <p:spPr>
          <a:xfrm>
            <a:off x="457200" y="1463040"/>
            <a:ext cx="868680" cy="2560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6" name="s_cell1655"/>
          <p:cNvSpPr txBox="1"/>
          <p:nvPr/>
        </p:nvSpPr>
        <p:spPr>
          <a:xfrm>
            <a:off x="45720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dirty="0" sz="1000"/>
          </a:p>
        </p:txBody>
      </p:sp>
      <p:sp>
        <p:nvSpPr>
          <p:cNvPr id="7" name="s_cell1656"/>
          <p:cNvSpPr txBox="1"/>
          <p:nvPr/>
        </p:nvSpPr>
        <p:spPr>
          <a:xfrm>
            <a:off x="45720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8" name="s_cell1657"/>
          <p:cNvSpPr txBox="1"/>
          <p:nvPr/>
        </p:nvSpPr>
        <p:spPr>
          <a:xfrm>
            <a:off x="457200" y="223113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9" name="s_cell1658"/>
          <p:cNvSpPr txBox="1"/>
          <p:nvPr/>
        </p:nvSpPr>
        <p:spPr>
          <a:xfrm>
            <a:off x="45720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dirty="0" sz="1000"/>
          </a:p>
        </p:txBody>
      </p:sp>
      <p:sp>
        <p:nvSpPr>
          <p:cNvPr id="10" name="s_cell1659"/>
          <p:cNvSpPr txBox="1"/>
          <p:nvPr/>
        </p:nvSpPr>
        <p:spPr>
          <a:xfrm>
            <a:off x="45720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dirty="0" sz="1000"/>
          </a:p>
        </p:txBody>
      </p:sp>
      <p:sp>
        <p:nvSpPr>
          <p:cNvPr id="11" name="s_cell1660"/>
          <p:cNvSpPr txBox="1"/>
          <p:nvPr/>
        </p:nvSpPr>
        <p:spPr>
          <a:xfrm>
            <a:off x="1325880" y="1463040"/>
            <a:ext cx="868680" cy="2560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12" name="s_cell1661"/>
          <p:cNvSpPr txBox="1"/>
          <p:nvPr/>
        </p:nvSpPr>
        <p:spPr>
          <a:xfrm>
            <a:off x="132588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</a:t>
            </a:r>
            <a:endParaRPr lang="en-US" dirty="0" sz="1000"/>
          </a:p>
        </p:txBody>
      </p:sp>
      <p:sp>
        <p:nvSpPr>
          <p:cNvPr id="13" name="s_cell1662"/>
          <p:cNvSpPr txBox="1"/>
          <p:nvPr/>
        </p:nvSpPr>
        <p:spPr>
          <a:xfrm>
            <a:off x="132588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14" name="s_cell1663"/>
          <p:cNvSpPr txBox="1"/>
          <p:nvPr/>
        </p:nvSpPr>
        <p:spPr>
          <a:xfrm>
            <a:off x="1325880" y="2231136"/>
            <a:ext cx="86868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15" name="s_cell1664"/>
          <p:cNvSpPr txBox="1"/>
          <p:nvPr/>
        </p:nvSpPr>
        <p:spPr>
          <a:xfrm>
            <a:off x="132588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</a:t>
            </a:r>
            <a:endParaRPr lang="en-US" dirty="0" sz="1000"/>
          </a:p>
        </p:txBody>
      </p:sp>
      <p:sp>
        <p:nvSpPr>
          <p:cNvPr id="16" name="s_cell1665"/>
          <p:cNvSpPr txBox="1"/>
          <p:nvPr/>
        </p:nvSpPr>
        <p:spPr>
          <a:xfrm>
            <a:off x="132588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</a:t>
            </a:r>
            <a:endParaRPr lang="en-US" dirty="0" sz="1000"/>
          </a:p>
        </p:txBody>
      </p:sp>
      <p:sp>
        <p:nvSpPr>
          <p:cNvPr id="17" name="Text 15"/>
          <p:cNvSpPr txBox="1"/>
          <p:nvPr/>
        </p:nvSpPr>
        <p:spPr>
          <a:xfrm>
            <a:off x="2514600" y="1188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query · Customers (lookup)</a:t>
            </a:r>
            <a:endParaRPr lang="en-US" dirty="0" sz="1100"/>
          </a:p>
        </p:txBody>
      </p:sp>
      <p:sp>
        <p:nvSpPr>
          <p:cNvPr id="18" name="s_cell1666"/>
          <p:cNvSpPr txBox="1"/>
          <p:nvPr/>
        </p:nvSpPr>
        <p:spPr>
          <a:xfrm>
            <a:off x="2514600" y="1463040"/>
            <a:ext cx="868680" cy="256032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19" name="s_cell1667"/>
          <p:cNvSpPr txBox="1"/>
          <p:nvPr/>
        </p:nvSpPr>
        <p:spPr>
          <a:xfrm>
            <a:off x="251460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</a:t>
            </a:r>
            <a:endParaRPr lang="en-US" dirty="0" sz="1000"/>
          </a:p>
        </p:txBody>
      </p:sp>
      <p:sp>
        <p:nvSpPr>
          <p:cNvPr id="20" name="s_cell1668"/>
          <p:cNvSpPr txBox="1"/>
          <p:nvPr/>
        </p:nvSpPr>
        <p:spPr>
          <a:xfrm>
            <a:off x="251460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21" name="s_cell1669"/>
          <p:cNvSpPr txBox="1"/>
          <p:nvPr/>
        </p:nvSpPr>
        <p:spPr>
          <a:xfrm>
            <a:off x="2514600" y="223113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22" name="s_cell1670"/>
          <p:cNvSpPr txBox="1"/>
          <p:nvPr/>
        </p:nvSpPr>
        <p:spPr>
          <a:xfrm>
            <a:off x="251460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dirty="0" sz="1000"/>
          </a:p>
        </p:txBody>
      </p:sp>
      <p:sp>
        <p:nvSpPr>
          <p:cNvPr id="23" name="s_cell1671"/>
          <p:cNvSpPr txBox="1"/>
          <p:nvPr/>
        </p:nvSpPr>
        <p:spPr>
          <a:xfrm>
            <a:off x="251460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dirty="0" sz="1000"/>
          </a:p>
        </p:txBody>
      </p:sp>
      <p:sp>
        <p:nvSpPr>
          <p:cNvPr id="24" name="s_cell1672"/>
          <p:cNvSpPr txBox="1"/>
          <p:nvPr/>
        </p:nvSpPr>
        <p:spPr>
          <a:xfrm>
            <a:off x="3383280" y="1463040"/>
            <a:ext cx="868680" cy="256032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25" name="s_cell1673"/>
          <p:cNvSpPr txBox="1"/>
          <p:nvPr/>
        </p:nvSpPr>
        <p:spPr>
          <a:xfrm>
            <a:off x="3383280" y="1719072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Goldberg</a:t>
            </a:r>
            <a:endParaRPr lang="en-US" dirty="0" sz="1000"/>
          </a:p>
        </p:txBody>
      </p:sp>
      <p:sp>
        <p:nvSpPr>
          <p:cNvPr id="26" name="s_cell1674"/>
          <p:cNvSpPr txBox="1"/>
          <p:nvPr/>
        </p:nvSpPr>
        <p:spPr>
          <a:xfrm>
            <a:off x="3383280" y="1975104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27" name="s_cell1675"/>
          <p:cNvSpPr txBox="1"/>
          <p:nvPr/>
        </p:nvSpPr>
        <p:spPr>
          <a:xfrm>
            <a:off x="3383280" y="2231136"/>
            <a:ext cx="86868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28" name="s_cell1676"/>
          <p:cNvSpPr txBox="1"/>
          <p:nvPr/>
        </p:nvSpPr>
        <p:spPr>
          <a:xfrm>
            <a:off x="3383280" y="248716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Schwarz</a:t>
            </a:r>
            <a:endParaRPr lang="en-US" dirty="0" sz="1000"/>
          </a:p>
        </p:txBody>
      </p:sp>
      <p:sp>
        <p:nvSpPr>
          <p:cNvPr id="29" name="s_cell1677"/>
          <p:cNvSpPr txBox="1"/>
          <p:nvPr/>
        </p:nvSpPr>
        <p:spPr>
          <a:xfrm>
            <a:off x="3383280" y="274320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</a:t>
            </a:r>
            <a:endParaRPr lang="en-US" dirty="0" sz="1000"/>
          </a:p>
        </p:txBody>
      </p:sp>
      <p:sp>
        <p:nvSpPr>
          <p:cNvPr id="30" name="a1f_rl1678"/>
          <p:cNvSpPr txBox="1"/>
          <p:nvPr/>
        </p:nvSpPr>
        <p:spPr>
          <a:xfrm>
            <a:off x="484632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dirty="0" sz="1100"/>
          </a:p>
        </p:txBody>
      </p:sp>
      <p:sp>
        <p:nvSpPr>
          <p:cNvPr id="31" name="a1f_cell1679"/>
          <p:cNvSpPr txBox="1"/>
          <p:nvPr/>
        </p:nvSpPr>
        <p:spPr>
          <a:xfrm>
            <a:off x="4846320" y="1463040"/>
            <a:ext cx="960120" cy="256032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dirty="0" sz="1000"/>
          </a:p>
        </p:txBody>
      </p:sp>
      <p:sp>
        <p:nvSpPr>
          <p:cNvPr id="32" name="a1f_cell1680"/>
          <p:cNvSpPr txBox="1"/>
          <p:nvPr/>
        </p:nvSpPr>
        <p:spPr>
          <a:xfrm>
            <a:off x="5806440" y="1463040"/>
            <a:ext cx="960120" cy="256032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dirty="0" sz="100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154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900" b="1" spc="200" kern="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</a:t>
            </a:r>
            <a:endParaRPr lang="en-US" dirty="0" sz="900"/>
          </a:p>
        </p:txBody>
      </p:sp>
      <p:sp>
        <p:nvSpPr>
          <p:cNvPr id="35" name="a1fd200_log1681"/>
          <p:cNvSpPr txBox="1"/>
          <p:nvPr/>
        </p:nvSpPr>
        <p:spPr>
          <a:xfrm>
            <a:off x="640080" y="3383280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Column names come from the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query</a:t>
            </a:r>
            <a:endParaRPr lang="en-US" dirty="0" sz="1000"/>
          </a:p>
        </p:txBody>
      </p:sp>
      <p:sp>
        <p:nvSpPr>
          <p:cNvPr id="36" name="a2f_bdg1682"/>
          <p:cNvSpPr txBox="1"/>
          <p:nvPr/>
        </p:nvSpPr>
        <p:spPr>
          <a:xfrm>
            <a:off x="2249424" y="1737360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37" name="a2fd200_log1683"/>
          <p:cNvSpPr txBox="1"/>
          <p:nvPr/>
        </p:nvSpPr>
        <p:spPr>
          <a:xfrm>
            <a:off x="640080" y="3557016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Frank → not a customer → </a:t>
            </a:r>
            <a:r>
              <a:rPr sz="10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dirty="0" sz="1000"/>
          </a:p>
        </p:txBody>
      </p:sp>
      <p:sp>
        <p:nvSpPr>
          <p:cNvPr id="38" name="a3f_bdg1684"/>
          <p:cNvSpPr txBox="1"/>
          <p:nvPr/>
        </p:nvSpPr>
        <p:spPr>
          <a:xfrm>
            <a:off x="2249424" y="1993392"/>
            <a:ext cx="219456" cy="21945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 sz="900"/>
          </a:p>
        </p:txBody>
      </p:sp>
      <p:sp>
        <p:nvSpPr>
          <p:cNvPr id="39" name="a3fd150_ro1685"/>
          <p:cNvSpPr/>
          <p:nvPr/>
        </p:nvSpPr>
        <p:spPr>
          <a:xfrm>
            <a:off x="2496312" y="1984248"/>
            <a:ext cx="1773936" cy="23774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40" name="a3wd200_dot1686"/>
          <p:cNvSpPr/>
          <p:nvPr/>
        </p:nvSpPr>
        <p:spPr>
          <a:xfrm>
            <a:off x="4663440" y="179222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a3wd200_cell1687"/>
          <p:cNvSpPr txBox="1"/>
          <p:nvPr/>
        </p:nvSpPr>
        <p:spPr>
          <a:xfrm>
            <a:off x="4846320" y="1719072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dirty="0" sz="1000"/>
          </a:p>
        </p:txBody>
      </p:sp>
      <p:sp>
        <p:nvSpPr>
          <p:cNvPr id="42" name="a3wd200_cell1688"/>
          <p:cNvSpPr txBox="1"/>
          <p:nvPr/>
        </p:nvSpPr>
        <p:spPr>
          <a:xfrm>
            <a:off x="5806440" y="1719072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dirty="0" sz="1000"/>
          </a:p>
        </p:txBody>
      </p:sp>
      <p:sp>
        <p:nvSpPr>
          <p:cNvPr id="43" name="a3fd200_log1689"/>
          <p:cNvSpPr txBox="1"/>
          <p:nvPr/>
        </p:nvSpPr>
        <p:spPr>
          <a:xfrm>
            <a:off x="640080" y="3730752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Kevin → also a customer →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dirty="0" sz="1000"/>
          </a:p>
        </p:txBody>
      </p:sp>
      <p:sp>
        <p:nvSpPr>
          <p:cNvPr id="44" name="a4f_bdg1690"/>
          <p:cNvSpPr txBox="1"/>
          <p:nvPr/>
        </p:nvSpPr>
        <p:spPr>
          <a:xfrm>
            <a:off x="2249424" y="2249424"/>
            <a:ext cx="219456" cy="219456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dirty="0" sz="900"/>
          </a:p>
        </p:txBody>
      </p:sp>
      <p:sp>
        <p:nvSpPr>
          <p:cNvPr id="45" name="a4fd150_ro1691"/>
          <p:cNvSpPr/>
          <p:nvPr/>
        </p:nvSpPr>
        <p:spPr>
          <a:xfrm>
            <a:off x="2496312" y="2240280"/>
            <a:ext cx="1773936" cy="23774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46" name="a4wd200_dot1692"/>
          <p:cNvSpPr/>
          <p:nvPr/>
        </p:nvSpPr>
        <p:spPr>
          <a:xfrm>
            <a:off x="4663440" y="20482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a4wd200_cell1693"/>
          <p:cNvSpPr txBox="1"/>
          <p:nvPr/>
        </p:nvSpPr>
        <p:spPr>
          <a:xfrm>
            <a:off x="4846320" y="1975104"/>
            <a:ext cx="960120" cy="256032"/>
          </a:xfrm>
          <a:prstGeom prst="rect">
            <a:avLst/>
          </a:prstGeom>
          <a:solidFill>
            <a:srgbClr val="CCFBF1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</a:t>
            </a:r>
            <a:endParaRPr lang="en-US" dirty="0" sz="1000"/>
          </a:p>
        </p:txBody>
      </p:sp>
      <p:sp>
        <p:nvSpPr>
          <p:cNvPr id="48" name="a4wd200_cell1694"/>
          <p:cNvSpPr txBox="1"/>
          <p:nvPr/>
        </p:nvSpPr>
        <p:spPr>
          <a:xfrm>
            <a:off x="5806440" y="1975104"/>
            <a:ext cx="960120" cy="256032"/>
          </a:xfrm>
          <a:prstGeom prst="rect">
            <a:avLst/>
          </a:prstGeom>
          <a:solidFill>
            <a:srgbClr val="FEF2F2"/>
          </a:solidFill>
          <a:ln w="9525">
            <a:solidFill>
              <a:srgbClr val="CBD5E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i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dirty="0" sz="1000"/>
          </a:p>
        </p:txBody>
      </p:sp>
      <p:sp>
        <p:nvSpPr>
          <p:cNvPr id="49" name="a4fd200_log1695"/>
          <p:cNvSpPr txBox="1"/>
          <p:nvPr/>
        </p:nvSpPr>
        <p:spPr>
          <a:xfrm>
            <a:off x="640080" y="3904488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Mary → also a customer → </a:t>
            </a:r>
            <a:r>
              <a:rPr sz="10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dirty="0" sz="1000"/>
          </a:p>
        </p:txBody>
      </p:sp>
      <p:sp>
        <p:nvSpPr>
          <p:cNvPr id="50" name="a5f_bdg1696"/>
          <p:cNvSpPr txBox="1"/>
          <p:nvPr/>
        </p:nvSpPr>
        <p:spPr>
          <a:xfrm>
            <a:off x="2249424" y="2505456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51" name="a5fd200_log1697"/>
          <p:cNvSpPr txBox="1"/>
          <p:nvPr/>
        </p:nvSpPr>
        <p:spPr>
          <a:xfrm>
            <a:off x="640080" y="4078224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Michael → not a customer → </a:t>
            </a:r>
            <a:r>
              <a:rPr sz="10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dirty="0" sz="1000"/>
          </a:p>
        </p:txBody>
      </p:sp>
      <p:sp>
        <p:nvSpPr>
          <p:cNvPr id="52" name="a6f_bdg1698"/>
          <p:cNvSpPr txBox="1"/>
          <p:nvPr/>
        </p:nvSpPr>
        <p:spPr>
          <a:xfrm>
            <a:off x="2249424" y="2761488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53" name="a6fd200_log1699"/>
          <p:cNvSpPr txBox="1"/>
          <p:nvPr/>
        </p:nvSpPr>
        <p:spPr>
          <a:xfrm>
            <a:off x="640080" y="4251960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Carol → not a customer → </a:t>
            </a:r>
            <a:r>
              <a:rPr sz="10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dirty="0" sz="1000"/>
          </a:p>
        </p:txBody>
      </p:sp>
      <p:sp>
        <p:nvSpPr>
          <p:cNvPr id="54" name="a7f_bdg1700"/>
          <p:cNvSpPr txBox="1"/>
          <p:nvPr/>
        </p:nvSpPr>
        <p:spPr>
          <a:xfrm>
            <a:off x="4306824" y="1737360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55" name="a7f_bdg1701"/>
          <p:cNvSpPr txBox="1"/>
          <p:nvPr/>
        </p:nvSpPr>
        <p:spPr>
          <a:xfrm>
            <a:off x="4306824" y="2505456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56" name="a7f_bdg1702"/>
          <p:cNvSpPr txBox="1"/>
          <p:nvPr/>
        </p:nvSpPr>
        <p:spPr>
          <a:xfrm>
            <a:off x="4306824" y="2761488"/>
            <a:ext cx="219456" cy="219456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9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dirty="0" sz="900"/>
          </a:p>
        </p:txBody>
      </p:sp>
      <p:sp>
        <p:nvSpPr>
          <p:cNvPr id="57" name="a7fd200_log1703"/>
          <p:cNvSpPr txBox="1"/>
          <p:nvPr/>
        </p:nvSpPr>
        <p:spPr>
          <a:xfrm>
            <a:off x="640080" y="4425696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Joseph, Mark, Anna → only customers → </a:t>
            </a:r>
            <a:r>
              <a:rPr sz="10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dirty="0" sz="1000"/>
          </a:p>
        </p:txBody>
      </p:sp>
      <p:sp>
        <p:nvSpPr>
          <p:cNvPr id="58" name="a8u_tb1704"/>
          <p:cNvSpPr/>
          <p:nvPr/>
        </p:nvSpPr>
        <p:spPr>
          <a:xfrm>
            <a:off x="6995160" y="11887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9" name="a8u_tt1705"/>
          <p:cNvSpPr txBox="1"/>
          <p:nvPr/>
        </p:nvSpPr>
        <p:spPr>
          <a:xfrm>
            <a:off x="7132320" y="1188720"/>
            <a:ext cx="1463040" cy="19202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common rows survive. Swapping the queries gives the same result.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Operators in Real Projects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 cases for data analysis and data engineering</a:t>
            </a:r>
            <a:endParaRPr lang="en-US" dirty="0" sz="1300"/>
          </a:p>
        </p:txBody>
      </p:sp>
      <p:sp>
        <p:nvSpPr>
          <p:cNvPr id="4" name="a1u_c1706"/>
          <p:cNvSpPr/>
          <p:nvPr/>
        </p:nvSpPr>
        <p:spPr>
          <a:xfrm>
            <a:off x="457200" y="12344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1u_o1707"/>
          <p:cNvSpPr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a1u_i1708" descr="63cef8796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18488"/>
            <a:ext cx="374904" cy="374904"/>
          </a:xfrm>
          <a:prstGeom prst="rect">
            <a:avLst/>
          </a:prstGeom>
        </p:spPr>
      </p:pic>
      <p:sp>
        <p:nvSpPr>
          <p:cNvPr id="7" name="a1u_h1709"/>
          <p:cNvSpPr txBox="1"/>
          <p:nvPr/>
        </p:nvSpPr>
        <p:spPr>
          <a:xfrm>
            <a:off x="73152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tables</a:t>
            </a:r>
            <a:endParaRPr lang="en-US" dirty="0" sz="1800"/>
          </a:p>
        </p:txBody>
      </p:sp>
      <p:sp>
        <p:nvSpPr>
          <p:cNvPr id="8" name="a1u_d1710"/>
          <p:cNvSpPr txBox="1"/>
          <p:nvPr/>
        </p:nvSpPr>
        <p:spPr>
          <a:xfrm>
            <a:off x="73152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tables with the same kind of data into one before analysis.</a:t>
            </a:r>
            <a:endParaRPr lang="en-US" dirty="0" sz="1300"/>
          </a:p>
        </p:txBody>
      </p:sp>
      <p:sp>
        <p:nvSpPr>
          <p:cNvPr id="9" name="a1u_box1711"/>
          <p:cNvSpPr txBox="1"/>
          <p:nvPr/>
        </p:nvSpPr>
        <p:spPr>
          <a:xfrm>
            <a:off x="731520" y="39776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· UNION ALL</a:t>
            </a:r>
            <a:endParaRPr lang="en-US" dirty="0" sz="1200"/>
          </a:p>
        </p:txBody>
      </p:sp>
      <p:sp>
        <p:nvSpPr>
          <p:cNvPr id="10" name="a2u_c1712"/>
          <p:cNvSpPr/>
          <p:nvPr/>
        </p:nvSpPr>
        <p:spPr>
          <a:xfrm>
            <a:off x="3246120" y="12344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2u_o1713"/>
          <p:cNvSpPr/>
          <p:nvPr/>
        </p:nvSpPr>
        <p:spPr>
          <a:xfrm>
            <a:off x="3520440" y="146304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a2u_i1714" descr="0b1a107e6a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1618488"/>
            <a:ext cx="374904" cy="374904"/>
          </a:xfrm>
          <a:prstGeom prst="rect">
            <a:avLst/>
          </a:prstGeom>
        </p:spPr>
      </p:pic>
      <p:sp>
        <p:nvSpPr>
          <p:cNvPr id="13" name="a2u_h1715"/>
          <p:cNvSpPr txBox="1"/>
          <p:nvPr/>
        </p:nvSpPr>
        <p:spPr>
          <a:xfrm>
            <a:off x="352044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delta</a:t>
            </a:r>
            <a:endParaRPr lang="en-US" dirty="0" sz="1800"/>
          </a:p>
        </p:txBody>
      </p:sp>
      <p:sp>
        <p:nvSpPr>
          <p:cNvPr id="14" name="a2u_d1716"/>
          <p:cNvSpPr txBox="1"/>
          <p:nvPr/>
        </p:nvSpPr>
        <p:spPr>
          <a:xfrm>
            <a:off x="352044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new batch with the previous load to find only new rows.</a:t>
            </a:r>
            <a:endParaRPr lang="en-US" dirty="0" sz="1300"/>
          </a:p>
        </p:txBody>
      </p:sp>
      <p:sp>
        <p:nvSpPr>
          <p:cNvPr id="15" name="a2u_box1717"/>
          <p:cNvSpPr txBox="1"/>
          <p:nvPr/>
        </p:nvSpPr>
        <p:spPr>
          <a:xfrm>
            <a:off x="3520440" y="39776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dirty="0" sz="1200"/>
          </a:p>
        </p:txBody>
      </p:sp>
      <p:sp>
        <p:nvSpPr>
          <p:cNvPr id="16" name="a3u_c1718"/>
          <p:cNvSpPr/>
          <p:nvPr/>
        </p:nvSpPr>
        <p:spPr>
          <a:xfrm>
            <a:off x="6035040" y="123444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3u_o1719"/>
          <p:cNvSpPr/>
          <p:nvPr/>
        </p:nvSpPr>
        <p:spPr>
          <a:xfrm>
            <a:off x="6309360" y="1463040"/>
            <a:ext cx="685800" cy="685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a3u_i1720" descr="2bc0d5d351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618488"/>
            <a:ext cx="374904" cy="374904"/>
          </a:xfrm>
          <a:prstGeom prst="rect">
            <a:avLst/>
          </a:prstGeom>
        </p:spPr>
      </p:pic>
      <p:sp>
        <p:nvSpPr>
          <p:cNvPr id="19" name="a3u_h1721"/>
          <p:cNvSpPr txBox="1"/>
          <p:nvPr/>
        </p:nvSpPr>
        <p:spPr>
          <a:xfrm>
            <a:off x="630936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completeness</a:t>
            </a:r>
            <a:endParaRPr lang="en-US" dirty="0" sz="1800"/>
          </a:p>
        </p:txBody>
      </p:sp>
      <p:sp>
        <p:nvSpPr>
          <p:cNvPr id="20" name="a3u_d1722"/>
          <p:cNvSpPr txBox="1"/>
          <p:nvPr/>
        </p:nvSpPr>
        <p:spPr>
          <a:xfrm>
            <a:off x="630936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migration, prove no rows are missing on either side.</a:t>
            </a:r>
            <a:endParaRPr lang="en-US" dirty="0" sz="1300"/>
          </a:p>
        </p:txBody>
      </p:sp>
      <p:sp>
        <p:nvSpPr>
          <p:cNvPr id="21" name="a3u_box1723"/>
          <p:cNvSpPr txBox="1"/>
          <p:nvPr/>
        </p:nvSpPr>
        <p:spPr>
          <a:xfrm>
            <a:off x="6309360" y="39776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(both ways)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· Combine Similar Tables First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report that needs every person in the database</a:t>
            </a:r>
            <a:endParaRPr lang="en-US" dirty="0" sz="1300"/>
          </a:p>
        </p:txBody>
      </p:sp>
      <p:sp>
        <p:nvSpPr>
          <p:cNvPr id="4" name="a1f_pn1724"/>
          <p:cNvSpPr/>
          <p:nvPr/>
        </p:nvSpPr>
        <p:spPr>
          <a:xfrm>
            <a:off x="457200" y="1188720"/>
            <a:ext cx="38862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1f_ph1725"/>
          <p:cNvSpPr txBox="1"/>
          <p:nvPr/>
        </p:nvSpPr>
        <p:spPr>
          <a:xfrm>
            <a:off x="6400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Four separate queries</a:t>
            </a:r>
            <a:endParaRPr lang="en-US" dirty="0" sz="1400"/>
          </a:p>
        </p:txBody>
      </p:sp>
      <p:sp>
        <p:nvSpPr>
          <p:cNvPr id="6" name="a1ud0_box1726"/>
          <p:cNvSpPr txBox="1"/>
          <p:nvPr/>
        </p:nvSpPr>
        <p:spPr>
          <a:xfrm>
            <a:off x="594360" y="1737360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dirty="0" sz="1000"/>
          </a:p>
        </p:txBody>
      </p:sp>
      <p:sp>
        <p:nvSpPr>
          <p:cNvPr id="7" name="a1ud100_box1727"/>
          <p:cNvSpPr txBox="1"/>
          <p:nvPr/>
        </p:nvSpPr>
        <p:spPr>
          <a:xfrm>
            <a:off x="1508760" y="1737360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dirty="0" sz="1000"/>
          </a:p>
        </p:txBody>
      </p:sp>
      <p:sp>
        <p:nvSpPr>
          <p:cNvPr id="8" name="a1ud200_box1728"/>
          <p:cNvSpPr txBox="1"/>
          <p:nvPr/>
        </p:nvSpPr>
        <p:spPr>
          <a:xfrm>
            <a:off x="2423160" y="1737360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dirty="0" sz="1000"/>
          </a:p>
        </p:txBody>
      </p:sp>
      <p:sp>
        <p:nvSpPr>
          <p:cNvPr id="9" name="a1ud300_box1729"/>
          <p:cNvSpPr txBox="1"/>
          <p:nvPr/>
        </p:nvSpPr>
        <p:spPr>
          <a:xfrm>
            <a:off x="3337560" y="1737360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dirty="0" sz="1000"/>
          </a:p>
        </p:txBody>
      </p:sp>
      <p:sp>
        <p:nvSpPr>
          <p:cNvPr id="10" name="a3f_pn1730"/>
          <p:cNvSpPr/>
          <p:nvPr/>
        </p:nvSpPr>
        <p:spPr>
          <a:xfrm>
            <a:off x="4800600" y="1188720"/>
            <a:ext cx="38862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3f_ph1731"/>
          <p:cNvSpPr txBox="1"/>
          <p:nvPr/>
        </p:nvSpPr>
        <p:spPr>
          <a:xfrm>
            <a:off x="49834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UNION first, then one query</a:t>
            </a:r>
            <a:endParaRPr lang="en-US" dirty="0" sz="1400"/>
          </a:p>
        </p:txBody>
      </p:sp>
      <p:sp>
        <p:nvSpPr>
          <p:cNvPr id="12" name="a3ud0_box1732"/>
          <p:cNvSpPr txBox="1"/>
          <p:nvPr/>
        </p:nvSpPr>
        <p:spPr>
          <a:xfrm>
            <a:off x="4937760" y="1737360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dirty="0" sz="1000"/>
          </a:p>
        </p:txBody>
      </p:sp>
      <p:sp>
        <p:nvSpPr>
          <p:cNvPr id="13" name="a3ud100_box1733"/>
          <p:cNvSpPr txBox="1"/>
          <p:nvPr/>
        </p:nvSpPr>
        <p:spPr>
          <a:xfrm>
            <a:off x="5852160" y="1737360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dirty="0" sz="1000"/>
          </a:p>
        </p:txBody>
      </p:sp>
      <p:sp>
        <p:nvSpPr>
          <p:cNvPr id="14" name="a3ud200_box1734"/>
          <p:cNvSpPr txBox="1"/>
          <p:nvPr/>
        </p:nvSpPr>
        <p:spPr>
          <a:xfrm>
            <a:off x="6766560" y="1737360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dirty="0" sz="1000"/>
          </a:p>
        </p:txBody>
      </p:sp>
      <p:sp>
        <p:nvSpPr>
          <p:cNvPr id="15" name="a3ud300_box1735"/>
          <p:cNvSpPr txBox="1"/>
          <p:nvPr/>
        </p:nvSpPr>
        <p:spPr>
          <a:xfrm>
            <a:off x="7680960" y="1737360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dirty="0" sz="1000"/>
          </a:p>
        </p:txBody>
      </p:sp>
      <p:sp>
        <p:nvSpPr>
          <p:cNvPr id="16" name="a1fd500_conn1736"/>
          <p:cNvSpPr/>
          <p:nvPr/>
        </p:nvSpPr>
        <p:spPr>
          <a:xfrm>
            <a:off x="1014984" y="2103120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a1fd600_box1737"/>
          <p:cNvSpPr txBox="1"/>
          <p:nvPr/>
        </p:nvSpPr>
        <p:spPr>
          <a:xfrm>
            <a:off x="594360" y="2395728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dirty="0" sz="1000"/>
          </a:p>
        </p:txBody>
      </p:sp>
      <p:sp>
        <p:nvSpPr>
          <p:cNvPr id="18" name="a2w_conn1738"/>
          <p:cNvSpPr/>
          <p:nvPr/>
        </p:nvSpPr>
        <p:spPr>
          <a:xfrm>
            <a:off x="1014984" y="2761488"/>
            <a:ext cx="1385316" cy="43891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a3wd500_conn1739"/>
          <p:cNvSpPr/>
          <p:nvPr/>
        </p:nvSpPr>
        <p:spPr>
          <a:xfrm>
            <a:off x="5358384" y="2103120"/>
            <a:ext cx="1385316" cy="29260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a1fd500_conn1740"/>
          <p:cNvSpPr/>
          <p:nvPr/>
        </p:nvSpPr>
        <p:spPr>
          <a:xfrm>
            <a:off x="1929384" y="2103120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a1fd600_box1741"/>
          <p:cNvSpPr txBox="1"/>
          <p:nvPr/>
        </p:nvSpPr>
        <p:spPr>
          <a:xfrm>
            <a:off x="1508760" y="2395728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dirty="0" sz="1000"/>
          </a:p>
        </p:txBody>
      </p:sp>
      <p:sp>
        <p:nvSpPr>
          <p:cNvPr id="22" name="a2w_conn1742"/>
          <p:cNvSpPr/>
          <p:nvPr/>
        </p:nvSpPr>
        <p:spPr>
          <a:xfrm>
            <a:off x="1929384" y="2761488"/>
            <a:ext cx="470916" cy="43891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a3wd500_conn1743"/>
          <p:cNvSpPr/>
          <p:nvPr/>
        </p:nvSpPr>
        <p:spPr>
          <a:xfrm>
            <a:off x="6272784" y="2103120"/>
            <a:ext cx="470916" cy="29260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a1fd500_conn1744"/>
          <p:cNvSpPr/>
          <p:nvPr/>
        </p:nvSpPr>
        <p:spPr>
          <a:xfrm>
            <a:off x="2843784" y="2103120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a1fd600_box1745"/>
          <p:cNvSpPr txBox="1"/>
          <p:nvPr/>
        </p:nvSpPr>
        <p:spPr>
          <a:xfrm>
            <a:off x="2423160" y="2395728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dirty="0" sz="1000"/>
          </a:p>
        </p:txBody>
      </p:sp>
      <p:sp>
        <p:nvSpPr>
          <p:cNvPr id="26" name="a2w_conn1746"/>
          <p:cNvSpPr/>
          <p:nvPr/>
        </p:nvSpPr>
        <p:spPr>
          <a:xfrm flipH="1">
            <a:off x="2400300" y="2761488"/>
            <a:ext cx="443484" cy="43891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a3wd500_conn1747"/>
          <p:cNvSpPr/>
          <p:nvPr/>
        </p:nvSpPr>
        <p:spPr>
          <a:xfrm flipH="1">
            <a:off x="6743700" y="2103120"/>
            <a:ext cx="443484" cy="29260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a1fd500_conn1748"/>
          <p:cNvSpPr/>
          <p:nvPr/>
        </p:nvSpPr>
        <p:spPr>
          <a:xfrm>
            <a:off x="3758184" y="2103120"/>
            <a:ext cx="0" cy="2743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a1fd600_box1749"/>
          <p:cNvSpPr txBox="1"/>
          <p:nvPr/>
        </p:nvSpPr>
        <p:spPr>
          <a:xfrm>
            <a:off x="3337560" y="2395728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b="1" lang="en-US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dirty="0" sz="1000"/>
          </a:p>
        </p:txBody>
      </p:sp>
      <p:sp>
        <p:nvSpPr>
          <p:cNvPr id="30" name="a2w_conn1750"/>
          <p:cNvSpPr/>
          <p:nvPr/>
        </p:nvSpPr>
        <p:spPr>
          <a:xfrm flipH="1">
            <a:off x="2400300" y="2761488"/>
            <a:ext cx="1357884" cy="43891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a3wd500_conn1751"/>
          <p:cNvSpPr/>
          <p:nvPr/>
        </p:nvSpPr>
        <p:spPr>
          <a:xfrm flipH="1">
            <a:off x="6743700" y="2103120"/>
            <a:ext cx="1357884" cy="29260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a2f_box1752"/>
          <p:cNvSpPr txBox="1"/>
          <p:nvPr/>
        </p:nvSpPr>
        <p:spPr>
          <a:xfrm>
            <a:off x="1805940" y="321868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dirty="0" sz="1200"/>
          </a:p>
        </p:txBody>
      </p:sp>
      <p:sp>
        <p:nvSpPr>
          <p:cNvPr id="33" name="a2fd300_w1753"/>
          <p:cNvSpPr txBox="1"/>
          <p:nvPr/>
        </p:nvSpPr>
        <p:spPr>
          <a:xfrm>
            <a:off x="640080" y="37490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written 4 times — update one, forget another → inconsistent reports.</a:t>
            </a:r>
            <a:endParaRPr lang="en-US" dirty="0" sz="1200"/>
          </a:p>
        </p:txBody>
      </p:sp>
      <p:sp>
        <p:nvSpPr>
          <p:cNvPr id="34" name="a3fd700_box1754"/>
          <p:cNvSpPr txBox="1"/>
          <p:nvPr/>
        </p:nvSpPr>
        <p:spPr>
          <a:xfrm>
            <a:off x="6149340" y="2414016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200"/>
          </a:p>
        </p:txBody>
      </p:sp>
      <p:sp>
        <p:nvSpPr>
          <p:cNvPr id="35" name="a4f_conn1755"/>
          <p:cNvSpPr/>
          <p:nvPr/>
        </p:nvSpPr>
        <p:spPr>
          <a:xfrm>
            <a:off x="6743700" y="2761488"/>
            <a:ext cx="0" cy="16459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a4f_box1756"/>
          <p:cNvSpPr txBox="1"/>
          <p:nvPr/>
        </p:nvSpPr>
        <p:spPr>
          <a:xfrm>
            <a:off x="6012180" y="2944368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</a:t>
            </a:r>
            <a:endParaRPr lang="en-US" dirty="0" sz="1200"/>
          </a:p>
        </p:txBody>
      </p:sp>
      <p:sp>
        <p:nvSpPr>
          <p:cNvPr id="37" name="a4fd200_conn1757"/>
          <p:cNvSpPr/>
          <p:nvPr/>
        </p:nvSpPr>
        <p:spPr>
          <a:xfrm>
            <a:off x="6743700" y="3291840"/>
            <a:ext cx="0" cy="10972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a4fd200_box1758"/>
          <p:cNvSpPr txBox="1"/>
          <p:nvPr/>
        </p:nvSpPr>
        <p:spPr>
          <a:xfrm>
            <a:off x="5783580" y="3419856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→ Report</a:t>
            </a:r>
            <a:endParaRPr lang="en-US" dirty="0" sz="1200"/>
          </a:p>
        </p:txBody>
      </p:sp>
      <p:sp>
        <p:nvSpPr>
          <p:cNvPr id="39" name="a4fd400_g1759"/>
          <p:cNvSpPr txBox="1"/>
          <p:nvPr/>
        </p:nvSpPr>
        <p:spPr>
          <a:xfrm>
            <a:off x="4983480" y="38404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change the logic — every person is always included.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  <p:bldP spid="18" grpId="0" animBg="1"/>
      <p:bldP spid="22" grpId="0" animBg="1"/>
      <p:bldP spid="26" grpId="0" animBg="1"/>
      <p:bldP spid="30" grpId="0" animBg="1"/>
      <p:bldP spid="32" grpId="0" animBg="1"/>
      <p:bldP spid="33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3" grpId="0" animBg="1"/>
      <p:bldP spid="27" grpId="0" animBg="1"/>
      <p:bldP spid="31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· Tables Split for Performance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tables are sometimes divided (e.g. by year) — combine them before analysis</a:t>
            </a:r>
            <a:endParaRPr lang="en-US" dirty="0" sz="1300"/>
          </a:p>
        </p:txBody>
      </p:sp>
      <p:sp>
        <p:nvSpPr>
          <p:cNvPr id="4" name="a1ud0_box1760"/>
          <p:cNvSpPr txBox="1"/>
          <p:nvPr/>
        </p:nvSpPr>
        <p:spPr>
          <a:xfrm>
            <a:off x="457200" y="14173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Orders_2022</a:t>
            </a:r>
            <a:endParaRPr lang="en-US" dirty="0" sz="1200"/>
          </a:p>
        </p:txBody>
      </p:sp>
      <p:sp>
        <p:nvSpPr>
          <p:cNvPr id="5" name="a2w_conn1761"/>
          <p:cNvSpPr/>
          <p:nvPr/>
        </p:nvSpPr>
        <p:spPr>
          <a:xfrm>
            <a:off x="2029968" y="1645920"/>
            <a:ext cx="576072" cy="6858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a1ud150_box1762"/>
          <p:cNvSpPr txBox="1"/>
          <p:nvPr/>
        </p:nvSpPr>
        <p:spPr>
          <a:xfrm>
            <a:off x="457200" y="21031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Orders_2023</a:t>
            </a:r>
            <a:endParaRPr lang="en-US" dirty="0" sz="1200"/>
          </a:p>
        </p:txBody>
      </p:sp>
      <p:sp>
        <p:nvSpPr>
          <p:cNvPr id="7" name="a2w_conn1763"/>
          <p:cNvSpPr/>
          <p:nvPr/>
        </p:nvSpPr>
        <p:spPr>
          <a:xfrm>
            <a:off x="2029968" y="2331720"/>
            <a:ext cx="576072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a1ud300_box1764"/>
          <p:cNvSpPr txBox="1"/>
          <p:nvPr/>
        </p:nvSpPr>
        <p:spPr>
          <a:xfrm>
            <a:off x="457200" y="27889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Orders_2024</a:t>
            </a:r>
            <a:endParaRPr lang="en-US" dirty="0" sz="1200"/>
          </a:p>
        </p:txBody>
      </p:sp>
      <p:sp>
        <p:nvSpPr>
          <p:cNvPr id="9" name="a2w_conn1765"/>
          <p:cNvSpPr/>
          <p:nvPr/>
        </p:nvSpPr>
        <p:spPr>
          <a:xfrm flipV="1">
            <a:off x="2029968" y="2331720"/>
            <a:ext cx="576072" cy="6858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a2fd300_box1766"/>
          <p:cNvSpPr txBox="1"/>
          <p:nvPr/>
        </p:nvSpPr>
        <p:spPr>
          <a:xfrm>
            <a:off x="2651760" y="21031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300"/>
          </a:p>
        </p:txBody>
      </p:sp>
      <p:sp>
        <p:nvSpPr>
          <p:cNvPr id="11" name="a2fd500_conn1767"/>
          <p:cNvSpPr/>
          <p:nvPr/>
        </p:nvSpPr>
        <p:spPr>
          <a:xfrm>
            <a:off x="3858768" y="2331720"/>
            <a:ext cx="484632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a2fd500_box1768"/>
          <p:cNvSpPr txBox="1"/>
          <p:nvPr/>
        </p:nvSpPr>
        <p:spPr>
          <a:xfrm>
            <a:off x="4389120" y="210312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dirty="0" sz="1300"/>
          </a:p>
        </p:txBody>
      </p:sp>
      <p:sp>
        <p:nvSpPr>
          <p:cNvPr id="13" name="a3f_conn1769"/>
          <p:cNvSpPr/>
          <p:nvPr/>
        </p:nvSpPr>
        <p:spPr>
          <a:xfrm>
            <a:off x="5687568" y="2331720"/>
            <a:ext cx="438912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a3f_box1770"/>
          <p:cNvSpPr txBox="1"/>
          <p:nvPr/>
        </p:nvSpPr>
        <p:spPr>
          <a:xfrm>
            <a:off x="6172200" y="210312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query</a:t>
            </a:r>
            <a:endParaRPr lang="en-US" dirty="0" sz="1200"/>
          </a:p>
        </p:txBody>
      </p:sp>
      <p:sp>
        <p:nvSpPr>
          <p:cNvPr id="15" name="a3fd300_conn1771"/>
          <p:cNvSpPr/>
          <p:nvPr/>
        </p:nvSpPr>
        <p:spPr>
          <a:xfrm>
            <a:off x="7516368" y="2331720"/>
            <a:ext cx="393192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a3fd300_box1772"/>
          <p:cNvSpPr txBox="1"/>
          <p:nvPr/>
        </p:nvSpPr>
        <p:spPr>
          <a:xfrm>
            <a:off x="7955280" y="2103120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dirty="0" sz="1200"/>
          </a:p>
        </p:txBody>
      </p:sp>
      <p:sp>
        <p:nvSpPr>
          <p:cNvPr id="17" name="a4f_codebg1773"/>
          <p:cNvSpPr/>
          <p:nvPr/>
        </p:nvSpPr>
        <p:spPr>
          <a:xfrm>
            <a:off x="457200" y="361188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a4wd0_code1774"/>
          <p:cNvSpPr txBox="1"/>
          <p:nvPr/>
        </p:nvSpPr>
        <p:spPr>
          <a:xfrm>
            <a:off x="640080" y="374904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dirty="0" sz="1100"/>
          </a:p>
        </p:txBody>
      </p:sp>
      <p:sp>
        <p:nvSpPr>
          <p:cNvPr id="19" name="a4wd80_code1775"/>
          <p:cNvSpPr txBox="1"/>
          <p:nvPr/>
        </p:nvSpPr>
        <p:spPr>
          <a:xfrm>
            <a:off x="640080" y="393192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100"/>
          </a:p>
        </p:txBody>
      </p:sp>
      <p:sp>
        <p:nvSpPr>
          <p:cNvPr id="20" name="a4wd160_code1776"/>
          <p:cNvSpPr txBox="1"/>
          <p:nvPr/>
        </p:nvSpPr>
        <p:spPr>
          <a:xfrm>
            <a:off x="640080" y="411480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dirty="0" sz="1100"/>
          </a:p>
        </p:txBody>
      </p:sp>
      <p:sp>
        <p:nvSpPr>
          <p:cNvPr id="21" name="a4wd240_code1777"/>
          <p:cNvSpPr txBox="1"/>
          <p:nvPr/>
        </p:nvSpPr>
        <p:spPr>
          <a:xfrm>
            <a:off x="640080" y="429768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100"/>
          </a:p>
        </p:txBody>
      </p:sp>
      <p:sp>
        <p:nvSpPr>
          <p:cNvPr id="22" name="a4wd320_code1778"/>
          <p:cNvSpPr txBox="1"/>
          <p:nvPr/>
        </p:nvSpPr>
        <p:spPr>
          <a:xfrm>
            <a:off x="640080" y="448056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100"/>
          </a:p>
        </p:txBody>
      </p:sp>
      <p:sp>
        <p:nvSpPr>
          <p:cNvPr id="23" name="a4fd400_t1779"/>
          <p:cNvSpPr txBox="1"/>
          <p:nvPr/>
        </p:nvSpPr>
        <p:spPr>
          <a:xfrm>
            <a:off x="566928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orders over time from one central result instead of querying each year separately.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5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· In Practice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 </a:t>
            </a:r>
            <a:r>
              <a:rPr sz="13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live in Orders and OrdersArchive. Combine all orders into one report without duplicates.</a:t>
            </a:r>
            <a:endParaRPr lang="en-US" dirty="0" sz="1300"/>
          </a:p>
        </p:txBody>
      </p:sp>
      <p:sp>
        <p:nvSpPr>
          <p:cNvPr id="4" name="a1f_codebg1780"/>
          <p:cNvSpPr/>
          <p:nvPr/>
        </p:nvSpPr>
        <p:spPr>
          <a:xfrm>
            <a:off x="457200" y="1554480"/>
            <a:ext cx="4069080" cy="3346704"/>
          </a:xfrm>
          <a:prstGeom prst="roundRect">
            <a:avLst>
              <a:gd name="adj" fmla="val 21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a1wd0_code1781"/>
          <p:cNvSpPr txBox="1"/>
          <p:nvPr/>
        </p:nvSpPr>
        <p:spPr>
          <a:xfrm>
            <a:off x="640080" y="1691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100"/>
          </a:p>
        </p:txBody>
      </p:sp>
      <p:sp>
        <p:nvSpPr>
          <p:cNvPr id="6" name="a3wd0_code1782"/>
          <p:cNvSpPr txBox="1"/>
          <p:nvPr/>
        </p:nvSpPr>
        <p:spPr>
          <a:xfrm>
            <a:off x="640080" y="1947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SourceTable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100"/>
          </a:p>
        </p:txBody>
      </p:sp>
      <p:sp>
        <p:nvSpPr>
          <p:cNvPr id="7" name="a1wd60_code1783"/>
          <p:cNvSpPr txBox="1"/>
          <p:nvPr/>
        </p:nvSpPr>
        <p:spPr>
          <a:xfrm>
            <a:off x="640080" y="2203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100"/>
          </a:p>
        </p:txBody>
      </p:sp>
      <p:sp>
        <p:nvSpPr>
          <p:cNvPr id="8" name="a1wd120_code1784"/>
          <p:cNvSpPr txBox="1"/>
          <p:nvPr/>
        </p:nvSpPr>
        <p:spPr>
          <a:xfrm>
            <a:off x="640080" y="2459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sz="11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dirty="0" sz="1100"/>
          </a:p>
        </p:txBody>
      </p:sp>
      <p:sp>
        <p:nvSpPr>
          <p:cNvPr id="9" name="a1wd180_code1785"/>
          <p:cNvSpPr txBox="1"/>
          <p:nvPr/>
        </p:nvSpPr>
        <p:spPr>
          <a:xfrm>
            <a:off x="64008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dirty="0" sz="1100"/>
          </a:p>
        </p:txBody>
      </p:sp>
      <p:sp>
        <p:nvSpPr>
          <p:cNvPr id="10" name="a1wd240_code1786"/>
          <p:cNvSpPr txBox="1"/>
          <p:nvPr/>
        </p:nvSpPr>
        <p:spPr>
          <a:xfrm>
            <a:off x="640080" y="2971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100"/>
          </a:p>
        </p:txBody>
      </p:sp>
      <p:sp>
        <p:nvSpPr>
          <p:cNvPr id="11" name="a1wd300_code1787"/>
          <p:cNvSpPr txBox="1"/>
          <p:nvPr/>
        </p:nvSpPr>
        <p:spPr>
          <a:xfrm>
            <a:off x="6400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dirty="0" sz="1100"/>
          </a:p>
        </p:txBody>
      </p:sp>
      <p:sp>
        <p:nvSpPr>
          <p:cNvPr id="12" name="a3wd0_code1788"/>
          <p:cNvSpPr txBox="1"/>
          <p:nvPr/>
        </p:nvSpPr>
        <p:spPr>
          <a:xfrm>
            <a:off x="640080" y="3483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OrdersArchive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SourceTable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100"/>
          </a:p>
        </p:txBody>
      </p:sp>
      <p:sp>
        <p:nvSpPr>
          <p:cNvPr id="13" name="a1wd360_code1789"/>
          <p:cNvSpPr txBox="1"/>
          <p:nvPr/>
        </p:nvSpPr>
        <p:spPr>
          <a:xfrm>
            <a:off x="640080" y="3739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 sz="1100"/>
          </a:p>
        </p:txBody>
      </p:sp>
      <p:sp>
        <p:nvSpPr>
          <p:cNvPr id="14" name="a1wd420_code1790"/>
          <p:cNvSpPr txBox="1"/>
          <p:nvPr/>
        </p:nvSpPr>
        <p:spPr>
          <a:xfrm>
            <a:off x="640080" y="3995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sz="11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dirty="0" sz="1100"/>
          </a:p>
        </p:txBody>
      </p:sp>
      <p:sp>
        <p:nvSpPr>
          <p:cNvPr id="15" name="a1wd480_code1791"/>
          <p:cNvSpPr txBox="1"/>
          <p:nvPr/>
        </p:nvSpPr>
        <p:spPr>
          <a:xfrm>
            <a:off x="640080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OrdersArchive</a:t>
            </a:r>
            <a:endParaRPr lang="en-US" dirty="0" sz="1100"/>
          </a:p>
        </p:txBody>
      </p:sp>
      <p:sp>
        <p:nvSpPr>
          <p:cNvPr id="16" name="a4wd0_code1792"/>
          <p:cNvSpPr txBox="1"/>
          <p:nvPr/>
        </p:nvSpPr>
        <p:spPr>
          <a:xfrm>
            <a:off x="640080" y="4507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100"/>
          </a:p>
        </p:txBody>
      </p:sp>
      <p:sp>
        <p:nvSpPr>
          <p:cNvPr id="17" name="a2u_c1793"/>
          <p:cNvSpPr/>
          <p:nvPr/>
        </p:nvSpPr>
        <p:spPr>
          <a:xfrm>
            <a:off x="4754880" y="15544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a2u_box1794"/>
          <p:cNvSpPr txBox="1"/>
          <p:nvPr/>
        </p:nvSpPr>
        <p:spPr>
          <a:xfrm>
            <a:off x="4892040" y="1828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400"/>
          </a:p>
        </p:txBody>
      </p:sp>
      <p:sp>
        <p:nvSpPr>
          <p:cNvPr id="19" name="a2u_t1795"/>
          <p:cNvSpPr txBox="1"/>
          <p:nvPr/>
        </p:nvSpPr>
        <p:spPr>
          <a:xfrm>
            <a:off x="5440680" y="15544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columns — avoid SELECT *</a:t>
            </a:r>
            <a:endParaRPr lang="en-US" dirty="0" sz="13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table's schema changes (e.g. two columns swap), * silently mixes OrderIDs with ProductIDs.</a:t>
            </a:r>
            <a:endParaRPr lang="en-US" dirty="0" sz="1300"/>
          </a:p>
        </p:txBody>
      </p:sp>
      <p:sp>
        <p:nvSpPr>
          <p:cNvPr id="20" name="a3u_c1796"/>
          <p:cNvSpPr/>
          <p:nvPr/>
        </p:nvSpPr>
        <p:spPr>
          <a:xfrm>
            <a:off x="4754880" y="263347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a3u_box1797"/>
          <p:cNvSpPr txBox="1"/>
          <p:nvPr/>
        </p:nvSpPr>
        <p:spPr>
          <a:xfrm>
            <a:off x="4892040" y="29077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400"/>
          </a:p>
        </p:txBody>
      </p:sp>
      <p:sp>
        <p:nvSpPr>
          <p:cNvPr id="22" name="a3u_t1798"/>
          <p:cNvSpPr txBox="1"/>
          <p:nvPr/>
        </p:nvSpPr>
        <p:spPr>
          <a:xfrm>
            <a:off x="5440680" y="26334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SourceTable column</a:t>
            </a:r>
            <a:endParaRPr lang="en-US" dirty="0" sz="13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1 can exist in both tables. A static label shows where each row came from.</a:t>
            </a:r>
            <a:endParaRPr lang="en-US" dirty="0" sz="1300"/>
          </a:p>
        </p:txBody>
      </p:sp>
      <p:sp>
        <p:nvSpPr>
          <p:cNvPr id="23" name="a4u_c1799"/>
          <p:cNvSpPr/>
          <p:nvPr/>
        </p:nvSpPr>
        <p:spPr>
          <a:xfrm>
            <a:off x="4754880" y="3712464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a4u_box1800"/>
          <p:cNvSpPr txBox="1"/>
          <p:nvPr/>
        </p:nvSpPr>
        <p:spPr>
          <a:xfrm>
            <a:off x="4892040" y="398678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400"/>
          </a:p>
        </p:txBody>
      </p:sp>
      <p:sp>
        <p:nvSpPr>
          <p:cNvPr id="25" name="a4u_t1801"/>
          <p:cNvSpPr txBox="1"/>
          <p:nvPr/>
        </p:nvSpPr>
        <p:spPr>
          <a:xfrm>
            <a:off x="5440680" y="3712464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once, at the end</a:t>
            </a:r>
            <a:endParaRPr lang="en-US" dirty="0" sz="1300"/>
          </a:p>
          <a:p>
            <a:pPr marL="0" indent="0">
              <a:buNone/>
            </a:pPr>
            <a:r>
              <a:rPr sz="11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OrderID after the last query puts both sources side by side.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6" grpId="0" animBg="1"/>
      <p:bldP spid="12" grpId="0" animBg="1"/>
      <p:bldP spid="20" grpId="0" animBg="1"/>
      <p:bldP spid="21" grpId="0" animBg="1"/>
      <p:bldP spid="22" grpId="0" animBg="1"/>
      <p:bldP spid="16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· Find the Delta With EXCEPT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load only what's new since the previous load</a:t>
            </a:r>
            <a:endParaRPr lang="en-US" dirty="0" sz="1300"/>
          </a:p>
        </p:txBody>
      </p:sp>
      <p:sp>
        <p:nvSpPr>
          <p:cNvPr id="4" name="a1f_d11802"/>
          <p:cNvSpPr txBox="1"/>
          <p:nvPr/>
        </p:nvSpPr>
        <p:spPr>
          <a:xfrm>
            <a:off x="457200" y="13258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dirty="0" sz="1500"/>
          </a:p>
        </p:txBody>
      </p:sp>
      <p:sp>
        <p:nvSpPr>
          <p:cNvPr id="5" name="a1f_l1803"/>
          <p:cNvSpPr txBox="1"/>
          <p:nvPr/>
        </p:nvSpPr>
        <p:spPr>
          <a:xfrm>
            <a:off x="132588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dirty="0" sz="1000"/>
          </a:p>
        </p:txBody>
      </p:sp>
      <p:sp>
        <p:nvSpPr>
          <p:cNvPr id="6" name="a1f_box1804"/>
          <p:cNvSpPr txBox="1"/>
          <p:nvPr/>
        </p:nvSpPr>
        <p:spPr>
          <a:xfrm>
            <a:off x="132588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300"/>
          </a:p>
        </p:txBody>
      </p:sp>
      <p:sp>
        <p:nvSpPr>
          <p:cNvPr id="7" name="a1f_box1805"/>
          <p:cNvSpPr txBox="1"/>
          <p:nvPr/>
        </p:nvSpPr>
        <p:spPr>
          <a:xfrm>
            <a:off x="178308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300"/>
          </a:p>
        </p:txBody>
      </p:sp>
      <p:sp>
        <p:nvSpPr>
          <p:cNvPr id="8" name="a1wd200_conn1806"/>
          <p:cNvSpPr/>
          <p:nvPr/>
        </p:nvSpPr>
        <p:spPr>
          <a:xfrm>
            <a:off x="2286000" y="1517904"/>
            <a:ext cx="155448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a1fd200_l1807"/>
          <p:cNvSpPr txBox="1"/>
          <p:nvPr/>
        </p:nvSpPr>
        <p:spPr>
          <a:xfrm>
            <a:off x="2286000" y="1188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everything</a:t>
            </a:r>
            <a:endParaRPr lang="en-US" dirty="0" sz="1000"/>
          </a:p>
        </p:txBody>
      </p:sp>
      <p:sp>
        <p:nvSpPr>
          <p:cNvPr id="10" name="a1fd400_l1808"/>
          <p:cNvSpPr txBox="1"/>
          <p:nvPr/>
        </p:nvSpPr>
        <p:spPr>
          <a:xfrm>
            <a:off x="3931920" y="10972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dirty="0" sz="1000"/>
          </a:p>
        </p:txBody>
      </p:sp>
      <p:sp>
        <p:nvSpPr>
          <p:cNvPr id="11" name="a1fd400_box1809"/>
          <p:cNvSpPr txBox="1"/>
          <p:nvPr/>
        </p:nvSpPr>
        <p:spPr>
          <a:xfrm>
            <a:off x="393192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300"/>
          </a:p>
        </p:txBody>
      </p:sp>
      <p:sp>
        <p:nvSpPr>
          <p:cNvPr id="12" name="a1fd400_box1810"/>
          <p:cNvSpPr txBox="1"/>
          <p:nvPr/>
        </p:nvSpPr>
        <p:spPr>
          <a:xfrm>
            <a:off x="438912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300"/>
          </a:p>
        </p:txBody>
      </p:sp>
      <p:sp>
        <p:nvSpPr>
          <p:cNvPr id="13" name="a2f_d21811"/>
          <p:cNvSpPr txBox="1"/>
          <p:nvPr/>
        </p:nvSpPr>
        <p:spPr>
          <a:xfrm>
            <a:off x="457200" y="2514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dirty="0" sz="1500"/>
          </a:p>
        </p:txBody>
      </p:sp>
      <p:sp>
        <p:nvSpPr>
          <p:cNvPr id="14" name="a2f_l1812"/>
          <p:cNvSpPr txBox="1"/>
          <p:nvPr/>
        </p:nvSpPr>
        <p:spPr>
          <a:xfrm>
            <a:off x="132588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dirty="0" sz="1000"/>
          </a:p>
        </p:txBody>
      </p:sp>
      <p:sp>
        <p:nvSpPr>
          <p:cNvPr id="15" name="a2f_box1813"/>
          <p:cNvSpPr txBox="1"/>
          <p:nvPr/>
        </p:nvSpPr>
        <p:spPr>
          <a:xfrm>
            <a:off x="1325880" y="2514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300"/>
          </a:p>
        </p:txBody>
      </p:sp>
      <p:sp>
        <p:nvSpPr>
          <p:cNvPr id="16" name="a2f_box1814"/>
          <p:cNvSpPr txBox="1"/>
          <p:nvPr/>
        </p:nvSpPr>
        <p:spPr>
          <a:xfrm>
            <a:off x="1783080" y="2514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300"/>
          </a:p>
        </p:txBody>
      </p:sp>
      <p:sp>
        <p:nvSpPr>
          <p:cNvPr id="17" name="a3f_box1815"/>
          <p:cNvSpPr txBox="1"/>
          <p:nvPr/>
        </p:nvSpPr>
        <p:spPr>
          <a:xfrm>
            <a:off x="2377440" y="25146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b="1"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Day 1</a:t>
            </a:r>
            <a:endParaRPr lang="en-US" dirty="0" sz="1100"/>
          </a:p>
        </p:txBody>
      </p:sp>
      <p:sp>
        <p:nvSpPr>
          <p:cNvPr id="18" name="a3fd200_conn1816"/>
          <p:cNvSpPr/>
          <p:nvPr/>
        </p:nvSpPr>
        <p:spPr>
          <a:xfrm>
            <a:off x="3794760" y="2706624"/>
            <a:ext cx="50292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a3fd300_l1817"/>
          <p:cNvSpPr txBox="1"/>
          <p:nvPr/>
        </p:nvSpPr>
        <p:spPr>
          <a:xfrm>
            <a:off x="4343400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dirty="0" sz="1000"/>
          </a:p>
        </p:txBody>
      </p:sp>
      <p:sp>
        <p:nvSpPr>
          <p:cNvPr id="20" name="a3fd300_box1818"/>
          <p:cNvSpPr txBox="1"/>
          <p:nvPr/>
        </p:nvSpPr>
        <p:spPr>
          <a:xfrm>
            <a:off x="4343400" y="2514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300"/>
          </a:p>
        </p:txBody>
      </p:sp>
      <p:sp>
        <p:nvSpPr>
          <p:cNvPr id="21" name="a4f_conn1819"/>
          <p:cNvSpPr/>
          <p:nvPr/>
        </p:nvSpPr>
        <p:spPr>
          <a:xfrm>
            <a:off x="4773168" y="2706624"/>
            <a:ext cx="667512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a4f_l1820"/>
          <p:cNvSpPr txBox="1"/>
          <p:nvPr/>
        </p:nvSpPr>
        <p:spPr>
          <a:xfrm>
            <a:off x="4754880" y="23957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0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dirty="0" sz="1000"/>
          </a:p>
        </p:txBody>
      </p:sp>
      <p:sp>
        <p:nvSpPr>
          <p:cNvPr id="23" name="a4fd200_l1821"/>
          <p:cNvSpPr txBox="1"/>
          <p:nvPr/>
        </p:nvSpPr>
        <p:spPr>
          <a:xfrm>
            <a:off x="5486400" y="2286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dirty="0" sz="1000"/>
          </a:p>
        </p:txBody>
      </p:sp>
      <p:sp>
        <p:nvSpPr>
          <p:cNvPr id="24" name="a4fd200_box1822"/>
          <p:cNvSpPr txBox="1"/>
          <p:nvPr/>
        </p:nvSpPr>
        <p:spPr>
          <a:xfrm>
            <a:off x="5486400" y="2514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300"/>
          </a:p>
        </p:txBody>
      </p:sp>
      <p:sp>
        <p:nvSpPr>
          <p:cNvPr id="25" name="a4fd200_box1823"/>
          <p:cNvSpPr txBox="1"/>
          <p:nvPr/>
        </p:nvSpPr>
        <p:spPr>
          <a:xfrm>
            <a:off x="5943600" y="2514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300"/>
          </a:p>
        </p:txBody>
      </p:sp>
      <p:sp>
        <p:nvSpPr>
          <p:cNvPr id="26" name="a4fd400_box1824"/>
          <p:cNvSpPr txBox="1"/>
          <p:nvPr/>
        </p:nvSpPr>
        <p:spPr>
          <a:xfrm>
            <a:off x="6400800" y="2514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3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300"/>
          </a:p>
        </p:txBody>
      </p:sp>
      <p:sp>
        <p:nvSpPr>
          <p:cNvPr id="27" name="a5f_codebg1825"/>
          <p:cNvSpPr/>
          <p:nvPr/>
        </p:nvSpPr>
        <p:spPr>
          <a:xfrm>
            <a:off x="457200" y="3429000"/>
            <a:ext cx="457200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a5wd0_code1826"/>
          <p:cNvSpPr txBox="1"/>
          <p:nvPr/>
        </p:nvSpPr>
        <p:spPr>
          <a:xfrm>
            <a:off x="640080" y="3566160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Customers_Day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dirty="0" sz="1100"/>
          </a:p>
        </p:txBody>
      </p:sp>
      <p:sp>
        <p:nvSpPr>
          <p:cNvPr id="29" name="a5wd100_code1827"/>
          <p:cNvSpPr txBox="1"/>
          <p:nvPr/>
        </p:nvSpPr>
        <p:spPr>
          <a:xfrm>
            <a:off x="640080" y="3813048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dirty="0" sz="1100"/>
          </a:p>
        </p:txBody>
      </p:sp>
      <p:sp>
        <p:nvSpPr>
          <p:cNvPr id="30" name="a5wd200_code1828"/>
          <p:cNvSpPr txBox="1"/>
          <p:nvPr/>
        </p:nvSpPr>
        <p:spPr>
          <a:xfrm>
            <a:off x="640080" y="4059936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Customers_Day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100"/>
          </a:p>
        </p:txBody>
      </p:sp>
      <p:sp>
        <p:nvSpPr>
          <p:cNvPr id="31" name="a5wd300_code1829"/>
          <p:cNvSpPr txBox="1"/>
          <p:nvPr/>
        </p:nvSpPr>
        <p:spPr>
          <a:xfrm>
            <a:off x="640080" y="4306824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10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dirty="0" sz="1100"/>
          </a:p>
        </p:txBody>
      </p:sp>
      <p:sp>
        <p:nvSpPr>
          <p:cNvPr id="32" name="a5fd300_t1830"/>
          <p:cNvSpPr txBox="1"/>
          <p:nvPr/>
        </p:nvSpPr>
        <p:spPr>
          <a:xfrm>
            <a:off x="5303520" y="3429000"/>
            <a:ext cx="3383280" cy="126187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1 was already loaded, so only customer 3 is inserted — no duplicates in the warehouse.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 · Check Migration Completeness</a:t>
            </a:r>
            <a:endParaRPr lang="en-US" dirty="0" sz="280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EXCEPT in both directions — both results should be empty</a:t>
            </a:r>
            <a:endParaRPr lang="en-US" dirty="0" sz="1300"/>
          </a:p>
        </p:txBody>
      </p:sp>
      <p:sp>
        <p:nvSpPr>
          <p:cNvPr id="4" name="a1f_dbA1831"/>
          <p:cNvSpPr/>
          <p:nvPr/>
        </p:nvSpPr>
        <p:spPr>
          <a:xfrm>
            <a:off x="1828800" y="1143000"/>
            <a:ext cx="1188720" cy="868680"/>
          </a:xfrm>
          <a:prstGeom prst="can">
            <a:avLst/>
          </a:prstGeom>
          <a:solidFill>
            <a:srgbClr val="CCFBF1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5" name="a1f_la1832"/>
          <p:cNvSpPr txBox="1"/>
          <p:nvPr/>
        </p:nvSpPr>
        <p:spPr>
          <a:xfrm>
            <a:off x="15544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</a:t>
            </a:r>
            <a:endParaRPr lang="en-US" dirty="0" sz="1200"/>
          </a:p>
        </p:txBody>
      </p:sp>
      <p:sp>
        <p:nvSpPr>
          <p:cNvPr id="6" name="a1wd200_conn1833"/>
          <p:cNvSpPr/>
          <p:nvPr/>
        </p:nvSpPr>
        <p:spPr>
          <a:xfrm>
            <a:off x="3154680" y="1572768"/>
            <a:ext cx="2377440" cy="914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7" name="a1fd200_m1834"/>
          <p:cNvSpPr txBox="1"/>
          <p:nvPr/>
        </p:nvSpPr>
        <p:spPr>
          <a:xfrm>
            <a:off x="31546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100" i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Customers table</a:t>
            </a:r>
            <a:endParaRPr lang="en-US" dirty="0" sz="1100"/>
          </a:p>
        </p:txBody>
      </p:sp>
      <p:sp>
        <p:nvSpPr>
          <p:cNvPr id="8" name="a1fd400_dbB1835"/>
          <p:cNvSpPr/>
          <p:nvPr/>
        </p:nvSpPr>
        <p:spPr>
          <a:xfrm>
            <a:off x="5669280" y="1143000"/>
            <a:ext cx="1188720" cy="868680"/>
          </a:xfrm>
          <a:prstGeom prst="can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a1fd400_lb1836"/>
          <p:cNvSpPr txBox="1"/>
          <p:nvPr/>
        </p:nvSpPr>
        <p:spPr>
          <a:xfrm>
            <a:off x="539496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</a:t>
            </a:r>
            <a:endParaRPr lang="en-US" dirty="0" sz="1200"/>
          </a:p>
        </p:txBody>
      </p:sp>
      <p:sp>
        <p:nvSpPr>
          <p:cNvPr id="10" name="a2f_h1837"/>
          <p:cNvSpPr txBox="1"/>
          <p:nvPr/>
        </p:nvSpPr>
        <p:spPr>
          <a:xfrm>
            <a:off x="45720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1 · anything missing in B?</a:t>
            </a:r>
            <a:endParaRPr lang="en-US" dirty="0" sz="1300"/>
          </a:p>
        </p:txBody>
      </p:sp>
      <p:sp>
        <p:nvSpPr>
          <p:cNvPr id="11" name="a2f_codebg1838"/>
          <p:cNvSpPr/>
          <p:nvPr/>
        </p:nvSpPr>
        <p:spPr>
          <a:xfrm>
            <a:off x="457200" y="2560320"/>
            <a:ext cx="402336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a2wd0_code1839"/>
          <p:cNvSpPr txBox="1"/>
          <p:nvPr/>
        </p:nvSpPr>
        <p:spPr>
          <a:xfrm>
            <a:off x="640080" y="26974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5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DatabaseA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dirty="0" sz="1050"/>
          </a:p>
        </p:txBody>
      </p:sp>
      <p:sp>
        <p:nvSpPr>
          <p:cNvPr id="13" name="a2wd100_code1840"/>
          <p:cNvSpPr txBox="1"/>
          <p:nvPr/>
        </p:nvSpPr>
        <p:spPr>
          <a:xfrm>
            <a:off x="640080" y="29352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5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dirty="0" sz="1050"/>
          </a:p>
        </p:txBody>
      </p:sp>
      <p:sp>
        <p:nvSpPr>
          <p:cNvPr id="14" name="a2wd200_code1841"/>
          <p:cNvSpPr txBox="1"/>
          <p:nvPr/>
        </p:nvSpPr>
        <p:spPr>
          <a:xfrm>
            <a:off x="640080" y="317296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5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DatabaseB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050"/>
          </a:p>
        </p:txBody>
      </p:sp>
      <p:sp>
        <p:nvSpPr>
          <p:cNvPr id="15" name="a2fd500_box1842"/>
          <p:cNvSpPr txBox="1"/>
          <p:nvPr/>
        </p:nvSpPr>
        <p:spPr>
          <a:xfrm>
            <a:off x="457200" y="361188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0 rows returned</a:t>
            </a:r>
            <a:endParaRPr lang="en-US" dirty="0" sz="1200"/>
          </a:p>
        </p:txBody>
      </p:sp>
      <p:sp>
        <p:nvSpPr>
          <p:cNvPr id="16" name="a3f_h1843"/>
          <p:cNvSpPr txBox="1"/>
          <p:nvPr/>
        </p:nvSpPr>
        <p:spPr>
          <a:xfrm>
            <a:off x="46634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 · anything extra in B?</a:t>
            </a:r>
            <a:endParaRPr lang="en-US" dirty="0" sz="1300"/>
          </a:p>
        </p:txBody>
      </p:sp>
      <p:sp>
        <p:nvSpPr>
          <p:cNvPr id="17" name="a3f_codebg1844"/>
          <p:cNvSpPr/>
          <p:nvPr/>
        </p:nvSpPr>
        <p:spPr>
          <a:xfrm>
            <a:off x="4663440" y="2560320"/>
            <a:ext cx="402336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a3wd0_code1845"/>
          <p:cNvSpPr txBox="1"/>
          <p:nvPr/>
        </p:nvSpPr>
        <p:spPr>
          <a:xfrm>
            <a:off x="4846320" y="26974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5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DatabaseB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dirty="0" sz="1050"/>
          </a:p>
        </p:txBody>
      </p:sp>
      <p:sp>
        <p:nvSpPr>
          <p:cNvPr id="19" name="a3wd100_code1846"/>
          <p:cNvSpPr txBox="1"/>
          <p:nvPr/>
        </p:nvSpPr>
        <p:spPr>
          <a:xfrm>
            <a:off x="4846320" y="29352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5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dirty="0" sz="1050"/>
          </a:p>
        </p:txBody>
      </p:sp>
      <p:sp>
        <p:nvSpPr>
          <p:cNvPr id="20" name="a3wd200_code1847"/>
          <p:cNvSpPr txBox="1"/>
          <p:nvPr/>
        </p:nvSpPr>
        <p:spPr>
          <a:xfrm>
            <a:off x="4846320" y="317296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05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lang="en-US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b="1" lang="en-US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DatabaseA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r>
              <a:rPr sz="1050"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dirty="0" sz="1050"/>
          </a:p>
        </p:txBody>
      </p:sp>
      <p:sp>
        <p:nvSpPr>
          <p:cNvPr id="21" name="a3fd500_box1848"/>
          <p:cNvSpPr txBox="1"/>
          <p:nvPr/>
        </p:nvSpPr>
        <p:spPr>
          <a:xfrm>
            <a:off x="4663440" y="361188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0 rows returned</a:t>
            </a:r>
            <a:endParaRPr lang="en-US" dirty="0" sz="1200"/>
          </a:p>
        </p:txBody>
      </p:sp>
      <p:sp>
        <p:nvSpPr>
          <p:cNvPr id="22" name="a4u_ok1849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a4u_okt1850"/>
          <p:cNvSpPr txBox="1"/>
          <p:nvPr/>
        </p:nvSpPr>
        <p:spPr>
          <a:xfrm>
            <a:off x="68580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4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checks empty → the two tables are identical. Nothing was lost or added during migration.</a:t>
            </a:r>
            <a:endParaRPr lang="en-US" dirty="0" sz="14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2800" b="1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Set Operators at a Glance</a:t>
            </a:r>
            <a:endParaRPr lang="en-US" dirty="0" sz="2800"/>
          </a:p>
        </p:txBody>
      </p:sp>
      <p:sp>
        <p:nvSpPr>
          <p:cNvPr id="3" name="a1u_c1851"/>
          <p:cNvSpPr/>
          <p:nvPr/>
        </p:nvSpPr>
        <p:spPr>
          <a:xfrm>
            <a:off x="457200" y="914400"/>
            <a:ext cx="1920240" cy="3154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a1u_sv1852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24128"/>
            <a:ext cx="1463040" cy="926592"/>
          </a:xfrm>
          <a:prstGeom prst="rect">
            <a:avLst/>
          </a:prstGeom>
        </p:spPr>
      </p:pic>
      <p:sp>
        <p:nvSpPr>
          <p:cNvPr id="5" name="a1u_n1853"/>
          <p:cNvSpPr txBox="1"/>
          <p:nvPr/>
        </p:nvSpPr>
        <p:spPr>
          <a:xfrm>
            <a:off x="548640" y="1984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dirty="0" sz="1500"/>
          </a:p>
        </p:txBody>
      </p:sp>
      <p:sp>
        <p:nvSpPr>
          <p:cNvPr id="6" name="a1u_b1854"/>
          <p:cNvSpPr txBox="1"/>
          <p:nvPr/>
        </p:nvSpPr>
        <p:spPr>
          <a:xfrm>
            <a:off x="640080" y="23774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</a:t>
            </a:r>
            <a:endParaRPr lang="en-US" dirty="0" sz="1000"/>
          </a:p>
        </p:txBody>
      </p:sp>
      <p:sp>
        <p:nvSpPr>
          <p:cNvPr id="7" name="a1u_b1855"/>
          <p:cNvSpPr txBox="1"/>
          <p:nvPr/>
        </p:nvSpPr>
        <p:spPr>
          <a:xfrm>
            <a:off x="640080" y="29077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dirty="0" sz="1000"/>
          </a:p>
        </p:txBody>
      </p:sp>
      <p:sp>
        <p:nvSpPr>
          <p:cNvPr id="8" name="a1u_b1856"/>
          <p:cNvSpPr txBox="1"/>
          <p:nvPr/>
        </p:nvSpPr>
        <p:spPr>
          <a:xfrm>
            <a:off x="640080" y="343814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ORDER</a:t>
            </a:r>
            <a:endParaRPr lang="en-US" dirty="0" sz="1000"/>
          </a:p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dirty="0" sz="1000"/>
          </a:p>
        </p:txBody>
      </p:sp>
      <p:sp>
        <p:nvSpPr>
          <p:cNvPr id="9" name="a2u_c1857"/>
          <p:cNvSpPr/>
          <p:nvPr/>
        </p:nvSpPr>
        <p:spPr>
          <a:xfrm>
            <a:off x="2560320" y="914400"/>
            <a:ext cx="1920240" cy="3154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a2u_sv1858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024128"/>
            <a:ext cx="1463040" cy="926592"/>
          </a:xfrm>
          <a:prstGeom prst="rect">
            <a:avLst/>
          </a:prstGeom>
        </p:spPr>
      </p:pic>
      <p:sp>
        <p:nvSpPr>
          <p:cNvPr id="11" name="a2u_n1859"/>
          <p:cNvSpPr txBox="1"/>
          <p:nvPr/>
        </p:nvSpPr>
        <p:spPr>
          <a:xfrm>
            <a:off x="2651760" y="1984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dirty="0" sz="1500"/>
          </a:p>
        </p:txBody>
      </p:sp>
      <p:sp>
        <p:nvSpPr>
          <p:cNvPr id="12" name="a2u_b1860"/>
          <p:cNvSpPr txBox="1"/>
          <p:nvPr/>
        </p:nvSpPr>
        <p:spPr>
          <a:xfrm>
            <a:off x="2743200" y="23774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</a:t>
            </a:r>
            <a:endParaRPr lang="en-US" dirty="0" sz="1000"/>
          </a:p>
        </p:txBody>
      </p:sp>
      <p:sp>
        <p:nvSpPr>
          <p:cNvPr id="13" name="a2u_b1861"/>
          <p:cNvSpPr txBox="1"/>
          <p:nvPr/>
        </p:nvSpPr>
        <p:spPr>
          <a:xfrm>
            <a:off x="2743200" y="29077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(fastest)</a:t>
            </a:r>
            <a:endParaRPr lang="en-US" dirty="0" sz="1000"/>
          </a:p>
        </p:txBody>
      </p:sp>
      <p:sp>
        <p:nvSpPr>
          <p:cNvPr id="14" name="a2u_b1862"/>
          <p:cNvSpPr txBox="1"/>
          <p:nvPr/>
        </p:nvSpPr>
        <p:spPr>
          <a:xfrm>
            <a:off x="2743200" y="343814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ORDER</a:t>
            </a:r>
            <a:endParaRPr lang="en-US" dirty="0" sz="1000"/>
          </a:p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dirty="0" sz="1000"/>
          </a:p>
        </p:txBody>
      </p:sp>
      <p:sp>
        <p:nvSpPr>
          <p:cNvPr id="15" name="a3u_c1863"/>
          <p:cNvSpPr/>
          <p:nvPr/>
        </p:nvSpPr>
        <p:spPr>
          <a:xfrm>
            <a:off x="4663440" y="914400"/>
            <a:ext cx="1920240" cy="3154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a3u_sv1864" descr="678de5af87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024128"/>
            <a:ext cx="1463040" cy="926592"/>
          </a:xfrm>
          <a:prstGeom prst="rect">
            <a:avLst/>
          </a:prstGeom>
        </p:spPr>
      </p:pic>
      <p:sp>
        <p:nvSpPr>
          <p:cNvPr id="17" name="a3u_n1865"/>
          <p:cNvSpPr txBox="1"/>
          <p:nvPr/>
        </p:nvSpPr>
        <p:spPr>
          <a:xfrm>
            <a:off x="4754880" y="1984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dirty="0" sz="1500"/>
          </a:p>
        </p:txBody>
      </p:sp>
      <p:sp>
        <p:nvSpPr>
          <p:cNvPr id="18" name="a3u_b1866"/>
          <p:cNvSpPr txBox="1"/>
          <p:nvPr/>
        </p:nvSpPr>
        <p:spPr>
          <a:xfrm>
            <a:off x="4846320" y="23774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the 1st query</a:t>
            </a:r>
            <a:endParaRPr lang="en-US" dirty="0" sz="1000"/>
          </a:p>
        </p:txBody>
      </p:sp>
      <p:sp>
        <p:nvSpPr>
          <p:cNvPr id="19" name="a3u_b1867"/>
          <p:cNvSpPr txBox="1"/>
          <p:nvPr/>
        </p:nvSpPr>
        <p:spPr>
          <a:xfrm>
            <a:off x="4846320" y="29077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dirty="0" sz="1000"/>
          </a:p>
        </p:txBody>
      </p:sp>
      <p:sp>
        <p:nvSpPr>
          <p:cNvPr id="20" name="a3u_b1868"/>
          <p:cNvSpPr txBox="1"/>
          <p:nvPr/>
        </p:nvSpPr>
        <p:spPr>
          <a:xfrm>
            <a:off x="4846320" y="343814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ORDER</a:t>
            </a:r>
            <a:endParaRPr lang="en-US" dirty="0" sz="1000"/>
          </a:p>
          <a:p>
            <a:pPr marL="0" indent="0">
              <a:buNone/>
            </a:pPr>
            <a:r>
              <a:rPr sz="1200" b="1" lang="en-US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dirty="0" sz="1000"/>
          </a:p>
        </p:txBody>
      </p:sp>
      <p:sp>
        <p:nvSpPr>
          <p:cNvPr id="21" name="a4u_c1869"/>
          <p:cNvSpPr/>
          <p:nvPr/>
        </p:nvSpPr>
        <p:spPr>
          <a:xfrm>
            <a:off x="6766560" y="914400"/>
            <a:ext cx="1920240" cy="3154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a4u_sv1870" descr="080871519f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024128"/>
            <a:ext cx="1463040" cy="926592"/>
          </a:xfrm>
          <a:prstGeom prst="rect">
            <a:avLst/>
          </a:prstGeom>
        </p:spPr>
      </p:pic>
      <p:sp>
        <p:nvSpPr>
          <p:cNvPr id="23" name="a4u_n1871"/>
          <p:cNvSpPr txBox="1"/>
          <p:nvPr/>
        </p:nvSpPr>
        <p:spPr>
          <a:xfrm>
            <a:off x="6858000" y="1984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500" b="1" lang="en-US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dirty="0" sz="1500"/>
          </a:p>
        </p:txBody>
      </p:sp>
      <p:sp>
        <p:nvSpPr>
          <p:cNvPr id="24" name="a4u_b1872"/>
          <p:cNvSpPr txBox="1"/>
          <p:nvPr/>
        </p:nvSpPr>
        <p:spPr>
          <a:xfrm>
            <a:off x="6949440" y="23774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found in both</a:t>
            </a:r>
            <a:endParaRPr lang="en-US" dirty="0" sz="1000"/>
          </a:p>
        </p:txBody>
      </p:sp>
      <p:sp>
        <p:nvSpPr>
          <p:cNvPr id="25" name="a4u_b1873"/>
          <p:cNvSpPr txBox="1"/>
          <p:nvPr/>
        </p:nvSpPr>
        <p:spPr>
          <a:xfrm>
            <a:off x="6949440" y="29077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dirty="0" sz="1000"/>
          </a:p>
          <a:p>
            <a:pPr marL="0" indent="0">
              <a:buNone/>
            </a:pPr>
            <a:r>
              <a:rPr sz="1200"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dirty="0" sz="1000"/>
          </a:p>
        </p:txBody>
      </p:sp>
      <p:sp>
        <p:nvSpPr>
          <p:cNvPr id="26" name="a4u_b1874"/>
          <p:cNvSpPr txBox="1"/>
          <p:nvPr/>
        </p:nvSpPr>
        <p:spPr>
          <a:xfrm>
            <a:off x="6949440" y="343814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anchor="t" rtlCol="0"/>
          <a:lstStyle/>
          <a:p>
            <a:pPr marL="0" indent="0">
              <a:buNone/>
            </a:pPr>
            <a:r>
              <a:rPr sz="1000" b="1"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ORDER</a:t>
            </a:r>
            <a:endParaRPr lang="en-US" dirty="0" sz="1000"/>
          </a:p>
          <a:p>
            <a:pPr marL="0" indent="0">
              <a:buNone/>
            </a:pPr>
            <a:r>
              <a:rPr sz="1200" b="1" lang="en-US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matter</a:t>
            </a:r>
            <a:endParaRPr lang="en-US" dirty="0" sz="1000"/>
          </a:p>
        </p:txBody>
      </p:sp>
      <p:sp>
        <p:nvSpPr>
          <p:cNvPr id="27" name="a5u_r1875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8" name="a5u_rt1876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200" b="1" lang="en-US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</a:t>
            </a:r>
            <a:r>
              <a:rPr sz="1200"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 count · compatible types · same order · 1st query names the columns · ORDER BY once at the end</a:t>
            </a:r>
            <a:endParaRPr lang="en-US" dirty="0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2" name="a0f_h1877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32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· Set Operators</a:t>
            </a:r>
            <a:endParaRPr lang="en-US" dirty="0" sz="3200"/>
          </a:p>
        </p:txBody>
      </p:sp>
      <p:sp>
        <p:nvSpPr>
          <p:cNvPr id="3" name="a1u_n1878"/>
          <p:cNvSpPr txBox="1"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 sz="1600"/>
          </a:p>
        </p:txBody>
      </p:sp>
      <p:sp>
        <p:nvSpPr>
          <p:cNvPr id="4" name="a1u_t1879"/>
          <p:cNvSpPr txBox="1"/>
          <p:nvPr/>
        </p:nvSpPr>
        <p:spPr>
          <a:xfrm>
            <a:off x="1188720" y="1417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operators stack rows from multiple queries; joins add columns.</a:t>
            </a:r>
            <a:endParaRPr lang="en-US" dirty="0" sz="1500"/>
          </a:p>
        </p:txBody>
      </p:sp>
      <p:sp>
        <p:nvSpPr>
          <p:cNvPr id="5" name="a2u_n1880"/>
          <p:cNvSpPr txBox="1"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 sz="1600"/>
          </a:p>
        </p:txBody>
      </p:sp>
      <p:sp>
        <p:nvSpPr>
          <p:cNvPr id="6" name="a2u_t1881"/>
          <p:cNvSpPr txBox="1"/>
          <p:nvPr/>
        </p:nvSpPr>
        <p:spPr>
          <a:xfrm>
            <a:off x="1188720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must match in column count, types and order — the 1st query names the result.</a:t>
            </a:r>
            <a:endParaRPr lang="en-US" dirty="0" sz="1500"/>
          </a:p>
        </p:txBody>
      </p:sp>
      <p:sp>
        <p:nvSpPr>
          <p:cNvPr id="7" name="a3u_n1882"/>
          <p:cNvSpPr txBox="1"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 sz="1600"/>
          </a:p>
        </p:txBody>
      </p:sp>
      <p:sp>
        <p:nvSpPr>
          <p:cNvPr id="8" name="a3u_t1883"/>
          <p:cNvSpPr txBox="1"/>
          <p:nvPr/>
        </p:nvSpPr>
        <p:spPr>
          <a:xfrm>
            <a:off x="118872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removes duplicates; UNION ALL keeps them and is faster.</a:t>
            </a:r>
            <a:endParaRPr lang="en-US" dirty="0" sz="1500"/>
          </a:p>
        </p:txBody>
      </p:sp>
      <p:sp>
        <p:nvSpPr>
          <p:cNvPr id="9" name="a4u_n1884"/>
          <p:cNvSpPr txBox="1"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anchor="ctr" rtlCol="0"/>
          <a:lstStyle/>
          <a:p>
            <a:pPr algn="ctr" marL="0" indent="0">
              <a:buNone/>
            </a:pPr>
            <a:r>
              <a:rPr sz="1600" b="1"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 sz="1600"/>
          </a:p>
        </p:txBody>
      </p:sp>
      <p:sp>
        <p:nvSpPr>
          <p:cNvPr id="10" name="a4u_t1885"/>
          <p:cNvSpPr txBox="1"/>
          <p:nvPr/>
        </p:nvSpPr>
        <p:spPr>
          <a:xfrm>
            <a:off x="1188720" y="3886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anchor="ctr" rtlCol="0"/>
          <a:lstStyle/>
          <a:p>
            <a:pPr marL="0" indent="0">
              <a:buNone/>
            </a:pPr>
            <a:r>
              <a:rPr sz="15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finds differences (order matters); INTERSECT finds what's common.</a:t>
            </a:r>
            <a:endParaRPr lang="en-US" dirty="0" sz="1500"/>
          </a:p>
        </p:txBody>
      </p:sp>
      <p:pic>
        <p:nvPicPr>
          <p:cNvPr id="11" name="a0fd300_v1886" descr="8231790ee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2468880" cy="1563624"/>
          </a:xfrm>
          <a:prstGeom prst="rect">
            <a:avLst/>
          </a:prstGeom>
        </p:spPr>
      </p:pic>
      <p:sp>
        <p:nvSpPr>
          <p:cNvPr id="12" name="a5u_next1887"/>
          <p:cNvSpPr txBox="1"/>
          <p:nvPr/>
        </p:nvSpPr>
        <p:spPr>
          <a:xfrm>
            <a:off x="6217920" y="31089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>
            <a:solidFill>
              <a:srgbClr val="475569"/>
            </a:solidFill>
          </a:ln>
        </p:spPr>
        <p:txBody>
          <a:bodyPr wrap="square" lIns="165100" tIns="0" rIns="165100" bIns="0" anchor="ctr" rtlCol="0"/>
          <a:lstStyle/>
          <a:p>
            <a:pPr marL="0" indent="0">
              <a:buNone/>
            </a:pPr>
            <a:r>
              <a:rPr sz="1300" b="1" lang="en-US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 </a:t>
            </a:r>
            <a:r>
              <a:rPr sz="1300"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statements — conditional logic and derived values</a:t>
            </a:r>
            <a:endParaRPr lang="en-US" dirty="0" sz="13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Joins Basics</dc:title>
  <dc:subject>PptxGenJS Presentation</dc:subject>
  <dc:creator>PptxGenJS</dc:creator>
  <cp:lastModifiedBy>PptxGenJS</cp:lastModifiedBy>
  <cp:revision>1</cp:revision>
  <dcterms:created xsi:type="dcterms:W3CDTF">2026-09-17T16:10:42Z</dcterms:created>
  <dcterms:modified xsi:type="dcterms:W3CDTF">2026-09-17T16:10:42Z</dcterms:modified>
</cp:coreProperties>
</file>