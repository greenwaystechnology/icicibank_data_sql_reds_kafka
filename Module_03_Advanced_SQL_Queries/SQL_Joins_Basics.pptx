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6"/>
    <p:sldId id="325" r:id="rId5"/>
    <p:sldId id="326" r:id="rId4"/>
    <p:sldId id="327" r:id="rId3"/>
    <p:sldId id="328" r:id="rId2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3.xml"/><Relationship Id="rId3" Type="http://schemas.openxmlformats.org/officeDocument/2006/relationships/slide" Target="slides/slide72.xml"/><Relationship Id="rId4" Type="http://schemas.openxmlformats.org/officeDocument/2006/relationships/slide" Target="slides/slide71.xml"/><Relationship Id="rId5" Type="http://schemas.openxmlformats.org/officeDocument/2006/relationships/slide" Target="slides/slide70.xml"/><Relationship Id="rId6" Type="http://schemas.openxmlformats.org/officeDocument/2006/relationships/slide" Target="slides/slide6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 takes the joins we just learned into real queries.</a:t>
            </a:r>
          </a:p>
          <a:p>
            <a:r>
              <a:t>[click x4] Four topics: joining more than two tables; the ON-vs-WHERE trap, the most common outer-join bug in production; the self join for hierarchies; and non-equi joins, which match on a range instead of an equal key.</a:t>
            </a:r>
          </a:p>
          <a:p>
            <a:r>
              <a:t>Ask the room: "In your own reports, how many tables do you usually need?" The answer is almost always more than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09: multi-table joins.</a:t>
            </a:r>
          </a:p>
          <a:p>
            <a:r>
              <a:t>Real reports rarely read two tables. A branch report reads branch, customer, account and transactions. The good news: nothing new to learn. You chain the same joins, one table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Start with the main table, customers. It goes in FROM.</a:t>
            </a:r>
          </a:p>
          <a:p>
            <a:r>
              <a:t>[click] Orders connects through c.id = o.customer_id.</a:t>
            </a:r>
          </a:p>
          <a:p>
            <a:r>
              <a:t>[click] Countries is a lookup table that connects through country. Notice that each join has its own ON condition.</a:t>
            </a:r>
          </a:p>
          <a:p>
            <a:r>
              <a:t>[click x3] Three rules. One main table. n tables need n − 1 join conditions: forget one and you get a cross join and the row count explodes. LEFT JOIN the lookups so you never lose a main row when the lookup has no match.</a:t>
            </a:r>
          </a:p>
          <a:p>
            <a:r>
              <a:t>[click] The shape of the query: each new table is one more LEFT JOIN … ON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every customer with their continent and their orders.</a:t>
            </a:r>
          </a:p>
          <a:p>
            <a:r>
              <a:t>[click] Walk the code top to bottom: FROM customers is the main table, then one LEFT JOIN per extra table. Qualify every column with its alias.</a:t>
            </a:r>
          </a:p>
          <a:p>
            <a:r>
              <a:t>[click] The lookup table: three countries, two continents.</a:t>
            </a:r>
          </a:p>
          <a:p>
            <a:r>
              <a:t>[click] Result: all 5 customers stay. Martin and Peter get NULL order columns but still show their continent, because each LEFT JOIN protects the main rows independently.</a:t>
            </a:r>
          </a:p>
          <a:p>
            <a:r>
              <a:t>Question: what changes if the orders join is an INNER JOIN? Martin and Peter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10: ON vs WHERE. This is the bug the course material calls "the bug that silently converts an outer join". It produces no error, just wrong numbers, so it survives into production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on both sides: all customers, with orders above 15 where they exist.</a:t>
            </a:r>
          </a:p>
          <a:p>
            <a:r>
              <a:t>[click] Left: the filter is in WHERE.</a:t>
            </a:r>
          </a:p>
          <a:p>
            <a:r>
              <a:t>[click] Only 2 rows. Martin, Peter and John are gone, and the LEFT JOIN behaves like an INNER JOIN.</a:t>
            </a:r>
          </a:p>
          <a:p>
            <a:r>
              <a:t>[click] Right: the same condition moved into ON with AND.</a:t>
            </a:r>
          </a:p>
          <a:p>
            <a:r>
              <a:t>[click] 5 rows. The filter now decides which orders get attached, not which customers survive. John's 15 fails the condition, so he gets NULL but stays in the list.</a:t>
            </a:r>
          </a:p>
          <a:p>
            <a:r>
              <a:t>Ask: which one answers the business question "all customers, with their big orders"? The right-hand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does it happen? Step 1 is the LEFT JOIN result: 5 rows, with NULLs for Martin and Peter.</a:t>
            </a:r>
          </a:p>
          <a:p>
            <a:r>
              <a:t>[click x5] WHERE checks each row. 35 &gt; 15 is TRUE, kept. 15 &gt; 15 is FALSE, dropped. For Martin and Peter, NULL &gt; 15 is UNKNOWN, not TRUE, so they are dropped too. That is the silent conversion.</a:t>
            </a:r>
          </a:p>
          <a:p>
            <a:r>
              <a:t>[click] The final result has 2 rows.</a:t>
            </a:r>
          </a:p>
          <a:p>
            <a:r>
              <a:t>[click] The rule to remember: filter the optional (right) table in ON, and the main (left) table in WHERE.</a:t>
            </a:r>
          </a:p>
          <a:p>
            <a:r>
              <a:t>[click] The exception: WHERE o.customer_id IS NULL is intentional. That is the anti join from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11: self join. There is no new keyword. It is an ordinary join where both sides are the same table, and we use it whenever a table points to itself, like employee → manager, or account → parent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The employees table. manager_id holds the id of another row in the same table. Frank has NULL because he is the top.</a:t>
            </a:r>
          </a:p>
          <a:p>
            <a:r>
              <a:t>[click] That column describes this org chart: Frank at the top, Kevin and Mary under him, then Michael and Carol.</a:t>
            </a:r>
          </a:p>
          <a:p>
            <a:r>
              <a:t>[click] The query uses the table twice with two aliases: e is the employee copy, m is the manager copy. We match e.manager_id to m.id.</a:t>
            </a:r>
          </a:p>
          <a:p>
            <a:r>
              <a:t>[click] Aliases are mandatory here. Without them, SQL cannot tell which copy "first_name" belongs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every employee with their manager's name.</a:t>
            </a:r>
          </a:p>
          <a:p>
            <a:r>
              <a:t>[click] e.first_name is the employee, m.first_name is the manager. Alias the output columns so the result is readable.</a:t>
            </a:r>
          </a:p>
          <a:p>
            <a:r>
              <a:t>[click] Result: Kevin and Mary report to Frank, Michael to Kevin, Carol to Mary.</a:t>
            </a:r>
          </a:p>
          <a:p>
            <a:r>
              <a:t>[click] Frank shows NULL as manager. With an INNER JOIN he would disappear, and a report on the whole hierarchy would miss the CEO.</a:t>
            </a:r>
          </a:p>
          <a:p>
            <a:r>
              <a:t>Banking link: the ICICI Bank employee hierarchy in the lab uses exactly this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12: non-equi join. Until now, every ON used "=". The ON condition can be any condition that evaluates to true or false, including ranges.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Picture the score range from 0 to 1000 split into three bands.</a:t>
            </a:r>
          </a:p>
          <a:p>
            <a:r>
              <a:t>[click] Each customer lands in exactly one band. Peter and Maria in Bronze, Martin and Georg in Silver, John in Gold.</a:t>
            </a:r>
          </a:p>
          <a:p>
            <a:r>
              <a:t>[click] The bands live in a small table, score_bands, with a min and max per band.</a:t>
            </a:r>
          </a:p>
          <a:p>
            <a:r>
              <a:t>[click] The join condition uses BETWEEN instead of "=": a customer matches the band whose range contains their score.</a:t>
            </a:r>
          </a:p>
          <a:p>
            <a:r>
              <a:t>[click] There is no shared key column. The relationship is purely "falls inside".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assign every customer to a score band.</a:t>
            </a:r>
          </a:p>
          <a:p>
            <a:r>
              <a:t>[click] Same BETWEEN condition, with an INNER JOIN because every score is covered by a band.</a:t>
            </a:r>
          </a:p>
          <a:p>
            <a:r>
              <a:t>[click] Result: every customer with their band.</a:t>
            </a:r>
          </a:p>
          <a:p>
            <a:r>
              <a:t>[click] Two things to check with range tables: no overlaps (a score of 400 must not match two bands, or the row appears twice), and no gaps (a score outside every band disappears from an INNER JOIN).</a:t>
            </a:r>
          </a:p>
          <a:p>
            <a:r>
              <a:t>Real-world uses: tax slabs, interest-rate tiers and loan-size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Part 3.</a:t>
            </a:r>
          </a:p>
          <a:p>
            <a:r>
              <a:t>[click] n tables need n − 1 joins. Start FROM the main table.</a:t>
            </a:r>
          </a:p>
          <a:p>
            <a:r>
              <a:t>[click] Filters on the optional table go in ON, not WHERE.</a:t>
            </a:r>
          </a:p>
          <a:p>
            <a:r>
              <a:t>[click] Self join means one table, two aliases.</a:t>
            </a:r>
          </a:p>
          <a:p>
            <a:r>
              <a:t>[click] Non-equi joins match on ranges, so keep them clean.</a:t>
            </a:r>
          </a:p>
          <a:p>
            <a:r>
              <a:t>Next we take the joined data and summarize it: aggregation, GROUP BY, HAVING and pivots.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4. So far every query returned row-level detail. Management reports need summaries: totals, counts and averages per branch or month.</a:t>
            </a:r>
          </a:p>
          <a:p>
            <a:r>
              <a:t>[click x4] Four building blocks. Aggregate functions calculate. GROUP BY decides "per what". HAVING filters those summaries. Conditional aggregation pivots rows into columns, which is how most report layouts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13: aggregate functions. The key idea for the whole part: many rows go in, one value comes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Start with the orders table: 4 rows.</a:t>
            </a:r>
          </a:p>
          <a:p>
            <a:r>
              <a:t>[click x5] COUNT(*) = 4 rows. SUM(sales) = 80. AVG(sales) = 20. MAX = 35, MIN = 10.</a:t>
            </a:r>
          </a:p>
          <a:p>
            <a:r>
              <a:t>[click] Whatever the function, 4 rows collapse into 1 value.</a:t>
            </a:r>
          </a:p>
          <a:p>
            <a:r>
              <a:t>[click] Two facts people get wrong: aggregates skip NULLs, and COUNT(*) counts rows while COUNT(column) counts only non-NULL values. Ask the room: if one sales value were NULL, what would COUNT(*) and COUNT(sales) return? 4 and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summary statistics for customers.</a:t>
            </a:r>
          </a:p>
          <a:p>
            <a:r>
              <a:t>[click] Five aggregates in one SELECT. Alias every one, otherwise the output columns have no name.</a:t>
            </a:r>
          </a:p>
          <a:p>
            <a:r>
              <a:t>[click] The input: five scores.</a:t>
            </a:r>
          </a:p>
          <a:p>
            <a:r>
              <a:t>[click] The result is a single row: 5 customers, 2500 total, 500 average, 900 max, 0 min.</a:t>
            </a:r>
          </a:p>
          <a:p>
            <a:r>
              <a:t>[click] Peter's 0 is a real value and is counted. NULL would not be. Keep 0 and NULL separate in your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14: GROUP BY. Without it, aggregates return one row for the whole table. With it, they return one row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The customers table, colour-coded by country. Notice the rows are scattered: SQL doesn't need them sorted.</a:t>
            </a:r>
          </a:p>
          <a:p>
            <a:r>
              <a:t>[click] GROUP BY country puts rows with the same country into one group.</a:t>
            </a:r>
          </a:p>
          <a:p>
            <a:r>
              <a:t>[click] One result row per group. Germany gets 850 from 350 + 500.</a:t>
            </a:r>
          </a:p>
          <a:p>
            <a:r>
              <a:t>[click] The helper column shows the arithmetic behind each total.</a:t>
            </a:r>
          </a:p>
          <a:p>
            <a:r>
              <a:t>[click] The query itself is short: the column you group by, plus an aggregate.</a:t>
            </a:r>
          </a:p>
          <a:p>
            <a:r>
              <a:t>[click] 5 rows in, 3 rows out. The number of result rows equals the number of distinct values in the GROUP BY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total score and number of customers per country.</a:t>
            </a:r>
          </a:p>
          <a:p>
            <a:r>
              <a:t>[click] You can use several aggregates at once. Each runs inside every group.</a:t>
            </a:r>
          </a:p>
          <a:p>
            <a:r>
              <a:t>[click] Result: Germany 850 and 2, UK 750 and 1, USA 900 and 2.</a:t>
            </a:r>
          </a:p>
          <a:p>
            <a:r>
              <a:t>[click] Granularity: GROUP BY decides what one row of the result means. GROUP BY country, city would give one row per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watch SQL build the groups.</a:t>
            </a:r>
          </a:p>
          <a:p>
            <a:r>
              <a:t>[click] Maria, Germany: no group yet, so a Germany group is created.</a:t>
            </a:r>
          </a:p>
          <a:p>
            <a:r>
              <a:t>[click] John: a USA group is created.</a:t>
            </a:r>
          </a:p>
          <a:p>
            <a:r>
              <a:t>[click] Georg: a UK group is created.</a:t>
            </a:r>
          </a:p>
          <a:p>
            <a:r>
              <a:t>[click] Martin, Germany: the group already exists, so he's added to it.</a:t>
            </a:r>
          </a:p>
          <a:p>
            <a:r>
              <a:t>[click] Peter goes into the USA group.</a:t>
            </a:r>
          </a:p>
          <a:p>
            <a:r>
              <a:t>[click] Now each group is collapsed: SUM and COUNT run per group, producing one row each.</a:t>
            </a:r>
          </a:p>
          <a:p>
            <a:r>
              <a:t>[click] Key message: aggregates run inside each group, never across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GROUP BY rule. Every column in SELECT must be either aggregated or listed in GROUP BY.</a:t>
            </a:r>
          </a:p>
          <a:p>
            <a:r>
              <a:t>[click] Left: first_name isn't aggregated and isn't grouped. SQL Server raises an error; some databases return a random name, which is worse.</a:t>
            </a:r>
          </a:p>
          <a:p>
            <a:r>
              <a:t>[click] Right: aggregate it, for example COUNT(first_name), or add it to GROUP BY. If you add it, every customer becomes their own group and the summary is lost.</a:t>
            </a:r>
          </a:p>
          <a:p>
            <a:r>
              <a:t>[click] Why: one group means one row. Germany has two first names, and SQL cannot fit two values in one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Part 3 and Part 4 meet: joins plus aggregation.</a:t>
            </a:r>
          </a:p>
          <a:p>
            <a:r>
              <a:t>TASK: orders count and total sales per customer, including customers with no orders.</a:t>
            </a:r>
          </a:p>
          <a:p>
            <a:r>
              <a:t>[click] LEFT JOIN keeps every customer. GROUP BY both the id and the name, since both are in SELECT.</a:t>
            </a:r>
          </a:p>
          <a:p>
            <a:r>
              <a:t>[click] Martin and Peter show 0 orders and NULL sales.</a:t>
            </a:r>
          </a:p>
          <a:p>
            <a:r>
              <a:t>[click] The trap: COUNT(*) counts rows, and the LEFT JOIN created one row for Martin, full of NULLs. COUNT(*) would say Martin has 1 order. Always count a column from the right table, like COUNT(o.order_id).</a:t>
            </a:r>
          </a:p>
          <a:p>
            <a:r>
              <a:t>Tip: COALESCE(SUM(o.sales), 0) displays 0 instead of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15: HAVING. It is WHERE for groups: it filters after the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[click] Two filters, two moments.</a:t>
            </a:r>
          </a:p>
          <a:p>
            <a:r>
              <a:t>[click] WHERE filters individual rows; HAVING filters aggregated groups.</a:t>
            </a:r>
          </a:p>
          <a:p>
            <a:r>
              <a:t>[click] WHERE runs before GROUP BY; HAVING runs after.</a:t>
            </a:r>
          </a:p>
          <a:p>
            <a:r>
              <a:t>[click] So WHERE cannot use aggregates, and HAVING can.</a:t>
            </a:r>
          </a:p>
          <a:p>
            <a:r>
              <a:t>[click] Typical examples: WHERE score != 0, HAVING AVG(score) &gt; 430.</a:t>
            </a:r>
          </a:p>
          <a:p>
            <a:r>
              <a:t>[click] Rule of thumb: rows → WHERE, results of aggregates → HAVING. You can, and often will, use both in the same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author's classic task: average score per country, excluding zeros, keeping only countries with an average above 430.</a:t>
            </a:r>
          </a:p>
          <a:p>
            <a:r>
              <a:t>[click] Read the code in execution order: WHERE drops Peter's 0 first, GROUP BY builds the countries, then HAVING checks the average.</a:t>
            </a:r>
          </a:p>
          <a:p>
            <a:r>
              <a:t>[click] Germany averages 425, so it fails. USA and UK pass.</a:t>
            </a:r>
          </a:p>
          <a:p>
            <a:r>
              <a:t>[click] Result: USA 900, UK 750.</a:t>
            </a:r>
          </a:p>
          <a:p>
            <a:r>
              <a:t>[click] Why the WHERE matters: without it, Peter's 0 stays in and USA averages (900 + 0) / 2 = 450. Different input, different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SQL does not execute the query in the order you write it.</a:t>
            </a:r>
          </a:p>
          <a:p>
            <a:r>
              <a:t>[click] The numbers show the real order: FROM, WHERE, GROUP BY, HAVING, SELECT, ORDER BY.</a:t>
            </a:r>
          </a:p>
          <a:p>
            <a:r>
              <a:t>[click x6] Walk the pipeline: FROM picks and joins the tables, WHERE filters rows, GROUP BY builds groups, HAVING filters groups, SELECT calculates the output columns, and ORDER BY sorts.</a:t>
            </a:r>
          </a:p>
          <a:p>
            <a:r>
              <a:t>[click] This explains three rules at once. WHERE can't use aggregates because groups don't exist yet. HAVING can. ORDER BY can use SELECT aliases because it runs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16: pivoting. Business users love a wide layout: one row per branch, one column per month. SQL produces rows, so conditional aggregation is how we turn them into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Conditional aggregation means putting a CASE WHEN inside an aggregate function.</a:t>
            </a:r>
          </a:p>
          <a:p>
            <a:r>
              <a:t>[click] Conditional count: CASE returns 1 for rows that match and 0 otherwise, and SUM adds up the 1s.</a:t>
            </a:r>
          </a:p>
          <a:p>
            <a:r>
              <a:t>[click] Conditional sum: return the value itself for matching rows and 0 for the rest.</a:t>
            </a:r>
          </a:p>
          <a:p>
            <a:r>
              <a:t>[click] Conditional share: AVG of 1.0 and 0 gives the fraction of rows that match. Multiply by 100 for a percentage.</a:t>
            </a:r>
          </a:p>
          <a:p>
            <a:r>
              <a:t>[click] Order of work: CASE runs first on every row, then the aggregate runs on the CASE results. ELSE 0 keeps non-matching rows neutral.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per country, all customers and high-score customers (above 500).</a:t>
            </a:r>
          </a:p>
          <a:p>
            <a:r>
              <a:t>[click] COUNT(*) gives the total. SUM(CASE …) counts only the high scorers.</a:t>
            </a:r>
          </a:p>
          <a:p>
            <a:r>
              <a:t>[click] Step 1: CASE turns every row into a flag. John and Georg get 1, everyone else 0.</a:t>
            </a:r>
          </a:p>
          <a:p>
            <a:r>
              <a:t>[click] Step 2: GROUP BY adds up the flags per country. Germany 0, UK 1, USA 1.</a:t>
            </a:r>
          </a:p>
          <a:p>
            <a:r>
              <a:t>This pattern is in the ICICI Bank ticket: "money in and money out by channel" means one CASE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pivot itself.</a:t>
            </a:r>
          </a:p>
          <a:p>
            <a:r>
              <a:t>[click] One SUM(CASE …) per country. Each becomes its own column. No GROUP BY is needed because we want a single row.</a:t>
            </a:r>
          </a:p>
          <a:p>
            <a:r>
              <a:t>[click] The normal GROUP BY result is long: one row per country.</a:t>
            </a:r>
          </a:p>
          <a:p>
            <a:r>
              <a:t>[click] The pivot turns it wide: one column per country, plus a total.</a:t>
            </a:r>
          </a:p>
          <a:p>
            <a:r>
              <a:t>[click] Limitation: the column values are hard-coded. A new country needs a new CASE line. Pivot on short, stable lists like channels, quarters or account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TASK: countries as rows, score bands as columns. This is a real two-dimensional pivot.</a:t>
            </a:r>
          </a:p>
          <a:p>
            <a:r>
              <a:t>[click] GROUP BY country gives the rows; each COUNT(CASE …) gives a column. Same bands as the non-equi join in Part 3.</a:t>
            </a:r>
          </a:p>
          <a:p>
            <a:r>
              <a:t>[click] Read the grid: Germany has one low and one mid customer, and USA one low and one high.</a:t>
            </a:r>
          </a:p>
          <a:p>
            <a:r>
              <a:t>[click] COUNT(CASE … THEN 1 END) needs no ELSE: non-matching rows return NULL, and COUNT ignores NULLs.</a:t>
            </a:r>
          </a:p>
          <a:p>
            <a:r>
              <a:t>[click] SQL Server and Oracle have a PIVOT operator, but the CASE version works everywhere and lets you mix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Part 4.</a:t>
            </a:r>
          </a:p>
          <a:p>
            <a:r>
              <a:t>[click] Aggregates turn many rows into one value and ignore NULLs.</a:t>
            </a:r>
          </a:p>
          <a:p>
            <a:r>
              <a:t>[click] GROUP BY returns one row per group, and every SELECT column must be grouped or aggregated.</a:t>
            </a:r>
          </a:p>
          <a:p>
            <a:r>
              <a:t>[click] WHERE filters rows before grouping, HAVING filters groups after.</a:t>
            </a:r>
          </a:p>
          <a:p>
            <a:r>
              <a:t>[click] CASE inside an aggregate gives conditional aggregation and pivots.</a:t>
            </a:r>
          </a:p>
          <a:p>
            <a:r>
              <a:t>Next, Part 5: set operators, which stack rows from several queries on top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kick0"/>
          <p:cNvSpPr txBox="1"/>
          <p:nvPr/>
        </p:nvSpPr>
        <p:spPr>
          <a:xfrm>
            <a:off x="54864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spc="300" kern="0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ADVANCED SQL QUERIES</a:t>
            </a:r>
            <a:endParaRPr lang="en-US" dirty="0" sz="1200"/>
          </a:p>
        </p:txBody>
      </p:sp>
      <p:sp>
        <p:nvSpPr>
          <p:cNvPr id="3" name="a0ud200_t1"/>
          <p:cNvSpPr txBox="1"/>
          <p:nvPr/>
        </p:nvSpPr>
        <p:spPr>
          <a:xfrm>
            <a:off x="548640" y="12801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5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Joins</a:t>
            </a:r>
            <a:endParaRPr lang="en-US" dirty="0" sz="5400"/>
          </a:p>
        </p:txBody>
      </p:sp>
      <p:sp>
        <p:nvSpPr>
          <p:cNvPr id="4" name="a0fd500_sub2"/>
          <p:cNvSpPr txBox="1"/>
          <p:nvPr/>
        </p:nvSpPr>
        <p:spPr>
          <a:xfrm>
            <a:off x="54864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0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basics, visually explained</a:t>
            </a:r>
            <a:endParaRPr lang="en-US" dirty="0" sz="2000"/>
          </a:p>
        </p:txBody>
      </p:sp>
      <p:sp>
        <p:nvSpPr>
          <p:cNvPr id="5" name="a0ud800_chip3"/>
          <p:cNvSpPr txBox="1"/>
          <p:nvPr/>
        </p:nvSpPr>
        <p:spPr>
          <a:xfrm>
            <a:off x="548640" y="3017520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endParaRPr lang="en-US" dirty="0" sz="1200"/>
          </a:p>
        </p:txBody>
      </p:sp>
      <p:sp>
        <p:nvSpPr>
          <p:cNvPr id="6" name="a0ud950_chip4"/>
          <p:cNvSpPr txBox="1"/>
          <p:nvPr/>
        </p:nvSpPr>
        <p:spPr>
          <a:xfrm>
            <a:off x="1554480" y="3017520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endParaRPr lang="en-US" dirty="0" sz="1200"/>
          </a:p>
        </p:txBody>
      </p:sp>
      <p:sp>
        <p:nvSpPr>
          <p:cNvPr id="7" name="a0ud1100_chip5"/>
          <p:cNvSpPr txBox="1"/>
          <p:nvPr/>
        </p:nvSpPr>
        <p:spPr>
          <a:xfrm>
            <a:off x="2560320" y="3017520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endParaRPr lang="en-US" dirty="0" sz="1200"/>
          </a:p>
        </p:txBody>
      </p:sp>
      <p:sp>
        <p:nvSpPr>
          <p:cNvPr id="8" name="a0ud1250_chip6"/>
          <p:cNvSpPr txBox="1"/>
          <p:nvPr/>
        </p:nvSpPr>
        <p:spPr>
          <a:xfrm>
            <a:off x="3566160" y="3017520"/>
            <a:ext cx="868680" cy="347472"/>
          </a:xfrm>
          <a:prstGeom prst="roundRect">
            <a:avLst>
              <a:gd name="adj" fmla="val 47368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endParaRPr lang="en-US" dirty="0" sz="1200"/>
          </a:p>
        </p:txBody>
      </p:sp>
      <p:pic>
        <p:nvPicPr>
          <p:cNvPr id="9" name="a0fd300_venn7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34440"/>
            <a:ext cx="3566160" cy="22585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Combine Tables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decide: do you want to combine the columns or the rows?</a:t>
            </a:r>
            <a:endParaRPr lang="en-US" dirty="0" sz="1300"/>
          </a:p>
        </p:txBody>
      </p:sp>
      <p:sp>
        <p:nvSpPr>
          <p:cNvPr id="4" name="a1f_panel8"/>
          <p:cNvSpPr/>
          <p:nvPr/>
        </p:nvSpPr>
        <p:spPr>
          <a:xfrm>
            <a:off x="457200" y="1234440"/>
            <a:ext cx="38862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f_ph9"/>
          <p:cNvSpPr txBox="1"/>
          <p:nvPr/>
        </p:nvSpPr>
        <p:spPr>
          <a:xfrm>
            <a:off x="73152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</a:t>
            </a: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Combine columns</a:t>
            </a:r>
            <a:endParaRPr lang="en-US" dirty="0" sz="1800"/>
          </a:p>
        </p:txBody>
      </p:sp>
      <p:sp>
        <p:nvSpPr>
          <p:cNvPr id="6" name="a3f_panel10"/>
          <p:cNvSpPr/>
          <p:nvPr/>
        </p:nvSpPr>
        <p:spPr>
          <a:xfrm>
            <a:off x="4800600" y="1234440"/>
            <a:ext cx="38862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a3f_ph11"/>
          <p:cNvSpPr txBox="1"/>
          <p:nvPr/>
        </p:nvSpPr>
        <p:spPr>
          <a:xfrm>
            <a:off x="507492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</a:t>
            </a: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Combine rows</a:t>
            </a:r>
            <a:endParaRPr lang="en-US" dirty="0" sz="1800"/>
          </a:p>
        </p:txBody>
      </p:sp>
      <p:sp>
        <p:nvSpPr>
          <p:cNvPr id="8" name="a1f_l12"/>
          <p:cNvSpPr txBox="1"/>
          <p:nvPr/>
        </p:nvSpPr>
        <p:spPr>
          <a:xfrm>
            <a:off x="1417320" y="182880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(A)</a:t>
            </a:r>
            <a:endParaRPr lang="en-US" dirty="0" sz="1000"/>
          </a:p>
        </p:txBody>
      </p:sp>
      <p:sp>
        <p:nvSpPr>
          <p:cNvPr id="9" name="a1f_l13"/>
          <p:cNvSpPr txBox="1"/>
          <p:nvPr/>
        </p:nvSpPr>
        <p:spPr>
          <a:xfrm>
            <a:off x="2606040" y="182880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(B)</a:t>
            </a:r>
            <a:endParaRPr lang="en-US" dirty="0" sz="1000"/>
          </a:p>
        </p:txBody>
      </p:sp>
      <p:sp>
        <p:nvSpPr>
          <p:cNvPr id="10" name="a1f_m14"/>
          <p:cNvSpPr/>
          <p:nvPr/>
        </p:nvSpPr>
        <p:spPr>
          <a:xfrm>
            <a:off x="153162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a1f_m15"/>
          <p:cNvSpPr/>
          <p:nvPr/>
        </p:nvSpPr>
        <p:spPr>
          <a:xfrm>
            <a:off x="180594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a1f_m16"/>
          <p:cNvSpPr/>
          <p:nvPr/>
        </p:nvSpPr>
        <p:spPr>
          <a:xfrm>
            <a:off x="208026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a1f_m17"/>
          <p:cNvSpPr/>
          <p:nvPr/>
        </p:nvSpPr>
        <p:spPr>
          <a:xfrm>
            <a:off x="153162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a1f_m18"/>
          <p:cNvSpPr/>
          <p:nvPr/>
        </p:nvSpPr>
        <p:spPr>
          <a:xfrm>
            <a:off x="180594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a1f_m19"/>
          <p:cNvSpPr/>
          <p:nvPr/>
        </p:nvSpPr>
        <p:spPr>
          <a:xfrm>
            <a:off x="208026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a1f_m20"/>
          <p:cNvSpPr/>
          <p:nvPr/>
        </p:nvSpPr>
        <p:spPr>
          <a:xfrm>
            <a:off x="153162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a1f_m21"/>
          <p:cNvSpPr/>
          <p:nvPr/>
        </p:nvSpPr>
        <p:spPr>
          <a:xfrm>
            <a:off x="180594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a1f_m22"/>
          <p:cNvSpPr/>
          <p:nvPr/>
        </p:nvSpPr>
        <p:spPr>
          <a:xfrm>
            <a:off x="208026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a1f_m23"/>
          <p:cNvSpPr/>
          <p:nvPr/>
        </p:nvSpPr>
        <p:spPr>
          <a:xfrm>
            <a:off x="1531620" y="26517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a1f_m24"/>
          <p:cNvSpPr/>
          <p:nvPr/>
        </p:nvSpPr>
        <p:spPr>
          <a:xfrm>
            <a:off x="1805940" y="26517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a1f_m25"/>
          <p:cNvSpPr/>
          <p:nvPr/>
        </p:nvSpPr>
        <p:spPr>
          <a:xfrm>
            <a:off x="2080260" y="26517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a1f_p26"/>
          <p:cNvSpPr txBox="1"/>
          <p:nvPr/>
        </p:nvSpPr>
        <p:spPr>
          <a:xfrm>
            <a:off x="235458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dirty="0" sz="2200"/>
          </a:p>
        </p:txBody>
      </p:sp>
      <p:sp>
        <p:nvSpPr>
          <p:cNvPr id="23" name="a1f_m27"/>
          <p:cNvSpPr/>
          <p:nvPr/>
        </p:nvSpPr>
        <p:spPr>
          <a:xfrm>
            <a:off x="2720340" y="210312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a1f_m28"/>
          <p:cNvSpPr/>
          <p:nvPr/>
        </p:nvSpPr>
        <p:spPr>
          <a:xfrm>
            <a:off x="2994660" y="210312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a1f_m29"/>
          <p:cNvSpPr/>
          <p:nvPr/>
        </p:nvSpPr>
        <p:spPr>
          <a:xfrm>
            <a:off x="2720340" y="22860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a1f_m30"/>
          <p:cNvSpPr/>
          <p:nvPr/>
        </p:nvSpPr>
        <p:spPr>
          <a:xfrm>
            <a:off x="2994660" y="22860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a1f_m31"/>
          <p:cNvSpPr/>
          <p:nvPr/>
        </p:nvSpPr>
        <p:spPr>
          <a:xfrm>
            <a:off x="2720340" y="246888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a1f_m32"/>
          <p:cNvSpPr/>
          <p:nvPr/>
        </p:nvSpPr>
        <p:spPr>
          <a:xfrm>
            <a:off x="2994660" y="246888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a1f_m33"/>
          <p:cNvSpPr/>
          <p:nvPr/>
        </p:nvSpPr>
        <p:spPr>
          <a:xfrm>
            <a:off x="2720340" y="265176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a1f_m34"/>
          <p:cNvSpPr/>
          <p:nvPr/>
        </p:nvSpPr>
        <p:spPr>
          <a:xfrm>
            <a:off x="2994660" y="265176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a2f_arr35"/>
          <p:cNvSpPr/>
          <p:nvPr/>
        </p:nvSpPr>
        <p:spPr>
          <a:xfrm>
            <a:off x="2263140" y="2926080"/>
            <a:ext cx="274320" cy="320040"/>
          </a:xfrm>
          <a:prstGeom prst="down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2" name="a2w_m36"/>
          <p:cNvSpPr/>
          <p:nvPr/>
        </p:nvSpPr>
        <p:spPr>
          <a:xfrm>
            <a:off x="1714500" y="333756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a2w_m37"/>
          <p:cNvSpPr/>
          <p:nvPr/>
        </p:nvSpPr>
        <p:spPr>
          <a:xfrm>
            <a:off x="1988820" y="333756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a2w_m38"/>
          <p:cNvSpPr/>
          <p:nvPr/>
        </p:nvSpPr>
        <p:spPr>
          <a:xfrm>
            <a:off x="2263140" y="333756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a2w_m39"/>
          <p:cNvSpPr/>
          <p:nvPr/>
        </p:nvSpPr>
        <p:spPr>
          <a:xfrm>
            <a:off x="2537460" y="333756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a2w_m40"/>
          <p:cNvSpPr/>
          <p:nvPr/>
        </p:nvSpPr>
        <p:spPr>
          <a:xfrm>
            <a:off x="2811780" y="333756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a2w_m41"/>
          <p:cNvSpPr/>
          <p:nvPr/>
        </p:nvSpPr>
        <p:spPr>
          <a:xfrm>
            <a:off x="171450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a2w_m42"/>
          <p:cNvSpPr/>
          <p:nvPr/>
        </p:nvSpPr>
        <p:spPr>
          <a:xfrm>
            <a:off x="198882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a2w_m43"/>
          <p:cNvSpPr/>
          <p:nvPr/>
        </p:nvSpPr>
        <p:spPr>
          <a:xfrm>
            <a:off x="226314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a2w_m44"/>
          <p:cNvSpPr/>
          <p:nvPr/>
        </p:nvSpPr>
        <p:spPr>
          <a:xfrm>
            <a:off x="2537460" y="352044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a2w_m45"/>
          <p:cNvSpPr/>
          <p:nvPr/>
        </p:nvSpPr>
        <p:spPr>
          <a:xfrm>
            <a:off x="2811780" y="352044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a2w_m46"/>
          <p:cNvSpPr/>
          <p:nvPr/>
        </p:nvSpPr>
        <p:spPr>
          <a:xfrm>
            <a:off x="1714500" y="370332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a2w_m47"/>
          <p:cNvSpPr/>
          <p:nvPr/>
        </p:nvSpPr>
        <p:spPr>
          <a:xfrm>
            <a:off x="1988820" y="370332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a2w_m48"/>
          <p:cNvSpPr/>
          <p:nvPr/>
        </p:nvSpPr>
        <p:spPr>
          <a:xfrm>
            <a:off x="2263140" y="370332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a2w_m49"/>
          <p:cNvSpPr/>
          <p:nvPr/>
        </p:nvSpPr>
        <p:spPr>
          <a:xfrm>
            <a:off x="2537460" y="370332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a2w_m50"/>
          <p:cNvSpPr/>
          <p:nvPr/>
        </p:nvSpPr>
        <p:spPr>
          <a:xfrm>
            <a:off x="2811780" y="370332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a2w_m51"/>
          <p:cNvSpPr/>
          <p:nvPr/>
        </p:nvSpPr>
        <p:spPr>
          <a:xfrm>
            <a:off x="1714500" y="38862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a2w_m52"/>
          <p:cNvSpPr/>
          <p:nvPr/>
        </p:nvSpPr>
        <p:spPr>
          <a:xfrm>
            <a:off x="1988820" y="38862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a2w_m53"/>
          <p:cNvSpPr/>
          <p:nvPr/>
        </p:nvSpPr>
        <p:spPr>
          <a:xfrm>
            <a:off x="2263140" y="38862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a2w_m54"/>
          <p:cNvSpPr/>
          <p:nvPr/>
        </p:nvSpPr>
        <p:spPr>
          <a:xfrm>
            <a:off x="2537460" y="38862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a2w_m55"/>
          <p:cNvSpPr/>
          <p:nvPr/>
        </p:nvSpPr>
        <p:spPr>
          <a:xfrm>
            <a:off x="2811780" y="38862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a2f_cap56"/>
          <p:cNvSpPr txBox="1"/>
          <p:nvPr/>
        </p:nvSpPr>
        <p:spPr>
          <a:xfrm>
            <a:off x="731520" y="41605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 → a WIDER table</a:t>
            </a:r>
            <a:endParaRPr lang="en-US" dirty="0" sz="1300"/>
          </a:p>
        </p:txBody>
      </p:sp>
      <p:sp>
        <p:nvSpPr>
          <p:cNvPr id="53" name="a3f_m57"/>
          <p:cNvSpPr/>
          <p:nvPr/>
        </p:nvSpPr>
        <p:spPr>
          <a:xfrm>
            <a:off x="573786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a3f_m58"/>
          <p:cNvSpPr/>
          <p:nvPr/>
        </p:nvSpPr>
        <p:spPr>
          <a:xfrm>
            <a:off x="601218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a3f_m59"/>
          <p:cNvSpPr/>
          <p:nvPr/>
        </p:nvSpPr>
        <p:spPr>
          <a:xfrm>
            <a:off x="6286500" y="210312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a3f_m60"/>
          <p:cNvSpPr/>
          <p:nvPr/>
        </p:nvSpPr>
        <p:spPr>
          <a:xfrm>
            <a:off x="573786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a3f_m61"/>
          <p:cNvSpPr/>
          <p:nvPr/>
        </p:nvSpPr>
        <p:spPr>
          <a:xfrm>
            <a:off x="601218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a3f_m62"/>
          <p:cNvSpPr/>
          <p:nvPr/>
        </p:nvSpPr>
        <p:spPr>
          <a:xfrm>
            <a:off x="6286500" y="228600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a3f_m63"/>
          <p:cNvSpPr/>
          <p:nvPr/>
        </p:nvSpPr>
        <p:spPr>
          <a:xfrm>
            <a:off x="573786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a3f_m64"/>
          <p:cNvSpPr/>
          <p:nvPr/>
        </p:nvSpPr>
        <p:spPr>
          <a:xfrm>
            <a:off x="601218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a3f_m65"/>
          <p:cNvSpPr/>
          <p:nvPr/>
        </p:nvSpPr>
        <p:spPr>
          <a:xfrm>
            <a:off x="6286500" y="246888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a3f_p66"/>
          <p:cNvSpPr txBox="1"/>
          <p:nvPr/>
        </p:nvSpPr>
        <p:spPr>
          <a:xfrm>
            <a:off x="6560820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dirty="0" sz="2200"/>
          </a:p>
        </p:txBody>
      </p:sp>
      <p:sp>
        <p:nvSpPr>
          <p:cNvPr id="63" name="a3f_m67"/>
          <p:cNvSpPr/>
          <p:nvPr/>
        </p:nvSpPr>
        <p:spPr>
          <a:xfrm>
            <a:off x="6926580" y="210312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a3f_m68"/>
          <p:cNvSpPr/>
          <p:nvPr/>
        </p:nvSpPr>
        <p:spPr>
          <a:xfrm>
            <a:off x="7200900" y="210312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5" name="a3f_m69"/>
          <p:cNvSpPr/>
          <p:nvPr/>
        </p:nvSpPr>
        <p:spPr>
          <a:xfrm>
            <a:off x="7475220" y="2103120"/>
            <a:ext cx="274320" cy="182880"/>
          </a:xfrm>
          <a:prstGeom prst="rect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a3f_m70"/>
          <p:cNvSpPr/>
          <p:nvPr/>
        </p:nvSpPr>
        <p:spPr>
          <a:xfrm>
            <a:off x="6926580" y="22860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7" name="a3f_m71"/>
          <p:cNvSpPr/>
          <p:nvPr/>
        </p:nvSpPr>
        <p:spPr>
          <a:xfrm>
            <a:off x="7200900" y="22860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8" name="a3f_m72"/>
          <p:cNvSpPr/>
          <p:nvPr/>
        </p:nvSpPr>
        <p:spPr>
          <a:xfrm>
            <a:off x="7475220" y="22860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9" name="a3f_m73"/>
          <p:cNvSpPr/>
          <p:nvPr/>
        </p:nvSpPr>
        <p:spPr>
          <a:xfrm>
            <a:off x="6926580" y="246888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a3f_m74"/>
          <p:cNvSpPr/>
          <p:nvPr/>
        </p:nvSpPr>
        <p:spPr>
          <a:xfrm>
            <a:off x="7200900" y="246888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1" name="a3f_m75"/>
          <p:cNvSpPr/>
          <p:nvPr/>
        </p:nvSpPr>
        <p:spPr>
          <a:xfrm>
            <a:off x="7475220" y="246888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2" name="a4f_arr76"/>
          <p:cNvSpPr/>
          <p:nvPr/>
        </p:nvSpPr>
        <p:spPr>
          <a:xfrm>
            <a:off x="6606540" y="2743200"/>
            <a:ext cx="274320" cy="320040"/>
          </a:xfrm>
          <a:prstGeom prst="down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73" name="a4u_m77"/>
          <p:cNvSpPr/>
          <p:nvPr/>
        </p:nvSpPr>
        <p:spPr>
          <a:xfrm>
            <a:off x="6332220" y="315468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4" name="a4u_m78"/>
          <p:cNvSpPr/>
          <p:nvPr/>
        </p:nvSpPr>
        <p:spPr>
          <a:xfrm>
            <a:off x="6606540" y="315468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5" name="a4u_m79"/>
          <p:cNvSpPr/>
          <p:nvPr/>
        </p:nvSpPr>
        <p:spPr>
          <a:xfrm>
            <a:off x="6880860" y="3154680"/>
            <a:ext cx="274320" cy="18288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6" name="a4u_m80"/>
          <p:cNvSpPr/>
          <p:nvPr/>
        </p:nvSpPr>
        <p:spPr>
          <a:xfrm>
            <a:off x="6332220" y="33375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7" name="a4u_m81"/>
          <p:cNvSpPr/>
          <p:nvPr/>
        </p:nvSpPr>
        <p:spPr>
          <a:xfrm>
            <a:off x="6606540" y="33375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8" name="a4u_m82"/>
          <p:cNvSpPr/>
          <p:nvPr/>
        </p:nvSpPr>
        <p:spPr>
          <a:xfrm>
            <a:off x="6880860" y="333756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9" name="a4u_m83"/>
          <p:cNvSpPr/>
          <p:nvPr/>
        </p:nvSpPr>
        <p:spPr>
          <a:xfrm>
            <a:off x="633222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0" name="a4u_m84"/>
          <p:cNvSpPr/>
          <p:nvPr/>
        </p:nvSpPr>
        <p:spPr>
          <a:xfrm>
            <a:off x="660654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1" name="a4u_m85"/>
          <p:cNvSpPr/>
          <p:nvPr/>
        </p:nvSpPr>
        <p:spPr>
          <a:xfrm>
            <a:off x="6880860" y="3520440"/>
            <a:ext cx="274320" cy="182880"/>
          </a:xfrm>
          <a:prstGeom prst="rect">
            <a:avLst/>
          </a:prstGeom>
          <a:solidFill>
            <a:srgbClr val="14B8A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2" name="a4u_m86"/>
          <p:cNvSpPr/>
          <p:nvPr/>
        </p:nvSpPr>
        <p:spPr>
          <a:xfrm>
            <a:off x="6332220" y="370332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3" name="a4u_m87"/>
          <p:cNvSpPr/>
          <p:nvPr/>
        </p:nvSpPr>
        <p:spPr>
          <a:xfrm>
            <a:off x="6606540" y="370332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4" name="a4u_m88"/>
          <p:cNvSpPr/>
          <p:nvPr/>
        </p:nvSpPr>
        <p:spPr>
          <a:xfrm>
            <a:off x="6880860" y="370332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5" name="a4u_m89"/>
          <p:cNvSpPr/>
          <p:nvPr/>
        </p:nvSpPr>
        <p:spPr>
          <a:xfrm>
            <a:off x="6332220" y="38862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6" name="a4u_m90"/>
          <p:cNvSpPr/>
          <p:nvPr/>
        </p:nvSpPr>
        <p:spPr>
          <a:xfrm>
            <a:off x="6606540" y="38862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7" name="a4u_m91"/>
          <p:cNvSpPr/>
          <p:nvPr/>
        </p:nvSpPr>
        <p:spPr>
          <a:xfrm>
            <a:off x="6880860" y="3886200"/>
            <a:ext cx="274320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8" name="a4f_cap92"/>
          <p:cNvSpPr txBox="1"/>
          <p:nvPr/>
        </p:nvSpPr>
        <p:spPr>
          <a:xfrm>
            <a:off x="5074920" y="41605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below → a LONGER table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4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9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9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0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5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6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9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0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6" grpId="0" animBg="1"/>
      <p:bldP spid="7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→ Type → Rules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way of combining data follows the same decision path</a:t>
            </a:r>
            <a:endParaRPr lang="en-US" dirty="0" sz="1300"/>
          </a:p>
        </p:txBody>
      </p:sp>
      <p:sp>
        <p:nvSpPr>
          <p:cNvPr id="4" name="a1fd0_n93"/>
          <p:cNvSpPr txBox="1"/>
          <p:nvPr/>
        </p:nvSpPr>
        <p:spPr>
          <a:xfrm>
            <a:off x="822960" y="1234440"/>
            <a:ext cx="411480" cy="41148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5" name="a1fd0_t94"/>
          <p:cNvSpPr txBox="1"/>
          <p:nvPr/>
        </p:nvSpPr>
        <p:spPr>
          <a:xfrm>
            <a:off x="1325880" y="1234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method</a:t>
            </a:r>
            <a:endParaRPr lang="en-US" dirty="0" sz="1500"/>
          </a:p>
        </p:txBody>
      </p:sp>
      <p:sp>
        <p:nvSpPr>
          <p:cNvPr id="6" name="a1fd0_ar95"/>
          <p:cNvSpPr/>
          <p:nvPr/>
        </p:nvSpPr>
        <p:spPr>
          <a:xfrm>
            <a:off x="2971800" y="1344168"/>
            <a:ext cx="365760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a1fd250_n96"/>
          <p:cNvSpPr txBox="1"/>
          <p:nvPr/>
        </p:nvSpPr>
        <p:spPr>
          <a:xfrm>
            <a:off x="3566160" y="1234440"/>
            <a:ext cx="411480" cy="41148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8" name="a1fd250_t97"/>
          <p:cNvSpPr txBox="1"/>
          <p:nvPr/>
        </p:nvSpPr>
        <p:spPr>
          <a:xfrm>
            <a:off x="4069080" y="1234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type</a:t>
            </a:r>
            <a:endParaRPr lang="en-US" dirty="0" sz="1500"/>
          </a:p>
        </p:txBody>
      </p:sp>
      <p:sp>
        <p:nvSpPr>
          <p:cNvPr id="9" name="a1fd250_ar98"/>
          <p:cNvSpPr/>
          <p:nvPr/>
        </p:nvSpPr>
        <p:spPr>
          <a:xfrm>
            <a:off x="5715000" y="1344168"/>
            <a:ext cx="365760" cy="20116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0" name="a1fd500_n99"/>
          <p:cNvSpPr txBox="1"/>
          <p:nvPr/>
        </p:nvSpPr>
        <p:spPr>
          <a:xfrm>
            <a:off x="6309360" y="1234440"/>
            <a:ext cx="411480" cy="41148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11" name="a1fd500_t100"/>
          <p:cNvSpPr txBox="1"/>
          <p:nvPr/>
        </p:nvSpPr>
        <p:spPr>
          <a:xfrm>
            <a:off x="6812280" y="1234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rules</a:t>
            </a:r>
            <a:endParaRPr lang="en-US" dirty="0" sz="1500"/>
          </a:p>
        </p:txBody>
      </p:sp>
      <p:sp>
        <p:nvSpPr>
          <p:cNvPr id="12" name="a2f_c101"/>
          <p:cNvSpPr/>
          <p:nvPr/>
        </p:nvSpPr>
        <p:spPr>
          <a:xfrm>
            <a:off x="457200" y="1920240"/>
            <a:ext cx="38862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a2f_h102"/>
          <p:cNvSpPr txBox="1"/>
          <p:nvPr/>
        </p:nvSpPr>
        <p:spPr>
          <a:xfrm>
            <a:off x="731520" y="2011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</a:t>
            </a:r>
            <a:endParaRPr lang="en-US" dirty="0" sz="1800"/>
          </a:p>
          <a:p>
            <a:pPr marL="0" indent="0">
              <a:buNone/>
            </a:pPr>
            <a:r>
              <a:rPr sz="12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columns (focus of this module)</a:t>
            </a:r>
            <a:endParaRPr lang="en-US" dirty="0" sz="1800"/>
          </a:p>
        </p:txBody>
      </p:sp>
      <p:sp>
        <p:nvSpPr>
          <p:cNvPr id="14" name="a2ud150_ty103"/>
          <p:cNvSpPr txBox="1"/>
          <p:nvPr/>
        </p:nvSpPr>
        <p:spPr>
          <a:xfrm>
            <a:off x="731520" y="278892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</a:t>
            </a:r>
            <a:endParaRPr lang="en-US" dirty="0" sz="1200"/>
          </a:p>
        </p:txBody>
      </p:sp>
      <p:sp>
        <p:nvSpPr>
          <p:cNvPr id="15" name="a2ud270_ty104"/>
          <p:cNvSpPr txBox="1"/>
          <p:nvPr/>
        </p:nvSpPr>
        <p:spPr>
          <a:xfrm>
            <a:off x="2423160" y="278892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</a:t>
            </a:r>
            <a:endParaRPr lang="en-US" dirty="0" sz="1200"/>
          </a:p>
        </p:txBody>
      </p:sp>
      <p:sp>
        <p:nvSpPr>
          <p:cNvPr id="16" name="a2ud390_ty105"/>
          <p:cNvSpPr txBox="1"/>
          <p:nvPr/>
        </p:nvSpPr>
        <p:spPr>
          <a:xfrm>
            <a:off x="731520" y="320040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JOIN</a:t>
            </a:r>
            <a:endParaRPr lang="en-US" dirty="0" sz="1200"/>
          </a:p>
        </p:txBody>
      </p:sp>
      <p:sp>
        <p:nvSpPr>
          <p:cNvPr id="17" name="a2ud510_ty106"/>
          <p:cNvSpPr txBox="1"/>
          <p:nvPr/>
        </p:nvSpPr>
        <p:spPr>
          <a:xfrm>
            <a:off x="2423160" y="320040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JOIN</a:t>
            </a:r>
            <a:endParaRPr lang="en-US" dirty="0" sz="1200"/>
          </a:p>
        </p:txBody>
      </p:sp>
      <p:sp>
        <p:nvSpPr>
          <p:cNvPr id="18" name="a2fd700_r107"/>
          <p:cNvSpPr txBox="1"/>
          <p:nvPr/>
        </p:nvSpPr>
        <p:spPr>
          <a:xfrm>
            <a:off x="731520" y="3749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define key columns shared by both tables.</a:t>
            </a:r>
            <a:endParaRPr lang="en-US" dirty="0" sz="1300"/>
          </a:p>
        </p:txBody>
      </p:sp>
      <p:sp>
        <p:nvSpPr>
          <p:cNvPr id="19" name="a3f_c108"/>
          <p:cNvSpPr/>
          <p:nvPr/>
        </p:nvSpPr>
        <p:spPr>
          <a:xfrm>
            <a:off x="4800600" y="1920240"/>
            <a:ext cx="38862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a3f_h109"/>
          <p:cNvSpPr txBox="1"/>
          <p:nvPr/>
        </p:nvSpPr>
        <p:spPr>
          <a:xfrm>
            <a:off x="5074920" y="2011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</a:t>
            </a:r>
            <a:endParaRPr lang="en-US" dirty="0" sz="1800"/>
          </a:p>
          <a:p>
            <a:pPr marL="0" indent="0">
              <a:buNone/>
            </a:pPr>
            <a:r>
              <a:rPr sz="12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rows</a:t>
            </a:r>
            <a:endParaRPr lang="en-US" dirty="0" sz="1800"/>
          </a:p>
        </p:txBody>
      </p:sp>
      <p:sp>
        <p:nvSpPr>
          <p:cNvPr id="21" name="a3ud150_ty110"/>
          <p:cNvSpPr txBox="1"/>
          <p:nvPr/>
        </p:nvSpPr>
        <p:spPr>
          <a:xfrm>
            <a:off x="5074920" y="278892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22" name="a3ud270_ty111"/>
          <p:cNvSpPr txBox="1"/>
          <p:nvPr/>
        </p:nvSpPr>
        <p:spPr>
          <a:xfrm>
            <a:off x="6766560" y="278892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dirty="0" sz="1200"/>
          </a:p>
        </p:txBody>
      </p:sp>
      <p:sp>
        <p:nvSpPr>
          <p:cNvPr id="23" name="a3ud390_ty112"/>
          <p:cNvSpPr txBox="1"/>
          <p:nvPr/>
        </p:nvSpPr>
        <p:spPr>
          <a:xfrm>
            <a:off x="5074920" y="320040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200"/>
          </a:p>
        </p:txBody>
      </p:sp>
      <p:sp>
        <p:nvSpPr>
          <p:cNvPr id="24" name="a3ud510_ty113"/>
          <p:cNvSpPr txBox="1"/>
          <p:nvPr/>
        </p:nvSpPr>
        <p:spPr>
          <a:xfrm>
            <a:off x="6766560" y="3200400"/>
            <a:ext cx="1600200" cy="329184"/>
          </a:xfrm>
          <a:prstGeom prst="roundRect">
            <a:avLst>
              <a:gd name="adj" fmla="val 41667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endParaRPr lang="en-US" dirty="0" sz="1200"/>
          </a:p>
        </p:txBody>
      </p:sp>
      <p:sp>
        <p:nvSpPr>
          <p:cNvPr id="25" name="a3fd700_r114"/>
          <p:cNvSpPr txBox="1"/>
          <p:nvPr/>
        </p:nvSpPr>
        <p:spPr>
          <a:xfrm>
            <a:off x="5074920" y="3749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must return the same number of columns — no key needed.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SQL Join?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two tables through a common key, then pair up the rows that match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table</a:t>
            </a:r>
            <a:endParaRPr lang="en-US" dirty="0" sz="1200"/>
          </a:p>
        </p:txBody>
      </p:sp>
      <p:sp>
        <p:nvSpPr>
          <p:cNvPr id="5" name="Text 3"/>
          <p:cNvSpPr txBox="1"/>
          <p:nvPr/>
        </p:nvSpPr>
        <p:spPr>
          <a:xfrm>
            <a:off x="3017520" y="1188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table</a:t>
            </a:r>
            <a:endParaRPr lang="en-US" dirty="0" sz="1200"/>
          </a:p>
        </p:txBody>
      </p:sp>
      <p:sp>
        <p:nvSpPr>
          <p:cNvPr id="6" name="Text 4"/>
          <p:cNvSpPr txBox="1"/>
          <p:nvPr/>
        </p:nvSpPr>
        <p:spPr>
          <a:xfrm>
            <a:off x="5852160" y="1188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result</a:t>
            </a:r>
            <a:endParaRPr lang="en-US" dirty="0" sz="1200"/>
          </a:p>
        </p:txBody>
      </p:sp>
      <p:sp>
        <p:nvSpPr>
          <p:cNvPr id="7" name="s_cell115"/>
          <p:cNvSpPr txBox="1"/>
          <p:nvPr/>
        </p:nvSpPr>
        <p:spPr>
          <a:xfrm>
            <a:off x="548640" y="146304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8" name="s_cell116"/>
          <p:cNvSpPr txBox="1"/>
          <p:nvPr/>
        </p:nvSpPr>
        <p:spPr>
          <a:xfrm>
            <a:off x="548640" y="17373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9" name="s_cell117"/>
          <p:cNvSpPr txBox="1"/>
          <p:nvPr/>
        </p:nvSpPr>
        <p:spPr>
          <a:xfrm>
            <a:off x="548640" y="20116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0" name="s_cell118"/>
          <p:cNvSpPr txBox="1"/>
          <p:nvPr/>
        </p:nvSpPr>
        <p:spPr>
          <a:xfrm>
            <a:off x="548640" y="22860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1" name="s_cell119"/>
          <p:cNvSpPr txBox="1"/>
          <p:nvPr/>
        </p:nvSpPr>
        <p:spPr>
          <a:xfrm>
            <a:off x="548640" y="25603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2" name="s_cell120"/>
          <p:cNvSpPr txBox="1"/>
          <p:nvPr/>
        </p:nvSpPr>
        <p:spPr>
          <a:xfrm>
            <a:off x="960120" y="146304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dirty="0" sz="1100"/>
          </a:p>
        </p:txBody>
      </p:sp>
      <p:sp>
        <p:nvSpPr>
          <p:cNvPr id="13" name="s_cell121"/>
          <p:cNvSpPr txBox="1"/>
          <p:nvPr/>
        </p:nvSpPr>
        <p:spPr>
          <a:xfrm>
            <a:off x="960120" y="17373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4" name="s_cell122"/>
          <p:cNvSpPr txBox="1"/>
          <p:nvPr/>
        </p:nvSpPr>
        <p:spPr>
          <a:xfrm>
            <a:off x="960120" y="20116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5" name="s_cell123"/>
          <p:cNvSpPr txBox="1"/>
          <p:nvPr/>
        </p:nvSpPr>
        <p:spPr>
          <a:xfrm>
            <a:off x="960120" y="22860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6" name="s_cell124"/>
          <p:cNvSpPr txBox="1"/>
          <p:nvPr/>
        </p:nvSpPr>
        <p:spPr>
          <a:xfrm>
            <a:off x="960120" y="25603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7" name="s_cell125"/>
          <p:cNvSpPr txBox="1"/>
          <p:nvPr/>
        </p:nvSpPr>
        <p:spPr>
          <a:xfrm>
            <a:off x="3017520" y="1463040"/>
            <a:ext cx="4114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8" name="s_cell126"/>
          <p:cNvSpPr txBox="1"/>
          <p:nvPr/>
        </p:nvSpPr>
        <p:spPr>
          <a:xfrm>
            <a:off x="3017520" y="17373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9" name="s_cell127"/>
          <p:cNvSpPr txBox="1"/>
          <p:nvPr/>
        </p:nvSpPr>
        <p:spPr>
          <a:xfrm>
            <a:off x="3017520" y="20116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0" name="s_cell128"/>
          <p:cNvSpPr txBox="1"/>
          <p:nvPr/>
        </p:nvSpPr>
        <p:spPr>
          <a:xfrm>
            <a:off x="3017520" y="22860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21" name="s_cell129"/>
          <p:cNvSpPr txBox="1"/>
          <p:nvPr/>
        </p:nvSpPr>
        <p:spPr>
          <a:xfrm>
            <a:off x="3429000" y="146304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22" name="s_cell130"/>
          <p:cNvSpPr txBox="1"/>
          <p:nvPr/>
        </p:nvSpPr>
        <p:spPr>
          <a:xfrm>
            <a:off x="3429000" y="17373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3" name="s_cell131"/>
          <p:cNvSpPr txBox="1"/>
          <p:nvPr/>
        </p:nvSpPr>
        <p:spPr>
          <a:xfrm>
            <a:off x="3429000" y="20116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4" name="s_cell132"/>
          <p:cNvSpPr txBox="1"/>
          <p:nvPr/>
        </p:nvSpPr>
        <p:spPr>
          <a:xfrm>
            <a:off x="3429000" y="22860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5" name="a1f_k133"/>
          <p:cNvSpPr/>
          <p:nvPr/>
        </p:nvSpPr>
        <p:spPr>
          <a:xfrm>
            <a:off x="530352" y="1444752"/>
            <a:ext cx="448056" cy="140817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6" name="a1f_k134"/>
          <p:cNvSpPr/>
          <p:nvPr/>
        </p:nvSpPr>
        <p:spPr>
          <a:xfrm>
            <a:off x="2999232" y="1444752"/>
            <a:ext cx="448056" cy="113385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7" name="a1f_kl135"/>
          <p:cNvSpPr txBox="1"/>
          <p:nvPr/>
        </p:nvSpPr>
        <p:spPr>
          <a:xfrm>
            <a:off x="54864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common key: id</a:t>
            </a:r>
            <a:endParaRPr lang="en-US" dirty="0" sz="1200"/>
          </a:p>
        </p:txBody>
      </p:sp>
      <p:sp>
        <p:nvSpPr>
          <p:cNvPr id="28" name="a1f_cell136"/>
          <p:cNvSpPr txBox="1"/>
          <p:nvPr/>
        </p:nvSpPr>
        <p:spPr>
          <a:xfrm>
            <a:off x="5852160" y="1463040"/>
            <a:ext cx="11887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dirty="0" sz="1100"/>
          </a:p>
        </p:txBody>
      </p:sp>
      <p:sp>
        <p:nvSpPr>
          <p:cNvPr id="29" name="a1f_cell137"/>
          <p:cNvSpPr txBox="1"/>
          <p:nvPr/>
        </p:nvSpPr>
        <p:spPr>
          <a:xfrm>
            <a:off x="7040880" y="1463040"/>
            <a:ext cx="11887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30" name="a2w_conn138"/>
          <p:cNvSpPr/>
          <p:nvPr/>
        </p:nvSpPr>
        <p:spPr>
          <a:xfrm>
            <a:off x="1920240" y="1874520"/>
            <a:ext cx="1051560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2fd300_cell139"/>
          <p:cNvSpPr txBox="1"/>
          <p:nvPr/>
        </p:nvSpPr>
        <p:spPr>
          <a:xfrm>
            <a:off x="5852160" y="173736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32" name="a2fd300_cell140"/>
          <p:cNvSpPr txBox="1"/>
          <p:nvPr/>
        </p:nvSpPr>
        <p:spPr>
          <a:xfrm>
            <a:off x="7040880" y="173736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33" name="a3w_conn141"/>
          <p:cNvSpPr/>
          <p:nvPr/>
        </p:nvSpPr>
        <p:spPr>
          <a:xfrm>
            <a:off x="1920240" y="2148840"/>
            <a:ext cx="1051560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a3fd300_cell142"/>
          <p:cNvSpPr txBox="1"/>
          <p:nvPr/>
        </p:nvSpPr>
        <p:spPr>
          <a:xfrm>
            <a:off x="5852160" y="201168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35" name="a3fd300_cell143"/>
          <p:cNvSpPr txBox="1"/>
          <p:nvPr/>
        </p:nvSpPr>
        <p:spPr>
          <a:xfrm>
            <a:off x="7040880" y="201168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36" name="a4f_x144"/>
          <p:cNvSpPr txBox="1"/>
          <p:nvPr/>
        </p:nvSpPr>
        <p:spPr>
          <a:xfrm>
            <a:off x="1920240" y="21488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 match</a:t>
            </a:r>
            <a:endParaRPr lang="en-US" dirty="0" sz="1100"/>
          </a:p>
        </p:txBody>
      </p:sp>
      <p:sp>
        <p:nvSpPr>
          <p:cNvPr id="37" name="a5w_conn145"/>
          <p:cNvSpPr/>
          <p:nvPr/>
        </p:nvSpPr>
        <p:spPr>
          <a:xfrm flipV="1">
            <a:off x="1920240" y="2423160"/>
            <a:ext cx="1051560" cy="27432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a5fd300_cell146"/>
          <p:cNvSpPr txBox="1"/>
          <p:nvPr/>
        </p:nvSpPr>
        <p:spPr>
          <a:xfrm>
            <a:off x="5852160" y="228600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39" name="a5fd300_cell147"/>
          <p:cNvSpPr txBox="1"/>
          <p:nvPr/>
        </p:nvSpPr>
        <p:spPr>
          <a:xfrm>
            <a:off x="7040880" y="2286000"/>
            <a:ext cx="11887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40" name="a6f_box148"/>
          <p:cNvSpPr/>
          <p:nvPr/>
        </p:nvSpPr>
        <p:spPr>
          <a:xfrm>
            <a:off x="548640" y="3566160"/>
            <a:ext cx="7680960" cy="960120"/>
          </a:xfrm>
          <a:prstGeom prst="roundRect">
            <a:avLst>
              <a:gd name="adj" fmla="val 761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p/>
        </p:txBody>
      </p:sp>
      <p:sp>
        <p:nvSpPr>
          <p:cNvPr id="41" name="a6f_t149"/>
          <p:cNvSpPr txBox="1"/>
          <p:nvPr/>
        </p:nvSpPr>
        <p:spPr>
          <a:xfrm>
            <a:off x="777240" y="36118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</a:t>
            </a: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compares the key values on both sides. Where they are equal, the two rows are connected and returned together. id 3 has no partner on the right, so it can't be connected.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We Need Joins?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everyday reasons</a:t>
            </a:r>
            <a:endParaRPr lang="en-US" dirty="0" sz="1300"/>
          </a:p>
        </p:txBody>
      </p:sp>
      <p:sp>
        <p:nvSpPr>
          <p:cNvPr id="4" name="a1u_c150"/>
          <p:cNvSpPr/>
          <p:nvPr/>
        </p:nvSpPr>
        <p:spPr>
          <a:xfrm>
            <a:off x="45720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u_o151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pic>
        <p:nvPicPr>
          <p:cNvPr id="6" name="a1u_i152" descr="6cc72c67e9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618488"/>
            <a:ext cx="374904" cy="374904"/>
          </a:xfrm>
          <a:prstGeom prst="rect">
            <a:avLst/>
          </a:prstGeom>
        </p:spPr>
      </p:pic>
      <p:sp>
        <p:nvSpPr>
          <p:cNvPr id="7" name="a1u_h153"/>
          <p:cNvSpPr txBox="1"/>
          <p:nvPr/>
        </p:nvSpPr>
        <p:spPr>
          <a:xfrm>
            <a:off x="73152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 data</a:t>
            </a:r>
            <a:endParaRPr lang="en-US" dirty="0" sz="1800"/>
          </a:p>
        </p:txBody>
      </p:sp>
      <p:sp>
        <p:nvSpPr>
          <p:cNvPr id="8" name="a1u_d154"/>
          <p:cNvSpPr txBox="1"/>
          <p:nvPr/>
        </p:nvSpPr>
        <p:spPr>
          <a:xfrm>
            <a:off x="731520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about one topic is often spread over many tables. Join them to see the big picture in one result.</a:t>
            </a:r>
            <a:endParaRPr lang="en-US" dirty="0" sz="1300"/>
          </a:p>
        </p:txBody>
      </p:sp>
      <p:sp>
        <p:nvSpPr>
          <p:cNvPr id="9" name="a1u_e155"/>
          <p:cNvSpPr txBox="1"/>
          <p:nvPr/>
        </p:nvSpPr>
        <p:spPr>
          <a:xfrm>
            <a:off x="731520" y="3977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88900" tIns="0" rIns="8890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+ addresses + orders + reviews → one view</a:t>
            </a:r>
            <a:endParaRPr lang="en-US" dirty="0" sz="1100"/>
          </a:p>
        </p:txBody>
      </p:sp>
      <p:sp>
        <p:nvSpPr>
          <p:cNvPr id="10" name="a2u_c156"/>
          <p:cNvSpPr/>
          <p:nvPr/>
        </p:nvSpPr>
        <p:spPr>
          <a:xfrm>
            <a:off x="324612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a2u_o157"/>
          <p:cNvSpPr/>
          <p:nvPr/>
        </p:nvSpPr>
        <p:spPr>
          <a:xfrm>
            <a:off x="3520440" y="1463040"/>
            <a:ext cx="685800" cy="685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pic>
        <p:nvPicPr>
          <p:cNvPr id="12" name="a2u_i158" descr="f6e58b2d64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618488"/>
            <a:ext cx="374904" cy="374904"/>
          </a:xfrm>
          <a:prstGeom prst="rect">
            <a:avLst/>
          </a:prstGeom>
        </p:spPr>
      </p:pic>
      <p:sp>
        <p:nvSpPr>
          <p:cNvPr id="13" name="a2u_h159"/>
          <p:cNvSpPr txBox="1"/>
          <p:nvPr/>
        </p:nvSpPr>
        <p:spPr>
          <a:xfrm>
            <a:off x="352044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data</a:t>
            </a:r>
            <a:endParaRPr lang="en-US" dirty="0" sz="1800"/>
          </a:p>
        </p:txBody>
      </p:sp>
      <p:sp>
        <p:nvSpPr>
          <p:cNvPr id="14" name="a2u_d160"/>
          <p:cNvSpPr txBox="1"/>
          <p:nvPr/>
        </p:nvSpPr>
        <p:spPr>
          <a:xfrm>
            <a:off x="3520440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 master table and pull one extra detail from a reference / lookup table.</a:t>
            </a:r>
            <a:endParaRPr lang="en-US" dirty="0" sz="1300"/>
          </a:p>
        </p:txBody>
      </p:sp>
      <p:sp>
        <p:nvSpPr>
          <p:cNvPr id="15" name="a2u_e161"/>
          <p:cNvSpPr txBox="1"/>
          <p:nvPr/>
        </p:nvSpPr>
        <p:spPr>
          <a:xfrm>
            <a:off x="3520440" y="3977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88900" tIns="0" rIns="8890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+ country zip codes</a:t>
            </a:r>
            <a:endParaRPr lang="en-US" dirty="0" sz="1100"/>
          </a:p>
        </p:txBody>
      </p:sp>
      <p:sp>
        <p:nvSpPr>
          <p:cNvPr id="16" name="a3u_c162"/>
          <p:cNvSpPr/>
          <p:nvPr/>
        </p:nvSpPr>
        <p:spPr>
          <a:xfrm>
            <a:off x="603504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a3u_o163"/>
          <p:cNvSpPr/>
          <p:nvPr/>
        </p:nvSpPr>
        <p:spPr>
          <a:xfrm>
            <a:off x="6309360" y="146304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pic>
        <p:nvPicPr>
          <p:cNvPr id="18" name="a3u_i164" descr="0486b1ea64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618488"/>
            <a:ext cx="374904" cy="374904"/>
          </a:xfrm>
          <a:prstGeom prst="rect">
            <a:avLst/>
          </a:prstGeom>
        </p:spPr>
      </p:pic>
      <p:sp>
        <p:nvSpPr>
          <p:cNvPr id="19" name="a3u_h165"/>
          <p:cNvSpPr txBox="1"/>
          <p:nvPr/>
        </p:nvSpPr>
        <p:spPr>
          <a:xfrm>
            <a:off x="630936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</a:t>
            </a:r>
            <a:endParaRPr lang="en-US" dirty="0" sz="1800"/>
          </a:p>
        </p:txBody>
      </p:sp>
      <p:sp>
        <p:nvSpPr>
          <p:cNvPr id="20" name="a3u_d166"/>
          <p:cNvSpPr txBox="1"/>
          <p:nvPr/>
        </p:nvSpPr>
        <p:spPr>
          <a:xfrm>
            <a:off x="6309360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another table only as a filter: keep rows that exist there — or rows that don't.</a:t>
            </a:r>
            <a:endParaRPr lang="en-US" dirty="0" sz="1300"/>
          </a:p>
        </p:txBody>
      </p:sp>
      <p:sp>
        <p:nvSpPr>
          <p:cNvPr id="21" name="a3u_e167"/>
          <p:cNvSpPr txBox="1"/>
          <p:nvPr/>
        </p:nvSpPr>
        <p:spPr>
          <a:xfrm>
            <a:off x="6309360" y="397764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88900" tIns="0" rIns="8890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that placed an order?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in Circles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each table as a circle — the side (left or right) matters</a:t>
            </a:r>
            <a:endParaRPr lang="en-US" dirty="0" sz="1300"/>
          </a:p>
        </p:txBody>
      </p:sp>
      <p:pic>
        <p:nvPicPr>
          <p:cNvPr id="4" name="Image 0" descr="058e636d92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3108960" cy="1969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LEFT table</a:t>
            </a:r>
            <a:endParaRPr lang="en-US" dirty="0" sz="1200"/>
          </a:p>
        </p:txBody>
      </p:sp>
      <p:sp>
        <p:nvSpPr>
          <p:cNvPr id="6" name="Text 3"/>
          <p:cNvSpPr txBox="1"/>
          <p:nvPr/>
        </p:nvSpPr>
        <p:spPr>
          <a:xfrm>
            <a:off x="20116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RIGHT table</a:t>
            </a:r>
            <a:endParaRPr lang="en-US" dirty="0" sz="1200"/>
          </a:p>
        </p:txBody>
      </p:sp>
      <p:pic>
        <p:nvPicPr>
          <p:cNvPr id="7" name="a1f_v168" descr="080871519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34440"/>
            <a:ext cx="1188720" cy="752856"/>
          </a:xfrm>
          <a:prstGeom prst="rect">
            <a:avLst/>
          </a:prstGeom>
        </p:spPr>
      </p:pic>
      <p:sp>
        <p:nvSpPr>
          <p:cNvPr id="8" name="a1f_t169"/>
          <p:cNvSpPr txBox="1"/>
          <p:nvPr/>
        </p:nvSpPr>
        <p:spPr>
          <a:xfrm>
            <a:off x="5349240" y="12527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data</a:t>
            </a:r>
            <a:endParaRPr lang="en-US" dirty="0" sz="1500"/>
          </a:p>
          <a:p>
            <a:pPr marL="0" indent="0">
              <a:buNone/>
            </a:pPr>
            <a:r>
              <a:rPr sz="12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found in both A and B (the overlap)</a:t>
            </a:r>
            <a:endParaRPr lang="en-US" dirty="0" sz="1500"/>
          </a:p>
        </p:txBody>
      </p:sp>
      <p:pic>
        <p:nvPicPr>
          <p:cNvPr id="9" name="a2f_v170" descr="b9b2efc24d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03120"/>
            <a:ext cx="1188720" cy="752856"/>
          </a:xfrm>
          <a:prstGeom prst="rect">
            <a:avLst/>
          </a:prstGeom>
        </p:spPr>
      </p:pic>
      <p:sp>
        <p:nvSpPr>
          <p:cNvPr id="10" name="a2f_t171"/>
          <p:cNvSpPr txBox="1"/>
          <p:nvPr/>
        </p:nvSpPr>
        <p:spPr>
          <a:xfrm>
            <a:off x="5349240" y="212140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of one table</a:t>
            </a:r>
            <a:endParaRPr lang="en-US" dirty="0" sz="1500"/>
          </a:p>
          <a:p>
            <a:pPr marL="0" indent="0">
              <a:buNone/>
            </a:pPr>
            <a:r>
              <a:rPr sz="12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circle, matched or not</a:t>
            </a:r>
            <a:endParaRPr lang="en-US" dirty="0" sz="1500"/>
          </a:p>
        </p:txBody>
      </p:sp>
      <p:pic>
        <p:nvPicPr>
          <p:cNvPr id="11" name="a3f_v172" descr="678de5af87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2971800"/>
            <a:ext cx="1188720" cy="752856"/>
          </a:xfrm>
          <a:prstGeom prst="rect">
            <a:avLst/>
          </a:prstGeom>
        </p:spPr>
      </p:pic>
      <p:sp>
        <p:nvSpPr>
          <p:cNvPr id="12" name="a3f_t173"/>
          <p:cNvSpPr txBox="1"/>
          <p:nvPr/>
        </p:nvSpPr>
        <p:spPr>
          <a:xfrm>
            <a:off x="5349240" y="29900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unmatching data</a:t>
            </a:r>
            <a:endParaRPr lang="en-US" dirty="0" sz="1500"/>
          </a:p>
          <a:p>
            <a:pPr marL="0" indent="0">
              <a:buNone/>
            </a:pPr>
            <a:r>
              <a:rPr sz="12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one table but missing from the other</a:t>
            </a:r>
            <a:endParaRPr lang="en-US" dirty="0" sz="1500"/>
          </a:p>
        </p:txBody>
      </p:sp>
      <p:sp>
        <p:nvSpPr>
          <p:cNvPr id="13" name="a4u_pill174"/>
          <p:cNvSpPr txBox="1"/>
          <p:nvPr/>
        </p:nvSpPr>
        <p:spPr>
          <a:xfrm>
            <a:off x="457200" y="406908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joins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/ all rows</a:t>
            </a:r>
            <a:endParaRPr lang="en-US" dirty="0" sz="1200"/>
          </a:p>
        </p:txBody>
      </p:sp>
      <p:sp>
        <p:nvSpPr>
          <p:cNvPr id="14" name="a4ud200_pill175"/>
          <p:cNvSpPr txBox="1"/>
          <p:nvPr/>
        </p:nvSpPr>
        <p:spPr>
          <a:xfrm>
            <a:off x="4572000" y="406908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joins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unmatching data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0: No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all data from both tables — as two separate results</a:t>
            </a:r>
            <a:endParaRPr lang="en-US" dirty="0" sz="1300"/>
          </a:p>
        </p:txBody>
      </p:sp>
      <p:pic>
        <p:nvPicPr>
          <p:cNvPr id="4" name="Image 0" descr="6327364c9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291840" cy="2084832"/>
          </a:xfrm>
          <a:prstGeom prst="rect">
            <a:avLst/>
          </a:prstGeom>
        </p:spPr>
      </p:pic>
      <p:sp>
        <p:nvSpPr>
          <p:cNvPr id="5" name="a1f_codebg176"/>
          <p:cNvSpPr/>
          <p:nvPr/>
        </p:nvSpPr>
        <p:spPr>
          <a:xfrm>
            <a:off x="457200" y="3429000"/>
            <a:ext cx="3749040" cy="82296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6" name="a1wd0_code177"/>
          <p:cNvSpPr txBox="1"/>
          <p:nvPr/>
        </p:nvSpPr>
        <p:spPr>
          <a:xfrm>
            <a:off x="640080" y="35661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300"/>
          </a:p>
        </p:txBody>
      </p:sp>
      <p:sp>
        <p:nvSpPr>
          <p:cNvPr id="7" name="a1wd250_code178"/>
          <p:cNvSpPr txBox="1"/>
          <p:nvPr/>
        </p:nvSpPr>
        <p:spPr>
          <a:xfrm>
            <a:off x="640080" y="3840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300"/>
          </a:p>
        </p:txBody>
      </p:sp>
      <p:sp>
        <p:nvSpPr>
          <p:cNvPr id="8" name="Text 5"/>
          <p:cNvSpPr txBox="1"/>
          <p:nvPr/>
        </p:nvSpPr>
        <p:spPr>
          <a:xfrm>
            <a:off x="45720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all data from customers and orders in two different results.</a:t>
            </a:r>
            <a:endParaRPr lang="en-US" dirty="0" sz="1200"/>
          </a:p>
        </p:txBody>
      </p:sp>
      <p:sp>
        <p:nvSpPr>
          <p:cNvPr id="9" name="a2f_l179"/>
          <p:cNvSpPr txBox="1"/>
          <p:nvPr/>
        </p:nvSpPr>
        <p:spPr>
          <a:xfrm>
            <a:off x="457200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customers</a:t>
            </a:r>
            <a:endParaRPr lang="en-US" dirty="0" sz="1200"/>
          </a:p>
        </p:txBody>
      </p:sp>
      <p:sp>
        <p:nvSpPr>
          <p:cNvPr id="10" name="a2w_cell180"/>
          <p:cNvSpPr txBox="1"/>
          <p:nvPr/>
        </p:nvSpPr>
        <p:spPr>
          <a:xfrm>
            <a:off x="4572000" y="1417320"/>
            <a:ext cx="41148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000"/>
          </a:p>
        </p:txBody>
      </p:sp>
      <p:sp>
        <p:nvSpPr>
          <p:cNvPr id="11" name="a2w_cell181"/>
          <p:cNvSpPr txBox="1"/>
          <p:nvPr/>
        </p:nvSpPr>
        <p:spPr>
          <a:xfrm>
            <a:off x="4572000" y="1664208"/>
            <a:ext cx="4114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000"/>
          </a:p>
        </p:txBody>
      </p:sp>
      <p:sp>
        <p:nvSpPr>
          <p:cNvPr id="12" name="a2w_cell182"/>
          <p:cNvSpPr txBox="1"/>
          <p:nvPr/>
        </p:nvSpPr>
        <p:spPr>
          <a:xfrm>
            <a:off x="4572000" y="1911096"/>
            <a:ext cx="4114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000"/>
          </a:p>
        </p:txBody>
      </p:sp>
      <p:sp>
        <p:nvSpPr>
          <p:cNvPr id="13" name="a2w_cell183"/>
          <p:cNvSpPr txBox="1"/>
          <p:nvPr/>
        </p:nvSpPr>
        <p:spPr>
          <a:xfrm>
            <a:off x="4572000" y="2157984"/>
            <a:ext cx="4114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000"/>
          </a:p>
        </p:txBody>
      </p:sp>
      <p:sp>
        <p:nvSpPr>
          <p:cNvPr id="14" name="a2w_cell184"/>
          <p:cNvSpPr txBox="1"/>
          <p:nvPr/>
        </p:nvSpPr>
        <p:spPr>
          <a:xfrm>
            <a:off x="4572000" y="2404872"/>
            <a:ext cx="4114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000"/>
          </a:p>
        </p:txBody>
      </p:sp>
      <p:sp>
        <p:nvSpPr>
          <p:cNvPr id="15" name="a2w_cell185"/>
          <p:cNvSpPr txBox="1"/>
          <p:nvPr/>
        </p:nvSpPr>
        <p:spPr>
          <a:xfrm>
            <a:off x="4572000" y="2651760"/>
            <a:ext cx="4114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000"/>
          </a:p>
        </p:txBody>
      </p:sp>
      <p:sp>
        <p:nvSpPr>
          <p:cNvPr id="16" name="a2w_cell186"/>
          <p:cNvSpPr txBox="1"/>
          <p:nvPr/>
        </p:nvSpPr>
        <p:spPr>
          <a:xfrm>
            <a:off x="4983480" y="1417320"/>
            <a:ext cx="96012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000"/>
          </a:p>
        </p:txBody>
      </p:sp>
      <p:sp>
        <p:nvSpPr>
          <p:cNvPr id="17" name="a2w_cell187"/>
          <p:cNvSpPr txBox="1"/>
          <p:nvPr/>
        </p:nvSpPr>
        <p:spPr>
          <a:xfrm>
            <a:off x="4983480" y="1664208"/>
            <a:ext cx="9601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000"/>
          </a:p>
        </p:txBody>
      </p:sp>
      <p:sp>
        <p:nvSpPr>
          <p:cNvPr id="18" name="a2w_cell188"/>
          <p:cNvSpPr txBox="1"/>
          <p:nvPr/>
        </p:nvSpPr>
        <p:spPr>
          <a:xfrm>
            <a:off x="4983480" y="1911096"/>
            <a:ext cx="9601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000"/>
          </a:p>
        </p:txBody>
      </p:sp>
      <p:sp>
        <p:nvSpPr>
          <p:cNvPr id="19" name="a2w_cell189"/>
          <p:cNvSpPr txBox="1"/>
          <p:nvPr/>
        </p:nvSpPr>
        <p:spPr>
          <a:xfrm>
            <a:off x="4983480" y="2157984"/>
            <a:ext cx="9601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000"/>
          </a:p>
        </p:txBody>
      </p:sp>
      <p:sp>
        <p:nvSpPr>
          <p:cNvPr id="20" name="a2w_cell190"/>
          <p:cNvSpPr txBox="1"/>
          <p:nvPr/>
        </p:nvSpPr>
        <p:spPr>
          <a:xfrm>
            <a:off x="4983480" y="2404872"/>
            <a:ext cx="9601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000"/>
          </a:p>
        </p:txBody>
      </p:sp>
      <p:sp>
        <p:nvSpPr>
          <p:cNvPr id="21" name="a2w_cell191"/>
          <p:cNvSpPr txBox="1"/>
          <p:nvPr/>
        </p:nvSpPr>
        <p:spPr>
          <a:xfrm>
            <a:off x="4983480" y="2651760"/>
            <a:ext cx="9601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000"/>
          </a:p>
        </p:txBody>
      </p:sp>
      <p:sp>
        <p:nvSpPr>
          <p:cNvPr id="22" name="a2w_cell192"/>
          <p:cNvSpPr txBox="1"/>
          <p:nvPr/>
        </p:nvSpPr>
        <p:spPr>
          <a:xfrm>
            <a:off x="5943600" y="1417320"/>
            <a:ext cx="86868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000"/>
          </a:p>
        </p:txBody>
      </p:sp>
      <p:sp>
        <p:nvSpPr>
          <p:cNvPr id="23" name="a2w_cell193"/>
          <p:cNvSpPr txBox="1"/>
          <p:nvPr/>
        </p:nvSpPr>
        <p:spPr>
          <a:xfrm>
            <a:off x="5943600" y="1664208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000"/>
          </a:p>
        </p:txBody>
      </p:sp>
      <p:sp>
        <p:nvSpPr>
          <p:cNvPr id="24" name="a2w_cell194"/>
          <p:cNvSpPr txBox="1"/>
          <p:nvPr/>
        </p:nvSpPr>
        <p:spPr>
          <a:xfrm>
            <a:off x="5943600" y="1911096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000"/>
          </a:p>
        </p:txBody>
      </p:sp>
      <p:sp>
        <p:nvSpPr>
          <p:cNvPr id="25" name="a2w_cell195"/>
          <p:cNvSpPr txBox="1"/>
          <p:nvPr/>
        </p:nvSpPr>
        <p:spPr>
          <a:xfrm>
            <a:off x="5943600" y="2157984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000"/>
          </a:p>
        </p:txBody>
      </p:sp>
      <p:sp>
        <p:nvSpPr>
          <p:cNvPr id="26" name="a2w_cell196"/>
          <p:cNvSpPr txBox="1"/>
          <p:nvPr/>
        </p:nvSpPr>
        <p:spPr>
          <a:xfrm>
            <a:off x="5943600" y="2404872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000"/>
          </a:p>
        </p:txBody>
      </p:sp>
      <p:sp>
        <p:nvSpPr>
          <p:cNvPr id="27" name="a2w_cell197"/>
          <p:cNvSpPr txBox="1"/>
          <p:nvPr/>
        </p:nvSpPr>
        <p:spPr>
          <a:xfrm>
            <a:off x="5943600" y="2651760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000"/>
          </a:p>
        </p:txBody>
      </p:sp>
      <p:sp>
        <p:nvSpPr>
          <p:cNvPr id="28" name="a2w_cell198"/>
          <p:cNvSpPr txBox="1"/>
          <p:nvPr/>
        </p:nvSpPr>
        <p:spPr>
          <a:xfrm>
            <a:off x="6812280" y="1417320"/>
            <a:ext cx="59436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dirty="0" sz="1000"/>
          </a:p>
        </p:txBody>
      </p:sp>
      <p:sp>
        <p:nvSpPr>
          <p:cNvPr id="29" name="a2w_cell199"/>
          <p:cNvSpPr txBox="1"/>
          <p:nvPr/>
        </p:nvSpPr>
        <p:spPr>
          <a:xfrm>
            <a:off x="6812280" y="1664208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000"/>
          </a:p>
        </p:txBody>
      </p:sp>
      <p:sp>
        <p:nvSpPr>
          <p:cNvPr id="30" name="a2w_cell200"/>
          <p:cNvSpPr txBox="1"/>
          <p:nvPr/>
        </p:nvSpPr>
        <p:spPr>
          <a:xfrm>
            <a:off x="6812280" y="1911096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000"/>
          </a:p>
        </p:txBody>
      </p:sp>
      <p:sp>
        <p:nvSpPr>
          <p:cNvPr id="31" name="a2w_cell201"/>
          <p:cNvSpPr txBox="1"/>
          <p:nvPr/>
        </p:nvSpPr>
        <p:spPr>
          <a:xfrm>
            <a:off x="6812280" y="2157984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000"/>
          </a:p>
        </p:txBody>
      </p:sp>
      <p:sp>
        <p:nvSpPr>
          <p:cNvPr id="32" name="a2w_cell202"/>
          <p:cNvSpPr txBox="1"/>
          <p:nvPr/>
        </p:nvSpPr>
        <p:spPr>
          <a:xfrm>
            <a:off x="6812280" y="2404872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000"/>
          </a:p>
        </p:txBody>
      </p:sp>
      <p:sp>
        <p:nvSpPr>
          <p:cNvPr id="33" name="a2w_cell203"/>
          <p:cNvSpPr txBox="1"/>
          <p:nvPr/>
        </p:nvSpPr>
        <p:spPr>
          <a:xfrm>
            <a:off x="6812280" y="2651760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000"/>
          </a:p>
        </p:txBody>
      </p:sp>
      <p:sp>
        <p:nvSpPr>
          <p:cNvPr id="34" name="a3f_l204"/>
          <p:cNvSpPr txBox="1"/>
          <p:nvPr/>
        </p:nvSpPr>
        <p:spPr>
          <a:xfrm>
            <a:off x="4572000" y="3017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orders</a:t>
            </a:r>
            <a:endParaRPr lang="en-US" dirty="0" sz="1200"/>
          </a:p>
        </p:txBody>
      </p:sp>
      <p:sp>
        <p:nvSpPr>
          <p:cNvPr id="35" name="a3w_cell205"/>
          <p:cNvSpPr txBox="1"/>
          <p:nvPr/>
        </p:nvSpPr>
        <p:spPr>
          <a:xfrm>
            <a:off x="4572000" y="3291840"/>
            <a:ext cx="73152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000"/>
          </a:p>
        </p:txBody>
      </p:sp>
      <p:sp>
        <p:nvSpPr>
          <p:cNvPr id="36" name="a3w_cell206"/>
          <p:cNvSpPr txBox="1"/>
          <p:nvPr/>
        </p:nvSpPr>
        <p:spPr>
          <a:xfrm>
            <a:off x="4572000" y="3538728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000"/>
          </a:p>
        </p:txBody>
      </p:sp>
      <p:sp>
        <p:nvSpPr>
          <p:cNvPr id="37" name="a3w_cell207"/>
          <p:cNvSpPr txBox="1"/>
          <p:nvPr/>
        </p:nvSpPr>
        <p:spPr>
          <a:xfrm>
            <a:off x="4572000" y="3785616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000"/>
          </a:p>
        </p:txBody>
      </p:sp>
      <p:sp>
        <p:nvSpPr>
          <p:cNvPr id="38" name="a3w_cell208"/>
          <p:cNvSpPr txBox="1"/>
          <p:nvPr/>
        </p:nvSpPr>
        <p:spPr>
          <a:xfrm>
            <a:off x="4572000" y="4032504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000"/>
          </a:p>
        </p:txBody>
      </p:sp>
      <p:sp>
        <p:nvSpPr>
          <p:cNvPr id="39" name="a3w_cell209"/>
          <p:cNvSpPr txBox="1"/>
          <p:nvPr/>
        </p:nvSpPr>
        <p:spPr>
          <a:xfrm>
            <a:off x="4572000" y="4279392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000"/>
          </a:p>
        </p:txBody>
      </p:sp>
      <p:sp>
        <p:nvSpPr>
          <p:cNvPr id="40" name="a3w_cell210"/>
          <p:cNvSpPr txBox="1"/>
          <p:nvPr/>
        </p:nvSpPr>
        <p:spPr>
          <a:xfrm>
            <a:off x="5303520" y="3291840"/>
            <a:ext cx="91440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000"/>
          </a:p>
        </p:txBody>
      </p:sp>
      <p:sp>
        <p:nvSpPr>
          <p:cNvPr id="41" name="a3w_cell211"/>
          <p:cNvSpPr txBox="1"/>
          <p:nvPr/>
        </p:nvSpPr>
        <p:spPr>
          <a:xfrm>
            <a:off x="5303520" y="3538728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000"/>
          </a:p>
        </p:txBody>
      </p:sp>
      <p:sp>
        <p:nvSpPr>
          <p:cNvPr id="42" name="a3w_cell212"/>
          <p:cNvSpPr txBox="1"/>
          <p:nvPr/>
        </p:nvSpPr>
        <p:spPr>
          <a:xfrm>
            <a:off x="5303520" y="3785616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000"/>
          </a:p>
        </p:txBody>
      </p:sp>
      <p:sp>
        <p:nvSpPr>
          <p:cNvPr id="43" name="a3w_cell213"/>
          <p:cNvSpPr txBox="1"/>
          <p:nvPr/>
        </p:nvSpPr>
        <p:spPr>
          <a:xfrm>
            <a:off x="5303520" y="4032504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000"/>
          </a:p>
        </p:txBody>
      </p:sp>
      <p:sp>
        <p:nvSpPr>
          <p:cNvPr id="44" name="a3w_cell214"/>
          <p:cNvSpPr txBox="1"/>
          <p:nvPr/>
        </p:nvSpPr>
        <p:spPr>
          <a:xfrm>
            <a:off x="5303520" y="4279392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000"/>
          </a:p>
        </p:txBody>
      </p:sp>
      <p:sp>
        <p:nvSpPr>
          <p:cNvPr id="45" name="a3w_cell215"/>
          <p:cNvSpPr txBox="1"/>
          <p:nvPr/>
        </p:nvSpPr>
        <p:spPr>
          <a:xfrm>
            <a:off x="6217920" y="3291840"/>
            <a:ext cx="100584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order_date</a:t>
            </a:r>
            <a:endParaRPr lang="en-US" dirty="0" sz="1000"/>
          </a:p>
        </p:txBody>
      </p:sp>
      <p:sp>
        <p:nvSpPr>
          <p:cNvPr id="46" name="a3w_cell216"/>
          <p:cNvSpPr txBox="1"/>
          <p:nvPr/>
        </p:nvSpPr>
        <p:spPr>
          <a:xfrm>
            <a:off x="6217920" y="3538728"/>
            <a:ext cx="10058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2021-01-11</a:t>
            </a:r>
            <a:endParaRPr lang="en-US" dirty="0" sz="1000"/>
          </a:p>
        </p:txBody>
      </p:sp>
      <p:sp>
        <p:nvSpPr>
          <p:cNvPr id="47" name="a3w_cell217"/>
          <p:cNvSpPr txBox="1"/>
          <p:nvPr/>
        </p:nvSpPr>
        <p:spPr>
          <a:xfrm>
            <a:off x="6217920" y="3785616"/>
            <a:ext cx="10058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2021-04-05</a:t>
            </a:r>
            <a:endParaRPr lang="en-US" dirty="0" sz="1000"/>
          </a:p>
        </p:txBody>
      </p:sp>
      <p:sp>
        <p:nvSpPr>
          <p:cNvPr id="48" name="a3w_cell218"/>
          <p:cNvSpPr txBox="1"/>
          <p:nvPr/>
        </p:nvSpPr>
        <p:spPr>
          <a:xfrm>
            <a:off x="6217920" y="4032504"/>
            <a:ext cx="10058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2021-06-18</a:t>
            </a:r>
            <a:endParaRPr lang="en-US" dirty="0" sz="1000"/>
          </a:p>
        </p:txBody>
      </p:sp>
      <p:sp>
        <p:nvSpPr>
          <p:cNvPr id="49" name="a3w_cell219"/>
          <p:cNvSpPr txBox="1"/>
          <p:nvPr/>
        </p:nvSpPr>
        <p:spPr>
          <a:xfrm>
            <a:off x="6217920" y="4279392"/>
            <a:ext cx="10058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2021-08-31</a:t>
            </a:r>
            <a:endParaRPr lang="en-US" dirty="0" sz="1000"/>
          </a:p>
        </p:txBody>
      </p:sp>
      <p:sp>
        <p:nvSpPr>
          <p:cNvPr id="50" name="a3w_cell220"/>
          <p:cNvSpPr txBox="1"/>
          <p:nvPr/>
        </p:nvSpPr>
        <p:spPr>
          <a:xfrm>
            <a:off x="7223760" y="3291840"/>
            <a:ext cx="54864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000"/>
          </a:p>
        </p:txBody>
      </p:sp>
      <p:sp>
        <p:nvSpPr>
          <p:cNvPr id="51" name="a3w_cell221"/>
          <p:cNvSpPr txBox="1"/>
          <p:nvPr/>
        </p:nvSpPr>
        <p:spPr>
          <a:xfrm>
            <a:off x="7223760" y="3538728"/>
            <a:ext cx="5486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000"/>
          </a:p>
        </p:txBody>
      </p:sp>
      <p:sp>
        <p:nvSpPr>
          <p:cNvPr id="52" name="a3w_cell222"/>
          <p:cNvSpPr txBox="1"/>
          <p:nvPr/>
        </p:nvSpPr>
        <p:spPr>
          <a:xfrm>
            <a:off x="7223760" y="3785616"/>
            <a:ext cx="5486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000"/>
          </a:p>
        </p:txBody>
      </p:sp>
      <p:sp>
        <p:nvSpPr>
          <p:cNvPr id="53" name="a3w_cell223"/>
          <p:cNvSpPr txBox="1"/>
          <p:nvPr/>
        </p:nvSpPr>
        <p:spPr>
          <a:xfrm>
            <a:off x="7223760" y="4032504"/>
            <a:ext cx="5486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000"/>
          </a:p>
        </p:txBody>
      </p:sp>
      <p:sp>
        <p:nvSpPr>
          <p:cNvPr id="54" name="a3w_cell224"/>
          <p:cNvSpPr txBox="1"/>
          <p:nvPr/>
        </p:nvSpPr>
        <p:spPr>
          <a:xfrm>
            <a:off x="7223760" y="4279392"/>
            <a:ext cx="5486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225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dirty="0" sz="6000"/>
          </a:p>
        </p:txBody>
      </p:sp>
      <p:sp>
        <p:nvSpPr>
          <p:cNvPr id="3" name="a0ud200_h226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</a:t>
            </a:r>
            <a:endParaRPr lang="en-US" dirty="0" sz="4400"/>
          </a:p>
        </p:txBody>
      </p:sp>
      <p:sp>
        <p:nvSpPr>
          <p:cNvPr id="4" name="a0fd450_t227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matching rows from both tables</a:t>
            </a:r>
            <a:endParaRPr lang="en-US" dirty="0" sz="1700"/>
          </a:p>
        </p:txBody>
      </p:sp>
      <p:pic>
        <p:nvPicPr>
          <p:cNvPr id="5" name="a0fd300_v228" descr="219ee9bd1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— The Concept</a:t>
            </a:r>
            <a:endParaRPr lang="en-US" dirty="0" sz="2800"/>
          </a:p>
        </p:txBody>
      </p:sp>
      <p:pic>
        <p:nvPicPr>
          <p:cNvPr id="3" name="Image 0" descr="080871519f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108960" cy="1969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table</a:t>
            </a:r>
            <a:endParaRPr lang="en-US" dirty="0" sz="1100"/>
          </a:p>
        </p:txBody>
      </p:sp>
      <p:sp>
        <p:nvSpPr>
          <p:cNvPr id="5" name="Text 2"/>
          <p:cNvSpPr txBox="1"/>
          <p:nvPr/>
        </p:nvSpPr>
        <p:spPr>
          <a:xfrm>
            <a:off x="210312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table</a:t>
            </a:r>
            <a:endParaRPr lang="en-US" dirty="0" sz="1100"/>
          </a:p>
        </p:txBody>
      </p:sp>
      <p:sp>
        <p:nvSpPr>
          <p:cNvPr id="6" name="a1u_pill229"/>
          <p:cNvSpPr txBox="1"/>
          <p:nvPr/>
        </p:nvSpPr>
        <p:spPr>
          <a:xfrm>
            <a:off x="457200" y="333756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rows</a:t>
            </a:r>
            <a:endParaRPr lang="en-US" dirty="0" sz="1200"/>
          </a:p>
        </p:txBody>
      </p:sp>
      <p:sp>
        <p:nvSpPr>
          <p:cNvPr id="7" name="a2u_pill230"/>
          <p:cNvSpPr txBox="1"/>
          <p:nvPr/>
        </p:nvSpPr>
        <p:spPr>
          <a:xfrm>
            <a:off x="457200" y="388620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rows</a:t>
            </a:r>
            <a:endParaRPr lang="en-US" dirty="0" sz="1200"/>
          </a:p>
        </p:txBody>
      </p:sp>
      <p:sp>
        <p:nvSpPr>
          <p:cNvPr id="8" name="Text 5"/>
          <p:cNvSpPr txBox="1"/>
          <p:nvPr/>
        </p:nvSpPr>
        <p:spPr>
          <a:xfrm>
            <a:off x="4023360" y="960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the rows that match in both tables.</a:t>
            </a:r>
            <a:endParaRPr lang="en-US" dirty="0" sz="1600"/>
          </a:p>
        </p:txBody>
      </p:sp>
      <p:sp>
        <p:nvSpPr>
          <p:cNvPr id="9" name="a3f_codebg231"/>
          <p:cNvSpPr/>
          <p:nvPr/>
        </p:nvSpPr>
        <p:spPr>
          <a:xfrm>
            <a:off x="4023360" y="16916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0" name="a3f_codelbl232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1" name="a3wd0_code233"/>
          <p:cNvSpPr txBox="1"/>
          <p:nvPr/>
        </p:nvSpPr>
        <p:spPr>
          <a:xfrm>
            <a:off x="4206240" y="18288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2" name="a3wd350_code234"/>
          <p:cNvSpPr txBox="1"/>
          <p:nvPr/>
        </p:nvSpPr>
        <p:spPr>
          <a:xfrm>
            <a:off x="42062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3" name="a3wd700_code235"/>
          <p:cNvSpPr txBox="1"/>
          <p:nvPr/>
        </p:nvSpPr>
        <p:spPr>
          <a:xfrm>
            <a:off x="4206240" y="2377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14" name="a3wd1050_code236"/>
          <p:cNvSpPr txBox="1"/>
          <p:nvPr/>
        </p:nvSpPr>
        <p:spPr>
          <a:xfrm>
            <a:off x="4206240" y="26517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15" name="a4f_cb237"/>
          <p:cNvSpPr/>
          <p:nvPr/>
        </p:nvSpPr>
        <p:spPr>
          <a:xfrm>
            <a:off x="4023360" y="3200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6" name="a4f_ct238"/>
          <p:cNvSpPr txBox="1"/>
          <p:nvPr/>
        </p:nvSpPr>
        <p:spPr>
          <a:xfrm>
            <a:off x="4206240" y="32004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doesn't matter: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B = B JOIN A.  Plain JOIN defaults to INNER — still write INNER for clarity.</a:t>
            </a:r>
            <a:endParaRPr lang="en-US" dirty="0" sz="1200"/>
          </a:p>
        </p:txBody>
      </p:sp>
      <p:sp>
        <p:nvSpPr>
          <p:cNvPr id="17" name="a5f_u239"/>
          <p:cNvSpPr txBox="1"/>
          <p:nvPr/>
        </p:nvSpPr>
        <p:spPr>
          <a:xfrm>
            <a:off x="4023360" y="4023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18" name="a5ud0_chip240"/>
          <p:cNvSpPr txBox="1"/>
          <p:nvPr/>
        </p:nvSpPr>
        <p:spPr>
          <a:xfrm>
            <a:off x="489204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19" name="a5ud150_chip241"/>
          <p:cNvSpPr txBox="1"/>
          <p:nvPr/>
        </p:nvSpPr>
        <p:spPr>
          <a:xfrm>
            <a:off x="608076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0" name="a5ud300_chip242"/>
          <p:cNvSpPr txBox="1"/>
          <p:nvPr/>
        </p:nvSpPr>
        <p:spPr>
          <a:xfrm>
            <a:off x="7269480" y="4023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customers along with their orders, but only for customers who have placed an order.</a:t>
            </a:r>
            <a:endParaRPr lang="en-US" dirty="0" sz="1400"/>
          </a:p>
        </p:txBody>
      </p:sp>
      <p:sp>
        <p:nvSpPr>
          <p:cNvPr id="4" name="a1f_codebg243"/>
          <p:cNvSpPr/>
          <p:nvPr/>
        </p:nvSpPr>
        <p:spPr>
          <a:xfrm>
            <a:off x="457200" y="1645920"/>
            <a:ext cx="384048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244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245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a1wd300_code246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450_code247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600_code248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750_code249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900_code250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1050_code251"/>
          <p:cNvSpPr txBox="1"/>
          <p:nvPr/>
        </p:nvSpPr>
        <p:spPr>
          <a:xfrm>
            <a:off x="640080" y="3575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3" name="a2f_l252"/>
          <p:cNvSpPr txBox="1"/>
          <p:nvPr/>
        </p:nvSpPr>
        <p:spPr>
          <a:xfrm>
            <a:off x="46634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253"/>
          <p:cNvSpPr txBox="1"/>
          <p:nvPr/>
        </p:nvSpPr>
        <p:spPr>
          <a:xfrm>
            <a:off x="4663440" y="1920240"/>
            <a:ext cx="5486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5" name="a2wd200_cell254"/>
          <p:cNvSpPr txBox="1"/>
          <p:nvPr/>
        </p:nvSpPr>
        <p:spPr>
          <a:xfrm>
            <a:off x="4663440" y="21945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6" name="a2wd400_cell255"/>
          <p:cNvSpPr txBox="1"/>
          <p:nvPr/>
        </p:nvSpPr>
        <p:spPr>
          <a:xfrm>
            <a:off x="4663440" y="24688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7" name="a2wd600_cell256"/>
          <p:cNvSpPr txBox="1"/>
          <p:nvPr/>
        </p:nvSpPr>
        <p:spPr>
          <a:xfrm>
            <a:off x="4663440" y="27432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8" name="a2f_cell257"/>
          <p:cNvSpPr txBox="1"/>
          <p:nvPr/>
        </p:nvSpPr>
        <p:spPr>
          <a:xfrm>
            <a:off x="5212080" y="19202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9" name="a2wd200_cell258"/>
          <p:cNvSpPr txBox="1"/>
          <p:nvPr/>
        </p:nvSpPr>
        <p:spPr>
          <a:xfrm>
            <a:off x="521208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0" name="a2wd400_cell259"/>
          <p:cNvSpPr txBox="1"/>
          <p:nvPr/>
        </p:nvSpPr>
        <p:spPr>
          <a:xfrm>
            <a:off x="521208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1" name="a2wd600_cell260"/>
          <p:cNvSpPr txBox="1"/>
          <p:nvPr/>
        </p:nvSpPr>
        <p:spPr>
          <a:xfrm>
            <a:off x="521208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2" name="a2f_cell261"/>
          <p:cNvSpPr txBox="1"/>
          <p:nvPr/>
        </p:nvSpPr>
        <p:spPr>
          <a:xfrm>
            <a:off x="6309360" y="192024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3" name="a2wd200_cell262"/>
          <p:cNvSpPr txBox="1"/>
          <p:nvPr/>
        </p:nvSpPr>
        <p:spPr>
          <a:xfrm>
            <a:off x="630936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4" name="a2wd400_cell263"/>
          <p:cNvSpPr txBox="1"/>
          <p:nvPr/>
        </p:nvSpPr>
        <p:spPr>
          <a:xfrm>
            <a:off x="630936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5" name="a2wd600_cell264"/>
          <p:cNvSpPr txBox="1"/>
          <p:nvPr/>
        </p:nvSpPr>
        <p:spPr>
          <a:xfrm>
            <a:off x="630936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26" name="a2f_cell265"/>
          <p:cNvSpPr txBox="1"/>
          <p:nvPr/>
        </p:nvSpPr>
        <p:spPr>
          <a:xfrm>
            <a:off x="7223760" y="192024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27" name="a2wd200_cell266"/>
          <p:cNvSpPr txBox="1"/>
          <p:nvPr/>
        </p:nvSpPr>
        <p:spPr>
          <a:xfrm>
            <a:off x="7223760" y="21945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28" name="a2wd400_cell267"/>
          <p:cNvSpPr txBox="1"/>
          <p:nvPr/>
        </p:nvSpPr>
        <p:spPr>
          <a:xfrm>
            <a:off x="7223760" y="24688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29" name="a2wd600_cell268"/>
          <p:cNvSpPr txBox="1"/>
          <p:nvPr/>
        </p:nvSpPr>
        <p:spPr>
          <a:xfrm>
            <a:off x="7223760" y="27432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0" name="a3u_nb269"/>
          <p:cNvSpPr/>
          <p:nvPr/>
        </p:nvSpPr>
        <p:spPr>
          <a:xfrm>
            <a:off x="4663440" y="39776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1" name="a3u_ni270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206240"/>
            <a:ext cx="320040" cy="320040"/>
          </a:xfrm>
          <a:prstGeom prst="rect">
            <a:avLst/>
          </a:prstGeom>
        </p:spPr>
      </p:pic>
      <p:sp>
        <p:nvSpPr>
          <p:cNvPr id="32" name="a3u_nt271"/>
          <p:cNvSpPr txBox="1"/>
          <p:nvPr/>
        </p:nvSpPr>
        <p:spPr>
          <a:xfrm>
            <a:off x="5212080" y="3977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5 customers returned — Martin and Peter have no orders. Swapping the tables gives the same result.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When Joining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readable, error-free join queries</a:t>
            </a:r>
            <a:endParaRPr lang="en-US" dirty="0" sz="1300"/>
          </a:p>
        </p:txBody>
      </p:sp>
      <p:sp>
        <p:nvSpPr>
          <p:cNvPr id="4" name="a1u_c272"/>
          <p:cNvSpPr/>
          <p:nvPr/>
        </p:nvSpPr>
        <p:spPr>
          <a:xfrm>
            <a:off x="45720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u_n273"/>
          <p:cNvSpPr txBox="1"/>
          <p:nvPr/>
        </p:nvSpPr>
        <p:spPr>
          <a:xfrm>
            <a:off x="685800" y="14173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6" name="a1u_h274"/>
          <p:cNvSpPr txBox="1"/>
          <p:nvPr/>
        </p:nvSpPr>
        <p:spPr>
          <a:xfrm>
            <a:off x="685800" y="1965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needed columns</a:t>
            </a:r>
            <a:endParaRPr lang="en-US" dirty="0" sz="1600"/>
          </a:p>
        </p:txBody>
      </p:sp>
      <p:sp>
        <p:nvSpPr>
          <p:cNvPr id="7" name="a1u_d275"/>
          <p:cNvSpPr txBox="1"/>
          <p:nvPr/>
        </p:nvSpPr>
        <p:spPr>
          <a:xfrm>
            <a:off x="68580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repeats key columns from both tables. Pick the columns that matter.</a:t>
            </a:r>
            <a:endParaRPr lang="en-US" dirty="0" sz="1200"/>
          </a:p>
        </p:txBody>
      </p:sp>
      <p:sp>
        <p:nvSpPr>
          <p:cNvPr id="8" name="a1u_cb276"/>
          <p:cNvSpPr/>
          <p:nvPr/>
        </p:nvSpPr>
        <p:spPr>
          <a:xfrm>
            <a:off x="640080" y="33832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9" name="a1u_cl277"/>
          <p:cNvSpPr txBox="1"/>
          <p:nvPr/>
        </p:nvSpPr>
        <p:spPr>
          <a:xfrm>
            <a:off x="731520" y="3474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100"/>
          </a:p>
        </p:txBody>
      </p:sp>
      <p:sp>
        <p:nvSpPr>
          <p:cNvPr id="10" name="a1u_cl278"/>
          <p:cNvSpPr txBox="1"/>
          <p:nvPr/>
        </p:nvSpPr>
        <p:spPr>
          <a:xfrm>
            <a:off x="731520" y="3767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11" name="a1u_cl279"/>
          <p:cNvSpPr txBox="1"/>
          <p:nvPr/>
        </p:nvSpPr>
        <p:spPr>
          <a:xfrm>
            <a:off x="731520" y="40599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000"/>
          </a:p>
        </p:txBody>
      </p:sp>
      <p:sp>
        <p:nvSpPr>
          <p:cNvPr id="12" name="a2u_c280"/>
          <p:cNvSpPr/>
          <p:nvPr/>
        </p:nvSpPr>
        <p:spPr>
          <a:xfrm>
            <a:off x="324612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a2u_n281"/>
          <p:cNvSpPr txBox="1"/>
          <p:nvPr/>
        </p:nvSpPr>
        <p:spPr>
          <a:xfrm>
            <a:off x="3474720" y="14173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14" name="a2u_h282"/>
          <p:cNvSpPr txBox="1"/>
          <p:nvPr/>
        </p:nvSpPr>
        <p:spPr>
          <a:xfrm>
            <a:off x="3474720" y="1965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 every column</a:t>
            </a:r>
            <a:endParaRPr lang="en-US" dirty="0" sz="1600"/>
          </a:p>
        </p:txBody>
      </p:sp>
      <p:sp>
        <p:nvSpPr>
          <p:cNvPr id="15" name="a2u_d283"/>
          <p:cNvSpPr txBox="1"/>
          <p:nvPr/>
        </p:nvSpPr>
        <p:spPr>
          <a:xfrm>
            <a:off x="347472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both tables have a column called id, SQL throws an ambiguous-column error.</a:t>
            </a:r>
            <a:endParaRPr lang="en-US" dirty="0" sz="1200"/>
          </a:p>
        </p:txBody>
      </p:sp>
      <p:sp>
        <p:nvSpPr>
          <p:cNvPr id="16" name="a2u_cb284"/>
          <p:cNvSpPr/>
          <p:nvPr/>
        </p:nvSpPr>
        <p:spPr>
          <a:xfrm>
            <a:off x="3429000" y="33832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7" name="a2u_cl285"/>
          <p:cNvSpPr txBox="1"/>
          <p:nvPr/>
        </p:nvSpPr>
        <p:spPr>
          <a:xfrm>
            <a:off x="3520440" y="3474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dirty="0" sz="1100"/>
          </a:p>
        </p:txBody>
      </p:sp>
      <p:sp>
        <p:nvSpPr>
          <p:cNvPr id="18" name="a2u_cl286"/>
          <p:cNvSpPr txBox="1"/>
          <p:nvPr/>
        </p:nvSpPr>
        <p:spPr>
          <a:xfrm>
            <a:off x="3520440" y="3767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19" name="a2u_cl287"/>
          <p:cNvSpPr txBox="1"/>
          <p:nvPr/>
        </p:nvSpPr>
        <p:spPr>
          <a:xfrm>
            <a:off x="3520440" y="40599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dirty="0" sz="1000"/>
          </a:p>
        </p:txBody>
      </p:sp>
      <p:sp>
        <p:nvSpPr>
          <p:cNvPr id="20" name="a3u_c288"/>
          <p:cNvSpPr/>
          <p:nvPr/>
        </p:nvSpPr>
        <p:spPr>
          <a:xfrm>
            <a:off x="603504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a3u_n289"/>
          <p:cNvSpPr txBox="1"/>
          <p:nvPr/>
        </p:nvSpPr>
        <p:spPr>
          <a:xfrm>
            <a:off x="6263640" y="14173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22" name="a3u_h290"/>
          <p:cNvSpPr txBox="1"/>
          <p:nvPr/>
        </p:nvSpPr>
        <p:spPr>
          <a:xfrm>
            <a:off x="6263640" y="1965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short table aliases</a:t>
            </a:r>
            <a:endParaRPr lang="en-US" dirty="0" sz="1600"/>
          </a:p>
        </p:txBody>
      </p:sp>
      <p:sp>
        <p:nvSpPr>
          <p:cNvPr id="23" name="a3u_d291"/>
          <p:cNvSpPr txBox="1"/>
          <p:nvPr/>
        </p:nvSpPr>
        <p:spPr>
          <a:xfrm>
            <a:off x="626364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table names get tedious. Alias once, reuse everywhere.</a:t>
            </a:r>
            <a:endParaRPr lang="en-US" dirty="0" sz="1200"/>
          </a:p>
        </p:txBody>
      </p:sp>
      <p:sp>
        <p:nvSpPr>
          <p:cNvPr id="24" name="a3u_cb292"/>
          <p:cNvSpPr/>
          <p:nvPr/>
        </p:nvSpPr>
        <p:spPr>
          <a:xfrm>
            <a:off x="6217920" y="33832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5" name="a3u_cl293"/>
          <p:cNvSpPr txBox="1"/>
          <p:nvPr/>
        </p:nvSpPr>
        <p:spPr>
          <a:xfrm>
            <a:off x="6309360" y="3474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000"/>
          </a:p>
        </p:txBody>
      </p:sp>
      <p:sp>
        <p:nvSpPr>
          <p:cNvPr id="26" name="a3u_cl294"/>
          <p:cNvSpPr txBox="1"/>
          <p:nvPr/>
        </p:nvSpPr>
        <p:spPr>
          <a:xfrm>
            <a:off x="6309360" y="3767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000"/>
          </a:p>
        </p:txBody>
      </p:sp>
      <p:sp>
        <p:nvSpPr>
          <p:cNvPr id="27" name="a3u_cl295"/>
          <p:cNvSpPr txBox="1"/>
          <p:nvPr/>
        </p:nvSpPr>
        <p:spPr>
          <a:xfrm>
            <a:off x="6309360" y="40599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0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INNER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walks through the rows to build the result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(left)</a:t>
            </a:r>
            <a:endParaRPr lang="en-US" dirty="0" sz="1200"/>
          </a:p>
        </p:txBody>
      </p:sp>
      <p:sp>
        <p:nvSpPr>
          <p:cNvPr id="5" name="s_cell296"/>
          <p:cNvSpPr txBox="1"/>
          <p:nvPr/>
        </p:nvSpPr>
        <p:spPr>
          <a:xfrm>
            <a:off x="45720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6" name="s_cell297"/>
          <p:cNvSpPr txBox="1"/>
          <p:nvPr/>
        </p:nvSpPr>
        <p:spPr>
          <a:xfrm>
            <a:off x="457200" y="16916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7" name="s_cell298"/>
          <p:cNvSpPr txBox="1"/>
          <p:nvPr/>
        </p:nvSpPr>
        <p:spPr>
          <a:xfrm>
            <a:off x="457200" y="19659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8" name="s_cell299"/>
          <p:cNvSpPr txBox="1"/>
          <p:nvPr/>
        </p:nvSpPr>
        <p:spPr>
          <a:xfrm>
            <a:off x="457200" y="22402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9" name="s_cell300"/>
          <p:cNvSpPr txBox="1"/>
          <p:nvPr/>
        </p:nvSpPr>
        <p:spPr>
          <a:xfrm>
            <a:off x="457200" y="25146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0" name="s_cell301"/>
          <p:cNvSpPr txBox="1"/>
          <p:nvPr/>
        </p:nvSpPr>
        <p:spPr>
          <a:xfrm>
            <a:off x="457200" y="27889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1" name="s_cell302"/>
          <p:cNvSpPr txBox="1"/>
          <p:nvPr/>
        </p:nvSpPr>
        <p:spPr>
          <a:xfrm>
            <a:off x="868680" y="141732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2" name="s_cell303"/>
          <p:cNvSpPr txBox="1"/>
          <p:nvPr/>
        </p:nvSpPr>
        <p:spPr>
          <a:xfrm>
            <a:off x="868680" y="16916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3" name="s_cell304"/>
          <p:cNvSpPr txBox="1"/>
          <p:nvPr/>
        </p:nvSpPr>
        <p:spPr>
          <a:xfrm>
            <a:off x="868680" y="19659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4" name="s_cell305"/>
          <p:cNvSpPr txBox="1"/>
          <p:nvPr/>
        </p:nvSpPr>
        <p:spPr>
          <a:xfrm>
            <a:off x="868680" y="224028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5" name="s_cell306"/>
          <p:cNvSpPr txBox="1"/>
          <p:nvPr/>
        </p:nvSpPr>
        <p:spPr>
          <a:xfrm>
            <a:off x="868680" y="251460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6" name="s_cell307"/>
          <p:cNvSpPr txBox="1"/>
          <p:nvPr/>
        </p:nvSpPr>
        <p:spPr>
          <a:xfrm>
            <a:off x="868680" y="278892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7" name="Text 15"/>
          <p:cNvSpPr txBox="1"/>
          <p:nvPr/>
        </p:nvSpPr>
        <p:spPr>
          <a:xfrm>
            <a:off x="29260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(right)</a:t>
            </a:r>
            <a:endParaRPr lang="en-US" dirty="0" sz="1200"/>
          </a:p>
        </p:txBody>
      </p:sp>
      <p:sp>
        <p:nvSpPr>
          <p:cNvPr id="18" name="s_cell308"/>
          <p:cNvSpPr txBox="1"/>
          <p:nvPr/>
        </p:nvSpPr>
        <p:spPr>
          <a:xfrm>
            <a:off x="292608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19" name="s_cell309"/>
          <p:cNvSpPr txBox="1"/>
          <p:nvPr/>
        </p:nvSpPr>
        <p:spPr>
          <a:xfrm>
            <a:off x="2926080" y="169164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0" name="s_cell310"/>
          <p:cNvSpPr txBox="1"/>
          <p:nvPr/>
        </p:nvSpPr>
        <p:spPr>
          <a:xfrm>
            <a:off x="2926080" y="1965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1" name="s_cell311"/>
          <p:cNvSpPr txBox="1"/>
          <p:nvPr/>
        </p:nvSpPr>
        <p:spPr>
          <a:xfrm>
            <a:off x="2926080" y="22402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22" name="s_cell312"/>
          <p:cNvSpPr txBox="1"/>
          <p:nvPr/>
        </p:nvSpPr>
        <p:spPr>
          <a:xfrm>
            <a:off x="2926080" y="25146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23" name="s_cell313"/>
          <p:cNvSpPr txBox="1"/>
          <p:nvPr/>
        </p:nvSpPr>
        <p:spPr>
          <a:xfrm>
            <a:off x="3657600" y="1417320"/>
            <a:ext cx="8686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24" name="s_cell314"/>
          <p:cNvSpPr txBox="1"/>
          <p:nvPr/>
        </p:nvSpPr>
        <p:spPr>
          <a:xfrm>
            <a:off x="3657600" y="1691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5" name="s_cell315"/>
          <p:cNvSpPr txBox="1"/>
          <p:nvPr/>
        </p:nvSpPr>
        <p:spPr>
          <a:xfrm>
            <a:off x="3657600" y="19659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6" name="s_cell316"/>
          <p:cNvSpPr txBox="1"/>
          <p:nvPr/>
        </p:nvSpPr>
        <p:spPr>
          <a:xfrm>
            <a:off x="3657600" y="22402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7" name="s_cell317"/>
          <p:cNvSpPr txBox="1"/>
          <p:nvPr/>
        </p:nvSpPr>
        <p:spPr>
          <a:xfrm>
            <a:off x="3657600" y="25146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28" name="s_cell318"/>
          <p:cNvSpPr txBox="1"/>
          <p:nvPr/>
        </p:nvSpPr>
        <p:spPr>
          <a:xfrm>
            <a:off x="452628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29" name="s_cell319"/>
          <p:cNvSpPr txBox="1"/>
          <p:nvPr/>
        </p:nvSpPr>
        <p:spPr>
          <a:xfrm>
            <a:off x="4526280" y="16916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0" name="s_cell320"/>
          <p:cNvSpPr txBox="1"/>
          <p:nvPr/>
        </p:nvSpPr>
        <p:spPr>
          <a:xfrm>
            <a:off x="4526280" y="19659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1" name="s_cell321"/>
          <p:cNvSpPr txBox="1"/>
          <p:nvPr/>
        </p:nvSpPr>
        <p:spPr>
          <a:xfrm>
            <a:off x="4526280" y="22402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2" name="s_cell322"/>
          <p:cNvSpPr txBox="1"/>
          <p:nvPr/>
        </p:nvSpPr>
        <p:spPr>
          <a:xfrm>
            <a:off x="4526280" y="25146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33" name="Text 31"/>
          <p:cNvSpPr txBox="1"/>
          <p:nvPr/>
        </p:nvSpPr>
        <p:spPr>
          <a:xfrm>
            <a:off x="557784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4" name="s_cell323"/>
          <p:cNvSpPr txBox="1"/>
          <p:nvPr/>
        </p:nvSpPr>
        <p:spPr>
          <a:xfrm>
            <a:off x="557784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35" name="s_cell324"/>
          <p:cNvSpPr txBox="1"/>
          <p:nvPr/>
        </p:nvSpPr>
        <p:spPr>
          <a:xfrm>
            <a:off x="598932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36" name="s_cell325"/>
          <p:cNvSpPr txBox="1"/>
          <p:nvPr/>
        </p:nvSpPr>
        <p:spPr>
          <a:xfrm>
            <a:off x="690372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7" name="s_cell326"/>
          <p:cNvSpPr txBox="1"/>
          <p:nvPr/>
        </p:nvSpPr>
        <p:spPr>
          <a:xfrm>
            <a:off x="763524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8" name="Shape 36"/>
          <p:cNvSpPr/>
          <p:nvPr/>
        </p:nvSpPr>
        <p:spPr>
          <a:xfrm>
            <a:off x="457200" y="3291840"/>
            <a:ext cx="5074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0080" y="33467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1000"/>
          </a:p>
        </p:txBody>
      </p:sp>
      <p:sp>
        <p:nvSpPr>
          <p:cNvPr id="40" name="a1w_conn327"/>
          <p:cNvSpPr/>
          <p:nvPr/>
        </p:nvSpPr>
        <p:spPr>
          <a:xfrm>
            <a:off x="1874520" y="182880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a1fd250_cell328"/>
          <p:cNvSpPr txBox="1"/>
          <p:nvPr/>
        </p:nvSpPr>
        <p:spPr>
          <a:xfrm>
            <a:off x="5577840" y="169164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2" name="a1fd250_cell329"/>
          <p:cNvSpPr txBox="1"/>
          <p:nvPr/>
        </p:nvSpPr>
        <p:spPr>
          <a:xfrm>
            <a:off x="5989320" y="169164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43" name="a1fd250_cell330"/>
          <p:cNvSpPr txBox="1"/>
          <p:nvPr/>
        </p:nvSpPr>
        <p:spPr>
          <a:xfrm>
            <a:off x="6903720" y="169164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44" name="a1fd250_cell331"/>
          <p:cNvSpPr txBox="1"/>
          <p:nvPr/>
        </p:nvSpPr>
        <p:spPr>
          <a:xfrm>
            <a:off x="7635240" y="169164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5" name="a1fd250_log332"/>
          <p:cNvSpPr txBox="1"/>
          <p:nvPr/>
        </p:nvSpPr>
        <p:spPr>
          <a:xfrm>
            <a:off x="640080" y="3584448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1 · Maria → order 1001 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match → row added</a:t>
            </a:r>
            <a:endParaRPr lang="en-US" dirty="0" sz="1100"/>
          </a:p>
        </p:txBody>
      </p:sp>
      <p:sp>
        <p:nvSpPr>
          <p:cNvPr id="46" name="a2w_conn333"/>
          <p:cNvSpPr/>
          <p:nvPr/>
        </p:nvSpPr>
        <p:spPr>
          <a:xfrm>
            <a:off x="1874520" y="210312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a2fd250_cell334"/>
          <p:cNvSpPr txBox="1"/>
          <p:nvPr/>
        </p:nvSpPr>
        <p:spPr>
          <a:xfrm>
            <a:off x="5577840" y="196596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8" name="a2fd250_cell335"/>
          <p:cNvSpPr txBox="1"/>
          <p:nvPr/>
        </p:nvSpPr>
        <p:spPr>
          <a:xfrm>
            <a:off x="5989320" y="196596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49" name="a2fd250_cell336"/>
          <p:cNvSpPr txBox="1"/>
          <p:nvPr/>
        </p:nvSpPr>
        <p:spPr>
          <a:xfrm>
            <a:off x="6903720" y="196596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50" name="a2fd250_cell337"/>
          <p:cNvSpPr txBox="1"/>
          <p:nvPr/>
        </p:nvSpPr>
        <p:spPr>
          <a:xfrm>
            <a:off x="7635240" y="196596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51" name="a2fd250_log338"/>
          <p:cNvSpPr txBox="1"/>
          <p:nvPr/>
        </p:nvSpPr>
        <p:spPr>
          <a:xfrm>
            <a:off x="640080" y="38313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2 · John → order 1002 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match → row added</a:t>
            </a:r>
            <a:endParaRPr lang="en-US" dirty="0" sz="1100"/>
          </a:p>
        </p:txBody>
      </p:sp>
      <p:sp>
        <p:nvSpPr>
          <p:cNvPr id="52" name="a3w_conn339"/>
          <p:cNvSpPr/>
          <p:nvPr/>
        </p:nvSpPr>
        <p:spPr>
          <a:xfrm>
            <a:off x="1874520" y="237744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a3fd250_cell340"/>
          <p:cNvSpPr txBox="1"/>
          <p:nvPr/>
        </p:nvSpPr>
        <p:spPr>
          <a:xfrm>
            <a:off x="5577840" y="224028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54" name="a3fd250_cell341"/>
          <p:cNvSpPr txBox="1"/>
          <p:nvPr/>
        </p:nvSpPr>
        <p:spPr>
          <a:xfrm>
            <a:off x="5989320" y="22402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55" name="a3fd250_cell342"/>
          <p:cNvSpPr txBox="1"/>
          <p:nvPr/>
        </p:nvSpPr>
        <p:spPr>
          <a:xfrm>
            <a:off x="6903720" y="224028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56" name="a3fd250_cell343"/>
          <p:cNvSpPr txBox="1"/>
          <p:nvPr/>
        </p:nvSpPr>
        <p:spPr>
          <a:xfrm>
            <a:off x="7635240" y="224028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57" name="a3fd250_log344"/>
          <p:cNvSpPr txBox="1"/>
          <p:nvPr/>
        </p:nvSpPr>
        <p:spPr>
          <a:xfrm>
            <a:off x="640080" y="4078224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3 · Georg → order 1003 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match → row added</a:t>
            </a:r>
            <a:endParaRPr lang="en-US" dirty="0" sz="1100"/>
          </a:p>
        </p:txBody>
      </p:sp>
      <p:sp>
        <p:nvSpPr>
          <p:cNvPr id="58" name="a4f_x345"/>
          <p:cNvSpPr txBox="1"/>
          <p:nvPr/>
        </p:nvSpPr>
        <p:spPr>
          <a:xfrm>
            <a:off x="2057400" y="253288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59" name="a4fd200_log346"/>
          <p:cNvSpPr txBox="1"/>
          <p:nvPr/>
        </p:nvSpPr>
        <p:spPr>
          <a:xfrm>
            <a:off x="640080" y="4325112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4 · Martin → no order found 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excluded</a:t>
            </a:r>
            <a:endParaRPr lang="en-US" dirty="0" sz="1100"/>
          </a:p>
        </p:txBody>
      </p:sp>
      <p:sp>
        <p:nvSpPr>
          <p:cNvPr id="60" name="a5f_x347"/>
          <p:cNvSpPr txBox="1"/>
          <p:nvPr/>
        </p:nvSpPr>
        <p:spPr>
          <a:xfrm>
            <a:off x="2057400" y="280720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61" name="a5fd200_log348"/>
          <p:cNvSpPr txBox="1"/>
          <p:nvPr/>
        </p:nvSpPr>
        <p:spPr>
          <a:xfrm>
            <a:off x="640080" y="457200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5 · Peter → no order found 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excluded</a:t>
            </a:r>
            <a:endParaRPr lang="en-US" dirty="0" sz="1100"/>
          </a:p>
        </p:txBody>
      </p:sp>
      <p:sp>
        <p:nvSpPr>
          <p:cNvPr id="62" name="a6u_tb349"/>
          <p:cNvSpPr/>
          <p:nvPr/>
        </p:nvSpPr>
        <p:spPr>
          <a:xfrm>
            <a:off x="5760720" y="36118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63" name="a6u_tt350"/>
          <p:cNvSpPr txBox="1"/>
          <p:nvPr/>
        </p:nvSpPr>
        <p:spPr>
          <a:xfrm>
            <a:off x="5943600" y="3611880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appears only when the join condition finds a match on both sides.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35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dirty="0" sz="6000"/>
          </a:p>
        </p:txBody>
      </p:sp>
      <p:sp>
        <p:nvSpPr>
          <p:cNvPr id="3" name="a0ud200_h35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</a:t>
            </a:r>
            <a:endParaRPr lang="en-US" dirty="0" sz="4400"/>
          </a:p>
        </p:txBody>
      </p:sp>
      <p:sp>
        <p:nvSpPr>
          <p:cNvPr id="4" name="a0fd450_t35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the left, matches from the right</a:t>
            </a:r>
            <a:endParaRPr lang="en-US" dirty="0" sz="1700"/>
          </a:p>
        </p:txBody>
      </p:sp>
      <p:pic>
        <p:nvPicPr>
          <p:cNvPr id="5" name="a0fd300_v354" descr="57b454fb3f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— The Concept</a:t>
            </a:r>
            <a:endParaRPr lang="en-US" dirty="0" sz="2800"/>
          </a:p>
        </p:txBody>
      </p:sp>
      <p:pic>
        <p:nvPicPr>
          <p:cNvPr id="3" name="Image 0" descr="b9b2efc24d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108960" cy="1969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table</a:t>
            </a:r>
            <a:endParaRPr lang="en-US" dirty="0" sz="1100"/>
          </a:p>
        </p:txBody>
      </p:sp>
      <p:sp>
        <p:nvSpPr>
          <p:cNvPr id="5" name="Text 2"/>
          <p:cNvSpPr txBox="1"/>
          <p:nvPr/>
        </p:nvSpPr>
        <p:spPr>
          <a:xfrm>
            <a:off x="210312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table</a:t>
            </a:r>
            <a:endParaRPr lang="en-US" dirty="0" sz="1100"/>
          </a:p>
        </p:txBody>
      </p:sp>
      <p:sp>
        <p:nvSpPr>
          <p:cNvPr id="6" name="a1u_pill355"/>
          <p:cNvSpPr txBox="1"/>
          <p:nvPr/>
        </p:nvSpPr>
        <p:spPr>
          <a:xfrm>
            <a:off x="457200" y="333756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· primary source</a:t>
            </a:r>
            <a:endParaRPr lang="en-US" dirty="0" sz="1200"/>
          </a:p>
        </p:txBody>
      </p:sp>
      <p:sp>
        <p:nvSpPr>
          <p:cNvPr id="7" name="a2u_pill356"/>
          <p:cNvSpPr txBox="1"/>
          <p:nvPr/>
        </p:nvSpPr>
        <p:spPr>
          <a:xfrm>
            <a:off x="457200" y="388620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· extra data</a:t>
            </a:r>
            <a:endParaRPr lang="en-US" dirty="0" sz="1200"/>
          </a:p>
        </p:txBody>
      </p:sp>
      <p:sp>
        <p:nvSpPr>
          <p:cNvPr id="8" name="Text 5"/>
          <p:cNvSpPr txBox="1"/>
          <p:nvPr/>
        </p:nvSpPr>
        <p:spPr>
          <a:xfrm>
            <a:off x="4023360" y="960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the left table and only the matching rows from the right.</a:t>
            </a:r>
            <a:endParaRPr lang="en-US" dirty="0" sz="1600"/>
          </a:p>
        </p:txBody>
      </p:sp>
      <p:sp>
        <p:nvSpPr>
          <p:cNvPr id="9" name="a3f_codebg357"/>
          <p:cNvSpPr/>
          <p:nvPr/>
        </p:nvSpPr>
        <p:spPr>
          <a:xfrm>
            <a:off x="4023360" y="16916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0" name="a3f_codelbl358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1" name="a3wd0_code359"/>
          <p:cNvSpPr txBox="1"/>
          <p:nvPr/>
        </p:nvSpPr>
        <p:spPr>
          <a:xfrm>
            <a:off x="4206240" y="18288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2" name="a3wd350_code360"/>
          <p:cNvSpPr txBox="1"/>
          <p:nvPr/>
        </p:nvSpPr>
        <p:spPr>
          <a:xfrm>
            <a:off x="42062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3" name="a3wd700_code361"/>
          <p:cNvSpPr txBox="1"/>
          <p:nvPr/>
        </p:nvSpPr>
        <p:spPr>
          <a:xfrm>
            <a:off x="4206240" y="2377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14" name="a3wd1050_code362"/>
          <p:cNvSpPr txBox="1"/>
          <p:nvPr/>
        </p:nvSpPr>
        <p:spPr>
          <a:xfrm>
            <a:off x="4206240" y="26517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15" name="a4f_cb363"/>
          <p:cNvSpPr/>
          <p:nvPr/>
        </p:nvSpPr>
        <p:spPr>
          <a:xfrm>
            <a:off x="4023360" y="3200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16" name="a4f_ct364"/>
          <p:cNvSpPr txBox="1"/>
          <p:nvPr/>
        </p:nvSpPr>
        <p:spPr>
          <a:xfrm>
            <a:off x="4206240" y="32004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matters!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table you need in full in FROM; the right table goes after LEFT JOIN.</a:t>
            </a:r>
            <a:endParaRPr lang="en-US" dirty="0" sz="1200"/>
          </a:p>
        </p:txBody>
      </p:sp>
      <p:sp>
        <p:nvSpPr>
          <p:cNvPr id="17" name="a5f_u365"/>
          <p:cNvSpPr txBox="1"/>
          <p:nvPr/>
        </p:nvSpPr>
        <p:spPr>
          <a:xfrm>
            <a:off x="4023360" y="4023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18" name="a5ud0_chip366"/>
          <p:cNvSpPr txBox="1"/>
          <p:nvPr/>
        </p:nvSpPr>
        <p:spPr>
          <a:xfrm>
            <a:off x="489204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19" name="a5ud150_chip367"/>
          <p:cNvSpPr txBox="1"/>
          <p:nvPr/>
        </p:nvSpPr>
        <p:spPr>
          <a:xfrm>
            <a:off x="608076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0" name="a5ud300_chip368"/>
          <p:cNvSpPr txBox="1"/>
          <p:nvPr/>
        </p:nvSpPr>
        <p:spPr>
          <a:xfrm>
            <a:off x="7269480" y="4023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 *</a:t>
            </a:r>
            <a:endParaRPr lang="en-US" dirty="0" sz="1100"/>
          </a:p>
        </p:txBody>
      </p:sp>
      <p:sp>
        <p:nvSpPr>
          <p:cNvPr id="21" name="a5fd400_fn369"/>
          <p:cNvSpPr txBox="1"/>
          <p:nvPr/>
        </p:nvSpPr>
        <p:spPr>
          <a:xfrm>
            <a:off x="4892040" y="446227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with a twist — covered in advanced joins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customers along with their orders, including those without orders.</a:t>
            </a:r>
            <a:endParaRPr lang="en-US" dirty="0" sz="1400"/>
          </a:p>
        </p:txBody>
      </p:sp>
      <p:sp>
        <p:nvSpPr>
          <p:cNvPr id="4" name="a1f_codebg370"/>
          <p:cNvSpPr/>
          <p:nvPr/>
        </p:nvSpPr>
        <p:spPr>
          <a:xfrm>
            <a:off x="457200" y="1645920"/>
            <a:ext cx="384048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371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372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a1wd300_code373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450_code374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600_code375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750_code376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900_code377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1050_code378"/>
          <p:cNvSpPr txBox="1"/>
          <p:nvPr/>
        </p:nvSpPr>
        <p:spPr>
          <a:xfrm>
            <a:off x="640080" y="3575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3" name="a2f_l379"/>
          <p:cNvSpPr txBox="1"/>
          <p:nvPr/>
        </p:nvSpPr>
        <p:spPr>
          <a:xfrm>
            <a:off x="46634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380"/>
          <p:cNvSpPr txBox="1"/>
          <p:nvPr/>
        </p:nvSpPr>
        <p:spPr>
          <a:xfrm>
            <a:off x="4663440" y="1920240"/>
            <a:ext cx="5486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5" name="a2wd200_cell381"/>
          <p:cNvSpPr txBox="1"/>
          <p:nvPr/>
        </p:nvSpPr>
        <p:spPr>
          <a:xfrm>
            <a:off x="4663440" y="21945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6" name="a2wd400_cell382"/>
          <p:cNvSpPr txBox="1"/>
          <p:nvPr/>
        </p:nvSpPr>
        <p:spPr>
          <a:xfrm>
            <a:off x="4663440" y="24688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7" name="a2wd600_cell383"/>
          <p:cNvSpPr txBox="1"/>
          <p:nvPr/>
        </p:nvSpPr>
        <p:spPr>
          <a:xfrm>
            <a:off x="4663440" y="27432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8" name="a2wd800_cell384"/>
          <p:cNvSpPr txBox="1"/>
          <p:nvPr/>
        </p:nvSpPr>
        <p:spPr>
          <a:xfrm>
            <a:off x="4663440" y="30175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9" name="a2wd1000_cell385"/>
          <p:cNvSpPr txBox="1"/>
          <p:nvPr/>
        </p:nvSpPr>
        <p:spPr>
          <a:xfrm>
            <a:off x="4663440" y="32918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0" name="a2f_cell386"/>
          <p:cNvSpPr txBox="1"/>
          <p:nvPr/>
        </p:nvSpPr>
        <p:spPr>
          <a:xfrm>
            <a:off x="5212080" y="19202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1" name="a2wd200_cell387"/>
          <p:cNvSpPr txBox="1"/>
          <p:nvPr/>
        </p:nvSpPr>
        <p:spPr>
          <a:xfrm>
            <a:off x="521208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2" name="a2wd400_cell388"/>
          <p:cNvSpPr txBox="1"/>
          <p:nvPr/>
        </p:nvSpPr>
        <p:spPr>
          <a:xfrm>
            <a:off x="521208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3" name="a2wd600_cell389"/>
          <p:cNvSpPr txBox="1"/>
          <p:nvPr/>
        </p:nvSpPr>
        <p:spPr>
          <a:xfrm>
            <a:off x="521208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4" name="a2wd800_cell390"/>
          <p:cNvSpPr txBox="1"/>
          <p:nvPr/>
        </p:nvSpPr>
        <p:spPr>
          <a:xfrm>
            <a:off x="5212080" y="301752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5" name="a2wd1000_cell391"/>
          <p:cNvSpPr txBox="1"/>
          <p:nvPr/>
        </p:nvSpPr>
        <p:spPr>
          <a:xfrm>
            <a:off x="5212080" y="329184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6" name="a2f_cell392"/>
          <p:cNvSpPr txBox="1"/>
          <p:nvPr/>
        </p:nvSpPr>
        <p:spPr>
          <a:xfrm>
            <a:off x="6309360" y="192024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7" name="a2wd200_cell393"/>
          <p:cNvSpPr txBox="1"/>
          <p:nvPr/>
        </p:nvSpPr>
        <p:spPr>
          <a:xfrm>
            <a:off x="630936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8" name="a2wd400_cell394"/>
          <p:cNvSpPr txBox="1"/>
          <p:nvPr/>
        </p:nvSpPr>
        <p:spPr>
          <a:xfrm>
            <a:off x="630936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9" name="a2wd600_cell395"/>
          <p:cNvSpPr txBox="1"/>
          <p:nvPr/>
        </p:nvSpPr>
        <p:spPr>
          <a:xfrm>
            <a:off x="630936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0" name="a2wd800_cell396"/>
          <p:cNvSpPr txBox="1"/>
          <p:nvPr/>
        </p:nvSpPr>
        <p:spPr>
          <a:xfrm>
            <a:off x="6309360" y="301752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1" name="a2wd1000_cell397"/>
          <p:cNvSpPr txBox="1"/>
          <p:nvPr/>
        </p:nvSpPr>
        <p:spPr>
          <a:xfrm>
            <a:off x="6309360" y="329184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2" name="a2f_cell398"/>
          <p:cNvSpPr txBox="1"/>
          <p:nvPr/>
        </p:nvSpPr>
        <p:spPr>
          <a:xfrm>
            <a:off x="7223760" y="192024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3" name="a2wd200_cell399"/>
          <p:cNvSpPr txBox="1"/>
          <p:nvPr/>
        </p:nvSpPr>
        <p:spPr>
          <a:xfrm>
            <a:off x="7223760" y="21945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4" name="a2wd400_cell400"/>
          <p:cNvSpPr txBox="1"/>
          <p:nvPr/>
        </p:nvSpPr>
        <p:spPr>
          <a:xfrm>
            <a:off x="7223760" y="24688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5" name="a2wd600_cell401"/>
          <p:cNvSpPr txBox="1"/>
          <p:nvPr/>
        </p:nvSpPr>
        <p:spPr>
          <a:xfrm>
            <a:off x="7223760" y="27432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6" name="a2wd800_cell402"/>
          <p:cNvSpPr txBox="1"/>
          <p:nvPr/>
        </p:nvSpPr>
        <p:spPr>
          <a:xfrm>
            <a:off x="7223760" y="301752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7" name="a2wd1000_cell403"/>
          <p:cNvSpPr txBox="1"/>
          <p:nvPr/>
        </p:nvSpPr>
        <p:spPr>
          <a:xfrm>
            <a:off x="7223760" y="329184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8" name="a3u_nb404"/>
          <p:cNvSpPr/>
          <p:nvPr/>
        </p:nvSpPr>
        <p:spPr>
          <a:xfrm>
            <a:off x="4663440" y="39776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9" name="a3u_ni405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206240"/>
            <a:ext cx="320040" cy="320040"/>
          </a:xfrm>
          <a:prstGeom prst="rect">
            <a:avLst/>
          </a:prstGeom>
        </p:spPr>
      </p:pic>
      <p:sp>
        <p:nvSpPr>
          <p:cNvPr id="40" name="a3u_nt406"/>
          <p:cNvSpPr txBox="1"/>
          <p:nvPr/>
        </p:nvSpPr>
        <p:spPr>
          <a:xfrm>
            <a:off x="5212080" y="3977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customers kept; missing order data shows as NULL. Swap the tables and the result changes!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LEFT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walks through the rows to build the result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(left)</a:t>
            </a:r>
            <a:endParaRPr lang="en-US" dirty="0" sz="1200"/>
          </a:p>
        </p:txBody>
      </p:sp>
      <p:sp>
        <p:nvSpPr>
          <p:cNvPr id="5" name="s_cell407"/>
          <p:cNvSpPr txBox="1"/>
          <p:nvPr/>
        </p:nvSpPr>
        <p:spPr>
          <a:xfrm>
            <a:off x="45720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6" name="s_cell408"/>
          <p:cNvSpPr txBox="1"/>
          <p:nvPr/>
        </p:nvSpPr>
        <p:spPr>
          <a:xfrm>
            <a:off x="457200" y="16916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7" name="s_cell409"/>
          <p:cNvSpPr txBox="1"/>
          <p:nvPr/>
        </p:nvSpPr>
        <p:spPr>
          <a:xfrm>
            <a:off x="457200" y="19659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8" name="s_cell410"/>
          <p:cNvSpPr txBox="1"/>
          <p:nvPr/>
        </p:nvSpPr>
        <p:spPr>
          <a:xfrm>
            <a:off x="457200" y="22402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9" name="s_cell411"/>
          <p:cNvSpPr txBox="1"/>
          <p:nvPr/>
        </p:nvSpPr>
        <p:spPr>
          <a:xfrm>
            <a:off x="457200" y="25146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0" name="s_cell412"/>
          <p:cNvSpPr txBox="1"/>
          <p:nvPr/>
        </p:nvSpPr>
        <p:spPr>
          <a:xfrm>
            <a:off x="457200" y="27889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1" name="s_cell413"/>
          <p:cNvSpPr txBox="1"/>
          <p:nvPr/>
        </p:nvSpPr>
        <p:spPr>
          <a:xfrm>
            <a:off x="868680" y="141732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2" name="s_cell414"/>
          <p:cNvSpPr txBox="1"/>
          <p:nvPr/>
        </p:nvSpPr>
        <p:spPr>
          <a:xfrm>
            <a:off x="868680" y="16916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3" name="s_cell415"/>
          <p:cNvSpPr txBox="1"/>
          <p:nvPr/>
        </p:nvSpPr>
        <p:spPr>
          <a:xfrm>
            <a:off x="868680" y="19659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4" name="s_cell416"/>
          <p:cNvSpPr txBox="1"/>
          <p:nvPr/>
        </p:nvSpPr>
        <p:spPr>
          <a:xfrm>
            <a:off x="868680" y="224028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5" name="s_cell417"/>
          <p:cNvSpPr txBox="1"/>
          <p:nvPr/>
        </p:nvSpPr>
        <p:spPr>
          <a:xfrm>
            <a:off x="868680" y="251460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6" name="s_cell418"/>
          <p:cNvSpPr txBox="1"/>
          <p:nvPr/>
        </p:nvSpPr>
        <p:spPr>
          <a:xfrm>
            <a:off x="868680" y="278892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7" name="Text 15"/>
          <p:cNvSpPr txBox="1"/>
          <p:nvPr/>
        </p:nvSpPr>
        <p:spPr>
          <a:xfrm>
            <a:off x="29260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(right)</a:t>
            </a:r>
            <a:endParaRPr lang="en-US" dirty="0" sz="1200"/>
          </a:p>
        </p:txBody>
      </p:sp>
      <p:sp>
        <p:nvSpPr>
          <p:cNvPr id="18" name="s_cell419"/>
          <p:cNvSpPr txBox="1"/>
          <p:nvPr/>
        </p:nvSpPr>
        <p:spPr>
          <a:xfrm>
            <a:off x="292608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19" name="s_cell420"/>
          <p:cNvSpPr txBox="1"/>
          <p:nvPr/>
        </p:nvSpPr>
        <p:spPr>
          <a:xfrm>
            <a:off x="2926080" y="169164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0" name="s_cell421"/>
          <p:cNvSpPr txBox="1"/>
          <p:nvPr/>
        </p:nvSpPr>
        <p:spPr>
          <a:xfrm>
            <a:off x="2926080" y="1965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1" name="s_cell422"/>
          <p:cNvSpPr txBox="1"/>
          <p:nvPr/>
        </p:nvSpPr>
        <p:spPr>
          <a:xfrm>
            <a:off x="2926080" y="22402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22" name="s_cell423"/>
          <p:cNvSpPr txBox="1"/>
          <p:nvPr/>
        </p:nvSpPr>
        <p:spPr>
          <a:xfrm>
            <a:off x="2926080" y="25146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23" name="s_cell424"/>
          <p:cNvSpPr txBox="1"/>
          <p:nvPr/>
        </p:nvSpPr>
        <p:spPr>
          <a:xfrm>
            <a:off x="3657600" y="1417320"/>
            <a:ext cx="8686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24" name="s_cell425"/>
          <p:cNvSpPr txBox="1"/>
          <p:nvPr/>
        </p:nvSpPr>
        <p:spPr>
          <a:xfrm>
            <a:off x="3657600" y="1691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5" name="s_cell426"/>
          <p:cNvSpPr txBox="1"/>
          <p:nvPr/>
        </p:nvSpPr>
        <p:spPr>
          <a:xfrm>
            <a:off x="3657600" y="19659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6" name="s_cell427"/>
          <p:cNvSpPr txBox="1"/>
          <p:nvPr/>
        </p:nvSpPr>
        <p:spPr>
          <a:xfrm>
            <a:off x="3657600" y="22402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7" name="s_cell428"/>
          <p:cNvSpPr txBox="1"/>
          <p:nvPr/>
        </p:nvSpPr>
        <p:spPr>
          <a:xfrm>
            <a:off x="3657600" y="25146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28" name="s_cell429"/>
          <p:cNvSpPr txBox="1"/>
          <p:nvPr/>
        </p:nvSpPr>
        <p:spPr>
          <a:xfrm>
            <a:off x="452628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29" name="s_cell430"/>
          <p:cNvSpPr txBox="1"/>
          <p:nvPr/>
        </p:nvSpPr>
        <p:spPr>
          <a:xfrm>
            <a:off x="4526280" y="16916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0" name="s_cell431"/>
          <p:cNvSpPr txBox="1"/>
          <p:nvPr/>
        </p:nvSpPr>
        <p:spPr>
          <a:xfrm>
            <a:off x="4526280" y="19659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1" name="s_cell432"/>
          <p:cNvSpPr txBox="1"/>
          <p:nvPr/>
        </p:nvSpPr>
        <p:spPr>
          <a:xfrm>
            <a:off x="4526280" y="22402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2" name="s_cell433"/>
          <p:cNvSpPr txBox="1"/>
          <p:nvPr/>
        </p:nvSpPr>
        <p:spPr>
          <a:xfrm>
            <a:off x="4526280" y="25146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33" name="Text 31"/>
          <p:cNvSpPr txBox="1"/>
          <p:nvPr/>
        </p:nvSpPr>
        <p:spPr>
          <a:xfrm>
            <a:off x="557784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4" name="s_cell434"/>
          <p:cNvSpPr txBox="1"/>
          <p:nvPr/>
        </p:nvSpPr>
        <p:spPr>
          <a:xfrm>
            <a:off x="557784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35" name="s_cell435"/>
          <p:cNvSpPr txBox="1"/>
          <p:nvPr/>
        </p:nvSpPr>
        <p:spPr>
          <a:xfrm>
            <a:off x="598932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36" name="s_cell436"/>
          <p:cNvSpPr txBox="1"/>
          <p:nvPr/>
        </p:nvSpPr>
        <p:spPr>
          <a:xfrm>
            <a:off x="690372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7" name="s_cell437"/>
          <p:cNvSpPr txBox="1"/>
          <p:nvPr/>
        </p:nvSpPr>
        <p:spPr>
          <a:xfrm>
            <a:off x="763524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8" name="Shape 36"/>
          <p:cNvSpPr/>
          <p:nvPr/>
        </p:nvSpPr>
        <p:spPr>
          <a:xfrm>
            <a:off x="457200" y="3291840"/>
            <a:ext cx="5074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0080" y="33467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1000"/>
          </a:p>
        </p:txBody>
      </p:sp>
      <p:sp>
        <p:nvSpPr>
          <p:cNvPr id="40" name="a1w_cell438"/>
          <p:cNvSpPr txBox="1"/>
          <p:nvPr/>
        </p:nvSpPr>
        <p:spPr>
          <a:xfrm>
            <a:off x="5577840" y="169164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1" name="a1w_cell439"/>
          <p:cNvSpPr txBox="1"/>
          <p:nvPr/>
        </p:nvSpPr>
        <p:spPr>
          <a:xfrm>
            <a:off x="5989320" y="169164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42" name="a2w_conn440"/>
          <p:cNvSpPr/>
          <p:nvPr/>
        </p:nvSpPr>
        <p:spPr>
          <a:xfrm>
            <a:off x="1874520" y="182880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3" name="a2fd250_cell441"/>
          <p:cNvSpPr txBox="1"/>
          <p:nvPr/>
        </p:nvSpPr>
        <p:spPr>
          <a:xfrm>
            <a:off x="6903720" y="169164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44" name="a2fd250_cell442"/>
          <p:cNvSpPr txBox="1"/>
          <p:nvPr/>
        </p:nvSpPr>
        <p:spPr>
          <a:xfrm>
            <a:off x="7635240" y="169164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5" name="a2fd250_log443"/>
          <p:cNvSpPr txBox="1"/>
          <p:nvPr/>
        </p:nvSpPr>
        <p:spPr>
          <a:xfrm>
            <a:off x="640080" y="3584448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Maria → search orders →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1001 found</a:t>
            </a:r>
            <a:endParaRPr lang="en-US" dirty="0" sz="1100"/>
          </a:p>
        </p:txBody>
      </p:sp>
      <p:sp>
        <p:nvSpPr>
          <p:cNvPr id="46" name="a3w_cell444"/>
          <p:cNvSpPr txBox="1"/>
          <p:nvPr/>
        </p:nvSpPr>
        <p:spPr>
          <a:xfrm>
            <a:off x="5577840" y="196596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7" name="a3w_cell445"/>
          <p:cNvSpPr txBox="1"/>
          <p:nvPr/>
        </p:nvSpPr>
        <p:spPr>
          <a:xfrm>
            <a:off x="5989320" y="196596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48" name="a4w_conn446"/>
          <p:cNvSpPr/>
          <p:nvPr/>
        </p:nvSpPr>
        <p:spPr>
          <a:xfrm>
            <a:off x="1874520" y="210312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9" name="a4fd250_cell447"/>
          <p:cNvSpPr txBox="1"/>
          <p:nvPr/>
        </p:nvSpPr>
        <p:spPr>
          <a:xfrm>
            <a:off x="6903720" y="196596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50" name="a4fd250_cell448"/>
          <p:cNvSpPr txBox="1"/>
          <p:nvPr/>
        </p:nvSpPr>
        <p:spPr>
          <a:xfrm>
            <a:off x="7635240" y="196596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51" name="a4fd250_log449"/>
          <p:cNvSpPr txBox="1"/>
          <p:nvPr/>
        </p:nvSpPr>
        <p:spPr>
          <a:xfrm>
            <a:off x="640080" y="38313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John → search orders →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1002 found</a:t>
            </a:r>
            <a:endParaRPr lang="en-US" dirty="0" sz="1100"/>
          </a:p>
        </p:txBody>
      </p:sp>
      <p:sp>
        <p:nvSpPr>
          <p:cNvPr id="52" name="a5w_cell450"/>
          <p:cNvSpPr txBox="1"/>
          <p:nvPr/>
        </p:nvSpPr>
        <p:spPr>
          <a:xfrm>
            <a:off x="5577840" y="224028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53" name="a5w_cell451"/>
          <p:cNvSpPr txBox="1"/>
          <p:nvPr/>
        </p:nvSpPr>
        <p:spPr>
          <a:xfrm>
            <a:off x="5989320" y="22402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54" name="a6w_conn452"/>
          <p:cNvSpPr/>
          <p:nvPr/>
        </p:nvSpPr>
        <p:spPr>
          <a:xfrm>
            <a:off x="1874520" y="237744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a6fd250_cell453"/>
          <p:cNvSpPr txBox="1"/>
          <p:nvPr/>
        </p:nvSpPr>
        <p:spPr>
          <a:xfrm>
            <a:off x="6903720" y="224028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56" name="a6fd250_cell454"/>
          <p:cNvSpPr txBox="1"/>
          <p:nvPr/>
        </p:nvSpPr>
        <p:spPr>
          <a:xfrm>
            <a:off x="7635240" y="224028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57" name="a6fd250_log455"/>
          <p:cNvSpPr txBox="1"/>
          <p:nvPr/>
        </p:nvSpPr>
        <p:spPr>
          <a:xfrm>
            <a:off x="640080" y="4078224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Georg → search orders →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1003 found</a:t>
            </a:r>
            <a:endParaRPr lang="en-US" dirty="0" sz="1100"/>
          </a:p>
        </p:txBody>
      </p:sp>
      <p:sp>
        <p:nvSpPr>
          <p:cNvPr id="58" name="a7w_cell456"/>
          <p:cNvSpPr txBox="1"/>
          <p:nvPr/>
        </p:nvSpPr>
        <p:spPr>
          <a:xfrm>
            <a:off x="5577840" y="251460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59" name="a7w_cell457"/>
          <p:cNvSpPr txBox="1"/>
          <p:nvPr/>
        </p:nvSpPr>
        <p:spPr>
          <a:xfrm>
            <a:off x="5989320" y="251460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60" name="a8f_x458"/>
          <p:cNvSpPr txBox="1"/>
          <p:nvPr/>
        </p:nvSpPr>
        <p:spPr>
          <a:xfrm>
            <a:off x="2057400" y="253288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61" name="a8fd250_cell459"/>
          <p:cNvSpPr txBox="1"/>
          <p:nvPr/>
        </p:nvSpPr>
        <p:spPr>
          <a:xfrm>
            <a:off x="6903720" y="251460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2" name="a8fd250_cell460"/>
          <p:cNvSpPr txBox="1"/>
          <p:nvPr/>
        </p:nvSpPr>
        <p:spPr>
          <a:xfrm>
            <a:off x="7635240" y="251460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3" name="a8fd250_log461"/>
          <p:cNvSpPr txBox="1"/>
          <p:nvPr/>
        </p:nvSpPr>
        <p:spPr>
          <a:xfrm>
            <a:off x="640080" y="4325112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Martin → search orders →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→ NULL</a:t>
            </a:r>
            <a:endParaRPr lang="en-US" dirty="0" sz="1100"/>
          </a:p>
        </p:txBody>
      </p:sp>
      <p:sp>
        <p:nvSpPr>
          <p:cNvPr id="64" name="a9w_cell462"/>
          <p:cNvSpPr txBox="1"/>
          <p:nvPr/>
        </p:nvSpPr>
        <p:spPr>
          <a:xfrm>
            <a:off x="5577840" y="278892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65" name="a9w_cell463"/>
          <p:cNvSpPr txBox="1"/>
          <p:nvPr/>
        </p:nvSpPr>
        <p:spPr>
          <a:xfrm>
            <a:off x="5989320" y="278892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66" name="a10f_x464"/>
          <p:cNvSpPr txBox="1"/>
          <p:nvPr/>
        </p:nvSpPr>
        <p:spPr>
          <a:xfrm>
            <a:off x="2057400" y="280720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67" name="a10fd250_cell465"/>
          <p:cNvSpPr txBox="1"/>
          <p:nvPr/>
        </p:nvSpPr>
        <p:spPr>
          <a:xfrm>
            <a:off x="6903720" y="278892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8" name="a10fd250_cell466"/>
          <p:cNvSpPr txBox="1"/>
          <p:nvPr/>
        </p:nvSpPr>
        <p:spPr>
          <a:xfrm>
            <a:off x="7635240" y="278892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9" name="a10fd250_log467"/>
          <p:cNvSpPr txBox="1"/>
          <p:nvPr/>
        </p:nvSpPr>
        <p:spPr>
          <a:xfrm>
            <a:off x="640080" y="457200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Peter → search orders →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→ NULL</a:t>
            </a:r>
            <a:endParaRPr lang="en-US" dirty="0" sz="1100"/>
          </a:p>
        </p:txBody>
      </p:sp>
      <p:sp>
        <p:nvSpPr>
          <p:cNvPr id="70" name="a11u_tb468"/>
          <p:cNvSpPr/>
          <p:nvPr/>
        </p:nvSpPr>
        <p:spPr>
          <a:xfrm>
            <a:off x="5760720" y="36118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71" name="a11u_tt469"/>
          <p:cNvSpPr txBox="1"/>
          <p:nvPr/>
        </p:nvSpPr>
        <p:spPr>
          <a:xfrm>
            <a:off x="5943600" y="3611880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left row is kept without any check. Missing right-side data becomes NULL.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470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dirty="0" sz="6000"/>
          </a:p>
        </p:txBody>
      </p:sp>
      <p:sp>
        <p:nvSpPr>
          <p:cNvPr id="3" name="a0ud200_h471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</a:t>
            </a:r>
            <a:endParaRPr lang="en-US" dirty="0" sz="4400"/>
          </a:p>
        </p:txBody>
      </p:sp>
      <p:sp>
        <p:nvSpPr>
          <p:cNvPr id="4" name="a0fd450_t472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the right, matches from the left</a:t>
            </a:r>
            <a:endParaRPr lang="en-US" dirty="0" sz="1700"/>
          </a:p>
        </p:txBody>
      </p:sp>
      <p:pic>
        <p:nvPicPr>
          <p:cNvPr id="5" name="a0fd300_v473" descr="6cc4d5e552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— The Concept</a:t>
            </a:r>
            <a:endParaRPr lang="en-US" dirty="0" sz="2800"/>
          </a:p>
        </p:txBody>
      </p:sp>
      <p:pic>
        <p:nvPicPr>
          <p:cNvPr id="3" name="Image 0" descr="3f3325626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108960" cy="1969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table</a:t>
            </a:r>
            <a:endParaRPr lang="en-US" dirty="0" sz="1100"/>
          </a:p>
        </p:txBody>
      </p:sp>
      <p:sp>
        <p:nvSpPr>
          <p:cNvPr id="5" name="Text 2"/>
          <p:cNvSpPr txBox="1"/>
          <p:nvPr/>
        </p:nvSpPr>
        <p:spPr>
          <a:xfrm>
            <a:off x="210312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table</a:t>
            </a:r>
            <a:endParaRPr lang="en-US" dirty="0" sz="1100"/>
          </a:p>
        </p:txBody>
      </p:sp>
      <p:sp>
        <p:nvSpPr>
          <p:cNvPr id="6" name="a1u_pill474"/>
          <p:cNvSpPr txBox="1"/>
          <p:nvPr/>
        </p:nvSpPr>
        <p:spPr>
          <a:xfrm>
            <a:off x="457200" y="333756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· extra data</a:t>
            </a:r>
            <a:endParaRPr lang="en-US" dirty="0" sz="1200"/>
          </a:p>
        </p:txBody>
      </p:sp>
      <p:sp>
        <p:nvSpPr>
          <p:cNvPr id="7" name="a2u_pill475"/>
          <p:cNvSpPr txBox="1"/>
          <p:nvPr/>
        </p:nvSpPr>
        <p:spPr>
          <a:xfrm>
            <a:off x="457200" y="388620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· primary source</a:t>
            </a:r>
            <a:endParaRPr lang="en-US" dirty="0" sz="1200"/>
          </a:p>
        </p:txBody>
      </p:sp>
      <p:sp>
        <p:nvSpPr>
          <p:cNvPr id="8" name="Text 5"/>
          <p:cNvSpPr txBox="1"/>
          <p:nvPr/>
        </p:nvSpPr>
        <p:spPr>
          <a:xfrm>
            <a:off x="4023360" y="960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the right table and only the matching rows from the left.</a:t>
            </a:r>
            <a:endParaRPr lang="en-US" dirty="0" sz="1600"/>
          </a:p>
        </p:txBody>
      </p:sp>
      <p:sp>
        <p:nvSpPr>
          <p:cNvPr id="9" name="a3f_codebg476"/>
          <p:cNvSpPr/>
          <p:nvPr/>
        </p:nvSpPr>
        <p:spPr>
          <a:xfrm>
            <a:off x="4023360" y="16916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0" name="a3f_codelbl477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1" name="a3wd0_code478"/>
          <p:cNvSpPr txBox="1"/>
          <p:nvPr/>
        </p:nvSpPr>
        <p:spPr>
          <a:xfrm>
            <a:off x="4206240" y="18288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2" name="a3wd350_code479"/>
          <p:cNvSpPr txBox="1"/>
          <p:nvPr/>
        </p:nvSpPr>
        <p:spPr>
          <a:xfrm>
            <a:off x="42062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3" name="a3wd700_code480"/>
          <p:cNvSpPr txBox="1"/>
          <p:nvPr/>
        </p:nvSpPr>
        <p:spPr>
          <a:xfrm>
            <a:off x="4206240" y="2377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14" name="a3wd1050_code481"/>
          <p:cNvSpPr txBox="1"/>
          <p:nvPr/>
        </p:nvSpPr>
        <p:spPr>
          <a:xfrm>
            <a:off x="4206240" y="26517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15" name="a4f_cb482"/>
          <p:cNvSpPr/>
          <p:nvPr/>
        </p:nvSpPr>
        <p:spPr>
          <a:xfrm>
            <a:off x="4023360" y="3200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16" name="a4f_ct483"/>
          <p:cNvSpPr txBox="1"/>
          <p:nvPr/>
        </p:nvSpPr>
        <p:spPr>
          <a:xfrm>
            <a:off x="4206240" y="32004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matters!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after RIGHT JOIN is the one returned in full.</a:t>
            </a:r>
            <a:endParaRPr lang="en-US" dirty="0" sz="1200"/>
          </a:p>
        </p:txBody>
      </p:sp>
      <p:sp>
        <p:nvSpPr>
          <p:cNvPr id="17" name="a5f_u484"/>
          <p:cNvSpPr txBox="1"/>
          <p:nvPr/>
        </p:nvSpPr>
        <p:spPr>
          <a:xfrm>
            <a:off x="4023360" y="4023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18" name="a5ud0_chip485"/>
          <p:cNvSpPr txBox="1"/>
          <p:nvPr/>
        </p:nvSpPr>
        <p:spPr>
          <a:xfrm>
            <a:off x="489204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19" name="a5ud150_chip486"/>
          <p:cNvSpPr txBox="1"/>
          <p:nvPr/>
        </p:nvSpPr>
        <p:spPr>
          <a:xfrm>
            <a:off x="608076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0" name="a5ud300_chip487"/>
          <p:cNvSpPr txBox="1"/>
          <p:nvPr/>
        </p:nvSpPr>
        <p:spPr>
          <a:xfrm>
            <a:off x="7269480" y="4023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 *</a:t>
            </a:r>
            <a:endParaRPr lang="en-US" dirty="0" sz="1100"/>
          </a:p>
        </p:txBody>
      </p:sp>
      <p:sp>
        <p:nvSpPr>
          <p:cNvPr id="21" name="a5fd400_fn488"/>
          <p:cNvSpPr txBox="1"/>
          <p:nvPr/>
        </p:nvSpPr>
        <p:spPr>
          <a:xfrm>
            <a:off x="4892040" y="446227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with a twist — covered in advanced joins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customers along with their orders, including orders without matching customers.</a:t>
            </a:r>
            <a:endParaRPr lang="en-US" dirty="0" sz="1400"/>
          </a:p>
        </p:txBody>
      </p:sp>
      <p:sp>
        <p:nvSpPr>
          <p:cNvPr id="4" name="a1f_codebg489"/>
          <p:cNvSpPr/>
          <p:nvPr/>
        </p:nvSpPr>
        <p:spPr>
          <a:xfrm>
            <a:off x="457200" y="1645920"/>
            <a:ext cx="384048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490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491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a1wd300_code492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450_code493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600_code494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750_code495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900_code496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1050_code497"/>
          <p:cNvSpPr txBox="1"/>
          <p:nvPr/>
        </p:nvSpPr>
        <p:spPr>
          <a:xfrm>
            <a:off x="640080" y="3575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3" name="a2f_l498"/>
          <p:cNvSpPr txBox="1"/>
          <p:nvPr/>
        </p:nvSpPr>
        <p:spPr>
          <a:xfrm>
            <a:off x="46634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499"/>
          <p:cNvSpPr txBox="1"/>
          <p:nvPr/>
        </p:nvSpPr>
        <p:spPr>
          <a:xfrm>
            <a:off x="4663440" y="1920240"/>
            <a:ext cx="5486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5" name="a2wd200_cell500"/>
          <p:cNvSpPr txBox="1"/>
          <p:nvPr/>
        </p:nvSpPr>
        <p:spPr>
          <a:xfrm>
            <a:off x="4663440" y="21945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6" name="a2wd400_cell501"/>
          <p:cNvSpPr txBox="1"/>
          <p:nvPr/>
        </p:nvSpPr>
        <p:spPr>
          <a:xfrm>
            <a:off x="4663440" y="24688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7" name="a2wd600_cell502"/>
          <p:cNvSpPr txBox="1"/>
          <p:nvPr/>
        </p:nvSpPr>
        <p:spPr>
          <a:xfrm>
            <a:off x="4663440" y="27432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8" name="a2wd800_cell503"/>
          <p:cNvSpPr txBox="1"/>
          <p:nvPr/>
        </p:nvSpPr>
        <p:spPr>
          <a:xfrm>
            <a:off x="4663440" y="301752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19" name="a2f_cell504"/>
          <p:cNvSpPr txBox="1"/>
          <p:nvPr/>
        </p:nvSpPr>
        <p:spPr>
          <a:xfrm>
            <a:off x="5212080" y="19202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0" name="a2wd200_cell505"/>
          <p:cNvSpPr txBox="1"/>
          <p:nvPr/>
        </p:nvSpPr>
        <p:spPr>
          <a:xfrm>
            <a:off x="521208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1" name="a2wd400_cell506"/>
          <p:cNvSpPr txBox="1"/>
          <p:nvPr/>
        </p:nvSpPr>
        <p:spPr>
          <a:xfrm>
            <a:off x="521208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2" name="a2wd600_cell507"/>
          <p:cNvSpPr txBox="1"/>
          <p:nvPr/>
        </p:nvSpPr>
        <p:spPr>
          <a:xfrm>
            <a:off x="521208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3" name="a2wd800_cell508"/>
          <p:cNvSpPr txBox="1"/>
          <p:nvPr/>
        </p:nvSpPr>
        <p:spPr>
          <a:xfrm>
            <a:off x="5212080" y="3017520"/>
            <a:ext cx="109728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4" name="a2f_cell509"/>
          <p:cNvSpPr txBox="1"/>
          <p:nvPr/>
        </p:nvSpPr>
        <p:spPr>
          <a:xfrm>
            <a:off x="6309360" y="192024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5" name="a2wd200_cell510"/>
          <p:cNvSpPr txBox="1"/>
          <p:nvPr/>
        </p:nvSpPr>
        <p:spPr>
          <a:xfrm>
            <a:off x="630936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6" name="a2wd400_cell511"/>
          <p:cNvSpPr txBox="1"/>
          <p:nvPr/>
        </p:nvSpPr>
        <p:spPr>
          <a:xfrm>
            <a:off x="630936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7" name="a2wd600_cell512"/>
          <p:cNvSpPr txBox="1"/>
          <p:nvPr/>
        </p:nvSpPr>
        <p:spPr>
          <a:xfrm>
            <a:off x="630936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28" name="a2wd800_cell513"/>
          <p:cNvSpPr txBox="1"/>
          <p:nvPr/>
        </p:nvSpPr>
        <p:spPr>
          <a:xfrm>
            <a:off x="6309360" y="30175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29" name="a2f_cell514"/>
          <p:cNvSpPr txBox="1"/>
          <p:nvPr/>
        </p:nvSpPr>
        <p:spPr>
          <a:xfrm>
            <a:off x="7223760" y="192024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0" name="a2wd200_cell515"/>
          <p:cNvSpPr txBox="1"/>
          <p:nvPr/>
        </p:nvSpPr>
        <p:spPr>
          <a:xfrm>
            <a:off x="7223760" y="21945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1" name="a2wd400_cell516"/>
          <p:cNvSpPr txBox="1"/>
          <p:nvPr/>
        </p:nvSpPr>
        <p:spPr>
          <a:xfrm>
            <a:off x="7223760" y="24688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2" name="a2wd600_cell517"/>
          <p:cNvSpPr txBox="1"/>
          <p:nvPr/>
        </p:nvSpPr>
        <p:spPr>
          <a:xfrm>
            <a:off x="7223760" y="27432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3" name="a2wd800_cell518"/>
          <p:cNvSpPr txBox="1"/>
          <p:nvPr/>
        </p:nvSpPr>
        <p:spPr>
          <a:xfrm>
            <a:off x="7223760" y="301752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34" name="a3u_nb519"/>
          <p:cNvSpPr/>
          <p:nvPr/>
        </p:nvSpPr>
        <p:spPr>
          <a:xfrm>
            <a:off x="4663440" y="39776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5" name="a3u_ni520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206240"/>
            <a:ext cx="320040" cy="320040"/>
          </a:xfrm>
          <a:prstGeom prst="rect">
            <a:avLst/>
          </a:prstGeom>
        </p:spPr>
      </p:pic>
      <p:sp>
        <p:nvSpPr>
          <p:cNvPr id="36" name="a3u_nt521"/>
          <p:cNvSpPr txBox="1"/>
          <p:nvPr/>
        </p:nvSpPr>
        <p:spPr>
          <a:xfrm>
            <a:off x="5212080" y="3977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orders kept; order 1004 has no known customer, so the customer columns are NULL.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Solve It With LEFT JOIN Only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 — all orders plus matching customers — without RIGHT JOIN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</a:t>
            </a:r>
            <a:endParaRPr lang="en-US" dirty="0" sz="1300"/>
          </a:p>
        </p:txBody>
      </p:sp>
      <p:sp>
        <p:nvSpPr>
          <p:cNvPr id="5" name="s_codebg522"/>
          <p:cNvSpPr/>
          <p:nvPr/>
        </p:nvSpPr>
        <p:spPr>
          <a:xfrm>
            <a:off x="457200" y="1463040"/>
            <a:ext cx="37490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6" name="s_code523"/>
          <p:cNvSpPr txBox="1"/>
          <p:nvPr/>
        </p:nvSpPr>
        <p:spPr>
          <a:xfrm>
            <a:off x="640080" y="16002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s_code524"/>
          <p:cNvSpPr txBox="1"/>
          <p:nvPr/>
        </p:nvSpPr>
        <p:spPr>
          <a:xfrm>
            <a:off x="640080" y="18562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8" name="s_code525"/>
          <p:cNvSpPr txBox="1"/>
          <p:nvPr/>
        </p:nvSpPr>
        <p:spPr>
          <a:xfrm>
            <a:off x="640080" y="21122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9" name="s_code526"/>
          <p:cNvSpPr txBox="1"/>
          <p:nvPr/>
        </p:nvSpPr>
        <p:spPr>
          <a:xfrm>
            <a:off x="640080" y="2368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0" name="s_code527"/>
          <p:cNvSpPr txBox="1"/>
          <p:nvPr/>
        </p:nvSpPr>
        <p:spPr>
          <a:xfrm>
            <a:off x="640080" y="2624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1" name="a1f_eq528"/>
          <p:cNvSpPr txBox="1"/>
          <p:nvPr/>
        </p:nvSpPr>
        <p:spPr>
          <a:xfrm>
            <a:off x="4343400" y="1938528"/>
            <a:ext cx="457200" cy="457200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dirty="0" sz="2200"/>
          </a:p>
        </p:txBody>
      </p:sp>
      <p:sp>
        <p:nvSpPr>
          <p:cNvPr id="12" name="a1f_l529"/>
          <p:cNvSpPr txBox="1"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(tables swapped)</a:t>
            </a:r>
            <a:endParaRPr lang="en-US" dirty="0" sz="1300"/>
          </a:p>
        </p:txBody>
      </p:sp>
      <p:sp>
        <p:nvSpPr>
          <p:cNvPr id="13" name="a1f_codebg530"/>
          <p:cNvSpPr/>
          <p:nvPr/>
        </p:nvSpPr>
        <p:spPr>
          <a:xfrm>
            <a:off x="4937760" y="1463040"/>
            <a:ext cx="37490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4" name="a1wd0_code531"/>
          <p:cNvSpPr txBox="1"/>
          <p:nvPr/>
        </p:nvSpPr>
        <p:spPr>
          <a:xfrm>
            <a:off x="5120640" y="16002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15" name="a1wd200_code532"/>
          <p:cNvSpPr txBox="1"/>
          <p:nvPr/>
        </p:nvSpPr>
        <p:spPr>
          <a:xfrm>
            <a:off x="5120640" y="18562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6" name="a1wd400_code533"/>
          <p:cNvSpPr txBox="1"/>
          <p:nvPr/>
        </p:nvSpPr>
        <p:spPr>
          <a:xfrm>
            <a:off x="5120640" y="21122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7" name="a1wd600_code534"/>
          <p:cNvSpPr txBox="1"/>
          <p:nvPr/>
        </p:nvSpPr>
        <p:spPr>
          <a:xfrm>
            <a:off x="5120640" y="2368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8" name="a1wd800_code535"/>
          <p:cNvSpPr txBox="1"/>
          <p:nvPr/>
        </p:nvSpPr>
        <p:spPr>
          <a:xfrm>
            <a:off x="5120640" y="2624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9" name="a1fd1000_c536"/>
          <p:cNvSpPr txBox="1"/>
          <p:nvPr/>
        </p:nvSpPr>
        <p:spPr>
          <a:xfrm>
            <a:off x="493776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both the table order and the join type → identical result</a:t>
            </a:r>
            <a:endParaRPr lang="en-US" dirty="0" sz="1100"/>
          </a:p>
        </p:txBody>
      </p:sp>
      <p:sp>
        <p:nvSpPr>
          <p:cNvPr id="20" name="a2u_tb53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pic>
        <p:nvPicPr>
          <p:cNvPr id="21" name="a2u_ti538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86200"/>
            <a:ext cx="457200" cy="457200"/>
          </a:xfrm>
          <a:prstGeom prst="rect">
            <a:avLst/>
          </a:prstGeom>
        </p:spPr>
      </p:pic>
      <p:sp>
        <p:nvSpPr>
          <p:cNvPr id="22" name="a2u_tt539"/>
          <p:cNvSpPr txBox="1"/>
          <p:nvPr/>
        </p:nvSpPr>
        <p:spPr>
          <a:xfrm>
            <a:off x="1371600" y="352044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tip: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SQL developers rarely use RIGHT JOIN. Start FROM the table you need in full and LEFT JOIN the others — queries stay consistent and easier to read.</a:t>
            </a:r>
            <a:endParaRPr lang="en-US" dirty="0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540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dirty="0" sz="6000"/>
          </a:p>
        </p:txBody>
      </p:sp>
      <p:sp>
        <p:nvSpPr>
          <p:cNvPr id="3" name="a0ud200_h541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</a:t>
            </a:r>
            <a:endParaRPr lang="en-US" dirty="0" sz="4400"/>
          </a:p>
        </p:txBody>
      </p:sp>
      <p:sp>
        <p:nvSpPr>
          <p:cNvPr id="4" name="a0fd450_t542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both tables</a:t>
            </a:r>
            <a:endParaRPr lang="en-US" dirty="0" sz="1700"/>
          </a:p>
        </p:txBody>
      </p:sp>
      <p:pic>
        <p:nvPicPr>
          <p:cNvPr id="5" name="a0fd300_v543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 — The Concept</a:t>
            </a:r>
            <a:endParaRPr lang="en-US" dirty="0" sz="2800"/>
          </a:p>
        </p:txBody>
      </p:sp>
      <p:pic>
        <p:nvPicPr>
          <p:cNvPr id="3" name="Image 0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108960" cy="1969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table</a:t>
            </a:r>
            <a:endParaRPr lang="en-US" dirty="0" sz="1100"/>
          </a:p>
        </p:txBody>
      </p:sp>
      <p:sp>
        <p:nvSpPr>
          <p:cNvPr id="5" name="Text 2"/>
          <p:cNvSpPr txBox="1"/>
          <p:nvPr/>
        </p:nvSpPr>
        <p:spPr>
          <a:xfrm>
            <a:off x="210312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table</a:t>
            </a:r>
            <a:endParaRPr lang="en-US" dirty="0" sz="1100"/>
          </a:p>
        </p:txBody>
      </p:sp>
      <p:sp>
        <p:nvSpPr>
          <p:cNvPr id="6" name="a1u_pill544"/>
          <p:cNvSpPr txBox="1"/>
          <p:nvPr/>
        </p:nvSpPr>
        <p:spPr>
          <a:xfrm>
            <a:off x="457200" y="333756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</a:t>
            </a:r>
            <a:endParaRPr lang="en-US" dirty="0" sz="1200"/>
          </a:p>
        </p:txBody>
      </p:sp>
      <p:sp>
        <p:nvSpPr>
          <p:cNvPr id="7" name="a2u_pill545"/>
          <p:cNvSpPr txBox="1"/>
          <p:nvPr/>
        </p:nvSpPr>
        <p:spPr>
          <a:xfrm>
            <a:off x="457200" y="388620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</a:t>
            </a:r>
            <a:endParaRPr lang="en-US" dirty="0" sz="1200"/>
          </a:p>
        </p:txBody>
      </p:sp>
      <p:sp>
        <p:nvSpPr>
          <p:cNvPr id="8" name="Text 5"/>
          <p:cNvSpPr txBox="1"/>
          <p:nvPr/>
        </p:nvSpPr>
        <p:spPr>
          <a:xfrm>
            <a:off x="4023360" y="960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both tables — matched and unmatched.</a:t>
            </a:r>
            <a:endParaRPr lang="en-US" dirty="0" sz="1600"/>
          </a:p>
        </p:txBody>
      </p:sp>
      <p:sp>
        <p:nvSpPr>
          <p:cNvPr id="9" name="a3f_codebg546"/>
          <p:cNvSpPr/>
          <p:nvPr/>
        </p:nvSpPr>
        <p:spPr>
          <a:xfrm>
            <a:off x="4023360" y="169164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0" name="a3f_codelbl547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1" name="a3wd0_code548"/>
          <p:cNvSpPr txBox="1"/>
          <p:nvPr/>
        </p:nvSpPr>
        <p:spPr>
          <a:xfrm>
            <a:off x="4206240" y="18288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2" name="a3wd350_code549"/>
          <p:cNvSpPr txBox="1"/>
          <p:nvPr/>
        </p:nvSpPr>
        <p:spPr>
          <a:xfrm>
            <a:off x="42062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3" name="a3wd700_code550"/>
          <p:cNvSpPr txBox="1"/>
          <p:nvPr/>
        </p:nvSpPr>
        <p:spPr>
          <a:xfrm>
            <a:off x="4206240" y="2377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14" name="a3wd1050_code551"/>
          <p:cNvSpPr txBox="1"/>
          <p:nvPr/>
        </p:nvSpPr>
        <p:spPr>
          <a:xfrm>
            <a:off x="4206240" y="26517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15" name="a4f_cb552"/>
          <p:cNvSpPr/>
          <p:nvPr/>
        </p:nvSpPr>
        <p:spPr>
          <a:xfrm>
            <a:off x="4023360" y="3200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16" name="a4f_ct553"/>
          <p:cNvSpPr txBox="1"/>
          <p:nvPr/>
        </p:nvSpPr>
        <p:spPr>
          <a:xfrm>
            <a:off x="4206240" y="32004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doesn't matter: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tables are equally important. A FULL JOIN B = B FULL JOIN A.</a:t>
            </a:r>
            <a:endParaRPr lang="en-US" dirty="0" sz="1200"/>
          </a:p>
        </p:txBody>
      </p:sp>
      <p:sp>
        <p:nvSpPr>
          <p:cNvPr id="17" name="a5f_u554"/>
          <p:cNvSpPr txBox="1"/>
          <p:nvPr/>
        </p:nvSpPr>
        <p:spPr>
          <a:xfrm>
            <a:off x="4023360" y="4023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18" name="a5ud0_chip555"/>
          <p:cNvSpPr txBox="1"/>
          <p:nvPr/>
        </p:nvSpPr>
        <p:spPr>
          <a:xfrm>
            <a:off x="489204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19" name="a5ud150_chip556"/>
          <p:cNvSpPr txBox="1"/>
          <p:nvPr/>
        </p:nvSpPr>
        <p:spPr>
          <a:xfrm>
            <a:off x="6080760" y="4023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0" name="a5ud300_chip557"/>
          <p:cNvSpPr txBox="1"/>
          <p:nvPr/>
        </p:nvSpPr>
        <p:spPr>
          <a:xfrm>
            <a:off x="7269480" y="4023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 *</a:t>
            </a:r>
            <a:endParaRPr lang="en-US" dirty="0" sz="1100"/>
          </a:p>
        </p:txBody>
      </p:sp>
      <p:sp>
        <p:nvSpPr>
          <p:cNvPr id="21" name="a5fd400_fn558"/>
          <p:cNvSpPr txBox="1"/>
          <p:nvPr/>
        </p:nvSpPr>
        <p:spPr>
          <a:xfrm>
            <a:off x="4892040" y="446227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with a twist — covered in advanced joins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customers and all orders, even if there is no match.</a:t>
            </a:r>
            <a:endParaRPr lang="en-US" dirty="0" sz="1400"/>
          </a:p>
        </p:txBody>
      </p:sp>
      <p:sp>
        <p:nvSpPr>
          <p:cNvPr id="4" name="a1f_codebg559"/>
          <p:cNvSpPr/>
          <p:nvPr/>
        </p:nvSpPr>
        <p:spPr>
          <a:xfrm>
            <a:off x="457200" y="1645920"/>
            <a:ext cx="384048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560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61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a1wd300_code562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450_code563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600_code564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750_code565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900_code566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1050_code567"/>
          <p:cNvSpPr txBox="1"/>
          <p:nvPr/>
        </p:nvSpPr>
        <p:spPr>
          <a:xfrm>
            <a:off x="640080" y="3575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3" name="a2f_l568"/>
          <p:cNvSpPr txBox="1"/>
          <p:nvPr/>
        </p:nvSpPr>
        <p:spPr>
          <a:xfrm>
            <a:off x="46634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569"/>
          <p:cNvSpPr txBox="1"/>
          <p:nvPr/>
        </p:nvSpPr>
        <p:spPr>
          <a:xfrm>
            <a:off x="4663440" y="1920240"/>
            <a:ext cx="5486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5" name="a2wd200_cell570"/>
          <p:cNvSpPr txBox="1"/>
          <p:nvPr/>
        </p:nvSpPr>
        <p:spPr>
          <a:xfrm>
            <a:off x="4663440" y="21945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6" name="a2wd400_cell571"/>
          <p:cNvSpPr txBox="1"/>
          <p:nvPr/>
        </p:nvSpPr>
        <p:spPr>
          <a:xfrm>
            <a:off x="4663440" y="24688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7" name="a2wd600_cell572"/>
          <p:cNvSpPr txBox="1"/>
          <p:nvPr/>
        </p:nvSpPr>
        <p:spPr>
          <a:xfrm>
            <a:off x="4663440" y="27432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8" name="a2wd800_cell573"/>
          <p:cNvSpPr txBox="1"/>
          <p:nvPr/>
        </p:nvSpPr>
        <p:spPr>
          <a:xfrm>
            <a:off x="4663440" y="30175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9" name="a2wd1000_cell574"/>
          <p:cNvSpPr txBox="1"/>
          <p:nvPr/>
        </p:nvSpPr>
        <p:spPr>
          <a:xfrm>
            <a:off x="4663440" y="32918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0" name="a2wd1200_cell575"/>
          <p:cNvSpPr txBox="1"/>
          <p:nvPr/>
        </p:nvSpPr>
        <p:spPr>
          <a:xfrm>
            <a:off x="4663440" y="356616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1" name="a2f_cell576"/>
          <p:cNvSpPr txBox="1"/>
          <p:nvPr/>
        </p:nvSpPr>
        <p:spPr>
          <a:xfrm>
            <a:off x="5212080" y="19202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2" name="a2wd200_cell577"/>
          <p:cNvSpPr txBox="1"/>
          <p:nvPr/>
        </p:nvSpPr>
        <p:spPr>
          <a:xfrm>
            <a:off x="521208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3" name="a2wd400_cell578"/>
          <p:cNvSpPr txBox="1"/>
          <p:nvPr/>
        </p:nvSpPr>
        <p:spPr>
          <a:xfrm>
            <a:off x="521208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4" name="a2wd600_cell579"/>
          <p:cNvSpPr txBox="1"/>
          <p:nvPr/>
        </p:nvSpPr>
        <p:spPr>
          <a:xfrm>
            <a:off x="521208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5" name="a2wd800_cell580"/>
          <p:cNvSpPr txBox="1"/>
          <p:nvPr/>
        </p:nvSpPr>
        <p:spPr>
          <a:xfrm>
            <a:off x="5212080" y="301752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6" name="a2wd1000_cell581"/>
          <p:cNvSpPr txBox="1"/>
          <p:nvPr/>
        </p:nvSpPr>
        <p:spPr>
          <a:xfrm>
            <a:off x="5212080" y="329184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7" name="a2wd1200_cell582"/>
          <p:cNvSpPr txBox="1"/>
          <p:nvPr/>
        </p:nvSpPr>
        <p:spPr>
          <a:xfrm>
            <a:off x="5212080" y="3566160"/>
            <a:ext cx="109728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8" name="a2f_cell583"/>
          <p:cNvSpPr txBox="1"/>
          <p:nvPr/>
        </p:nvSpPr>
        <p:spPr>
          <a:xfrm>
            <a:off x="6309360" y="192024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9" name="a2wd200_cell584"/>
          <p:cNvSpPr txBox="1"/>
          <p:nvPr/>
        </p:nvSpPr>
        <p:spPr>
          <a:xfrm>
            <a:off x="630936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0" name="a2wd400_cell585"/>
          <p:cNvSpPr txBox="1"/>
          <p:nvPr/>
        </p:nvSpPr>
        <p:spPr>
          <a:xfrm>
            <a:off x="630936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31" name="a2wd600_cell586"/>
          <p:cNvSpPr txBox="1"/>
          <p:nvPr/>
        </p:nvSpPr>
        <p:spPr>
          <a:xfrm>
            <a:off x="630936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2" name="a2wd800_cell587"/>
          <p:cNvSpPr txBox="1"/>
          <p:nvPr/>
        </p:nvSpPr>
        <p:spPr>
          <a:xfrm>
            <a:off x="6309360" y="301752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3" name="a2wd1000_cell588"/>
          <p:cNvSpPr txBox="1"/>
          <p:nvPr/>
        </p:nvSpPr>
        <p:spPr>
          <a:xfrm>
            <a:off x="6309360" y="329184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4" name="a2wd1200_cell589"/>
          <p:cNvSpPr txBox="1"/>
          <p:nvPr/>
        </p:nvSpPr>
        <p:spPr>
          <a:xfrm>
            <a:off x="6309360" y="35661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35" name="a2f_cell590"/>
          <p:cNvSpPr txBox="1"/>
          <p:nvPr/>
        </p:nvSpPr>
        <p:spPr>
          <a:xfrm>
            <a:off x="7223760" y="192024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6" name="a2wd200_cell591"/>
          <p:cNvSpPr txBox="1"/>
          <p:nvPr/>
        </p:nvSpPr>
        <p:spPr>
          <a:xfrm>
            <a:off x="7223760" y="21945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7" name="a2wd400_cell592"/>
          <p:cNvSpPr txBox="1"/>
          <p:nvPr/>
        </p:nvSpPr>
        <p:spPr>
          <a:xfrm>
            <a:off x="7223760" y="24688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8" name="a2wd600_cell593"/>
          <p:cNvSpPr txBox="1"/>
          <p:nvPr/>
        </p:nvSpPr>
        <p:spPr>
          <a:xfrm>
            <a:off x="7223760" y="27432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9" name="a2wd800_cell594"/>
          <p:cNvSpPr txBox="1"/>
          <p:nvPr/>
        </p:nvSpPr>
        <p:spPr>
          <a:xfrm>
            <a:off x="7223760" y="301752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0" name="a2wd1000_cell595"/>
          <p:cNvSpPr txBox="1"/>
          <p:nvPr/>
        </p:nvSpPr>
        <p:spPr>
          <a:xfrm>
            <a:off x="7223760" y="329184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1" name="a2wd1200_cell596"/>
          <p:cNvSpPr txBox="1"/>
          <p:nvPr/>
        </p:nvSpPr>
        <p:spPr>
          <a:xfrm>
            <a:off x="7223760" y="35661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42" name="a3u_nb597"/>
          <p:cNvSpPr/>
          <p:nvPr/>
        </p:nvSpPr>
        <p:spPr>
          <a:xfrm>
            <a:off x="4663440" y="39776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43" name="a3u_ni598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206240"/>
            <a:ext cx="320040" cy="320040"/>
          </a:xfrm>
          <a:prstGeom prst="rect">
            <a:avLst/>
          </a:prstGeom>
        </p:spPr>
      </p:pic>
      <p:sp>
        <p:nvSpPr>
          <p:cNvPr id="44" name="a3u_nt599"/>
          <p:cNvSpPr txBox="1"/>
          <p:nvPr/>
        </p:nvSpPr>
        <p:spPr>
          <a:xfrm>
            <a:off x="5212080" y="3977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lost on either side — NULLs fill every gap where a match is missing.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FULL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walks through the rows to build the result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(left)</a:t>
            </a:r>
            <a:endParaRPr lang="en-US" dirty="0" sz="1200"/>
          </a:p>
        </p:txBody>
      </p:sp>
      <p:sp>
        <p:nvSpPr>
          <p:cNvPr id="5" name="s_cell600"/>
          <p:cNvSpPr txBox="1"/>
          <p:nvPr/>
        </p:nvSpPr>
        <p:spPr>
          <a:xfrm>
            <a:off x="45720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6" name="s_cell601"/>
          <p:cNvSpPr txBox="1"/>
          <p:nvPr/>
        </p:nvSpPr>
        <p:spPr>
          <a:xfrm>
            <a:off x="457200" y="16916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7" name="s_cell602"/>
          <p:cNvSpPr txBox="1"/>
          <p:nvPr/>
        </p:nvSpPr>
        <p:spPr>
          <a:xfrm>
            <a:off x="457200" y="19659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8" name="s_cell603"/>
          <p:cNvSpPr txBox="1"/>
          <p:nvPr/>
        </p:nvSpPr>
        <p:spPr>
          <a:xfrm>
            <a:off x="457200" y="22402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9" name="s_cell604"/>
          <p:cNvSpPr txBox="1"/>
          <p:nvPr/>
        </p:nvSpPr>
        <p:spPr>
          <a:xfrm>
            <a:off x="457200" y="25146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0" name="s_cell605"/>
          <p:cNvSpPr txBox="1"/>
          <p:nvPr/>
        </p:nvSpPr>
        <p:spPr>
          <a:xfrm>
            <a:off x="457200" y="27889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1" name="s_cell606"/>
          <p:cNvSpPr txBox="1"/>
          <p:nvPr/>
        </p:nvSpPr>
        <p:spPr>
          <a:xfrm>
            <a:off x="868680" y="141732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2" name="s_cell607"/>
          <p:cNvSpPr txBox="1"/>
          <p:nvPr/>
        </p:nvSpPr>
        <p:spPr>
          <a:xfrm>
            <a:off x="868680" y="16916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3" name="s_cell608"/>
          <p:cNvSpPr txBox="1"/>
          <p:nvPr/>
        </p:nvSpPr>
        <p:spPr>
          <a:xfrm>
            <a:off x="868680" y="19659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4" name="s_cell609"/>
          <p:cNvSpPr txBox="1"/>
          <p:nvPr/>
        </p:nvSpPr>
        <p:spPr>
          <a:xfrm>
            <a:off x="868680" y="224028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5" name="s_cell610"/>
          <p:cNvSpPr txBox="1"/>
          <p:nvPr/>
        </p:nvSpPr>
        <p:spPr>
          <a:xfrm>
            <a:off x="868680" y="251460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6" name="s_cell611"/>
          <p:cNvSpPr txBox="1"/>
          <p:nvPr/>
        </p:nvSpPr>
        <p:spPr>
          <a:xfrm>
            <a:off x="868680" y="278892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7" name="Text 15"/>
          <p:cNvSpPr txBox="1"/>
          <p:nvPr/>
        </p:nvSpPr>
        <p:spPr>
          <a:xfrm>
            <a:off x="29260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(right)</a:t>
            </a:r>
            <a:endParaRPr lang="en-US" dirty="0" sz="1200"/>
          </a:p>
        </p:txBody>
      </p:sp>
      <p:sp>
        <p:nvSpPr>
          <p:cNvPr id="18" name="s_cell612"/>
          <p:cNvSpPr txBox="1"/>
          <p:nvPr/>
        </p:nvSpPr>
        <p:spPr>
          <a:xfrm>
            <a:off x="292608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19" name="s_cell613"/>
          <p:cNvSpPr txBox="1"/>
          <p:nvPr/>
        </p:nvSpPr>
        <p:spPr>
          <a:xfrm>
            <a:off x="2926080" y="169164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0" name="s_cell614"/>
          <p:cNvSpPr txBox="1"/>
          <p:nvPr/>
        </p:nvSpPr>
        <p:spPr>
          <a:xfrm>
            <a:off x="2926080" y="1965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1" name="s_cell615"/>
          <p:cNvSpPr txBox="1"/>
          <p:nvPr/>
        </p:nvSpPr>
        <p:spPr>
          <a:xfrm>
            <a:off x="2926080" y="22402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22" name="s_cell616"/>
          <p:cNvSpPr txBox="1"/>
          <p:nvPr/>
        </p:nvSpPr>
        <p:spPr>
          <a:xfrm>
            <a:off x="2926080" y="25146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23" name="s_cell617"/>
          <p:cNvSpPr txBox="1"/>
          <p:nvPr/>
        </p:nvSpPr>
        <p:spPr>
          <a:xfrm>
            <a:off x="3657600" y="1417320"/>
            <a:ext cx="8686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24" name="s_cell618"/>
          <p:cNvSpPr txBox="1"/>
          <p:nvPr/>
        </p:nvSpPr>
        <p:spPr>
          <a:xfrm>
            <a:off x="3657600" y="1691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5" name="s_cell619"/>
          <p:cNvSpPr txBox="1"/>
          <p:nvPr/>
        </p:nvSpPr>
        <p:spPr>
          <a:xfrm>
            <a:off x="3657600" y="19659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6" name="s_cell620"/>
          <p:cNvSpPr txBox="1"/>
          <p:nvPr/>
        </p:nvSpPr>
        <p:spPr>
          <a:xfrm>
            <a:off x="3657600" y="22402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7" name="s_cell621"/>
          <p:cNvSpPr txBox="1"/>
          <p:nvPr/>
        </p:nvSpPr>
        <p:spPr>
          <a:xfrm>
            <a:off x="3657600" y="25146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28" name="s_cell622"/>
          <p:cNvSpPr txBox="1"/>
          <p:nvPr/>
        </p:nvSpPr>
        <p:spPr>
          <a:xfrm>
            <a:off x="452628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29" name="s_cell623"/>
          <p:cNvSpPr txBox="1"/>
          <p:nvPr/>
        </p:nvSpPr>
        <p:spPr>
          <a:xfrm>
            <a:off x="4526280" y="16916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0" name="s_cell624"/>
          <p:cNvSpPr txBox="1"/>
          <p:nvPr/>
        </p:nvSpPr>
        <p:spPr>
          <a:xfrm>
            <a:off x="4526280" y="19659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1" name="s_cell625"/>
          <p:cNvSpPr txBox="1"/>
          <p:nvPr/>
        </p:nvSpPr>
        <p:spPr>
          <a:xfrm>
            <a:off x="4526280" y="22402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2" name="s_cell626"/>
          <p:cNvSpPr txBox="1"/>
          <p:nvPr/>
        </p:nvSpPr>
        <p:spPr>
          <a:xfrm>
            <a:off x="4526280" y="25146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33" name="Text 31"/>
          <p:cNvSpPr txBox="1"/>
          <p:nvPr/>
        </p:nvSpPr>
        <p:spPr>
          <a:xfrm>
            <a:off x="557784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4" name="s_cell627"/>
          <p:cNvSpPr txBox="1"/>
          <p:nvPr/>
        </p:nvSpPr>
        <p:spPr>
          <a:xfrm>
            <a:off x="557784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35" name="s_cell628"/>
          <p:cNvSpPr txBox="1"/>
          <p:nvPr/>
        </p:nvSpPr>
        <p:spPr>
          <a:xfrm>
            <a:off x="598932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36" name="s_cell629"/>
          <p:cNvSpPr txBox="1"/>
          <p:nvPr/>
        </p:nvSpPr>
        <p:spPr>
          <a:xfrm>
            <a:off x="690372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7" name="s_cell630"/>
          <p:cNvSpPr txBox="1"/>
          <p:nvPr/>
        </p:nvSpPr>
        <p:spPr>
          <a:xfrm>
            <a:off x="7635240" y="141732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8" name="Shape 36"/>
          <p:cNvSpPr/>
          <p:nvPr/>
        </p:nvSpPr>
        <p:spPr>
          <a:xfrm>
            <a:off x="457200" y="3291840"/>
            <a:ext cx="5074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0080" y="33467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1000"/>
          </a:p>
        </p:txBody>
      </p:sp>
      <p:sp>
        <p:nvSpPr>
          <p:cNvPr id="40" name="a1wd0_cell631"/>
          <p:cNvSpPr txBox="1"/>
          <p:nvPr/>
        </p:nvSpPr>
        <p:spPr>
          <a:xfrm>
            <a:off x="5577840" y="169164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1" name="a1wd0_cell632"/>
          <p:cNvSpPr txBox="1"/>
          <p:nvPr/>
        </p:nvSpPr>
        <p:spPr>
          <a:xfrm>
            <a:off x="5989320" y="169164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42" name="a1wd120_cell633"/>
          <p:cNvSpPr txBox="1"/>
          <p:nvPr/>
        </p:nvSpPr>
        <p:spPr>
          <a:xfrm>
            <a:off x="5577840" y="196596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3" name="a1wd120_cell634"/>
          <p:cNvSpPr txBox="1"/>
          <p:nvPr/>
        </p:nvSpPr>
        <p:spPr>
          <a:xfrm>
            <a:off x="5989320" y="196596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44" name="a1wd240_cell635"/>
          <p:cNvSpPr txBox="1"/>
          <p:nvPr/>
        </p:nvSpPr>
        <p:spPr>
          <a:xfrm>
            <a:off x="5577840" y="224028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45" name="a1wd240_cell636"/>
          <p:cNvSpPr txBox="1"/>
          <p:nvPr/>
        </p:nvSpPr>
        <p:spPr>
          <a:xfrm>
            <a:off x="5989320" y="22402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46" name="a1wd360_cell637"/>
          <p:cNvSpPr txBox="1"/>
          <p:nvPr/>
        </p:nvSpPr>
        <p:spPr>
          <a:xfrm>
            <a:off x="5577840" y="251460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47" name="a1wd360_cell638"/>
          <p:cNvSpPr txBox="1"/>
          <p:nvPr/>
        </p:nvSpPr>
        <p:spPr>
          <a:xfrm>
            <a:off x="5989320" y="251460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48" name="a1wd480_cell639"/>
          <p:cNvSpPr txBox="1"/>
          <p:nvPr/>
        </p:nvSpPr>
        <p:spPr>
          <a:xfrm>
            <a:off x="5577840" y="278892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49" name="a1wd480_cell640"/>
          <p:cNvSpPr txBox="1"/>
          <p:nvPr/>
        </p:nvSpPr>
        <p:spPr>
          <a:xfrm>
            <a:off x="5989320" y="278892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50" name="a1fd300_log641"/>
          <p:cNvSpPr txBox="1"/>
          <p:nvPr/>
        </p:nvSpPr>
        <p:spPr>
          <a:xfrm>
            <a:off x="640080" y="3584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Take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</a:t>
            </a: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left table (customers)</a:t>
            </a:r>
            <a:endParaRPr lang="en-US" dirty="0" sz="1100"/>
          </a:p>
        </p:txBody>
      </p:sp>
      <p:sp>
        <p:nvSpPr>
          <p:cNvPr id="51" name="a2w_conn642"/>
          <p:cNvSpPr/>
          <p:nvPr/>
        </p:nvSpPr>
        <p:spPr>
          <a:xfrm>
            <a:off x="1874520" y="182880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2" name="a2fd200_cell643"/>
          <p:cNvSpPr txBox="1"/>
          <p:nvPr/>
        </p:nvSpPr>
        <p:spPr>
          <a:xfrm>
            <a:off x="6903720" y="169164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53" name="a2fd200_cell644"/>
          <p:cNvSpPr txBox="1"/>
          <p:nvPr/>
        </p:nvSpPr>
        <p:spPr>
          <a:xfrm>
            <a:off x="7635240" y="169164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54" name="a2w_conn645"/>
          <p:cNvSpPr/>
          <p:nvPr/>
        </p:nvSpPr>
        <p:spPr>
          <a:xfrm>
            <a:off x="1874520" y="210312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a2fd350_cell646"/>
          <p:cNvSpPr txBox="1"/>
          <p:nvPr/>
        </p:nvSpPr>
        <p:spPr>
          <a:xfrm>
            <a:off x="6903720" y="196596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56" name="a2fd350_cell647"/>
          <p:cNvSpPr txBox="1"/>
          <p:nvPr/>
        </p:nvSpPr>
        <p:spPr>
          <a:xfrm>
            <a:off x="7635240" y="196596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57" name="a2w_conn648"/>
          <p:cNvSpPr/>
          <p:nvPr/>
        </p:nvSpPr>
        <p:spPr>
          <a:xfrm>
            <a:off x="1874520" y="2377440"/>
            <a:ext cx="1033272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8" name="a2fd500_cell649"/>
          <p:cNvSpPr txBox="1"/>
          <p:nvPr/>
        </p:nvSpPr>
        <p:spPr>
          <a:xfrm>
            <a:off x="6903720" y="224028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59" name="a2fd500_cell650"/>
          <p:cNvSpPr txBox="1"/>
          <p:nvPr/>
        </p:nvSpPr>
        <p:spPr>
          <a:xfrm>
            <a:off x="7635240" y="224028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60" name="a2fd500_log651"/>
          <p:cNvSpPr txBox="1"/>
          <p:nvPr/>
        </p:nvSpPr>
        <p:spPr>
          <a:xfrm>
            <a:off x="64008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Customers 1–3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order data filled in</a:t>
            </a:r>
            <a:endParaRPr lang="en-US" dirty="0" sz="1100"/>
          </a:p>
        </p:txBody>
      </p:sp>
      <p:sp>
        <p:nvSpPr>
          <p:cNvPr id="61" name="a3f_x652"/>
          <p:cNvSpPr txBox="1"/>
          <p:nvPr/>
        </p:nvSpPr>
        <p:spPr>
          <a:xfrm>
            <a:off x="2057400" y="253288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62" name="a3fd200_cell653"/>
          <p:cNvSpPr txBox="1"/>
          <p:nvPr/>
        </p:nvSpPr>
        <p:spPr>
          <a:xfrm>
            <a:off x="6903720" y="251460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3" name="a3fd200_cell654"/>
          <p:cNvSpPr txBox="1"/>
          <p:nvPr/>
        </p:nvSpPr>
        <p:spPr>
          <a:xfrm>
            <a:off x="7635240" y="251460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4" name="a3f_x655"/>
          <p:cNvSpPr txBox="1"/>
          <p:nvPr/>
        </p:nvSpPr>
        <p:spPr>
          <a:xfrm>
            <a:off x="2057400" y="2807208"/>
            <a:ext cx="237744" cy="237744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000"/>
          </a:p>
        </p:txBody>
      </p:sp>
      <p:sp>
        <p:nvSpPr>
          <p:cNvPr id="65" name="a3fd200_cell656"/>
          <p:cNvSpPr txBox="1"/>
          <p:nvPr/>
        </p:nvSpPr>
        <p:spPr>
          <a:xfrm>
            <a:off x="6903720" y="2788920"/>
            <a:ext cx="73152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6" name="a3fd200_cell657"/>
          <p:cNvSpPr txBox="1"/>
          <p:nvPr/>
        </p:nvSpPr>
        <p:spPr>
          <a:xfrm>
            <a:off x="7635240" y="278892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67" name="a3fd300_log658"/>
          <p:cNvSpPr txBox="1"/>
          <p:nvPr/>
        </p:nvSpPr>
        <p:spPr>
          <a:xfrm>
            <a:off x="640080" y="416966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Martin &amp; Peter: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order → NULL</a:t>
            </a:r>
            <a:endParaRPr lang="en-US" dirty="0" sz="1100"/>
          </a:p>
        </p:txBody>
      </p:sp>
      <p:sp>
        <p:nvSpPr>
          <p:cNvPr id="68" name="a4f_hl659"/>
          <p:cNvSpPr/>
          <p:nvPr/>
        </p:nvSpPr>
        <p:spPr>
          <a:xfrm>
            <a:off x="2907792" y="2496312"/>
            <a:ext cx="2185416" cy="31089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9" name="a4wd300_cell660"/>
          <p:cNvSpPr txBox="1"/>
          <p:nvPr/>
        </p:nvSpPr>
        <p:spPr>
          <a:xfrm>
            <a:off x="5577840" y="3063240"/>
            <a:ext cx="41148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70" name="a4wd300_cell661"/>
          <p:cNvSpPr txBox="1"/>
          <p:nvPr/>
        </p:nvSpPr>
        <p:spPr>
          <a:xfrm>
            <a:off x="5989320" y="306324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71" name="a4wd300_cell662"/>
          <p:cNvSpPr txBox="1"/>
          <p:nvPr/>
        </p:nvSpPr>
        <p:spPr>
          <a:xfrm>
            <a:off x="6903720" y="306324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72" name="a4wd300_cell663"/>
          <p:cNvSpPr txBox="1"/>
          <p:nvPr/>
        </p:nvSpPr>
        <p:spPr>
          <a:xfrm>
            <a:off x="7635240" y="3063240"/>
            <a:ext cx="54864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73" name="a4fd300_log664"/>
          <p:cNvSpPr txBox="1"/>
          <p:nvPr/>
        </p:nvSpPr>
        <p:spPr>
          <a:xfrm>
            <a:off x="640080" y="4462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Order 1004 not in output yet →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added, NULL customer</a:t>
            </a:r>
            <a:endParaRPr lang="en-US" dirty="0" sz="1100"/>
          </a:p>
        </p:txBody>
      </p:sp>
      <p:sp>
        <p:nvSpPr>
          <p:cNvPr id="74" name="a5u_tb665"/>
          <p:cNvSpPr/>
          <p:nvPr/>
        </p:nvSpPr>
        <p:spPr>
          <a:xfrm>
            <a:off x="5760720" y="36118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75" name="a5u_tt666"/>
          <p:cNvSpPr txBox="1"/>
          <p:nvPr/>
        </p:nvSpPr>
        <p:spPr>
          <a:xfrm>
            <a:off x="5943600" y="3611880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 first, then any right rows still missing. Nothing is lost.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Basic Joins at a Glance</a:t>
            </a:r>
            <a:endParaRPr lang="en-US" dirty="0" sz="2800"/>
          </a:p>
        </p:txBody>
      </p:sp>
      <p:sp>
        <p:nvSpPr>
          <p:cNvPr id="3" name="a1u_c667"/>
          <p:cNvSpPr/>
          <p:nvPr/>
        </p:nvSpPr>
        <p:spPr>
          <a:xfrm>
            <a:off x="457200" y="1005840"/>
            <a:ext cx="1920240" cy="3429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4" name="a1u_v668" descr="080871519f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1645920" cy="1042416"/>
          </a:xfrm>
          <a:prstGeom prst="rect">
            <a:avLst/>
          </a:prstGeom>
        </p:spPr>
      </p:pic>
      <p:sp>
        <p:nvSpPr>
          <p:cNvPr id="5" name="a1u_n669"/>
          <p:cNvSpPr txBox="1"/>
          <p:nvPr/>
        </p:nvSpPr>
        <p:spPr>
          <a:xfrm>
            <a:off x="59436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</a:t>
            </a:r>
            <a:endParaRPr lang="en-US" dirty="0" sz="1600"/>
          </a:p>
        </p:txBody>
      </p:sp>
      <p:sp>
        <p:nvSpPr>
          <p:cNvPr id="6" name="a1u_b670"/>
          <p:cNvSpPr txBox="1"/>
          <p:nvPr/>
        </p:nvSpPr>
        <p:spPr>
          <a:xfrm>
            <a:off x="64008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matching rows</a:t>
            </a:r>
            <a:endParaRPr lang="en-US" dirty="0" sz="1000"/>
          </a:p>
        </p:txBody>
      </p:sp>
      <p:sp>
        <p:nvSpPr>
          <p:cNvPr id="7" name="a1u_b671"/>
          <p:cNvSpPr txBox="1"/>
          <p:nvPr/>
        </p:nvSpPr>
        <p:spPr>
          <a:xfrm>
            <a:off x="640080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8" name="a1u_b672"/>
          <p:cNvSpPr txBox="1"/>
          <p:nvPr/>
        </p:nvSpPr>
        <p:spPr>
          <a:xfrm>
            <a:off x="640080" y="3977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 · Filter</a:t>
            </a:r>
            <a:endParaRPr lang="en-US" dirty="0" sz="1000"/>
          </a:p>
        </p:txBody>
      </p:sp>
      <p:sp>
        <p:nvSpPr>
          <p:cNvPr id="9" name="a2u_c673"/>
          <p:cNvSpPr/>
          <p:nvPr/>
        </p:nvSpPr>
        <p:spPr>
          <a:xfrm>
            <a:off x="2560320" y="1005840"/>
            <a:ext cx="1920240" cy="3429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a2u_v674" descr="b9b2efc24d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143000"/>
            <a:ext cx="1645920" cy="1042416"/>
          </a:xfrm>
          <a:prstGeom prst="rect">
            <a:avLst/>
          </a:prstGeom>
        </p:spPr>
      </p:pic>
      <p:sp>
        <p:nvSpPr>
          <p:cNvPr id="11" name="a2u_n675"/>
          <p:cNvSpPr txBox="1"/>
          <p:nvPr/>
        </p:nvSpPr>
        <p:spPr>
          <a:xfrm>
            <a:off x="269748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JOIN</a:t>
            </a:r>
            <a:endParaRPr lang="en-US" dirty="0" sz="1600"/>
          </a:p>
        </p:txBody>
      </p:sp>
      <p:sp>
        <p:nvSpPr>
          <p:cNvPr id="12" name="a2u_b676"/>
          <p:cNvSpPr txBox="1"/>
          <p:nvPr/>
        </p:nvSpPr>
        <p:spPr>
          <a:xfrm>
            <a:off x="274320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left + matching right</a:t>
            </a:r>
            <a:endParaRPr lang="en-US" dirty="0" sz="1000"/>
          </a:p>
        </p:txBody>
      </p:sp>
      <p:sp>
        <p:nvSpPr>
          <p:cNvPr id="13" name="a2u_b677"/>
          <p:cNvSpPr txBox="1"/>
          <p:nvPr/>
        </p:nvSpPr>
        <p:spPr>
          <a:xfrm>
            <a:off x="2743200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</a:t>
            </a:r>
            <a:endParaRPr lang="en-US" dirty="0" sz="1000"/>
          </a:p>
        </p:txBody>
      </p:sp>
      <p:sp>
        <p:nvSpPr>
          <p:cNvPr id="14" name="a2u_b678"/>
          <p:cNvSpPr txBox="1"/>
          <p:nvPr/>
        </p:nvSpPr>
        <p:spPr>
          <a:xfrm>
            <a:off x="2743200" y="3977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 · Enrich</a:t>
            </a:r>
            <a:endParaRPr lang="en-US" dirty="0" sz="1000"/>
          </a:p>
        </p:txBody>
      </p:sp>
      <p:sp>
        <p:nvSpPr>
          <p:cNvPr id="15" name="a3u_c679"/>
          <p:cNvSpPr/>
          <p:nvPr/>
        </p:nvSpPr>
        <p:spPr>
          <a:xfrm>
            <a:off x="4663440" y="1005840"/>
            <a:ext cx="1920240" cy="3429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6" name="a3u_v680" descr="3f33256264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143000"/>
            <a:ext cx="1645920" cy="1042416"/>
          </a:xfrm>
          <a:prstGeom prst="rect">
            <a:avLst/>
          </a:prstGeom>
        </p:spPr>
      </p:pic>
      <p:sp>
        <p:nvSpPr>
          <p:cNvPr id="17" name="a3u_n681"/>
          <p:cNvSpPr txBox="1"/>
          <p:nvPr/>
        </p:nvSpPr>
        <p:spPr>
          <a:xfrm>
            <a:off x="48006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JOIN</a:t>
            </a:r>
            <a:endParaRPr lang="en-US" dirty="0" sz="1600"/>
          </a:p>
        </p:txBody>
      </p:sp>
      <p:sp>
        <p:nvSpPr>
          <p:cNvPr id="18" name="a3u_b682"/>
          <p:cNvSpPr txBox="1"/>
          <p:nvPr/>
        </p:nvSpPr>
        <p:spPr>
          <a:xfrm>
            <a:off x="484632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right + matching left</a:t>
            </a:r>
            <a:endParaRPr lang="en-US" dirty="0" sz="1000"/>
          </a:p>
        </p:txBody>
      </p:sp>
      <p:sp>
        <p:nvSpPr>
          <p:cNvPr id="19" name="a3u_b683"/>
          <p:cNvSpPr txBox="1"/>
          <p:nvPr/>
        </p:nvSpPr>
        <p:spPr>
          <a:xfrm>
            <a:off x="4846320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</a:t>
            </a:r>
            <a:endParaRPr lang="en-US" dirty="0" sz="1000"/>
          </a:p>
        </p:txBody>
      </p:sp>
      <p:sp>
        <p:nvSpPr>
          <p:cNvPr id="20" name="a3u_b684"/>
          <p:cNvSpPr txBox="1"/>
          <p:nvPr/>
        </p:nvSpPr>
        <p:spPr>
          <a:xfrm>
            <a:off x="4846320" y="3977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LEFT JOIN instead</a:t>
            </a:r>
            <a:endParaRPr lang="en-US" dirty="0" sz="1000"/>
          </a:p>
        </p:txBody>
      </p:sp>
      <p:sp>
        <p:nvSpPr>
          <p:cNvPr id="21" name="a4u_c685"/>
          <p:cNvSpPr/>
          <p:nvPr/>
        </p:nvSpPr>
        <p:spPr>
          <a:xfrm>
            <a:off x="6766560" y="1005840"/>
            <a:ext cx="1920240" cy="3429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22" name="a4u_v686" descr="8231790ee2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143000"/>
            <a:ext cx="1645920" cy="1042416"/>
          </a:xfrm>
          <a:prstGeom prst="rect">
            <a:avLst/>
          </a:prstGeom>
        </p:spPr>
      </p:pic>
      <p:sp>
        <p:nvSpPr>
          <p:cNvPr id="23" name="a4u_n687"/>
          <p:cNvSpPr txBox="1"/>
          <p:nvPr/>
        </p:nvSpPr>
        <p:spPr>
          <a:xfrm>
            <a:off x="690372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JOIN</a:t>
            </a:r>
            <a:endParaRPr lang="en-US" dirty="0" sz="1600"/>
          </a:p>
        </p:txBody>
      </p:sp>
      <p:sp>
        <p:nvSpPr>
          <p:cNvPr id="24" name="a4u_b688"/>
          <p:cNvSpPr txBox="1"/>
          <p:nvPr/>
        </p:nvSpPr>
        <p:spPr>
          <a:xfrm>
            <a:off x="6949440" y="26974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from both</a:t>
            </a:r>
            <a:endParaRPr lang="en-US" dirty="0" sz="1000"/>
          </a:p>
        </p:txBody>
      </p:sp>
      <p:sp>
        <p:nvSpPr>
          <p:cNvPr id="25" name="a4u_b689"/>
          <p:cNvSpPr txBox="1"/>
          <p:nvPr/>
        </p:nvSpPr>
        <p:spPr>
          <a:xfrm>
            <a:off x="6949440" y="3337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26" name="a4u_b690"/>
          <p:cNvSpPr txBox="1"/>
          <p:nvPr/>
        </p:nvSpPr>
        <p:spPr>
          <a:xfrm>
            <a:off x="6949440" y="3977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 everything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h691"/>
          <p:cNvSpPr txBox="1"/>
          <p:nvPr/>
        </p:nvSpPr>
        <p:spPr>
          <a:xfrm>
            <a:off x="548640" y="411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dirty="0" sz="3600"/>
          </a:p>
        </p:txBody>
      </p:sp>
      <p:sp>
        <p:nvSpPr>
          <p:cNvPr id="3" name="a1u_n692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4" name="a1u_t693"/>
          <p:cNvSpPr txBox="1"/>
          <p:nvPr/>
        </p:nvSpPr>
        <p:spPr>
          <a:xfrm>
            <a:off x="118872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columns (wider); set operators combine rows (longer).</a:t>
            </a:r>
            <a:endParaRPr lang="en-US" dirty="0" sz="1500"/>
          </a:p>
        </p:txBody>
      </p:sp>
      <p:sp>
        <p:nvSpPr>
          <p:cNvPr id="5" name="a2u_n694"/>
          <p:cNvSpPr txBox="1"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6" name="a2u_t695"/>
          <p:cNvSpPr txBox="1"/>
          <p:nvPr/>
        </p:nvSpPr>
        <p:spPr>
          <a:xfrm>
            <a:off x="118872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 needs a key and a condition: ON a.key = b.key.</a:t>
            </a:r>
            <a:endParaRPr lang="en-US" dirty="0" sz="1500"/>
          </a:p>
        </p:txBody>
      </p:sp>
      <p:sp>
        <p:nvSpPr>
          <p:cNvPr id="7" name="a3u_n696"/>
          <p:cNvSpPr txBox="1"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8" name="a3u_t697"/>
          <p:cNvSpPr txBox="1"/>
          <p:nvPr/>
        </p:nvSpPr>
        <p:spPr>
          <a:xfrm>
            <a:off x="1188720" y="3063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= matches only · LEFT / RIGHT = all of one side · FULL = everything.</a:t>
            </a:r>
            <a:endParaRPr lang="en-US" dirty="0" sz="1500"/>
          </a:p>
        </p:txBody>
      </p:sp>
      <p:sp>
        <p:nvSpPr>
          <p:cNvPr id="9" name="a4u_n698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0" name="a4u_t699"/>
          <p:cNvSpPr txBox="1"/>
          <p:nvPr/>
        </p:nvSpPr>
        <p:spPr>
          <a:xfrm>
            <a:off x="1188720" y="3886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for LEFT/RIGHT — put your main table in FROM and prefer LEFT JOIN.</a:t>
            </a:r>
            <a:endParaRPr lang="en-US" dirty="0" sz="1500"/>
          </a:p>
        </p:txBody>
      </p:sp>
      <p:pic>
        <p:nvPicPr>
          <p:cNvPr id="11" name="a0fd300_v700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2468880" cy="1563624"/>
          </a:xfrm>
          <a:prstGeom prst="rect">
            <a:avLst/>
          </a:prstGeom>
        </p:spPr>
      </p:pic>
      <p:sp>
        <p:nvSpPr>
          <p:cNvPr id="12" name="a5u_next701"/>
          <p:cNvSpPr txBox="1"/>
          <p:nvPr/>
        </p:nvSpPr>
        <p:spPr>
          <a:xfrm>
            <a:off x="6217920" y="31089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next  </a:t>
            </a:r>
            <a:r>
              <a:rPr sz="13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joins — working with unmatching data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k702"/>
          <p:cNvSpPr txBox="1"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spc="300" kern="0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dirty="0" sz="1300"/>
          </a:p>
        </p:txBody>
      </p:sp>
      <p:sp>
        <p:nvSpPr>
          <p:cNvPr id="3" name="a0ud200_t703"/>
          <p:cNvSpPr txBox="1"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SQL Joins</a:t>
            </a:r>
            <a:endParaRPr lang="en-US" dirty="0" sz="4000"/>
          </a:p>
        </p:txBody>
      </p:sp>
      <p:sp>
        <p:nvSpPr>
          <p:cNvPr id="4" name="a0fd400_s704"/>
          <p:cNvSpPr txBox="1"/>
          <p:nvPr/>
        </p:nvSpPr>
        <p:spPr>
          <a:xfrm>
            <a:off x="548640" y="1463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unmatching data — and combining everything with everything</a:t>
            </a:r>
            <a:endParaRPr lang="en-US" dirty="0" sz="1600"/>
          </a:p>
        </p:txBody>
      </p:sp>
      <p:sp>
        <p:nvSpPr>
          <p:cNvPr id="5" name="a1u_c705"/>
          <p:cNvSpPr/>
          <p:nvPr/>
        </p:nvSpPr>
        <p:spPr>
          <a:xfrm>
            <a:off x="45720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6" name="a1u_sv706" descr="6e5385d95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31720"/>
            <a:ext cx="1554480" cy="984504"/>
          </a:xfrm>
          <a:prstGeom prst="rect">
            <a:avLst/>
          </a:prstGeom>
        </p:spPr>
      </p:pic>
      <p:sp>
        <p:nvSpPr>
          <p:cNvPr id="7" name="a1u_n707"/>
          <p:cNvSpPr txBox="1"/>
          <p:nvPr/>
        </p:nvSpPr>
        <p:spPr>
          <a:xfrm>
            <a:off x="54864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ANTI JOIN</a:t>
            </a:r>
            <a:endParaRPr lang="en-US" dirty="0" sz="1300"/>
          </a:p>
        </p:txBody>
      </p:sp>
      <p:sp>
        <p:nvSpPr>
          <p:cNvPr id="8" name="a1u_d708"/>
          <p:cNvSpPr txBox="1"/>
          <p:nvPr/>
        </p:nvSpPr>
        <p:spPr>
          <a:xfrm>
            <a:off x="54864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rows with no match</a:t>
            </a:r>
            <a:endParaRPr lang="en-US" dirty="0" sz="1200"/>
          </a:p>
        </p:txBody>
      </p:sp>
      <p:sp>
        <p:nvSpPr>
          <p:cNvPr id="9" name="a2u_c709"/>
          <p:cNvSpPr/>
          <p:nvPr/>
        </p:nvSpPr>
        <p:spPr>
          <a:xfrm>
            <a:off x="256032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0" name="a2u_sv710" descr="d7ef2766b5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331720"/>
            <a:ext cx="1554480" cy="984504"/>
          </a:xfrm>
          <a:prstGeom prst="rect">
            <a:avLst/>
          </a:prstGeom>
        </p:spPr>
      </p:pic>
      <p:sp>
        <p:nvSpPr>
          <p:cNvPr id="11" name="a2u_n711"/>
          <p:cNvSpPr txBox="1"/>
          <p:nvPr/>
        </p:nvSpPr>
        <p:spPr>
          <a:xfrm>
            <a:off x="265176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ANTI JOIN</a:t>
            </a:r>
            <a:endParaRPr lang="en-US" dirty="0" sz="1300"/>
          </a:p>
        </p:txBody>
      </p:sp>
      <p:sp>
        <p:nvSpPr>
          <p:cNvPr id="12" name="a2u_d712"/>
          <p:cNvSpPr txBox="1"/>
          <p:nvPr/>
        </p:nvSpPr>
        <p:spPr>
          <a:xfrm>
            <a:off x="265176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rows with no match</a:t>
            </a:r>
            <a:endParaRPr lang="en-US" dirty="0" sz="1200"/>
          </a:p>
        </p:txBody>
      </p:sp>
      <p:sp>
        <p:nvSpPr>
          <p:cNvPr id="13" name="a3u_c713"/>
          <p:cNvSpPr/>
          <p:nvPr/>
        </p:nvSpPr>
        <p:spPr>
          <a:xfrm>
            <a:off x="466344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4" name="a3u_sv714" descr="dab9d2179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1554480" cy="984504"/>
          </a:xfrm>
          <a:prstGeom prst="rect">
            <a:avLst/>
          </a:prstGeom>
        </p:spPr>
      </p:pic>
      <p:sp>
        <p:nvSpPr>
          <p:cNvPr id="15" name="a3u_n715"/>
          <p:cNvSpPr txBox="1"/>
          <p:nvPr/>
        </p:nvSpPr>
        <p:spPr>
          <a:xfrm>
            <a:off x="475488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ANTI JOIN</a:t>
            </a:r>
            <a:endParaRPr lang="en-US" dirty="0" sz="1300"/>
          </a:p>
        </p:txBody>
      </p:sp>
      <p:sp>
        <p:nvSpPr>
          <p:cNvPr id="16" name="a3u_d716"/>
          <p:cNvSpPr txBox="1"/>
          <p:nvPr/>
        </p:nvSpPr>
        <p:spPr>
          <a:xfrm>
            <a:off x="475488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rows on both sides</a:t>
            </a:r>
            <a:endParaRPr lang="en-US" dirty="0" sz="1200"/>
          </a:p>
        </p:txBody>
      </p:sp>
      <p:sp>
        <p:nvSpPr>
          <p:cNvPr id="17" name="a4u_c717"/>
          <p:cNvSpPr/>
          <p:nvPr/>
        </p:nvSpPr>
        <p:spPr>
          <a:xfrm>
            <a:off x="676656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8" name="a4u_sv718" descr="b5dc689932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2331720"/>
            <a:ext cx="1554480" cy="984504"/>
          </a:xfrm>
          <a:prstGeom prst="rect">
            <a:avLst/>
          </a:prstGeom>
        </p:spPr>
      </p:pic>
      <p:sp>
        <p:nvSpPr>
          <p:cNvPr id="19" name="a4u_n719"/>
          <p:cNvSpPr txBox="1"/>
          <p:nvPr/>
        </p:nvSpPr>
        <p:spPr>
          <a:xfrm>
            <a:off x="685800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 JOIN</a:t>
            </a:r>
            <a:endParaRPr lang="en-US" dirty="0" sz="1300"/>
          </a:p>
        </p:txBody>
      </p:sp>
      <p:sp>
        <p:nvSpPr>
          <p:cNvPr id="20" name="a4u_d720"/>
          <p:cNvSpPr txBox="1"/>
          <p:nvPr/>
        </p:nvSpPr>
        <p:spPr>
          <a:xfrm>
            <a:off x="685800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possible combination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72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dirty="0" sz="6000"/>
          </a:p>
        </p:txBody>
      </p:sp>
      <p:sp>
        <p:nvSpPr>
          <p:cNvPr id="3" name="a0ud200_h72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ANTI JOIN</a:t>
            </a:r>
            <a:endParaRPr lang="en-US" dirty="0" sz="4000"/>
          </a:p>
        </p:txBody>
      </p:sp>
      <p:sp>
        <p:nvSpPr>
          <p:cNvPr id="4" name="a0fd450_t72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from the left table that have no match on the right</a:t>
            </a:r>
            <a:endParaRPr lang="en-US" dirty="0" sz="1700"/>
          </a:p>
        </p:txBody>
      </p:sp>
      <p:pic>
        <p:nvPicPr>
          <p:cNvPr id="5" name="a0fd300_v724" descr="6e5385d95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ANTI JOIN — The Concept</a:t>
            </a:r>
            <a:endParaRPr lang="en-US" dirty="0" sz="2800"/>
          </a:p>
        </p:txBody>
      </p:sp>
      <p:pic>
        <p:nvPicPr>
          <p:cNvPr id="3" name="a1f_sv725" descr="b9b2efc24d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" cy="868680"/>
          </a:xfrm>
          <a:prstGeom prst="rect">
            <a:avLst/>
          </a:prstGeom>
        </p:spPr>
      </p:pic>
      <p:sp>
        <p:nvSpPr>
          <p:cNvPr id="4" name="a2f_ar726"/>
          <p:cNvSpPr/>
          <p:nvPr/>
        </p:nvSpPr>
        <p:spPr>
          <a:xfrm>
            <a:off x="1874520" y="1417320"/>
            <a:ext cx="320040" cy="22860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pic>
        <p:nvPicPr>
          <p:cNvPr id="5" name="a2f_sv727" descr="678de5af87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097280"/>
            <a:ext cx="1371600" cy="868680"/>
          </a:xfrm>
          <a:prstGeom prst="rect">
            <a:avLst/>
          </a:prstGeom>
        </p:spPr>
      </p:pic>
      <p:sp>
        <p:nvSpPr>
          <p:cNvPr id="6" name="a1f_l1728"/>
          <p:cNvSpPr txBox="1"/>
          <p:nvPr/>
        </p:nvSpPr>
        <p:spPr>
          <a:xfrm>
            <a:off x="457200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</a:t>
            </a:r>
            <a:endParaRPr lang="en-US" dirty="0" sz="1100"/>
          </a:p>
        </p:txBody>
      </p:sp>
      <p:sp>
        <p:nvSpPr>
          <p:cNvPr id="7" name="a2f_l2729"/>
          <p:cNvSpPr txBox="1"/>
          <p:nvPr/>
        </p:nvSpPr>
        <p:spPr>
          <a:xfrm>
            <a:off x="2194560" y="20116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B.key IS NULL</a:t>
            </a:r>
            <a:endParaRPr lang="en-US" dirty="0" sz="1100"/>
          </a:p>
        </p:txBody>
      </p:sp>
      <p:sp>
        <p:nvSpPr>
          <p:cNvPr id="8" name="a3u_pill730"/>
          <p:cNvSpPr txBox="1"/>
          <p:nvPr/>
        </p:nvSpPr>
        <p:spPr>
          <a:xfrm>
            <a:off x="457200" y="274320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unmatching rows</a:t>
            </a:r>
            <a:endParaRPr lang="en-US" dirty="0" sz="1200"/>
          </a:p>
        </p:txBody>
      </p:sp>
      <p:sp>
        <p:nvSpPr>
          <p:cNvPr id="9" name="a3ud200_pill731"/>
          <p:cNvSpPr txBox="1"/>
          <p:nvPr/>
        </p:nvSpPr>
        <p:spPr>
          <a:xfrm>
            <a:off x="457200" y="324612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>
            <a:solidFill>
              <a:srgbClr val="EEF2F6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used only as a filter</a:t>
            </a:r>
            <a:endParaRPr lang="en-US" dirty="0" sz="1200"/>
          </a:p>
        </p:txBody>
      </p:sp>
      <p:sp>
        <p:nvSpPr>
          <p:cNvPr id="10" name="a6u_nb732"/>
          <p:cNvSpPr/>
          <p:nvPr/>
        </p:nvSpPr>
        <p:spPr>
          <a:xfrm>
            <a:off x="457200" y="38404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1" name="a6u_ni733" descr="b6ae7cf156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087368"/>
            <a:ext cx="365760" cy="365760"/>
          </a:xfrm>
          <a:prstGeom prst="rect">
            <a:avLst/>
          </a:prstGeom>
        </p:spPr>
      </p:pic>
      <p:sp>
        <p:nvSpPr>
          <p:cNvPr id="12" name="a6u_nt734"/>
          <p:cNvSpPr txBox="1"/>
          <p:nvPr/>
        </p:nvSpPr>
        <p:spPr>
          <a:xfrm>
            <a:off x="1051560" y="3840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ANTI JOIN keyword (e.g. in SQL Server). Build it from a classic join plus a WHERE filter.</a:t>
            </a:r>
            <a:endParaRPr lang="en-US" dirty="0" sz="1100"/>
          </a:p>
        </p:txBody>
      </p:sp>
      <p:sp>
        <p:nvSpPr>
          <p:cNvPr id="13" name="Text 8"/>
          <p:cNvSpPr txBox="1"/>
          <p:nvPr/>
        </p:nvSpPr>
        <p:spPr>
          <a:xfrm>
            <a:off x="4023360" y="914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rows from the left table that have no match in the right table.</a:t>
            </a:r>
            <a:endParaRPr lang="en-US" dirty="0" sz="1600"/>
          </a:p>
        </p:txBody>
      </p:sp>
      <p:sp>
        <p:nvSpPr>
          <p:cNvPr id="14" name="a4f_codebg735"/>
          <p:cNvSpPr/>
          <p:nvPr/>
        </p:nvSpPr>
        <p:spPr>
          <a:xfrm>
            <a:off x="4023360" y="1691640"/>
            <a:ext cx="46634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5" name="a4f_codelbl736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6" name="a5f_hl737"/>
          <p:cNvSpPr/>
          <p:nvPr/>
        </p:nvSpPr>
        <p:spPr>
          <a:xfrm>
            <a:off x="4096512" y="2852928"/>
            <a:ext cx="451713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a4wd0_code738"/>
          <p:cNvSpPr txBox="1"/>
          <p:nvPr/>
        </p:nvSpPr>
        <p:spPr>
          <a:xfrm>
            <a:off x="4206240" y="182880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8" name="a4wd300_code739"/>
          <p:cNvSpPr txBox="1"/>
          <p:nvPr/>
        </p:nvSpPr>
        <p:spPr>
          <a:xfrm>
            <a:off x="4206240" y="208483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9" name="a4wd600_code740"/>
          <p:cNvSpPr txBox="1"/>
          <p:nvPr/>
        </p:nvSpPr>
        <p:spPr>
          <a:xfrm>
            <a:off x="4206240" y="234086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20" name="a4wd900_code741"/>
          <p:cNvSpPr txBox="1"/>
          <p:nvPr/>
        </p:nvSpPr>
        <p:spPr>
          <a:xfrm>
            <a:off x="4206240" y="259689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21" name="a5wd0_code742"/>
          <p:cNvSpPr txBox="1"/>
          <p:nvPr/>
        </p:nvSpPr>
        <p:spPr>
          <a:xfrm>
            <a:off x="4206240" y="2852928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dirty="0" sz="1300"/>
          </a:p>
        </p:txBody>
      </p:sp>
      <p:sp>
        <p:nvSpPr>
          <p:cNvPr id="22" name="a6f_cb743"/>
          <p:cNvSpPr/>
          <p:nvPr/>
        </p:nvSpPr>
        <p:spPr>
          <a:xfrm>
            <a:off x="4023360" y="35204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a6f_ct744"/>
          <p:cNvSpPr txBox="1"/>
          <p:nvPr/>
        </p:nvSpPr>
        <p:spPr>
          <a:xfrm>
            <a:off x="4206240" y="352044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matters!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right-side key means "no match" — that's the filter.</a:t>
            </a:r>
            <a:endParaRPr lang="en-US" dirty="0" sz="1200"/>
          </a:p>
        </p:txBody>
      </p:sp>
      <p:sp>
        <p:nvSpPr>
          <p:cNvPr id="24" name="a6f_u745"/>
          <p:cNvSpPr txBox="1"/>
          <p:nvPr/>
        </p:nvSpPr>
        <p:spPr>
          <a:xfrm>
            <a:off x="402336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25" name="a6ud200_chip746"/>
          <p:cNvSpPr txBox="1"/>
          <p:nvPr/>
        </p:nvSpPr>
        <p:spPr>
          <a:xfrm>
            <a:off x="489204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26" name="a6ud350_chip747"/>
          <p:cNvSpPr txBox="1"/>
          <p:nvPr/>
        </p:nvSpPr>
        <p:spPr>
          <a:xfrm>
            <a:off x="608076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7" name="a6ud500_chip748"/>
          <p:cNvSpPr txBox="1"/>
          <p:nvPr/>
        </p:nvSpPr>
        <p:spPr>
          <a:xfrm>
            <a:off x="7269480" y="4297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16" grpId="0" animBg="1"/>
      <p:bldP spid="21" grpId="0" animBg="1"/>
      <p:bldP spid="10" grpId="0" animBg="1"/>
      <p:bldP spid="11" grpId="0" animBg="1"/>
      <p:bldP spid="12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ANTI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customers who haven't placed any order.</a:t>
            </a:r>
            <a:endParaRPr lang="en-US" dirty="0" sz="1400"/>
          </a:p>
        </p:txBody>
      </p:sp>
      <p:sp>
        <p:nvSpPr>
          <p:cNvPr id="4" name="a1f_codebg749"/>
          <p:cNvSpPr/>
          <p:nvPr/>
        </p:nvSpPr>
        <p:spPr>
          <a:xfrm>
            <a:off x="457200" y="1600200"/>
            <a:ext cx="388620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3f_hl750"/>
          <p:cNvSpPr/>
          <p:nvPr/>
        </p:nvSpPr>
        <p:spPr>
          <a:xfrm>
            <a:off x="530352" y="3529584"/>
            <a:ext cx="373989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a1wd0_code751"/>
          <p:cNvSpPr txBox="1"/>
          <p:nvPr/>
        </p:nvSpPr>
        <p:spPr>
          <a:xfrm>
            <a:off x="64008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7" name="a1wd120_code752"/>
          <p:cNvSpPr txBox="1"/>
          <p:nvPr/>
        </p:nvSpPr>
        <p:spPr>
          <a:xfrm>
            <a:off x="640080" y="19933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240_code753"/>
          <p:cNvSpPr txBox="1"/>
          <p:nvPr/>
        </p:nvSpPr>
        <p:spPr>
          <a:xfrm>
            <a:off x="640080" y="22494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360_code754"/>
          <p:cNvSpPr txBox="1"/>
          <p:nvPr/>
        </p:nvSpPr>
        <p:spPr>
          <a:xfrm>
            <a:off x="640080" y="25054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480_code755"/>
          <p:cNvSpPr txBox="1"/>
          <p:nvPr/>
        </p:nvSpPr>
        <p:spPr>
          <a:xfrm>
            <a:off x="640080" y="27614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600_code756"/>
          <p:cNvSpPr txBox="1"/>
          <p:nvPr/>
        </p:nvSpPr>
        <p:spPr>
          <a:xfrm>
            <a:off x="640080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720_code757"/>
          <p:cNvSpPr txBox="1"/>
          <p:nvPr/>
        </p:nvSpPr>
        <p:spPr>
          <a:xfrm>
            <a:off x="640080" y="32735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3" name="a3wd0_code758"/>
          <p:cNvSpPr txBox="1"/>
          <p:nvPr/>
        </p:nvSpPr>
        <p:spPr>
          <a:xfrm>
            <a:off x="64008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4" name="a2f_l759"/>
          <p:cNvSpPr txBox="1"/>
          <p:nvPr/>
        </p:nvSpPr>
        <p:spPr>
          <a:xfrm>
            <a:off x="4617720" y="1554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LEFT JOIN result</a:t>
            </a:r>
            <a:endParaRPr lang="en-US" dirty="0" sz="1100"/>
          </a:p>
        </p:txBody>
      </p:sp>
      <p:sp>
        <p:nvSpPr>
          <p:cNvPr id="15" name="a3f_l760"/>
          <p:cNvSpPr txBox="1"/>
          <p:nvPr/>
        </p:nvSpPr>
        <p:spPr>
          <a:xfrm>
            <a:off x="672084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WHERE filter</a:t>
            </a:r>
            <a:endParaRPr lang="en-US" dirty="0" sz="1100"/>
          </a:p>
        </p:txBody>
      </p:sp>
      <p:sp>
        <p:nvSpPr>
          <p:cNvPr id="16" name="a2f_cell761"/>
          <p:cNvSpPr txBox="1"/>
          <p:nvPr/>
        </p:nvSpPr>
        <p:spPr>
          <a:xfrm>
            <a:off x="4617720" y="1828800"/>
            <a:ext cx="4572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7" name="a2wd0_cell762"/>
          <p:cNvSpPr txBox="1"/>
          <p:nvPr/>
        </p:nvSpPr>
        <p:spPr>
          <a:xfrm>
            <a:off x="4617720" y="21031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8" name="a2wd150_cell763"/>
          <p:cNvSpPr txBox="1"/>
          <p:nvPr/>
        </p:nvSpPr>
        <p:spPr>
          <a:xfrm>
            <a:off x="4617720" y="237744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9" name="a2wd300_cell764"/>
          <p:cNvSpPr txBox="1"/>
          <p:nvPr/>
        </p:nvSpPr>
        <p:spPr>
          <a:xfrm>
            <a:off x="4617720" y="265176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0" name="a2wd450_cell765"/>
          <p:cNvSpPr txBox="1"/>
          <p:nvPr/>
        </p:nvSpPr>
        <p:spPr>
          <a:xfrm>
            <a:off x="4617720" y="292608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21" name="a2wd600_cell766"/>
          <p:cNvSpPr txBox="1"/>
          <p:nvPr/>
        </p:nvSpPr>
        <p:spPr>
          <a:xfrm>
            <a:off x="4617720" y="320040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2" name="a2f_cell767"/>
          <p:cNvSpPr txBox="1"/>
          <p:nvPr/>
        </p:nvSpPr>
        <p:spPr>
          <a:xfrm>
            <a:off x="5074920" y="182880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3" name="a2wd0_cell768"/>
          <p:cNvSpPr txBox="1"/>
          <p:nvPr/>
        </p:nvSpPr>
        <p:spPr>
          <a:xfrm>
            <a:off x="507492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4" name="a2wd150_cell769"/>
          <p:cNvSpPr txBox="1"/>
          <p:nvPr/>
        </p:nvSpPr>
        <p:spPr>
          <a:xfrm>
            <a:off x="507492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5" name="a2wd300_cell770"/>
          <p:cNvSpPr txBox="1"/>
          <p:nvPr/>
        </p:nvSpPr>
        <p:spPr>
          <a:xfrm>
            <a:off x="507492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6" name="a2wd450_cell771"/>
          <p:cNvSpPr txBox="1"/>
          <p:nvPr/>
        </p:nvSpPr>
        <p:spPr>
          <a:xfrm>
            <a:off x="507492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7" name="a2wd600_cell772"/>
          <p:cNvSpPr txBox="1"/>
          <p:nvPr/>
        </p:nvSpPr>
        <p:spPr>
          <a:xfrm>
            <a:off x="5074920" y="32004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8" name="a2f_cell773"/>
          <p:cNvSpPr txBox="1"/>
          <p:nvPr/>
        </p:nvSpPr>
        <p:spPr>
          <a:xfrm>
            <a:off x="5989320" y="1828800"/>
            <a:ext cx="7772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9" name="a2wd0_cell774"/>
          <p:cNvSpPr txBox="1"/>
          <p:nvPr/>
        </p:nvSpPr>
        <p:spPr>
          <a:xfrm>
            <a:off x="5989320" y="21031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0" name="a2wd150_cell775"/>
          <p:cNvSpPr txBox="1"/>
          <p:nvPr/>
        </p:nvSpPr>
        <p:spPr>
          <a:xfrm>
            <a:off x="5989320" y="23774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31" name="a2wd300_cell776"/>
          <p:cNvSpPr txBox="1"/>
          <p:nvPr/>
        </p:nvSpPr>
        <p:spPr>
          <a:xfrm>
            <a:off x="5989320" y="26517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2" name="a2wd450_cell777"/>
          <p:cNvSpPr txBox="1"/>
          <p:nvPr/>
        </p:nvSpPr>
        <p:spPr>
          <a:xfrm>
            <a:off x="5989320" y="292608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3" name="a2wd600_cell778"/>
          <p:cNvSpPr txBox="1"/>
          <p:nvPr/>
        </p:nvSpPr>
        <p:spPr>
          <a:xfrm>
            <a:off x="5989320" y="320040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4" name="a2f_cell779"/>
          <p:cNvSpPr txBox="1"/>
          <p:nvPr/>
        </p:nvSpPr>
        <p:spPr>
          <a:xfrm>
            <a:off x="6766560" y="182880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35" name="a2wd0_cell780"/>
          <p:cNvSpPr txBox="1"/>
          <p:nvPr/>
        </p:nvSpPr>
        <p:spPr>
          <a:xfrm>
            <a:off x="676656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6" name="a2wd150_cell781"/>
          <p:cNvSpPr txBox="1"/>
          <p:nvPr/>
        </p:nvSpPr>
        <p:spPr>
          <a:xfrm>
            <a:off x="676656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37" name="a2wd300_cell782"/>
          <p:cNvSpPr txBox="1"/>
          <p:nvPr/>
        </p:nvSpPr>
        <p:spPr>
          <a:xfrm>
            <a:off x="676656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38" name="a2wd450_cell783"/>
          <p:cNvSpPr txBox="1"/>
          <p:nvPr/>
        </p:nvSpPr>
        <p:spPr>
          <a:xfrm>
            <a:off x="6766560" y="292608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9" name="a2wd600_cell784"/>
          <p:cNvSpPr txBox="1"/>
          <p:nvPr/>
        </p:nvSpPr>
        <p:spPr>
          <a:xfrm>
            <a:off x="6766560" y="320040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0" name="a2f_cell785"/>
          <p:cNvSpPr txBox="1"/>
          <p:nvPr/>
        </p:nvSpPr>
        <p:spPr>
          <a:xfrm>
            <a:off x="7680960" y="182880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41" name="a2wd0_cell786"/>
          <p:cNvSpPr txBox="1"/>
          <p:nvPr/>
        </p:nvSpPr>
        <p:spPr>
          <a:xfrm>
            <a:off x="7680960" y="21031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2" name="a2wd150_cell787"/>
          <p:cNvSpPr txBox="1"/>
          <p:nvPr/>
        </p:nvSpPr>
        <p:spPr>
          <a:xfrm>
            <a:off x="7680960" y="23774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43" name="a2wd300_cell788"/>
          <p:cNvSpPr txBox="1"/>
          <p:nvPr/>
        </p:nvSpPr>
        <p:spPr>
          <a:xfrm>
            <a:off x="7680960" y="26517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4" name="a2wd450_cell789"/>
          <p:cNvSpPr txBox="1"/>
          <p:nvPr/>
        </p:nvSpPr>
        <p:spPr>
          <a:xfrm>
            <a:off x="7680960" y="292608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5" name="a2wd600_cell790"/>
          <p:cNvSpPr txBox="1"/>
          <p:nvPr/>
        </p:nvSpPr>
        <p:spPr>
          <a:xfrm>
            <a:off x="7680960" y="320040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6" name="a3f_kc791"/>
          <p:cNvSpPr/>
          <p:nvPr/>
        </p:nvSpPr>
        <p:spPr>
          <a:xfrm>
            <a:off x="6748272" y="1810512"/>
            <a:ext cx="950976" cy="168249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7" name="a4f_fade792"/>
          <p:cNvSpPr/>
          <p:nvPr/>
        </p:nvSpPr>
        <p:spPr>
          <a:xfrm>
            <a:off x="4617720" y="210312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a4w_strike793"/>
          <p:cNvSpPr/>
          <p:nvPr/>
        </p:nvSpPr>
        <p:spPr>
          <a:xfrm>
            <a:off x="4663440" y="224028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9" name="a4f_fade794"/>
          <p:cNvSpPr/>
          <p:nvPr/>
        </p:nvSpPr>
        <p:spPr>
          <a:xfrm>
            <a:off x="4617720" y="237744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a4w_strike795"/>
          <p:cNvSpPr/>
          <p:nvPr/>
        </p:nvSpPr>
        <p:spPr>
          <a:xfrm>
            <a:off x="4663440" y="251460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1" name="a4f_fade796"/>
          <p:cNvSpPr/>
          <p:nvPr/>
        </p:nvSpPr>
        <p:spPr>
          <a:xfrm>
            <a:off x="4617720" y="265176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a4w_strike797"/>
          <p:cNvSpPr/>
          <p:nvPr/>
        </p:nvSpPr>
        <p:spPr>
          <a:xfrm>
            <a:off x="4663440" y="278892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3" name="a4fd400_keep798"/>
          <p:cNvSpPr/>
          <p:nvPr/>
        </p:nvSpPr>
        <p:spPr>
          <a:xfrm>
            <a:off x="4590288" y="293522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54" name="a4fd400_keep799"/>
          <p:cNvSpPr/>
          <p:nvPr/>
        </p:nvSpPr>
        <p:spPr>
          <a:xfrm>
            <a:off x="4590288" y="320954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55" name="a5u_nb800"/>
          <p:cNvSpPr/>
          <p:nvPr/>
        </p:nvSpPr>
        <p:spPr>
          <a:xfrm>
            <a:off x="4617720" y="370332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6" name="a5u_ni801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931920"/>
            <a:ext cx="320040" cy="320040"/>
          </a:xfrm>
          <a:prstGeom prst="rect">
            <a:avLst/>
          </a:prstGeom>
        </p:spPr>
      </p:pic>
      <p:sp>
        <p:nvSpPr>
          <p:cNvPr id="57" name="a5u_nt802"/>
          <p:cNvSpPr txBox="1"/>
          <p:nvPr/>
        </p:nvSpPr>
        <p:spPr>
          <a:xfrm>
            <a:off x="5166360" y="37033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Martin and Peter remain — customers in the database who never ordered.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5" grpId="0" animBg="1"/>
      <p:bldP spid="13" grpId="0" animBg="1"/>
      <p:bldP spid="1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803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dirty="0" sz="6000"/>
          </a:p>
        </p:txBody>
      </p:sp>
      <p:sp>
        <p:nvSpPr>
          <p:cNvPr id="3" name="a0ud200_h804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ANTI JOIN</a:t>
            </a:r>
            <a:endParaRPr lang="en-US" dirty="0" sz="4000"/>
          </a:p>
        </p:txBody>
      </p:sp>
      <p:sp>
        <p:nvSpPr>
          <p:cNvPr id="4" name="a0fd450_t805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from the right table that have no match on the left</a:t>
            </a:r>
            <a:endParaRPr lang="en-US" dirty="0" sz="1700"/>
          </a:p>
        </p:txBody>
      </p:sp>
      <p:pic>
        <p:nvPicPr>
          <p:cNvPr id="5" name="a0fd300_v806" descr="d7ef2766b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ANTI JOIN — The Concept</a:t>
            </a:r>
            <a:endParaRPr lang="en-US" dirty="0" sz="2800"/>
          </a:p>
        </p:txBody>
      </p:sp>
      <p:pic>
        <p:nvPicPr>
          <p:cNvPr id="3" name="a1f_sv807" descr="3f3325626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" cy="868680"/>
          </a:xfrm>
          <a:prstGeom prst="rect">
            <a:avLst/>
          </a:prstGeom>
        </p:spPr>
      </p:pic>
      <p:sp>
        <p:nvSpPr>
          <p:cNvPr id="4" name="a2f_ar808"/>
          <p:cNvSpPr/>
          <p:nvPr/>
        </p:nvSpPr>
        <p:spPr>
          <a:xfrm>
            <a:off x="1874520" y="1417320"/>
            <a:ext cx="320040" cy="22860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pic>
        <p:nvPicPr>
          <p:cNvPr id="5" name="a2f_sv809" descr="2514820399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097280"/>
            <a:ext cx="1371600" cy="868680"/>
          </a:xfrm>
          <a:prstGeom prst="rect">
            <a:avLst/>
          </a:prstGeom>
        </p:spPr>
      </p:pic>
      <p:sp>
        <p:nvSpPr>
          <p:cNvPr id="6" name="a1f_l1810"/>
          <p:cNvSpPr txBox="1"/>
          <p:nvPr/>
        </p:nvSpPr>
        <p:spPr>
          <a:xfrm>
            <a:off x="457200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</a:t>
            </a:r>
            <a:endParaRPr lang="en-US" dirty="0" sz="1100"/>
          </a:p>
        </p:txBody>
      </p:sp>
      <p:sp>
        <p:nvSpPr>
          <p:cNvPr id="7" name="a2f_l2811"/>
          <p:cNvSpPr txBox="1"/>
          <p:nvPr/>
        </p:nvSpPr>
        <p:spPr>
          <a:xfrm>
            <a:off x="2194560" y="20116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A.key IS NULL</a:t>
            </a:r>
            <a:endParaRPr lang="en-US" dirty="0" sz="1100"/>
          </a:p>
        </p:txBody>
      </p:sp>
      <p:sp>
        <p:nvSpPr>
          <p:cNvPr id="8" name="a3u_pill812"/>
          <p:cNvSpPr txBox="1"/>
          <p:nvPr/>
        </p:nvSpPr>
        <p:spPr>
          <a:xfrm>
            <a:off x="457200" y="274320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>
            <a:solidFill>
              <a:srgbClr val="EEF2F6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used only as a filter</a:t>
            </a:r>
            <a:endParaRPr lang="en-US" dirty="0" sz="1200"/>
          </a:p>
        </p:txBody>
      </p:sp>
      <p:sp>
        <p:nvSpPr>
          <p:cNvPr id="9" name="a3ud200_pill813"/>
          <p:cNvSpPr txBox="1"/>
          <p:nvPr/>
        </p:nvSpPr>
        <p:spPr>
          <a:xfrm>
            <a:off x="457200" y="324612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unmatching rows</a:t>
            </a:r>
            <a:endParaRPr lang="en-US" dirty="0" sz="1200"/>
          </a:p>
        </p:txBody>
      </p:sp>
      <p:sp>
        <p:nvSpPr>
          <p:cNvPr id="10" name="a6u_nb814"/>
          <p:cNvSpPr/>
          <p:nvPr/>
        </p:nvSpPr>
        <p:spPr>
          <a:xfrm>
            <a:off x="457200" y="38404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1" name="a6u_ni815" descr="b6ae7cf156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087368"/>
            <a:ext cx="365760" cy="365760"/>
          </a:xfrm>
          <a:prstGeom prst="rect">
            <a:avLst/>
          </a:prstGeom>
        </p:spPr>
      </p:pic>
      <p:sp>
        <p:nvSpPr>
          <p:cNvPr id="12" name="a6u_nt816"/>
          <p:cNvSpPr txBox="1"/>
          <p:nvPr/>
        </p:nvSpPr>
        <p:spPr>
          <a:xfrm>
            <a:off x="1051560" y="3840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ANTI JOIN keyword (e.g. in SQL Server). Build it from a classic join plus a WHERE filter.</a:t>
            </a:r>
            <a:endParaRPr lang="en-US" dirty="0" sz="1100"/>
          </a:p>
        </p:txBody>
      </p:sp>
      <p:sp>
        <p:nvSpPr>
          <p:cNvPr id="13" name="Text 8"/>
          <p:cNvSpPr txBox="1"/>
          <p:nvPr/>
        </p:nvSpPr>
        <p:spPr>
          <a:xfrm>
            <a:off x="4023360" y="914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rows from the right table that have no match in the left table.</a:t>
            </a:r>
            <a:endParaRPr lang="en-US" dirty="0" sz="1600"/>
          </a:p>
        </p:txBody>
      </p:sp>
      <p:sp>
        <p:nvSpPr>
          <p:cNvPr id="14" name="a4f_codebg817"/>
          <p:cNvSpPr/>
          <p:nvPr/>
        </p:nvSpPr>
        <p:spPr>
          <a:xfrm>
            <a:off x="4023360" y="1691640"/>
            <a:ext cx="46634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5" name="a4f_codelbl818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6" name="a5f_hl819"/>
          <p:cNvSpPr/>
          <p:nvPr/>
        </p:nvSpPr>
        <p:spPr>
          <a:xfrm>
            <a:off x="4096512" y="2852928"/>
            <a:ext cx="451713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a4wd0_code820"/>
          <p:cNvSpPr txBox="1"/>
          <p:nvPr/>
        </p:nvSpPr>
        <p:spPr>
          <a:xfrm>
            <a:off x="4206240" y="182880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8" name="a4wd300_code821"/>
          <p:cNvSpPr txBox="1"/>
          <p:nvPr/>
        </p:nvSpPr>
        <p:spPr>
          <a:xfrm>
            <a:off x="4206240" y="208483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9" name="a4wd600_code822"/>
          <p:cNvSpPr txBox="1"/>
          <p:nvPr/>
        </p:nvSpPr>
        <p:spPr>
          <a:xfrm>
            <a:off x="4206240" y="234086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20" name="a4wd900_code823"/>
          <p:cNvSpPr txBox="1"/>
          <p:nvPr/>
        </p:nvSpPr>
        <p:spPr>
          <a:xfrm>
            <a:off x="4206240" y="259689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21" name="a5wd0_code824"/>
          <p:cNvSpPr txBox="1"/>
          <p:nvPr/>
        </p:nvSpPr>
        <p:spPr>
          <a:xfrm>
            <a:off x="4206240" y="2852928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dirty="0" sz="1300"/>
          </a:p>
        </p:txBody>
      </p:sp>
      <p:sp>
        <p:nvSpPr>
          <p:cNvPr id="22" name="a6f_cb825"/>
          <p:cNvSpPr/>
          <p:nvPr/>
        </p:nvSpPr>
        <p:spPr>
          <a:xfrm>
            <a:off x="4023360" y="35204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23" name="a6f_ct826"/>
          <p:cNvSpPr txBox="1"/>
          <p:nvPr/>
        </p:nvSpPr>
        <p:spPr>
          <a:xfrm>
            <a:off x="4206240" y="352044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matters!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time filter on the LEFT table's key.</a:t>
            </a:r>
            <a:endParaRPr lang="en-US" dirty="0" sz="1200"/>
          </a:p>
        </p:txBody>
      </p:sp>
      <p:sp>
        <p:nvSpPr>
          <p:cNvPr id="24" name="a6f_u827"/>
          <p:cNvSpPr txBox="1"/>
          <p:nvPr/>
        </p:nvSpPr>
        <p:spPr>
          <a:xfrm>
            <a:off x="402336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25" name="a6ud200_chip828"/>
          <p:cNvSpPr txBox="1"/>
          <p:nvPr/>
        </p:nvSpPr>
        <p:spPr>
          <a:xfrm>
            <a:off x="489204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26" name="a6ud350_chip829"/>
          <p:cNvSpPr txBox="1"/>
          <p:nvPr/>
        </p:nvSpPr>
        <p:spPr>
          <a:xfrm>
            <a:off x="608076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7" name="a6ud500_chip830"/>
          <p:cNvSpPr txBox="1"/>
          <p:nvPr/>
        </p:nvSpPr>
        <p:spPr>
          <a:xfrm>
            <a:off x="7269480" y="4297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16" grpId="0" animBg="1"/>
      <p:bldP spid="21" grpId="0" animBg="1"/>
      <p:bldP spid="10" grpId="0" animBg="1"/>
      <p:bldP spid="11" grpId="0" animBg="1"/>
      <p:bldP spid="12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ANTI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all orders without matching customers.</a:t>
            </a:r>
            <a:endParaRPr lang="en-US" dirty="0" sz="1400"/>
          </a:p>
        </p:txBody>
      </p:sp>
      <p:sp>
        <p:nvSpPr>
          <p:cNvPr id="4" name="a1f_codebg831"/>
          <p:cNvSpPr/>
          <p:nvPr/>
        </p:nvSpPr>
        <p:spPr>
          <a:xfrm>
            <a:off x="457200" y="1600200"/>
            <a:ext cx="388620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3f_hl832"/>
          <p:cNvSpPr/>
          <p:nvPr/>
        </p:nvSpPr>
        <p:spPr>
          <a:xfrm>
            <a:off x="530352" y="3529584"/>
            <a:ext cx="373989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a1wd0_code833"/>
          <p:cNvSpPr txBox="1"/>
          <p:nvPr/>
        </p:nvSpPr>
        <p:spPr>
          <a:xfrm>
            <a:off x="64008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7" name="a1wd120_code834"/>
          <p:cNvSpPr txBox="1"/>
          <p:nvPr/>
        </p:nvSpPr>
        <p:spPr>
          <a:xfrm>
            <a:off x="640080" y="19933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240_code835"/>
          <p:cNvSpPr txBox="1"/>
          <p:nvPr/>
        </p:nvSpPr>
        <p:spPr>
          <a:xfrm>
            <a:off x="640080" y="22494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360_code836"/>
          <p:cNvSpPr txBox="1"/>
          <p:nvPr/>
        </p:nvSpPr>
        <p:spPr>
          <a:xfrm>
            <a:off x="640080" y="25054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480_code837"/>
          <p:cNvSpPr txBox="1"/>
          <p:nvPr/>
        </p:nvSpPr>
        <p:spPr>
          <a:xfrm>
            <a:off x="640080" y="27614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600_code838"/>
          <p:cNvSpPr txBox="1"/>
          <p:nvPr/>
        </p:nvSpPr>
        <p:spPr>
          <a:xfrm>
            <a:off x="640080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720_code839"/>
          <p:cNvSpPr txBox="1"/>
          <p:nvPr/>
        </p:nvSpPr>
        <p:spPr>
          <a:xfrm>
            <a:off x="640080" y="32735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3" name="a3wd0_code840"/>
          <p:cNvSpPr txBox="1"/>
          <p:nvPr/>
        </p:nvSpPr>
        <p:spPr>
          <a:xfrm>
            <a:off x="64008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4" name="a2f_l841"/>
          <p:cNvSpPr txBox="1"/>
          <p:nvPr/>
        </p:nvSpPr>
        <p:spPr>
          <a:xfrm>
            <a:off x="4617720" y="1554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RIGHT JOIN result</a:t>
            </a:r>
            <a:endParaRPr lang="en-US" dirty="0" sz="1100"/>
          </a:p>
        </p:txBody>
      </p:sp>
      <p:sp>
        <p:nvSpPr>
          <p:cNvPr id="15" name="a3f_l842"/>
          <p:cNvSpPr txBox="1"/>
          <p:nvPr/>
        </p:nvSpPr>
        <p:spPr>
          <a:xfrm>
            <a:off x="672084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WHERE filter</a:t>
            </a:r>
            <a:endParaRPr lang="en-US" dirty="0" sz="1100"/>
          </a:p>
        </p:txBody>
      </p:sp>
      <p:sp>
        <p:nvSpPr>
          <p:cNvPr id="16" name="a2f_cell843"/>
          <p:cNvSpPr txBox="1"/>
          <p:nvPr/>
        </p:nvSpPr>
        <p:spPr>
          <a:xfrm>
            <a:off x="4617720" y="1828800"/>
            <a:ext cx="4572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7" name="a2wd0_cell844"/>
          <p:cNvSpPr txBox="1"/>
          <p:nvPr/>
        </p:nvSpPr>
        <p:spPr>
          <a:xfrm>
            <a:off x="4617720" y="21031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8" name="a2wd150_cell845"/>
          <p:cNvSpPr txBox="1"/>
          <p:nvPr/>
        </p:nvSpPr>
        <p:spPr>
          <a:xfrm>
            <a:off x="4617720" y="237744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9" name="a2wd300_cell846"/>
          <p:cNvSpPr txBox="1"/>
          <p:nvPr/>
        </p:nvSpPr>
        <p:spPr>
          <a:xfrm>
            <a:off x="4617720" y="265176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0" name="a2wd450_cell847"/>
          <p:cNvSpPr txBox="1"/>
          <p:nvPr/>
        </p:nvSpPr>
        <p:spPr>
          <a:xfrm>
            <a:off x="4617720" y="2926080"/>
            <a:ext cx="4572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1" name="a2f_cell848"/>
          <p:cNvSpPr txBox="1"/>
          <p:nvPr/>
        </p:nvSpPr>
        <p:spPr>
          <a:xfrm>
            <a:off x="5074920" y="182880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2" name="a2wd0_cell849"/>
          <p:cNvSpPr txBox="1"/>
          <p:nvPr/>
        </p:nvSpPr>
        <p:spPr>
          <a:xfrm>
            <a:off x="507492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3" name="a2wd150_cell850"/>
          <p:cNvSpPr txBox="1"/>
          <p:nvPr/>
        </p:nvSpPr>
        <p:spPr>
          <a:xfrm>
            <a:off x="507492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4" name="a2wd300_cell851"/>
          <p:cNvSpPr txBox="1"/>
          <p:nvPr/>
        </p:nvSpPr>
        <p:spPr>
          <a:xfrm>
            <a:off x="507492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5" name="a2wd450_cell852"/>
          <p:cNvSpPr txBox="1"/>
          <p:nvPr/>
        </p:nvSpPr>
        <p:spPr>
          <a:xfrm>
            <a:off x="5074920" y="292608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6" name="a2f_cell853"/>
          <p:cNvSpPr txBox="1"/>
          <p:nvPr/>
        </p:nvSpPr>
        <p:spPr>
          <a:xfrm>
            <a:off x="5989320" y="1828800"/>
            <a:ext cx="7772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7" name="a2wd0_cell854"/>
          <p:cNvSpPr txBox="1"/>
          <p:nvPr/>
        </p:nvSpPr>
        <p:spPr>
          <a:xfrm>
            <a:off x="5989320" y="21031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8" name="a2wd150_cell855"/>
          <p:cNvSpPr txBox="1"/>
          <p:nvPr/>
        </p:nvSpPr>
        <p:spPr>
          <a:xfrm>
            <a:off x="5989320" y="23774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29" name="a2wd300_cell856"/>
          <p:cNvSpPr txBox="1"/>
          <p:nvPr/>
        </p:nvSpPr>
        <p:spPr>
          <a:xfrm>
            <a:off x="5989320" y="26517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0" name="a2wd450_cell857"/>
          <p:cNvSpPr txBox="1"/>
          <p:nvPr/>
        </p:nvSpPr>
        <p:spPr>
          <a:xfrm>
            <a:off x="5989320" y="292608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31" name="a2f_cell858"/>
          <p:cNvSpPr txBox="1"/>
          <p:nvPr/>
        </p:nvSpPr>
        <p:spPr>
          <a:xfrm>
            <a:off x="6766560" y="182880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32" name="a2wd0_cell859"/>
          <p:cNvSpPr txBox="1"/>
          <p:nvPr/>
        </p:nvSpPr>
        <p:spPr>
          <a:xfrm>
            <a:off x="676656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3" name="a2wd150_cell860"/>
          <p:cNvSpPr txBox="1"/>
          <p:nvPr/>
        </p:nvSpPr>
        <p:spPr>
          <a:xfrm>
            <a:off x="676656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34" name="a2wd300_cell861"/>
          <p:cNvSpPr txBox="1"/>
          <p:nvPr/>
        </p:nvSpPr>
        <p:spPr>
          <a:xfrm>
            <a:off x="676656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35" name="a2wd450_cell862"/>
          <p:cNvSpPr txBox="1"/>
          <p:nvPr/>
        </p:nvSpPr>
        <p:spPr>
          <a:xfrm>
            <a:off x="676656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36" name="a2f_cell863"/>
          <p:cNvSpPr txBox="1"/>
          <p:nvPr/>
        </p:nvSpPr>
        <p:spPr>
          <a:xfrm>
            <a:off x="7680960" y="182880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7" name="a2wd0_cell864"/>
          <p:cNvSpPr txBox="1"/>
          <p:nvPr/>
        </p:nvSpPr>
        <p:spPr>
          <a:xfrm>
            <a:off x="7680960" y="21031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8" name="a2wd150_cell865"/>
          <p:cNvSpPr txBox="1"/>
          <p:nvPr/>
        </p:nvSpPr>
        <p:spPr>
          <a:xfrm>
            <a:off x="7680960" y="23774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9" name="a2wd300_cell866"/>
          <p:cNvSpPr txBox="1"/>
          <p:nvPr/>
        </p:nvSpPr>
        <p:spPr>
          <a:xfrm>
            <a:off x="7680960" y="26517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0" name="a2wd450_cell867"/>
          <p:cNvSpPr txBox="1"/>
          <p:nvPr/>
        </p:nvSpPr>
        <p:spPr>
          <a:xfrm>
            <a:off x="7680960" y="29260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41" name="a3f_kc868"/>
          <p:cNvSpPr/>
          <p:nvPr/>
        </p:nvSpPr>
        <p:spPr>
          <a:xfrm>
            <a:off x="4599432" y="1810512"/>
            <a:ext cx="493776" cy="140817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2" name="a4f_fade869"/>
          <p:cNvSpPr/>
          <p:nvPr/>
        </p:nvSpPr>
        <p:spPr>
          <a:xfrm>
            <a:off x="4617720" y="210312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a4w_strike870"/>
          <p:cNvSpPr/>
          <p:nvPr/>
        </p:nvSpPr>
        <p:spPr>
          <a:xfrm>
            <a:off x="4663440" y="224028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4" name="a4f_fade871"/>
          <p:cNvSpPr/>
          <p:nvPr/>
        </p:nvSpPr>
        <p:spPr>
          <a:xfrm>
            <a:off x="4617720" y="237744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a4w_strike872"/>
          <p:cNvSpPr/>
          <p:nvPr/>
        </p:nvSpPr>
        <p:spPr>
          <a:xfrm>
            <a:off x="4663440" y="251460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a4f_fade873"/>
          <p:cNvSpPr/>
          <p:nvPr/>
        </p:nvSpPr>
        <p:spPr>
          <a:xfrm>
            <a:off x="4617720" y="265176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a4w_strike874"/>
          <p:cNvSpPr/>
          <p:nvPr/>
        </p:nvSpPr>
        <p:spPr>
          <a:xfrm>
            <a:off x="4663440" y="278892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8" name="a4fd400_keep875"/>
          <p:cNvSpPr/>
          <p:nvPr/>
        </p:nvSpPr>
        <p:spPr>
          <a:xfrm>
            <a:off x="4590288" y="293522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9" name="a5u_nb876"/>
          <p:cNvSpPr/>
          <p:nvPr/>
        </p:nvSpPr>
        <p:spPr>
          <a:xfrm>
            <a:off x="4617720" y="342900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0" name="a5u_ni877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57600"/>
            <a:ext cx="320040" cy="320040"/>
          </a:xfrm>
          <a:prstGeom prst="rect">
            <a:avLst/>
          </a:prstGeom>
        </p:spPr>
      </p:pic>
      <p:sp>
        <p:nvSpPr>
          <p:cNvPr id="51" name="a5u_nt878"/>
          <p:cNvSpPr txBox="1"/>
          <p:nvPr/>
        </p:nvSpPr>
        <p:spPr>
          <a:xfrm>
            <a:off x="5166360" y="3429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1004 points to customer 6, who doesn't exist — a data-quality problem worth catching.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5" grpId="0" animBg="1"/>
      <p:bldP spid="13" grpId="0" animBg="1"/>
      <p:bldP spid="15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Right Anti Join Without RIGHT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orphan orders — using LEFT JOIN only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version</a:t>
            </a:r>
            <a:endParaRPr lang="en-US" dirty="0" sz="1300"/>
          </a:p>
        </p:txBody>
      </p:sp>
      <p:sp>
        <p:nvSpPr>
          <p:cNvPr id="5" name="s_codebg879"/>
          <p:cNvSpPr/>
          <p:nvPr/>
        </p:nvSpPr>
        <p:spPr>
          <a:xfrm>
            <a:off x="457200" y="1463040"/>
            <a:ext cx="37490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6" name="s_code880"/>
          <p:cNvSpPr txBox="1"/>
          <p:nvPr/>
        </p:nvSpPr>
        <p:spPr>
          <a:xfrm>
            <a:off x="640080" y="16002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200"/>
          </a:p>
        </p:txBody>
      </p:sp>
      <p:sp>
        <p:nvSpPr>
          <p:cNvPr id="7" name="s_code881"/>
          <p:cNvSpPr txBox="1"/>
          <p:nvPr/>
        </p:nvSpPr>
        <p:spPr>
          <a:xfrm>
            <a:off x="640080" y="18562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8" name="s_code882"/>
          <p:cNvSpPr txBox="1"/>
          <p:nvPr/>
        </p:nvSpPr>
        <p:spPr>
          <a:xfrm>
            <a:off x="640080" y="21122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9" name="s_code883"/>
          <p:cNvSpPr txBox="1"/>
          <p:nvPr/>
        </p:nvSpPr>
        <p:spPr>
          <a:xfrm>
            <a:off x="640080" y="2368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0" name="s_code884"/>
          <p:cNvSpPr txBox="1"/>
          <p:nvPr/>
        </p:nvSpPr>
        <p:spPr>
          <a:xfrm>
            <a:off x="640080" y="2624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1" name="a1f_eq885"/>
          <p:cNvSpPr txBox="1"/>
          <p:nvPr/>
        </p:nvSpPr>
        <p:spPr>
          <a:xfrm>
            <a:off x="4343400" y="2011680"/>
            <a:ext cx="457200" cy="457200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dirty="0" sz="2200"/>
          </a:p>
        </p:txBody>
      </p:sp>
      <p:sp>
        <p:nvSpPr>
          <p:cNvPr id="12" name="a1f_l886"/>
          <p:cNvSpPr txBox="1"/>
          <p:nvPr/>
        </p:nvSpPr>
        <p:spPr>
          <a:xfrm>
            <a:off x="493776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(tables swapped)</a:t>
            </a:r>
            <a:endParaRPr lang="en-US" dirty="0" sz="1300"/>
          </a:p>
        </p:txBody>
      </p:sp>
      <p:sp>
        <p:nvSpPr>
          <p:cNvPr id="13" name="a1f_codebg887"/>
          <p:cNvSpPr/>
          <p:nvPr/>
        </p:nvSpPr>
        <p:spPr>
          <a:xfrm>
            <a:off x="4937760" y="1463040"/>
            <a:ext cx="374904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4" name="a1wd0_code888"/>
          <p:cNvSpPr txBox="1"/>
          <p:nvPr/>
        </p:nvSpPr>
        <p:spPr>
          <a:xfrm>
            <a:off x="5120640" y="16002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200"/>
          </a:p>
        </p:txBody>
      </p:sp>
      <p:sp>
        <p:nvSpPr>
          <p:cNvPr id="15" name="a1wd180_code889"/>
          <p:cNvSpPr txBox="1"/>
          <p:nvPr/>
        </p:nvSpPr>
        <p:spPr>
          <a:xfrm>
            <a:off x="5120640" y="18562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6" name="a1wd360_code890"/>
          <p:cNvSpPr txBox="1"/>
          <p:nvPr/>
        </p:nvSpPr>
        <p:spPr>
          <a:xfrm>
            <a:off x="5120640" y="21122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7" name="a1wd540_code891"/>
          <p:cNvSpPr txBox="1"/>
          <p:nvPr/>
        </p:nvSpPr>
        <p:spPr>
          <a:xfrm>
            <a:off x="5120640" y="2368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8" name="a1wd720_code892"/>
          <p:cNvSpPr txBox="1"/>
          <p:nvPr/>
        </p:nvSpPr>
        <p:spPr>
          <a:xfrm>
            <a:off x="5120640" y="2624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9" name="a1fd1000_c893"/>
          <p:cNvSpPr txBox="1"/>
          <p:nvPr/>
        </p:nvSpPr>
        <p:spPr>
          <a:xfrm>
            <a:off x="4937760" y="30906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tables + join type; ON and WHERE stay the same</a:t>
            </a:r>
            <a:endParaRPr lang="en-US" dirty="0" sz="1100"/>
          </a:p>
        </p:txBody>
      </p:sp>
      <p:sp>
        <p:nvSpPr>
          <p:cNvPr id="20" name="a2u_tb894"/>
          <p:cNvSpPr/>
          <p:nvPr/>
        </p:nvSpPr>
        <p:spPr>
          <a:xfrm>
            <a:off x="457200" y="37490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pic>
        <p:nvPicPr>
          <p:cNvPr id="21" name="a2u_ti895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05072"/>
            <a:ext cx="457200" cy="457200"/>
          </a:xfrm>
          <a:prstGeom prst="rect">
            <a:avLst/>
          </a:prstGeom>
        </p:spPr>
      </p:pic>
      <p:sp>
        <p:nvSpPr>
          <p:cNvPr id="22" name="a2u_tt896"/>
          <p:cNvSpPr txBox="1"/>
          <p:nvPr/>
        </p:nvSpPr>
        <p:spPr>
          <a:xfrm>
            <a:off x="1371600" y="3749040"/>
            <a:ext cx="713232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table you want to keep (orders) and LEFT JOIN the lookup. With SELECT * the left table's columns simply come first — the rows are identical.</a:t>
            </a:r>
            <a:endParaRPr lang="en-US" dirty="0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897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dirty="0" sz="6000"/>
          </a:p>
        </p:txBody>
      </p:sp>
      <p:sp>
        <p:nvSpPr>
          <p:cNvPr id="3" name="a0ud200_h898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ANTI JOIN</a:t>
            </a:r>
            <a:endParaRPr lang="en-US" dirty="0" sz="4000"/>
          </a:p>
        </p:txBody>
      </p:sp>
      <p:sp>
        <p:nvSpPr>
          <p:cNvPr id="4" name="a0fd450_t899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rows from both tables — the opposite of INNER JOIN</a:t>
            </a:r>
            <a:endParaRPr lang="en-US" dirty="0" sz="1700"/>
          </a:p>
        </p:txBody>
      </p:sp>
      <p:pic>
        <p:nvPicPr>
          <p:cNvPr id="5" name="a0fd300_v900" descr="dab9d2179b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ANTI JOIN — The Concept</a:t>
            </a:r>
            <a:endParaRPr lang="en-US" dirty="0" sz="2800"/>
          </a:p>
        </p:txBody>
      </p:sp>
      <p:pic>
        <p:nvPicPr>
          <p:cNvPr id="3" name="a1f_sv901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371600" cy="868680"/>
          </a:xfrm>
          <a:prstGeom prst="rect">
            <a:avLst/>
          </a:prstGeom>
        </p:spPr>
      </p:pic>
      <p:sp>
        <p:nvSpPr>
          <p:cNvPr id="4" name="a2f_ar902"/>
          <p:cNvSpPr/>
          <p:nvPr/>
        </p:nvSpPr>
        <p:spPr>
          <a:xfrm>
            <a:off x="1874520" y="1417320"/>
            <a:ext cx="320040" cy="228600"/>
          </a:xfrm>
          <a:prstGeom prst="rightArrow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pic>
        <p:nvPicPr>
          <p:cNvPr id="5" name="a2f_sv903" descr="cf9af9b4c3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097280"/>
            <a:ext cx="1371600" cy="868680"/>
          </a:xfrm>
          <a:prstGeom prst="rect">
            <a:avLst/>
          </a:prstGeom>
        </p:spPr>
      </p:pic>
      <p:sp>
        <p:nvSpPr>
          <p:cNvPr id="6" name="a1f_l1904"/>
          <p:cNvSpPr txBox="1"/>
          <p:nvPr/>
        </p:nvSpPr>
        <p:spPr>
          <a:xfrm>
            <a:off x="457200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</a:t>
            </a:r>
            <a:endParaRPr lang="en-US" dirty="0" sz="1100"/>
          </a:p>
        </p:txBody>
      </p:sp>
      <p:sp>
        <p:nvSpPr>
          <p:cNvPr id="7" name="a2f_l2905"/>
          <p:cNvSpPr txBox="1"/>
          <p:nvPr/>
        </p:nvSpPr>
        <p:spPr>
          <a:xfrm>
            <a:off x="2194560" y="20116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dirty="0" sz="1100"/>
          </a:p>
          <a:p>
            <a:pPr algn="ctr" marL="0" indent="0">
              <a:buNone/>
            </a:pPr>
            <a:r>
              <a:rPr sz="11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either key IS NULL</a:t>
            </a:r>
            <a:endParaRPr lang="en-US" dirty="0" sz="1100"/>
          </a:p>
        </p:txBody>
      </p:sp>
      <p:sp>
        <p:nvSpPr>
          <p:cNvPr id="8" name="a3u_pill906"/>
          <p:cNvSpPr txBox="1"/>
          <p:nvPr/>
        </p:nvSpPr>
        <p:spPr>
          <a:xfrm>
            <a:off x="457200" y="274320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unmatching rows</a:t>
            </a:r>
            <a:endParaRPr lang="en-US" dirty="0" sz="1200"/>
          </a:p>
        </p:txBody>
      </p:sp>
      <p:sp>
        <p:nvSpPr>
          <p:cNvPr id="9" name="a3ud200_pill907"/>
          <p:cNvSpPr txBox="1"/>
          <p:nvPr/>
        </p:nvSpPr>
        <p:spPr>
          <a:xfrm>
            <a:off x="457200" y="3246120"/>
            <a:ext cx="3246120" cy="41148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unmatching rows</a:t>
            </a:r>
            <a:endParaRPr lang="en-US" dirty="0" sz="1200"/>
          </a:p>
        </p:txBody>
      </p:sp>
      <p:sp>
        <p:nvSpPr>
          <p:cNvPr id="10" name="a6u_nb908"/>
          <p:cNvSpPr/>
          <p:nvPr/>
        </p:nvSpPr>
        <p:spPr>
          <a:xfrm>
            <a:off x="457200" y="38404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1" name="a6u_ni909" descr="b6ae7cf156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087368"/>
            <a:ext cx="365760" cy="365760"/>
          </a:xfrm>
          <a:prstGeom prst="rect">
            <a:avLst/>
          </a:prstGeom>
        </p:spPr>
      </p:pic>
      <p:sp>
        <p:nvSpPr>
          <p:cNvPr id="12" name="a6u_nt910"/>
          <p:cNvSpPr txBox="1"/>
          <p:nvPr/>
        </p:nvSpPr>
        <p:spPr>
          <a:xfrm>
            <a:off x="1051560" y="3840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ANTI JOIN keyword (e.g. in SQL Server). Build it from a classic join plus a WHERE filter.</a:t>
            </a:r>
            <a:endParaRPr lang="en-US" dirty="0" sz="1100"/>
          </a:p>
        </p:txBody>
      </p:sp>
      <p:sp>
        <p:nvSpPr>
          <p:cNvPr id="13" name="Text 8"/>
          <p:cNvSpPr txBox="1"/>
          <p:nvPr/>
        </p:nvSpPr>
        <p:spPr>
          <a:xfrm>
            <a:off x="4023360" y="914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the rows that don't match in either table — the opposite of INNER JOIN.</a:t>
            </a:r>
            <a:endParaRPr lang="en-US" dirty="0" sz="1600"/>
          </a:p>
        </p:txBody>
      </p:sp>
      <p:sp>
        <p:nvSpPr>
          <p:cNvPr id="14" name="a4f_codebg911"/>
          <p:cNvSpPr/>
          <p:nvPr/>
        </p:nvSpPr>
        <p:spPr>
          <a:xfrm>
            <a:off x="4023360" y="1691640"/>
            <a:ext cx="4663440" cy="1810512"/>
          </a:xfrm>
          <a:prstGeom prst="roundRect">
            <a:avLst>
              <a:gd name="adj" fmla="val 404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5" name="a4f_codelbl912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16" name="a5f_hl913"/>
          <p:cNvSpPr/>
          <p:nvPr/>
        </p:nvSpPr>
        <p:spPr>
          <a:xfrm>
            <a:off x="4096512" y="2852928"/>
            <a:ext cx="4517136" cy="512064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a4wd0_code914"/>
          <p:cNvSpPr txBox="1"/>
          <p:nvPr/>
        </p:nvSpPr>
        <p:spPr>
          <a:xfrm>
            <a:off x="4206240" y="182880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18" name="a4wd300_code915"/>
          <p:cNvSpPr txBox="1"/>
          <p:nvPr/>
        </p:nvSpPr>
        <p:spPr>
          <a:xfrm>
            <a:off x="4206240" y="2084832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19" name="a4wd600_code916"/>
          <p:cNvSpPr txBox="1"/>
          <p:nvPr/>
        </p:nvSpPr>
        <p:spPr>
          <a:xfrm>
            <a:off x="4206240" y="2340864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20" name="a4wd900_code917"/>
          <p:cNvSpPr txBox="1"/>
          <p:nvPr/>
        </p:nvSpPr>
        <p:spPr>
          <a:xfrm>
            <a:off x="4206240" y="2596896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dirty="0" sz="1300"/>
          </a:p>
        </p:txBody>
      </p:sp>
      <p:sp>
        <p:nvSpPr>
          <p:cNvPr id="21" name="a5wd0_code918"/>
          <p:cNvSpPr txBox="1"/>
          <p:nvPr/>
        </p:nvSpPr>
        <p:spPr>
          <a:xfrm>
            <a:off x="4206240" y="2852928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dirty="0" sz="1300"/>
          </a:p>
        </p:txBody>
      </p:sp>
      <p:sp>
        <p:nvSpPr>
          <p:cNvPr id="22" name="a5wd0_code919"/>
          <p:cNvSpPr txBox="1"/>
          <p:nvPr/>
        </p:nvSpPr>
        <p:spPr>
          <a:xfrm>
            <a:off x="4206240" y="310896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dirty="0" sz="1300"/>
          </a:p>
        </p:txBody>
      </p:sp>
      <p:sp>
        <p:nvSpPr>
          <p:cNvPr id="23" name="a6f_cb920"/>
          <p:cNvSpPr/>
          <p:nvPr/>
        </p:nvSpPr>
        <p:spPr>
          <a:xfrm>
            <a:off x="4023360" y="359359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24" name="a6f_ct921"/>
          <p:cNvSpPr txBox="1"/>
          <p:nvPr/>
        </p:nvSpPr>
        <p:spPr>
          <a:xfrm>
            <a:off x="4206240" y="359359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OR, not AND.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on either side qualifies. Table order doesn't matter.</a:t>
            </a:r>
            <a:endParaRPr lang="en-US" dirty="0" sz="1200"/>
          </a:p>
        </p:txBody>
      </p:sp>
      <p:sp>
        <p:nvSpPr>
          <p:cNvPr id="25" name="a6f_u922"/>
          <p:cNvSpPr txBox="1"/>
          <p:nvPr/>
        </p:nvSpPr>
        <p:spPr>
          <a:xfrm>
            <a:off x="402336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to:</a:t>
            </a:r>
            <a:endParaRPr lang="en-US" dirty="0" sz="1200"/>
          </a:p>
        </p:txBody>
      </p:sp>
      <p:sp>
        <p:nvSpPr>
          <p:cNvPr id="26" name="a6ud200_chip923"/>
          <p:cNvSpPr txBox="1"/>
          <p:nvPr/>
        </p:nvSpPr>
        <p:spPr>
          <a:xfrm>
            <a:off x="489204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Recombine</a:t>
            </a:r>
            <a:endParaRPr lang="en-US" dirty="0" sz="1100"/>
          </a:p>
        </p:txBody>
      </p:sp>
      <p:sp>
        <p:nvSpPr>
          <p:cNvPr id="27" name="a6ud350_chip924"/>
          <p:cNvSpPr txBox="1"/>
          <p:nvPr/>
        </p:nvSpPr>
        <p:spPr>
          <a:xfrm>
            <a:off x="6080760" y="42976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dirty="0" sz="1100"/>
          </a:p>
        </p:txBody>
      </p:sp>
      <p:sp>
        <p:nvSpPr>
          <p:cNvPr id="28" name="a6ud500_chip925"/>
          <p:cNvSpPr txBox="1"/>
          <p:nvPr/>
        </p:nvSpPr>
        <p:spPr>
          <a:xfrm>
            <a:off x="7269480" y="4297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existence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16" grpId="0" animBg="1"/>
      <p:bldP spid="21" grpId="0" animBg="1"/>
      <p:bldP spid="22" grpId="0" animBg="1"/>
      <p:bldP spid="10" grpId="0" animBg="1"/>
      <p:bldP spid="11" grpId="0" animBg="1"/>
      <p:bldP spid="1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ANTI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customers without orders and orders without customers.</a:t>
            </a:r>
            <a:endParaRPr lang="en-US" dirty="0" sz="1400"/>
          </a:p>
        </p:txBody>
      </p:sp>
      <p:sp>
        <p:nvSpPr>
          <p:cNvPr id="4" name="a1f_codebg926"/>
          <p:cNvSpPr/>
          <p:nvPr/>
        </p:nvSpPr>
        <p:spPr>
          <a:xfrm>
            <a:off x="457200" y="1600200"/>
            <a:ext cx="3886200" cy="2578608"/>
          </a:xfrm>
          <a:prstGeom prst="roundRect">
            <a:avLst>
              <a:gd name="adj" fmla="val 283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3f_hl927"/>
          <p:cNvSpPr/>
          <p:nvPr/>
        </p:nvSpPr>
        <p:spPr>
          <a:xfrm>
            <a:off x="530352" y="3529584"/>
            <a:ext cx="3739896" cy="512064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a1wd0_code928"/>
          <p:cNvSpPr txBox="1"/>
          <p:nvPr/>
        </p:nvSpPr>
        <p:spPr>
          <a:xfrm>
            <a:off x="64008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7" name="a1wd120_code929"/>
          <p:cNvSpPr txBox="1"/>
          <p:nvPr/>
        </p:nvSpPr>
        <p:spPr>
          <a:xfrm>
            <a:off x="640080" y="19933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240_code930"/>
          <p:cNvSpPr txBox="1"/>
          <p:nvPr/>
        </p:nvSpPr>
        <p:spPr>
          <a:xfrm>
            <a:off x="640080" y="22494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360_code931"/>
          <p:cNvSpPr txBox="1"/>
          <p:nvPr/>
        </p:nvSpPr>
        <p:spPr>
          <a:xfrm>
            <a:off x="640080" y="25054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480_code932"/>
          <p:cNvSpPr txBox="1"/>
          <p:nvPr/>
        </p:nvSpPr>
        <p:spPr>
          <a:xfrm>
            <a:off x="640080" y="27614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600_code933"/>
          <p:cNvSpPr txBox="1"/>
          <p:nvPr/>
        </p:nvSpPr>
        <p:spPr>
          <a:xfrm>
            <a:off x="640080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720_code934"/>
          <p:cNvSpPr txBox="1"/>
          <p:nvPr/>
        </p:nvSpPr>
        <p:spPr>
          <a:xfrm>
            <a:off x="640080" y="32735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3" name="a3wd0_code935"/>
          <p:cNvSpPr txBox="1"/>
          <p:nvPr/>
        </p:nvSpPr>
        <p:spPr>
          <a:xfrm>
            <a:off x="64008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dirty="0" sz="1200"/>
          </a:p>
        </p:txBody>
      </p:sp>
      <p:sp>
        <p:nvSpPr>
          <p:cNvPr id="14" name="a3wd0_code936"/>
          <p:cNvSpPr txBox="1"/>
          <p:nvPr/>
        </p:nvSpPr>
        <p:spPr>
          <a:xfrm>
            <a:off x="640080" y="3785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5" name="a2f_l937"/>
          <p:cNvSpPr txBox="1"/>
          <p:nvPr/>
        </p:nvSpPr>
        <p:spPr>
          <a:xfrm>
            <a:off x="4617720" y="1554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FULL JOIN result</a:t>
            </a:r>
            <a:endParaRPr lang="en-US" dirty="0" sz="1100"/>
          </a:p>
        </p:txBody>
      </p:sp>
      <p:sp>
        <p:nvSpPr>
          <p:cNvPr id="16" name="a3f_l938"/>
          <p:cNvSpPr txBox="1"/>
          <p:nvPr/>
        </p:nvSpPr>
        <p:spPr>
          <a:xfrm>
            <a:off x="672084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WHERE filter</a:t>
            </a:r>
            <a:endParaRPr lang="en-US" dirty="0" sz="1100"/>
          </a:p>
        </p:txBody>
      </p:sp>
      <p:sp>
        <p:nvSpPr>
          <p:cNvPr id="17" name="a2f_cell939"/>
          <p:cNvSpPr txBox="1"/>
          <p:nvPr/>
        </p:nvSpPr>
        <p:spPr>
          <a:xfrm>
            <a:off x="4617720" y="1828800"/>
            <a:ext cx="4572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8" name="a2wd0_cell940"/>
          <p:cNvSpPr txBox="1"/>
          <p:nvPr/>
        </p:nvSpPr>
        <p:spPr>
          <a:xfrm>
            <a:off x="4617720" y="21031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9" name="a2wd150_cell941"/>
          <p:cNvSpPr txBox="1"/>
          <p:nvPr/>
        </p:nvSpPr>
        <p:spPr>
          <a:xfrm>
            <a:off x="4617720" y="237744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0" name="a2wd300_cell942"/>
          <p:cNvSpPr txBox="1"/>
          <p:nvPr/>
        </p:nvSpPr>
        <p:spPr>
          <a:xfrm>
            <a:off x="4617720" y="265176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1" name="a2wd450_cell943"/>
          <p:cNvSpPr txBox="1"/>
          <p:nvPr/>
        </p:nvSpPr>
        <p:spPr>
          <a:xfrm>
            <a:off x="4617720" y="292608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22" name="a2wd600_cell944"/>
          <p:cNvSpPr txBox="1"/>
          <p:nvPr/>
        </p:nvSpPr>
        <p:spPr>
          <a:xfrm>
            <a:off x="4617720" y="320040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3" name="a2wd750_cell945"/>
          <p:cNvSpPr txBox="1"/>
          <p:nvPr/>
        </p:nvSpPr>
        <p:spPr>
          <a:xfrm>
            <a:off x="4617720" y="3474720"/>
            <a:ext cx="4572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4" name="a2f_cell946"/>
          <p:cNvSpPr txBox="1"/>
          <p:nvPr/>
        </p:nvSpPr>
        <p:spPr>
          <a:xfrm>
            <a:off x="5074920" y="182880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5" name="a2wd0_cell947"/>
          <p:cNvSpPr txBox="1"/>
          <p:nvPr/>
        </p:nvSpPr>
        <p:spPr>
          <a:xfrm>
            <a:off x="507492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6" name="a2wd150_cell948"/>
          <p:cNvSpPr txBox="1"/>
          <p:nvPr/>
        </p:nvSpPr>
        <p:spPr>
          <a:xfrm>
            <a:off x="507492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7" name="a2wd300_cell949"/>
          <p:cNvSpPr txBox="1"/>
          <p:nvPr/>
        </p:nvSpPr>
        <p:spPr>
          <a:xfrm>
            <a:off x="507492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8" name="a2wd450_cell950"/>
          <p:cNvSpPr txBox="1"/>
          <p:nvPr/>
        </p:nvSpPr>
        <p:spPr>
          <a:xfrm>
            <a:off x="507492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9" name="a2wd600_cell951"/>
          <p:cNvSpPr txBox="1"/>
          <p:nvPr/>
        </p:nvSpPr>
        <p:spPr>
          <a:xfrm>
            <a:off x="5074920" y="32004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30" name="a2wd750_cell952"/>
          <p:cNvSpPr txBox="1"/>
          <p:nvPr/>
        </p:nvSpPr>
        <p:spPr>
          <a:xfrm>
            <a:off x="5074920" y="347472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1" name="a2f_cell953"/>
          <p:cNvSpPr txBox="1"/>
          <p:nvPr/>
        </p:nvSpPr>
        <p:spPr>
          <a:xfrm>
            <a:off x="5989320" y="1828800"/>
            <a:ext cx="7772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2" name="a2wd0_cell954"/>
          <p:cNvSpPr txBox="1"/>
          <p:nvPr/>
        </p:nvSpPr>
        <p:spPr>
          <a:xfrm>
            <a:off x="5989320" y="21031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3" name="a2wd150_cell955"/>
          <p:cNvSpPr txBox="1"/>
          <p:nvPr/>
        </p:nvSpPr>
        <p:spPr>
          <a:xfrm>
            <a:off x="5989320" y="23774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34" name="a2wd300_cell956"/>
          <p:cNvSpPr txBox="1"/>
          <p:nvPr/>
        </p:nvSpPr>
        <p:spPr>
          <a:xfrm>
            <a:off x="5989320" y="26517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5" name="a2wd450_cell957"/>
          <p:cNvSpPr txBox="1"/>
          <p:nvPr/>
        </p:nvSpPr>
        <p:spPr>
          <a:xfrm>
            <a:off x="5989320" y="292608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6" name="a2wd600_cell958"/>
          <p:cNvSpPr txBox="1"/>
          <p:nvPr/>
        </p:nvSpPr>
        <p:spPr>
          <a:xfrm>
            <a:off x="5989320" y="320040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7" name="a2wd750_cell959"/>
          <p:cNvSpPr txBox="1"/>
          <p:nvPr/>
        </p:nvSpPr>
        <p:spPr>
          <a:xfrm>
            <a:off x="5989320" y="34747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38" name="a2f_cell960"/>
          <p:cNvSpPr txBox="1"/>
          <p:nvPr/>
        </p:nvSpPr>
        <p:spPr>
          <a:xfrm>
            <a:off x="6766560" y="182880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39" name="a2wd0_cell961"/>
          <p:cNvSpPr txBox="1"/>
          <p:nvPr/>
        </p:nvSpPr>
        <p:spPr>
          <a:xfrm>
            <a:off x="676656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0" name="a2wd150_cell962"/>
          <p:cNvSpPr txBox="1"/>
          <p:nvPr/>
        </p:nvSpPr>
        <p:spPr>
          <a:xfrm>
            <a:off x="676656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1" name="a2wd300_cell963"/>
          <p:cNvSpPr txBox="1"/>
          <p:nvPr/>
        </p:nvSpPr>
        <p:spPr>
          <a:xfrm>
            <a:off x="676656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42" name="a2wd450_cell964"/>
          <p:cNvSpPr txBox="1"/>
          <p:nvPr/>
        </p:nvSpPr>
        <p:spPr>
          <a:xfrm>
            <a:off x="6766560" y="292608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3" name="a2wd600_cell965"/>
          <p:cNvSpPr txBox="1"/>
          <p:nvPr/>
        </p:nvSpPr>
        <p:spPr>
          <a:xfrm>
            <a:off x="6766560" y="320040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4" name="a2wd750_cell966"/>
          <p:cNvSpPr txBox="1"/>
          <p:nvPr/>
        </p:nvSpPr>
        <p:spPr>
          <a:xfrm>
            <a:off x="6766560" y="34747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45" name="a2f_cell967"/>
          <p:cNvSpPr txBox="1"/>
          <p:nvPr/>
        </p:nvSpPr>
        <p:spPr>
          <a:xfrm>
            <a:off x="7680960" y="182880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46" name="a2wd0_cell968"/>
          <p:cNvSpPr txBox="1"/>
          <p:nvPr/>
        </p:nvSpPr>
        <p:spPr>
          <a:xfrm>
            <a:off x="7680960" y="21031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7" name="a2wd150_cell969"/>
          <p:cNvSpPr txBox="1"/>
          <p:nvPr/>
        </p:nvSpPr>
        <p:spPr>
          <a:xfrm>
            <a:off x="7680960" y="23774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48" name="a2wd300_cell970"/>
          <p:cNvSpPr txBox="1"/>
          <p:nvPr/>
        </p:nvSpPr>
        <p:spPr>
          <a:xfrm>
            <a:off x="7680960" y="26517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9" name="a2wd450_cell971"/>
          <p:cNvSpPr txBox="1"/>
          <p:nvPr/>
        </p:nvSpPr>
        <p:spPr>
          <a:xfrm>
            <a:off x="7680960" y="292608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50" name="a2wd600_cell972"/>
          <p:cNvSpPr txBox="1"/>
          <p:nvPr/>
        </p:nvSpPr>
        <p:spPr>
          <a:xfrm>
            <a:off x="7680960" y="320040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51" name="a2wd750_cell973"/>
          <p:cNvSpPr txBox="1"/>
          <p:nvPr/>
        </p:nvSpPr>
        <p:spPr>
          <a:xfrm>
            <a:off x="7680960" y="34747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52" name="a3f_kc974"/>
          <p:cNvSpPr/>
          <p:nvPr/>
        </p:nvSpPr>
        <p:spPr>
          <a:xfrm>
            <a:off x="4599432" y="1810512"/>
            <a:ext cx="493776" cy="195681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53" name="a3f_kc975"/>
          <p:cNvSpPr/>
          <p:nvPr/>
        </p:nvSpPr>
        <p:spPr>
          <a:xfrm>
            <a:off x="6748272" y="1810512"/>
            <a:ext cx="950976" cy="195681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54" name="a4f_fade976"/>
          <p:cNvSpPr/>
          <p:nvPr/>
        </p:nvSpPr>
        <p:spPr>
          <a:xfrm>
            <a:off x="4617720" y="210312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a4w_strike977"/>
          <p:cNvSpPr/>
          <p:nvPr/>
        </p:nvSpPr>
        <p:spPr>
          <a:xfrm>
            <a:off x="4663440" y="224028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6" name="a4f_fade978"/>
          <p:cNvSpPr/>
          <p:nvPr/>
        </p:nvSpPr>
        <p:spPr>
          <a:xfrm>
            <a:off x="4617720" y="237744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a4w_strike979"/>
          <p:cNvSpPr/>
          <p:nvPr/>
        </p:nvSpPr>
        <p:spPr>
          <a:xfrm>
            <a:off x="4663440" y="251460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8" name="a4f_fade980"/>
          <p:cNvSpPr/>
          <p:nvPr/>
        </p:nvSpPr>
        <p:spPr>
          <a:xfrm>
            <a:off x="4617720" y="265176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a4w_strike981"/>
          <p:cNvSpPr/>
          <p:nvPr/>
        </p:nvSpPr>
        <p:spPr>
          <a:xfrm>
            <a:off x="4663440" y="278892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0" name="a4fd400_keep982"/>
          <p:cNvSpPr/>
          <p:nvPr/>
        </p:nvSpPr>
        <p:spPr>
          <a:xfrm>
            <a:off x="4590288" y="293522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61" name="a4fd400_keep983"/>
          <p:cNvSpPr/>
          <p:nvPr/>
        </p:nvSpPr>
        <p:spPr>
          <a:xfrm>
            <a:off x="4590288" y="320954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62" name="a4fd400_keep984"/>
          <p:cNvSpPr/>
          <p:nvPr/>
        </p:nvSpPr>
        <p:spPr>
          <a:xfrm>
            <a:off x="4590288" y="348386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63" name="a5u_nb985"/>
          <p:cNvSpPr/>
          <p:nvPr/>
        </p:nvSpPr>
        <p:spPr>
          <a:xfrm>
            <a:off x="4617720" y="397764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4" name="a5u_ni986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4206240"/>
            <a:ext cx="320040" cy="320040"/>
          </a:xfrm>
          <a:prstGeom prst="rect">
            <a:avLst/>
          </a:prstGeom>
        </p:spPr>
      </p:pic>
      <p:sp>
        <p:nvSpPr>
          <p:cNvPr id="65" name="a5u_nt987"/>
          <p:cNvSpPr txBox="1"/>
          <p:nvPr/>
        </p:nvSpPr>
        <p:spPr>
          <a:xfrm>
            <a:off x="5166360" y="397764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“boring” matched rows are dropped; only the odd cases on either side remain.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" grpId="0" animBg="1"/>
      <p:bldP spid="13" grpId="0" animBg="1"/>
      <p:bldP spid="14" grpId="0" animBg="1"/>
      <p:bldP spid="16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INNER JOIN Without INNER JOIN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their orders, only for those who ordered — without using INNER JOIN.</a:t>
            </a:r>
            <a:endParaRPr lang="en-US" dirty="0" sz="1400"/>
          </a:p>
        </p:txBody>
      </p:sp>
      <p:sp>
        <p:nvSpPr>
          <p:cNvPr id="4" name="a1f_codebg988"/>
          <p:cNvSpPr/>
          <p:nvPr/>
        </p:nvSpPr>
        <p:spPr>
          <a:xfrm>
            <a:off x="457200" y="1600200"/>
            <a:ext cx="388620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3f_hl989"/>
          <p:cNvSpPr/>
          <p:nvPr/>
        </p:nvSpPr>
        <p:spPr>
          <a:xfrm>
            <a:off x="530352" y="3529584"/>
            <a:ext cx="373989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a1wd0_code990"/>
          <p:cNvSpPr txBox="1"/>
          <p:nvPr/>
        </p:nvSpPr>
        <p:spPr>
          <a:xfrm>
            <a:off x="64008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7" name="a1wd120_code991"/>
          <p:cNvSpPr txBox="1"/>
          <p:nvPr/>
        </p:nvSpPr>
        <p:spPr>
          <a:xfrm>
            <a:off x="640080" y="19933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8" name="a1wd240_code992"/>
          <p:cNvSpPr txBox="1"/>
          <p:nvPr/>
        </p:nvSpPr>
        <p:spPr>
          <a:xfrm>
            <a:off x="640080" y="22494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9" name="a1wd360_code993"/>
          <p:cNvSpPr txBox="1"/>
          <p:nvPr/>
        </p:nvSpPr>
        <p:spPr>
          <a:xfrm>
            <a:off x="640080" y="25054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200"/>
          </a:p>
        </p:txBody>
      </p:sp>
      <p:sp>
        <p:nvSpPr>
          <p:cNvPr id="10" name="a1wd480_code994"/>
          <p:cNvSpPr txBox="1"/>
          <p:nvPr/>
        </p:nvSpPr>
        <p:spPr>
          <a:xfrm>
            <a:off x="640080" y="27614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600_code995"/>
          <p:cNvSpPr txBox="1"/>
          <p:nvPr/>
        </p:nvSpPr>
        <p:spPr>
          <a:xfrm>
            <a:off x="640080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2" name="a1wd720_code996"/>
          <p:cNvSpPr txBox="1"/>
          <p:nvPr/>
        </p:nvSpPr>
        <p:spPr>
          <a:xfrm>
            <a:off x="640080" y="32735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200"/>
          </a:p>
        </p:txBody>
      </p:sp>
      <p:sp>
        <p:nvSpPr>
          <p:cNvPr id="13" name="a3wd0_code997"/>
          <p:cNvSpPr txBox="1"/>
          <p:nvPr/>
        </p:nvSpPr>
        <p:spPr>
          <a:xfrm>
            <a:off x="64008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4" name="a2f_l998"/>
          <p:cNvSpPr txBox="1"/>
          <p:nvPr/>
        </p:nvSpPr>
        <p:spPr>
          <a:xfrm>
            <a:off x="4617720" y="1554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LEFT JOIN result</a:t>
            </a:r>
            <a:endParaRPr lang="en-US" dirty="0" sz="1100"/>
          </a:p>
        </p:txBody>
      </p:sp>
      <p:sp>
        <p:nvSpPr>
          <p:cNvPr id="15" name="a3f_l999"/>
          <p:cNvSpPr txBox="1"/>
          <p:nvPr/>
        </p:nvSpPr>
        <p:spPr>
          <a:xfrm>
            <a:off x="672084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WHERE filter</a:t>
            </a:r>
            <a:endParaRPr lang="en-US" dirty="0" sz="1100"/>
          </a:p>
        </p:txBody>
      </p:sp>
      <p:sp>
        <p:nvSpPr>
          <p:cNvPr id="16" name="a2f_cell1000"/>
          <p:cNvSpPr txBox="1"/>
          <p:nvPr/>
        </p:nvSpPr>
        <p:spPr>
          <a:xfrm>
            <a:off x="4617720" y="1828800"/>
            <a:ext cx="4572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7" name="a2wd0_cell1001"/>
          <p:cNvSpPr txBox="1"/>
          <p:nvPr/>
        </p:nvSpPr>
        <p:spPr>
          <a:xfrm>
            <a:off x="4617720" y="21031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8" name="a2wd150_cell1002"/>
          <p:cNvSpPr txBox="1"/>
          <p:nvPr/>
        </p:nvSpPr>
        <p:spPr>
          <a:xfrm>
            <a:off x="4617720" y="237744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9" name="a2wd300_cell1003"/>
          <p:cNvSpPr txBox="1"/>
          <p:nvPr/>
        </p:nvSpPr>
        <p:spPr>
          <a:xfrm>
            <a:off x="4617720" y="265176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0" name="a2wd450_cell1004"/>
          <p:cNvSpPr txBox="1"/>
          <p:nvPr/>
        </p:nvSpPr>
        <p:spPr>
          <a:xfrm>
            <a:off x="4617720" y="292608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21" name="a2wd600_cell1005"/>
          <p:cNvSpPr txBox="1"/>
          <p:nvPr/>
        </p:nvSpPr>
        <p:spPr>
          <a:xfrm>
            <a:off x="4617720" y="320040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2" name="a2f_cell1006"/>
          <p:cNvSpPr txBox="1"/>
          <p:nvPr/>
        </p:nvSpPr>
        <p:spPr>
          <a:xfrm>
            <a:off x="5074920" y="182880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3" name="a2wd0_cell1007"/>
          <p:cNvSpPr txBox="1"/>
          <p:nvPr/>
        </p:nvSpPr>
        <p:spPr>
          <a:xfrm>
            <a:off x="507492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4" name="a2wd150_cell1008"/>
          <p:cNvSpPr txBox="1"/>
          <p:nvPr/>
        </p:nvSpPr>
        <p:spPr>
          <a:xfrm>
            <a:off x="507492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5" name="a2wd300_cell1009"/>
          <p:cNvSpPr txBox="1"/>
          <p:nvPr/>
        </p:nvSpPr>
        <p:spPr>
          <a:xfrm>
            <a:off x="507492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6" name="a2wd450_cell1010"/>
          <p:cNvSpPr txBox="1"/>
          <p:nvPr/>
        </p:nvSpPr>
        <p:spPr>
          <a:xfrm>
            <a:off x="507492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7" name="a2wd600_cell1011"/>
          <p:cNvSpPr txBox="1"/>
          <p:nvPr/>
        </p:nvSpPr>
        <p:spPr>
          <a:xfrm>
            <a:off x="5074920" y="32004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8" name="a2f_cell1012"/>
          <p:cNvSpPr txBox="1"/>
          <p:nvPr/>
        </p:nvSpPr>
        <p:spPr>
          <a:xfrm>
            <a:off x="5989320" y="1828800"/>
            <a:ext cx="7772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9" name="a2wd0_cell1013"/>
          <p:cNvSpPr txBox="1"/>
          <p:nvPr/>
        </p:nvSpPr>
        <p:spPr>
          <a:xfrm>
            <a:off x="5989320" y="21031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0" name="a2wd150_cell1014"/>
          <p:cNvSpPr txBox="1"/>
          <p:nvPr/>
        </p:nvSpPr>
        <p:spPr>
          <a:xfrm>
            <a:off x="5989320" y="23774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31" name="a2wd300_cell1015"/>
          <p:cNvSpPr txBox="1"/>
          <p:nvPr/>
        </p:nvSpPr>
        <p:spPr>
          <a:xfrm>
            <a:off x="5989320" y="26517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2" name="a2wd450_cell1016"/>
          <p:cNvSpPr txBox="1"/>
          <p:nvPr/>
        </p:nvSpPr>
        <p:spPr>
          <a:xfrm>
            <a:off x="5989320" y="292608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3" name="a2wd600_cell1017"/>
          <p:cNvSpPr txBox="1"/>
          <p:nvPr/>
        </p:nvSpPr>
        <p:spPr>
          <a:xfrm>
            <a:off x="5989320" y="3200400"/>
            <a:ext cx="7772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4" name="a2f_cell1018"/>
          <p:cNvSpPr txBox="1"/>
          <p:nvPr/>
        </p:nvSpPr>
        <p:spPr>
          <a:xfrm>
            <a:off x="6766560" y="182880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35" name="a2wd0_cell1019"/>
          <p:cNvSpPr txBox="1"/>
          <p:nvPr/>
        </p:nvSpPr>
        <p:spPr>
          <a:xfrm>
            <a:off x="676656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6" name="a2wd150_cell1020"/>
          <p:cNvSpPr txBox="1"/>
          <p:nvPr/>
        </p:nvSpPr>
        <p:spPr>
          <a:xfrm>
            <a:off x="676656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37" name="a2wd300_cell1021"/>
          <p:cNvSpPr txBox="1"/>
          <p:nvPr/>
        </p:nvSpPr>
        <p:spPr>
          <a:xfrm>
            <a:off x="676656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38" name="a2wd450_cell1022"/>
          <p:cNvSpPr txBox="1"/>
          <p:nvPr/>
        </p:nvSpPr>
        <p:spPr>
          <a:xfrm>
            <a:off x="6766560" y="292608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9" name="a2wd600_cell1023"/>
          <p:cNvSpPr txBox="1"/>
          <p:nvPr/>
        </p:nvSpPr>
        <p:spPr>
          <a:xfrm>
            <a:off x="6766560" y="3200400"/>
            <a:ext cx="9144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0" name="a2f_cell1024"/>
          <p:cNvSpPr txBox="1"/>
          <p:nvPr/>
        </p:nvSpPr>
        <p:spPr>
          <a:xfrm>
            <a:off x="7680960" y="182880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41" name="a2wd0_cell1025"/>
          <p:cNvSpPr txBox="1"/>
          <p:nvPr/>
        </p:nvSpPr>
        <p:spPr>
          <a:xfrm>
            <a:off x="7680960" y="21031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2" name="a2wd150_cell1026"/>
          <p:cNvSpPr txBox="1"/>
          <p:nvPr/>
        </p:nvSpPr>
        <p:spPr>
          <a:xfrm>
            <a:off x="7680960" y="23774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43" name="a2wd300_cell1027"/>
          <p:cNvSpPr txBox="1"/>
          <p:nvPr/>
        </p:nvSpPr>
        <p:spPr>
          <a:xfrm>
            <a:off x="7680960" y="26517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4" name="a2wd450_cell1028"/>
          <p:cNvSpPr txBox="1"/>
          <p:nvPr/>
        </p:nvSpPr>
        <p:spPr>
          <a:xfrm>
            <a:off x="7680960" y="292608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5" name="a2wd600_cell1029"/>
          <p:cNvSpPr txBox="1"/>
          <p:nvPr/>
        </p:nvSpPr>
        <p:spPr>
          <a:xfrm>
            <a:off x="7680960" y="3200400"/>
            <a:ext cx="54864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6" name="a3f_kc1030"/>
          <p:cNvSpPr/>
          <p:nvPr/>
        </p:nvSpPr>
        <p:spPr>
          <a:xfrm>
            <a:off x="6748272" y="1810512"/>
            <a:ext cx="950976" cy="168249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7" name="a4fd400_keep1031"/>
          <p:cNvSpPr/>
          <p:nvPr/>
        </p:nvSpPr>
        <p:spPr>
          <a:xfrm>
            <a:off x="4590288" y="211226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8" name="a4fd400_keep1032"/>
          <p:cNvSpPr/>
          <p:nvPr/>
        </p:nvSpPr>
        <p:spPr>
          <a:xfrm>
            <a:off x="4590288" y="238658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9" name="a4fd400_keep1033"/>
          <p:cNvSpPr/>
          <p:nvPr/>
        </p:nvSpPr>
        <p:spPr>
          <a:xfrm>
            <a:off x="4590288" y="266090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50" name="a4f_fade1034"/>
          <p:cNvSpPr/>
          <p:nvPr/>
        </p:nvSpPr>
        <p:spPr>
          <a:xfrm>
            <a:off x="4617720" y="292608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a4w_strike1035"/>
          <p:cNvSpPr/>
          <p:nvPr/>
        </p:nvSpPr>
        <p:spPr>
          <a:xfrm>
            <a:off x="4663440" y="306324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2" name="a4f_fade1036"/>
          <p:cNvSpPr/>
          <p:nvPr/>
        </p:nvSpPr>
        <p:spPr>
          <a:xfrm>
            <a:off x="4617720" y="3200400"/>
            <a:ext cx="3611880" cy="274320"/>
          </a:xfrm>
          <a:prstGeom prst="rect">
            <a:avLst/>
          </a:prstGeom>
          <a:solidFill>
            <a:srgbClr val="F8FAFC">
              <a:alpha val="80000"/>
            </a:srgbClr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a4w_strike1037"/>
          <p:cNvSpPr/>
          <p:nvPr/>
        </p:nvSpPr>
        <p:spPr>
          <a:xfrm>
            <a:off x="4663440" y="3337560"/>
            <a:ext cx="3520440" cy="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4" name="a5u_nb1038"/>
          <p:cNvSpPr/>
          <p:nvPr/>
        </p:nvSpPr>
        <p:spPr>
          <a:xfrm>
            <a:off x="4617720" y="370332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5" name="a5u_ni1039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931920"/>
            <a:ext cx="320040" cy="320040"/>
          </a:xfrm>
          <a:prstGeom prst="rect">
            <a:avLst/>
          </a:prstGeom>
        </p:spPr>
      </p:pic>
      <p:sp>
        <p:nvSpPr>
          <p:cNvPr id="56" name="a5u_nt1040"/>
          <p:cNvSpPr txBox="1"/>
          <p:nvPr/>
        </p:nvSpPr>
        <p:spPr>
          <a:xfrm>
            <a:off x="5166360" y="37033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NOT NULL keeps only matched rows — exactly the INNER JOIN result. Build queries step by step.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5" grpId="0" animBg="1"/>
      <p:bldP spid="13" grpId="0" animBg="1"/>
      <p:bldP spid="1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104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dirty="0" sz="6000"/>
          </a:p>
        </p:txBody>
      </p:sp>
      <p:sp>
        <p:nvSpPr>
          <p:cNvPr id="3" name="a0ud200_h104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</a:t>
            </a:r>
            <a:endParaRPr lang="en-US" dirty="0" sz="4000"/>
          </a:p>
        </p:txBody>
      </p:sp>
      <p:sp>
        <p:nvSpPr>
          <p:cNvPr id="4" name="a0fd450_t104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from the left combined with every row from the right</a:t>
            </a:r>
            <a:endParaRPr lang="en-US" dirty="0" sz="1700"/>
          </a:p>
        </p:txBody>
      </p:sp>
      <p:pic>
        <p:nvPicPr>
          <p:cNvPr id="5" name="a0fd300_v1044" descr="b5dc689932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— The Concept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(A)</a:t>
            </a:r>
            <a:endParaRPr lang="en-US" dirty="0" sz="1100"/>
          </a:p>
        </p:txBody>
      </p:sp>
      <p:sp>
        <p:nvSpPr>
          <p:cNvPr id="4" name="Text 2"/>
          <p:cNvSpPr txBox="1"/>
          <p:nvPr/>
        </p:nvSpPr>
        <p:spPr>
          <a:xfrm>
            <a:off x="2377440" y="9144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colors (B)</a:t>
            </a:r>
            <a:endParaRPr lang="en-US" dirty="0" sz="1100"/>
          </a:p>
        </p:txBody>
      </p:sp>
      <p:sp>
        <p:nvSpPr>
          <p:cNvPr id="5" name="s_cell1045"/>
          <p:cNvSpPr txBox="1"/>
          <p:nvPr/>
        </p:nvSpPr>
        <p:spPr>
          <a:xfrm>
            <a:off x="457200" y="1417320"/>
            <a:ext cx="914400" cy="329184"/>
          </a:xfrm>
          <a:prstGeom prst="rect">
            <a:avLst/>
          </a:prstGeom>
          <a:solidFill>
            <a:srgbClr val="CCFBF1"/>
          </a:solidFill>
          <a:ln w="9525">
            <a:solidFill>
              <a:srgbClr val="14B8A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T-shirt</a:t>
            </a:r>
            <a:endParaRPr lang="en-US" dirty="0" sz="1100"/>
          </a:p>
        </p:txBody>
      </p:sp>
      <p:sp>
        <p:nvSpPr>
          <p:cNvPr id="6" name="s_cell1046"/>
          <p:cNvSpPr txBox="1"/>
          <p:nvPr/>
        </p:nvSpPr>
        <p:spPr>
          <a:xfrm>
            <a:off x="457200" y="1965960"/>
            <a:ext cx="914400" cy="329184"/>
          </a:xfrm>
          <a:prstGeom prst="rect">
            <a:avLst/>
          </a:prstGeom>
          <a:solidFill>
            <a:srgbClr val="CCFBF1"/>
          </a:solidFill>
          <a:ln w="9525">
            <a:solidFill>
              <a:srgbClr val="14B8A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</a:t>
            </a:r>
            <a:endParaRPr lang="en-US" dirty="0" sz="1100"/>
          </a:p>
        </p:txBody>
      </p:sp>
      <p:sp>
        <p:nvSpPr>
          <p:cNvPr id="7" name="s_cell1047"/>
          <p:cNvSpPr txBox="1"/>
          <p:nvPr/>
        </p:nvSpPr>
        <p:spPr>
          <a:xfrm>
            <a:off x="2377440" y="1188720"/>
            <a:ext cx="91440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dirty="0" sz="1100"/>
          </a:p>
        </p:txBody>
      </p:sp>
      <p:sp>
        <p:nvSpPr>
          <p:cNvPr id="8" name="s_cell1048"/>
          <p:cNvSpPr txBox="1"/>
          <p:nvPr/>
        </p:nvSpPr>
        <p:spPr>
          <a:xfrm>
            <a:off x="2377440" y="1691640"/>
            <a:ext cx="91440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dirty="0" sz="1100"/>
          </a:p>
        </p:txBody>
      </p:sp>
      <p:sp>
        <p:nvSpPr>
          <p:cNvPr id="9" name="s_cell1049"/>
          <p:cNvSpPr txBox="1"/>
          <p:nvPr/>
        </p:nvSpPr>
        <p:spPr>
          <a:xfrm>
            <a:off x="2377440" y="2194560"/>
            <a:ext cx="914400" cy="329184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dirty="0" sz="1100"/>
          </a:p>
        </p:txBody>
      </p:sp>
      <p:sp>
        <p:nvSpPr>
          <p:cNvPr id="10" name="a1wd0_conn1050"/>
          <p:cNvSpPr/>
          <p:nvPr/>
        </p:nvSpPr>
        <p:spPr>
          <a:xfrm flipV="1">
            <a:off x="1389888" y="1353312"/>
            <a:ext cx="969264" cy="228600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a1ud200_combo1051"/>
          <p:cNvSpPr txBox="1"/>
          <p:nvPr/>
        </p:nvSpPr>
        <p:spPr>
          <a:xfrm>
            <a:off x="457200" y="2880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T-shirt · Red</a:t>
            </a:r>
            <a:endParaRPr lang="en-US" dirty="0" sz="1000"/>
          </a:p>
        </p:txBody>
      </p:sp>
      <p:sp>
        <p:nvSpPr>
          <p:cNvPr id="12" name="a1wd200_conn1052"/>
          <p:cNvSpPr/>
          <p:nvPr/>
        </p:nvSpPr>
        <p:spPr>
          <a:xfrm>
            <a:off x="1389888" y="1581912"/>
            <a:ext cx="969264" cy="274320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a1ud400_combo1053"/>
          <p:cNvSpPr txBox="1"/>
          <p:nvPr/>
        </p:nvSpPr>
        <p:spPr>
          <a:xfrm>
            <a:off x="1554480" y="2880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T-shirt · Blue</a:t>
            </a:r>
            <a:endParaRPr lang="en-US" dirty="0" sz="1000"/>
          </a:p>
        </p:txBody>
      </p:sp>
      <p:sp>
        <p:nvSpPr>
          <p:cNvPr id="14" name="a1wd400_conn1054"/>
          <p:cNvSpPr/>
          <p:nvPr/>
        </p:nvSpPr>
        <p:spPr>
          <a:xfrm>
            <a:off x="1389888" y="1581912"/>
            <a:ext cx="969264" cy="777240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a1ud600_combo1055"/>
          <p:cNvSpPr txBox="1"/>
          <p:nvPr/>
        </p:nvSpPr>
        <p:spPr>
          <a:xfrm>
            <a:off x="2651760" y="2880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T-shirt · Green</a:t>
            </a:r>
            <a:endParaRPr lang="en-US" dirty="0" sz="1000"/>
          </a:p>
        </p:txBody>
      </p:sp>
      <p:sp>
        <p:nvSpPr>
          <p:cNvPr id="16" name="a2wd0_conn1056"/>
          <p:cNvSpPr/>
          <p:nvPr/>
        </p:nvSpPr>
        <p:spPr>
          <a:xfrm flipV="1">
            <a:off x="1389888" y="1353312"/>
            <a:ext cx="969264" cy="77724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a2ud200_combo1057"/>
          <p:cNvSpPr txBox="1"/>
          <p:nvPr/>
        </p:nvSpPr>
        <p:spPr>
          <a:xfrm>
            <a:off x="457200" y="3319272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· Red</a:t>
            </a:r>
            <a:endParaRPr lang="en-US" dirty="0" sz="1000"/>
          </a:p>
        </p:txBody>
      </p:sp>
      <p:sp>
        <p:nvSpPr>
          <p:cNvPr id="18" name="a2wd200_conn1058"/>
          <p:cNvSpPr/>
          <p:nvPr/>
        </p:nvSpPr>
        <p:spPr>
          <a:xfrm flipV="1">
            <a:off x="1389888" y="1856232"/>
            <a:ext cx="969264" cy="27432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a2ud400_combo1059"/>
          <p:cNvSpPr txBox="1"/>
          <p:nvPr/>
        </p:nvSpPr>
        <p:spPr>
          <a:xfrm>
            <a:off x="1554480" y="3319272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· Blue</a:t>
            </a:r>
            <a:endParaRPr lang="en-US" dirty="0" sz="1000"/>
          </a:p>
        </p:txBody>
      </p:sp>
      <p:sp>
        <p:nvSpPr>
          <p:cNvPr id="20" name="a2wd400_conn1060"/>
          <p:cNvSpPr/>
          <p:nvPr/>
        </p:nvSpPr>
        <p:spPr>
          <a:xfrm>
            <a:off x="1389888" y="2130552"/>
            <a:ext cx="969264" cy="22860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a2ud600_combo1061"/>
          <p:cNvSpPr txBox="1"/>
          <p:nvPr/>
        </p:nvSpPr>
        <p:spPr>
          <a:xfrm>
            <a:off x="2651760" y="3319272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· Green</a:t>
            </a:r>
            <a:endParaRPr lang="en-US" dirty="0" sz="1000"/>
          </a:p>
        </p:txBody>
      </p:sp>
      <p:sp>
        <p:nvSpPr>
          <p:cNvPr id="22" name="a3u_stat1062"/>
          <p:cNvSpPr txBox="1"/>
          <p:nvPr/>
        </p:nvSpPr>
        <p:spPr>
          <a:xfrm>
            <a:off x="45720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rows × 3 rows = </a:t>
            </a: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combinations</a:t>
            </a:r>
            <a:endParaRPr lang="en-US" dirty="0" sz="1500"/>
          </a:p>
        </p:txBody>
      </p:sp>
      <p:sp>
        <p:nvSpPr>
          <p:cNvPr id="23" name="Text 21"/>
          <p:cNvSpPr txBox="1"/>
          <p:nvPr/>
        </p:nvSpPr>
        <p:spPr>
          <a:xfrm>
            <a:off x="4023360" y="914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every row of A combined with every row of B — all possible combinations (a Cartesian product).</a:t>
            </a:r>
            <a:endParaRPr lang="en-US" dirty="0" sz="1500"/>
          </a:p>
        </p:txBody>
      </p:sp>
      <p:sp>
        <p:nvSpPr>
          <p:cNvPr id="24" name="a4f_codebg1063"/>
          <p:cNvSpPr/>
          <p:nvPr/>
        </p:nvSpPr>
        <p:spPr>
          <a:xfrm>
            <a:off x="4023360" y="1691640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5" name="a4f_codelbl1064"/>
          <p:cNvSpPr txBox="1"/>
          <p:nvPr/>
        </p:nvSpPr>
        <p:spPr>
          <a:xfrm>
            <a:off x="7223760" y="17373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r" marL="0" indent="0">
              <a:buNone/>
            </a:pPr>
            <a:r>
              <a:rPr sz="900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dirty="0" sz="900"/>
          </a:p>
        </p:txBody>
      </p:sp>
      <p:sp>
        <p:nvSpPr>
          <p:cNvPr id="26" name="a4wd0_code1065"/>
          <p:cNvSpPr txBox="1"/>
          <p:nvPr/>
        </p:nvSpPr>
        <p:spPr>
          <a:xfrm>
            <a:off x="4206240" y="182880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27" name="a4wd300_code1066"/>
          <p:cNvSpPr txBox="1"/>
          <p:nvPr/>
        </p:nvSpPr>
        <p:spPr>
          <a:xfrm>
            <a:off x="42062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dirty="0" sz="1300"/>
          </a:p>
        </p:txBody>
      </p:sp>
      <p:sp>
        <p:nvSpPr>
          <p:cNvPr id="28" name="a4wd600_code1067"/>
          <p:cNvSpPr txBox="1"/>
          <p:nvPr/>
        </p:nvSpPr>
        <p:spPr>
          <a:xfrm>
            <a:off x="4206240" y="23774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300"/>
          </a:p>
        </p:txBody>
      </p:sp>
      <p:sp>
        <p:nvSpPr>
          <p:cNvPr id="29" name="a5f_cb1068"/>
          <p:cNvSpPr/>
          <p:nvPr/>
        </p:nvSpPr>
        <p:spPr>
          <a:xfrm>
            <a:off x="4023360" y="28803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p/>
        </p:txBody>
      </p:sp>
      <p:sp>
        <p:nvSpPr>
          <p:cNvPr id="30" name="a5f_ct1069"/>
          <p:cNvSpPr txBox="1"/>
          <p:nvPr/>
        </p:nvSpPr>
        <p:spPr>
          <a:xfrm>
            <a:off x="4206240" y="288036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 condition.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doesn't matter — nothing to compare.</a:t>
            </a:r>
            <a:endParaRPr lang="en-US" dirty="0" sz="1200"/>
          </a:p>
        </p:txBody>
      </p:sp>
      <p:sp>
        <p:nvSpPr>
          <p:cNvPr id="31" name="a6f_wb1070"/>
          <p:cNvSpPr/>
          <p:nvPr/>
        </p:nvSpPr>
        <p:spPr>
          <a:xfrm>
            <a:off x="4023360" y="35661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32" name="a6f_wi1071" descr="62a4287d7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3694176"/>
            <a:ext cx="310896" cy="310896"/>
          </a:xfrm>
          <a:prstGeom prst="rect">
            <a:avLst/>
          </a:prstGeom>
        </p:spPr>
      </p:pic>
      <p:sp>
        <p:nvSpPr>
          <p:cNvPr id="33" name="a6f_wt1072"/>
          <p:cNvSpPr txBox="1"/>
          <p:nvPr/>
        </p:nvSpPr>
        <p:spPr>
          <a:xfrm>
            <a:off x="4572000" y="35661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care: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multiply — big tables mean huge, slow results.</a:t>
            </a:r>
            <a:endParaRPr lang="en-US" dirty="0" sz="1200"/>
          </a:p>
        </p:txBody>
      </p:sp>
      <p:sp>
        <p:nvSpPr>
          <p:cNvPr id="34" name="a7f_u1073"/>
          <p:cNvSpPr txBox="1"/>
          <p:nvPr/>
        </p:nvSpPr>
        <p:spPr>
          <a:xfrm>
            <a:off x="402336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for:</a:t>
            </a:r>
            <a:endParaRPr lang="en-US" dirty="0" sz="1200"/>
          </a:p>
        </p:txBody>
      </p:sp>
      <p:sp>
        <p:nvSpPr>
          <p:cNvPr id="35" name="a7ud0_chip1074"/>
          <p:cNvSpPr txBox="1"/>
          <p:nvPr/>
        </p:nvSpPr>
        <p:spPr>
          <a:xfrm>
            <a:off x="4892040" y="4297680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</a:t>
            </a:r>
            <a:endParaRPr lang="en-US" dirty="0" sz="1100"/>
          </a:p>
        </p:txBody>
      </p:sp>
      <p:sp>
        <p:nvSpPr>
          <p:cNvPr id="36" name="a7ud150_chip1075"/>
          <p:cNvSpPr txBox="1"/>
          <p:nvPr/>
        </p:nvSpPr>
        <p:spPr>
          <a:xfrm>
            <a:off x="6126480" y="4297680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</a:t>
            </a:r>
            <a:endParaRPr lang="en-US" dirty="0" sz="1100"/>
          </a:p>
        </p:txBody>
      </p:sp>
      <p:sp>
        <p:nvSpPr>
          <p:cNvPr id="37" name="a7ud300_chip1076"/>
          <p:cNvSpPr txBox="1"/>
          <p:nvPr/>
        </p:nvSpPr>
        <p:spPr>
          <a:xfrm>
            <a:off x="7360920" y="42976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combinations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—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all possible combinations of customers and orders.</a:t>
            </a:r>
            <a:endParaRPr lang="en-US" dirty="0" sz="1400"/>
          </a:p>
        </p:txBody>
      </p:sp>
      <p:sp>
        <p:nvSpPr>
          <p:cNvPr id="4" name="a1f_codebg1077"/>
          <p:cNvSpPr/>
          <p:nvPr/>
        </p:nvSpPr>
        <p:spPr>
          <a:xfrm>
            <a:off x="457200" y="1600200"/>
            <a:ext cx="3886200" cy="109728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1078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dirty="0" sz="1300"/>
          </a:p>
        </p:txBody>
      </p:sp>
      <p:sp>
        <p:nvSpPr>
          <p:cNvPr id="6" name="a1wd250_code1079"/>
          <p:cNvSpPr txBox="1"/>
          <p:nvPr/>
        </p:nvSpPr>
        <p:spPr>
          <a:xfrm>
            <a:off x="64008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300"/>
          </a:p>
        </p:txBody>
      </p:sp>
      <p:sp>
        <p:nvSpPr>
          <p:cNvPr id="7" name="a1wd500_code1080"/>
          <p:cNvSpPr txBox="1"/>
          <p:nvPr/>
        </p:nvSpPr>
        <p:spPr>
          <a:xfrm>
            <a:off x="640080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3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3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300"/>
          </a:p>
        </p:txBody>
      </p:sp>
      <p:sp>
        <p:nvSpPr>
          <p:cNvPr id="8" name="a3u_sb1081"/>
          <p:cNvSpPr/>
          <p:nvPr/>
        </p:nvSpPr>
        <p:spPr>
          <a:xfrm>
            <a:off x="457200" y="2788920"/>
            <a:ext cx="3886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a3u_st1082"/>
          <p:cNvSpPr txBox="1"/>
          <p:nvPr/>
        </p:nvSpPr>
        <p:spPr>
          <a:xfrm>
            <a:off x="640080" y="2834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6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sz="36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r>
              <a:rPr sz="36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sz="36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20</a:t>
            </a:r>
            <a:endParaRPr lang="en-US" dirty="0" sz="3600"/>
          </a:p>
        </p:txBody>
      </p:sp>
      <p:sp>
        <p:nvSpPr>
          <p:cNvPr id="10" name="a3u_sl1083"/>
          <p:cNvSpPr txBox="1"/>
          <p:nvPr/>
        </p:nvSpPr>
        <p:spPr>
          <a:xfrm>
            <a:off x="2468880" y="283464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× orders = rows in the result</a:t>
            </a:r>
            <a:endParaRPr lang="en-US" dirty="0" sz="1200"/>
          </a:p>
        </p:txBody>
      </p:sp>
      <p:sp>
        <p:nvSpPr>
          <p:cNvPr id="11" name="a2f_l1084"/>
          <p:cNvSpPr txBox="1"/>
          <p:nvPr/>
        </p:nvSpPr>
        <p:spPr>
          <a:xfrm>
            <a:off x="4617720" y="1554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(first 6 of 20 rows)</a:t>
            </a:r>
            <a:endParaRPr lang="en-US" dirty="0" sz="1100"/>
          </a:p>
        </p:txBody>
      </p:sp>
      <p:sp>
        <p:nvSpPr>
          <p:cNvPr id="12" name="a2f_cell1085"/>
          <p:cNvSpPr txBox="1"/>
          <p:nvPr/>
        </p:nvSpPr>
        <p:spPr>
          <a:xfrm>
            <a:off x="4617720" y="1828800"/>
            <a:ext cx="4572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3" name="a2wd0_cell1086"/>
          <p:cNvSpPr txBox="1"/>
          <p:nvPr/>
        </p:nvSpPr>
        <p:spPr>
          <a:xfrm>
            <a:off x="4617720" y="21031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4" name="a2wd150_cell1087"/>
          <p:cNvSpPr txBox="1"/>
          <p:nvPr/>
        </p:nvSpPr>
        <p:spPr>
          <a:xfrm>
            <a:off x="4617720" y="237744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5" name="a2wd300_cell1088"/>
          <p:cNvSpPr txBox="1"/>
          <p:nvPr/>
        </p:nvSpPr>
        <p:spPr>
          <a:xfrm>
            <a:off x="4617720" y="265176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6" name="a2wd450_cell1089"/>
          <p:cNvSpPr txBox="1"/>
          <p:nvPr/>
        </p:nvSpPr>
        <p:spPr>
          <a:xfrm>
            <a:off x="4617720" y="292608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7" name="a2wd600_cell1090"/>
          <p:cNvSpPr txBox="1"/>
          <p:nvPr/>
        </p:nvSpPr>
        <p:spPr>
          <a:xfrm>
            <a:off x="4617720" y="320040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8" name="a2wd750_cell1091"/>
          <p:cNvSpPr txBox="1"/>
          <p:nvPr/>
        </p:nvSpPr>
        <p:spPr>
          <a:xfrm>
            <a:off x="4617720" y="3474720"/>
            <a:ext cx="4572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9" name="a2f_cell1092"/>
          <p:cNvSpPr txBox="1"/>
          <p:nvPr/>
        </p:nvSpPr>
        <p:spPr>
          <a:xfrm>
            <a:off x="5074920" y="182880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0" name="a2wd0_cell1093"/>
          <p:cNvSpPr txBox="1"/>
          <p:nvPr/>
        </p:nvSpPr>
        <p:spPr>
          <a:xfrm>
            <a:off x="507492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1" name="a2wd150_cell1094"/>
          <p:cNvSpPr txBox="1"/>
          <p:nvPr/>
        </p:nvSpPr>
        <p:spPr>
          <a:xfrm>
            <a:off x="507492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2" name="a2wd300_cell1095"/>
          <p:cNvSpPr txBox="1"/>
          <p:nvPr/>
        </p:nvSpPr>
        <p:spPr>
          <a:xfrm>
            <a:off x="507492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3" name="a2wd450_cell1096"/>
          <p:cNvSpPr txBox="1"/>
          <p:nvPr/>
        </p:nvSpPr>
        <p:spPr>
          <a:xfrm>
            <a:off x="507492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4" name="a2wd600_cell1097"/>
          <p:cNvSpPr txBox="1"/>
          <p:nvPr/>
        </p:nvSpPr>
        <p:spPr>
          <a:xfrm>
            <a:off x="5074920" y="32004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5" name="a2wd750_cell1098"/>
          <p:cNvSpPr txBox="1"/>
          <p:nvPr/>
        </p:nvSpPr>
        <p:spPr>
          <a:xfrm>
            <a:off x="5074920" y="34747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6" name="a2f_cell1099"/>
          <p:cNvSpPr txBox="1"/>
          <p:nvPr/>
        </p:nvSpPr>
        <p:spPr>
          <a:xfrm>
            <a:off x="5989320" y="1828800"/>
            <a:ext cx="7772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27" name="a2wd0_cell1100"/>
          <p:cNvSpPr txBox="1"/>
          <p:nvPr/>
        </p:nvSpPr>
        <p:spPr>
          <a:xfrm>
            <a:off x="5989320" y="21031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8" name="a2wd150_cell1101"/>
          <p:cNvSpPr txBox="1"/>
          <p:nvPr/>
        </p:nvSpPr>
        <p:spPr>
          <a:xfrm>
            <a:off x="5989320" y="23774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29" name="a2wd300_cell1102"/>
          <p:cNvSpPr txBox="1"/>
          <p:nvPr/>
        </p:nvSpPr>
        <p:spPr>
          <a:xfrm>
            <a:off x="5989320" y="26517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0" name="a2wd450_cell1103"/>
          <p:cNvSpPr txBox="1"/>
          <p:nvPr/>
        </p:nvSpPr>
        <p:spPr>
          <a:xfrm>
            <a:off x="5989320" y="292608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1" name="a2wd600_cell1104"/>
          <p:cNvSpPr txBox="1"/>
          <p:nvPr/>
        </p:nvSpPr>
        <p:spPr>
          <a:xfrm>
            <a:off x="5989320" y="320040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2" name="a2wd750_cell1105"/>
          <p:cNvSpPr txBox="1"/>
          <p:nvPr/>
        </p:nvSpPr>
        <p:spPr>
          <a:xfrm>
            <a:off x="5989320" y="34747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33" name="a2f_cell1106"/>
          <p:cNvSpPr txBox="1"/>
          <p:nvPr/>
        </p:nvSpPr>
        <p:spPr>
          <a:xfrm>
            <a:off x="6766560" y="1828800"/>
            <a:ext cx="91440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34" name="a2wd0_cell1107"/>
          <p:cNvSpPr txBox="1"/>
          <p:nvPr/>
        </p:nvSpPr>
        <p:spPr>
          <a:xfrm>
            <a:off x="6766560" y="21031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5" name="a2wd150_cell1108"/>
          <p:cNvSpPr txBox="1"/>
          <p:nvPr/>
        </p:nvSpPr>
        <p:spPr>
          <a:xfrm>
            <a:off x="6766560" y="23774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6" name="a2wd300_cell1109"/>
          <p:cNvSpPr txBox="1"/>
          <p:nvPr/>
        </p:nvSpPr>
        <p:spPr>
          <a:xfrm>
            <a:off x="6766560" y="26517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7" name="a2wd450_cell1110"/>
          <p:cNvSpPr txBox="1"/>
          <p:nvPr/>
        </p:nvSpPr>
        <p:spPr>
          <a:xfrm>
            <a:off x="6766560" y="29260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8" name="a2wd600_cell1111"/>
          <p:cNvSpPr txBox="1"/>
          <p:nvPr/>
        </p:nvSpPr>
        <p:spPr>
          <a:xfrm>
            <a:off x="6766560" y="32004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9" name="a2wd750_cell1112"/>
          <p:cNvSpPr txBox="1"/>
          <p:nvPr/>
        </p:nvSpPr>
        <p:spPr>
          <a:xfrm>
            <a:off x="6766560" y="34747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0" name="a2f_cell1113"/>
          <p:cNvSpPr txBox="1"/>
          <p:nvPr/>
        </p:nvSpPr>
        <p:spPr>
          <a:xfrm>
            <a:off x="7680960" y="1828800"/>
            <a:ext cx="54864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41" name="a2wd0_cell1114"/>
          <p:cNvSpPr txBox="1"/>
          <p:nvPr/>
        </p:nvSpPr>
        <p:spPr>
          <a:xfrm>
            <a:off x="7680960" y="21031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2" name="a2wd150_cell1115"/>
          <p:cNvSpPr txBox="1"/>
          <p:nvPr/>
        </p:nvSpPr>
        <p:spPr>
          <a:xfrm>
            <a:off x="7680960" y="237744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3" name="a2wd300_cell1116"/>
          <p:cNvSpPr txBox="1"/>
          <p:nvPr/>
        </p:nvSpPr>
        <p:spPr>
          <a:xfrm>
            <a:off x="7680960" y="265176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4" name="a2wd450_cell1117"/>
          <p:cNvSpPr txBox="1"/>
          <p:nvPr/>
        </p:nvSpPr>
        <p:spPr>
          <a:xfrm>
            <a:off x="7680960" y="292608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5" name="a2wd600_cell1118"/>
          <p:cNvSpPr txBox="1"/>
          <p:nvPr/>
        </p:nvSpPr>
        <p:spPr>
          <a:xfrm>
            <a:off x="7680960" y="320040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6" name="a2wd750_cell1119"/>
          <p:cNvSpPr txBox="1"/>
          <p:nvPr/>
        </p:nvSpPr>
        <p:spPr>
          <a:xfrm>
            <a:off x="7680960" y="3474720"/>
            <a:ext cx="5486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47" name="a2fd900_more1120"/>
          <p:cNvSpPr txBox="1"/>
          <p:nvPr/>
        </p:nvSpPr>
        <p:spPr>
          <a:xfrm>
            <a:off x="4617720" y="37490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  14 more rows</a:t>
            </a:r>
            <a:endParaRPr lang="en-US" dirty="0" sz="1100"/>
          </a:p>
        </p:txBody>
      </p:sp>
      <p:sp>
        <p:nvSpPr>
          <p:cNvPr id="48" name="a4f_real1121"/>
          <p:cNvSpPr/>
          <p:nvPr/>
        </p:nvSpPr>
        <p:spPr>
          <a:xfrm>
            <a:off x="4590288" y="2112264"/>
            <a:ext cx="3666744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9" name="a4fd300_fake1122"/>
          <p:cNvSpPr/>
          <p:nvPr/>
        </p:nvSpPr>
        <p:spPr>
          <a:xfrm>
            <a:off x="4590288" y="2386584"/>
            <a:ext cx="3666744" cy="10789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DC2626"/>
            </a:solidFill>
            <a:prstDash val="dash"/>
          </a:ln>
        </p:spPr>
        <p:txBody>
          <a:bodyPr/>
          <a:p/>
        </p:txBody>
      </p:sp>
      <p:sp>
        <p:nvSpPr>
          <p:cNvPr id="50" name="a4ud500_nb1123"/>
          <p:cNvSpPr/>
          <p:nvPr/>
        </p:nvSpPr>
        <p:spPr>
          <a:xfrm>
            <a:off x="457200" y="411480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pic>
        <p:nvPicPr>
          <p:cNvPr id="51" name="a4ud500_ni1124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42816"/>
            <a:ext cx="384048" cy="384048"/>
          </a:xfrm>
          <a:prstGeom prst="rect">
            <a:avLst/>
          </a:prstGeom>
        </p:spPr>
      </p:pic>
      <p:sp>
        <p:nvSpPr>
          <p:cNvPr id="52" name="a4ud500_nt1125"/>
          <p:cNvSpPr txBox="1"/>
          <p:nvPr/>
        </p:nvSpPr>
        <p:spPr>
          <a:xfrm>
            <a:off x="1188720" y="4114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1001 belongs only to Maria </a:t>
            </a: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yet CROSS JOIN pairs it with </a:t>
            </a:r>
            <a:r>
              <a:rPr sz="13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</a:t>
            </a: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 rules, just combinations.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8" grpId="0" animBg="1"/>
      <p:bldP spid="9" grpId="0" animBg="1"/>
      <p:bldP spid="10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 Joins at a Glance</a:t>
            </a:r>
            <a:endParaRPr lang="en-US" dirty="0" sz="2800"/>
          </a:p>
        </p:txBody>
      </p:sp>
      <p:sp>
        <p:nvSpPr>
          <p:cNvPr id="3" name="a1u_c1126"/>
          <p:cNvSpPr/>
          <p:nvPr/>
        </p:nvSpPr>
        <p:spPr>
          <a:xfrm>
            <a:off x="457200" y="1005840"/>
            <a:ext cx="1920240" cy="37490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4" name="a1u_sv1127" descr="678de5af87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1645920" cy="1042416"/>
          </a:xfrm>
          <a:prstGeom prst="rect">
            <a:avLst/>
          </a:prstGeom>
        </p:spPr>
      </p:pic>
      <p:sp>
        <p:nvSpPr>
          <p:cNvPr id="5" name="a1u_n1128"/>
          <p:cNvSpPr txBox="1"/>
          <p:nvPr/>
        </p:nvSpPr>
        <p:spPr>
          <a:xfrm>
            <a:off x="54864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ANTI JOIN</a:t>
            </a:r>
            <a:endParaRPr lang="en-US" dirty="0" sz="1400"/>
          </a:p>
        </p:txBody>
      </p:sp>
      <p:sp>
        <p:nvSpPr>
          <p:cNvPr id="6" name="a1u_b1129"/>
          <p:cNvSpPr txBox="1"/>
          <p:nvPr/>
        </p:nvSpPr>
        <p:spPr>
          <a:xfrm>
            <a:off x="64008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rows with no match</a:t>
            </a:r>
            <a:endParaRPr lang="en-US" dirty="0" sz="1000"/>
          </a:p>
        </p:txBody>
      </p:sp>
      <p:sp>
        <p:nvSpPr>
          <p:cNvPr id="7" name="a1u_b1130"/>
          <p:cNvSpPr txBox="1"/>
          <p:nvPr/>
        </p:nvSpPr>
        <p:spPr>
          <a:xfrm>
            <a:off x="64008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+ WHERE B.key IS NULL</a:t>
            </a:r>
            <a:endParaRPr lang="en-US" dirty="0" sz="1000"/>
          </a:p>
        </p:txBody>
      </p:sp>
      <p:sp>
        <p:nvSpPr>
          <p:cNvPr id="8" name="a1u_b1131"/>
          <p:cNvSpPr txBox="1"/>
          <p:nvPr/>
        </p:nvSpPr>
        <p:spPr>
          <a:xfrm>
            <a:off x="64008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</a:t>
            </a:r>
            <a:endParaRPr lang="en-US" dirty="0" sz="1000"/>
          </a:p>
        </p:txBody>
      </p:sp>
      <p:sp>
        <p:nvSpPr>
          <p:cNvPr id="9" name="a2u_c1132"/>
          <p:cNvSpPr/>
          <p:nvPr/>
        </p:nvSpPr>
        <p:spPr>
          <a:xfrm>
            <a:off x="2560320" y="1005840"/>
            <a:ext cx="1920240" cy="37490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a2u_sv1133" descr="2514820399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143000"/>
            <a:ext cx="1645920" cy="1042416"/>
          </a:xfrm>
          <a:prstGeom prst="rect">
            <a:avLst/>
          </a:prstGeom>
        </p:spPr>
      </p:pic>
      <p:sp>
        <p:nvSpPr>
          <p:cNvPr id="11" name="a2u_n1134"/>
          <p:cNvSpPr txBox="1"/>
          <p:nvPr/>
        </p:nvSpPr>
        <p:spPr>
          <a:xfrm>
            <a:off x="265176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ANTI JOIN</a:t>
            </a:r>
            <a:endParaRPr lang="en-US" dirty="0" sz="1400"/>
          </a:p>
        </p:txBody>
      </p:sp>
      <p:sp>
        <p:nvSpPr>
          <p:cNvPr id="12" name="a2u_b1135"/>
          <p:cNvSpPr txBox="1"/>
          <p:nvPr/>
        </p:nvSpPr>
        <p:spPr>
          <a:xfrm>
            <a:off x="274320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rows with no match</a:t>
            </a:r>
            <a:endParaRPr lang="en-US" dirty="0" sz="1000"/>
          </a:p>
        </p:txBody>
      </p:sp>
      <p:sp>
        <p:nvSpPr>
          <p:cNvPr id="13" name="a2u_b1136"/>
          <p:cNvSpPr txBox="1"/>
          <p:nvPr/>
        </p:nvSpPr>
        <p:spPr>
          <a:xfrm>
            <a:off x="274320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JOIN + WHERE A.key IS NULL</a:t>
            </a:r>
            <a:endParaRPr lang="en-US" dirty="0" sz="1000"/>
          </a:p>
        </p:txBody>
      </p:sp>
      <p:sp>
        <p:nvSpPr>
          <p:cNvPr id="14" name="a2u_b1137"/>
          <p:cNvSpPr txBox="1"/>
          <p:nvPr/>
        </p:nvSpPr>
        <p:spPr>
          <a:xfrm>
            <a:off x="274320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</a:t>
            </a:r>
            <a:endParaRPr lang="en-US" dirty="0" sz="1000"/>
          </a:p>
        </p:txBody>
      </p:sp>
      <p:sp>
        <p:nvSpPr>
          <p:cNvPr id="15" name="a3u_c1138"/>
          <p:cNvSpPr/>
          <p:nvPr/>
        </p:nvSpPr>
        <p:spPr>
          <a:xfrm>
            <a:off x="4663440" y="1005840"/>
            <a:ext cx="1920240" cy="37490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6" name="a3u_sv1139" descr="cf9af9b4c3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143000"/>
            <a:ext cx="1645920" cy="1042416"/>
          </a:xfrm>
          <a:prstGeom prst="rect">
            <a:avLst/>
          </a:prstGeom>
        </p:spPr>
      </p:pic>
      <p:sp>
        <p:nvSpPr>
          <p:cNvPr id="17" name="a3u_n1140"/>
          <p:cNvSpPr txBox="1"/>
          <p:nvPr/>
        </p:nvSpPr>
        <p:spPr>
          <a:xfrm>
            <a:off x="475488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ANTI JOIN</a:t>
            </a:r>
            <a:endParaRPr lang="en-US" dirty="0" sz="1400"/>
          </a:p>
        </p:txBody>
      </p:sp>
      <p:sp>
        <p:nvSpPr>
          <p:cNvPr id="18" name="a3u_b1141"/>
          <p:cNvSpPr txBox="1"/>
          <p:nvPr/>
        </p:nvSpPr>
        <p:spPr>
          <a:xfrm>
            <a:off x="48463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Unmatched, both sides</a:t>
            </a:r>
            <a:endParaRPr lang="en-US" dirty="0" sz="1000"/>
          </a:p>
        </p:txBody>
      </p:sp>
      <p:sp>
        <p:nvSpPr>
          <p:cNvPr id="19" name="a3u_b1142"/>
          <p:cNvSpPr txBox="1"/>
          <p:nvPr/>
        </p:nvSpPr>
        <p:spPr>
          <a:xfrm>
            <a:off x="484632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JOIN + WHERE A.key IS NULL OR B.key IS NULL</a:t>
            </a:r>
            <a:endParaRPr lang="en-US" dirty="0" sz="1000"/>
          </a:p>
        </p:txBody>
      </p:sp>
      <p:sp>
        <p:nvSpPr>
          <p:cNvPr id="20" name="a3u_b1143"/>
          <p:cNvSpPr txBox="1"/>
          <p:nvPr/>
        </p:nvSpPr>
        <p:spPr>
          <a:xfrm>
            <a:off x="484632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21" name="a4u_c1144"/>
          <p:cNvSpPr/>
          <p:nvPr/>
        </p:nvSpPr>
        <p:spPr>
          <a:xfrm>
            <a:off x="6766560" y="1005840"/>
            <a:ext cx="1920240" cy="37490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22" name="a4u_sv1145" descr="b5dc689932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143000"/>
            <a:ext cx="1645920" cy="1042416"/>
          </a:xfrm>
          <a:prstGeom prst="rect">
            <a:avLst/>
          </a:prstGeom>
        </p:spPr>
      </p:pic>
      <p:sp>
        <p:nvSpPr>
          <p:cNvPr id="23" name="a4u_n1146"/>
          <p:cNvSpPr txBox="1"/>
          <p:nvPr/>
        </p:nvSpPr>
        <p:spPr>
          <a:xfrm>
            <a:off x="6858000" y="2240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 JOIN</a:t>
            </a:r>
            <a:endParaRPr lang="en-US" dirty="0" sz="1400"/>
          </a:p>
        </p:txBody>
      </p:sp>
      <p:sp>
        <p:nvSpPr>
          <p:cNvPr id="24" name="a4u_b1147"/>
          <p:cNvSpPr txBox="1"/>
          <p:nvPr/>
        </p:nvSpPr>
        <p:spPr>
          <a:xfrm>
            <a:off x="694944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combination (A × B)</a:t>
            </a:r>
            <a:endParaRPr lang="en-US" dirty="0" sz="1000"/>
          </a:p>
        </p:txBody>
      </p:sp>
      <p:sp>
        <p:nvSpPr>
          <p:cNvPr id="25" name="a4u_b1148"/>
          <p:cNvSpPr txBox="1"/>
          <p:nvPr/>
        </p:nvSpPr>
        <p:spPr>
          <a:xfrm>
            <a:off x="694944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</a:t>
            </a:r>
            <a:endParaRPr lang="en-US" dirty="0" sz="10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— no ON clause</a:t>
            </a:r>
            <a:endParaRPr lang="en-US" dirty="0" sz="1000"/>
          </a:p>
        </p:txBody>
      </p:sp>
      <p:sp>
        <p:nvSpPr>
          <p:cNvPr id="26" name="a4u_b1149"/>
          <p:cNvSpPr txBox="1"/>
          <p:nvPr/>
        </p:nvSpPr>
        <p:spPr>
          <a:xfrm>
            <a:off x="694944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ORDER</a:t>
            </a:r>
            <a:endParaRPr lang="en-US" dirty="0" sz="1000"/>
          </a:p>
          <a:p>
            <a:pPr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h1150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· Advanced Joins</a:t>
            </a:r>
            <a:endParaRPr lang="en-US" dirty="0" sz="3200"/>
          </a:p>
        </p:txBody>
      </p:sp>
      <p:sp>
        <p:nvSpPr>
          <p:cNvPr id="3" name="a1u_n1151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4" name="a1u_t1152"/>
          <p:cNvSpPr txBox="1"/>
          <p:nvPr/>
        </p:nvSpPr>
        <p:spPr>
          <a:xfrm>
            <a:off x="118872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ANTI JOIN keyword: use a classic join, then WHERE key IS NULL.</a:t>
            </a:r>
            <a:endParaRPr lang="en-US" dirty="0" sz="1500"/>
          </a:p>
        </p:txBody>
      </p:sp>
      <p:sp>
        <p:nvSpPr>
          <p:cNvPr id="5" name="a2u_n1153"/>
          <p:cNvSpPr txBox="1"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6" name="a2u_t1154"/>
          <p:cNvSpPr txBox="1"/>
          <p:nvPr/>
        </p:nvSpPr>
        <p:spPr>
          <a:xfrm>
            <a:off x="118872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on the key of the table you are only using as a lookup.</a:t>
            </a:r>
            <a:endParaRPr lang="en-US" dirty="0" sz="1500"/>
          </a:p>
        </p:txBody>
      </p:sp>
      <p:sp>
        <p:nvSpPr>
          <p:cNvPr id="7" name="a3u_n1155"/>
          <p:cNvSpPr txBox="1"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8" name="a3u_t1156"/>
          <p:cNvSpPr txBox="1"/>
          <p:nvPr/>
        </p:nvSpPr>
        <p:spPr>
          <a:xfrm>
            <a:off x="1188720" y="3063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ANTI JOIN is the opposite of INNER JOIN — combine the two IS NULL checks with OR.</a:t>
            </a:r>
            <a:endParaRPr lang="en-US" dirty="0" sz="1500"/>
          </a:p>
        </p:txBody>
      </p:sp>
      <p:sp>
        <p:nvSpPr>
          <p:cNvPr id="9" name="a4u_n1157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0" name="a4u_t1158"/>
          <p:cNvSpPr txBox="1"/>
          <p:nvPr/>
        </p:nvSpPr>
        <p:spPr>
          <a:xfrm>
            <a:off x="1188720" y="3886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has no ON clause; rows multiply (5 × 4 = 20), so use it sparingly.</a:t>
            </a:r>
            <a:endParaRPr lang="en-US" dirty="0" sz="1500"/>
          </a:p>
        </p:txBody>
      </p:sp>
      <p:pic>
        <p:nvPicPr>
          <p:cNvPr id="11" name="a0fd300_v1159" descr="dab9d2179b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2468880" cy="1563624"/>
          </a:xfrm>
          <a:prstGeom prst="rect">
            <a:avLst/>
          </a:prstGeom>
        </p:spPr>
      </p:pic>
      <p:sp>
        <p:nvSpPr>
          <p:cNvPr id="12" name="a5u_bonus1160"/>
          <p:cNvSpPr txBox="1"/>
          <p:nvPr/>
        </p:nvSpPr>
        <p:spPr>
          <a:xfrm>
            <a:off x="6217920" y="31089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 </a:t>
            </a:r>
            <a:r>
              <a:rPr sz="13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+ WHERE key IS NOT NULL gives the INNER JOIN result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k1161"/>
          <p:cNvSpPr txBox="1"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spc="300" kern="0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dirty="0" sz="1300"/>
          </a:p>
        </p:txBody>
      </p:sp>
      <p:sp>
        <p:nvSpPr>
          <p:cNvPr id="3" name="a0ud200_t1162"/>
          <p:cNvSpPr txBox="1"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Set Operators</a:t>
            </a:r>
            <a:endParaRPr lang="en-US" dirty="0" sz="4000"/>
          </a:p>
        </p:txBody>
      </p:sp>
      <p:sp>
        <p:nvSpPr>
          <p:cNvPr id="4" name="a0fd400_s1163"/>
          <p:cNvSpPr txBox="1"/>
          <p:nvPr/>
        </p:nvSpPr>
        <p:spPr>
          <a:xfrm>
            <a:off x="548640" y="1463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rows of multiple queries into one result set</a:t>
            </a:r>
            <a:endParaRPr lang="en-US" dirty="0" sz="1600"/>
          </a:p>
        </p:txBody>
      </p:sp>
      <p:sp>
        <p:nvSpPr>
          <p:cNvPr id="5" name="a1u_c1164"/>
          <p:cNvSpPr/>
          <p:nvPr/>
        </p:nvSpPr>
        <p:spPr>
          <a:xfrm>
            <a:off x="45720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6" name="a1u_sv1165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31720"/>
            <a:ext cx="1554480" cy="984504"/>
          </a:xfrm>
          <a:prstGeom prst="rect">
            <a:avLst/>
          </a:prstGeom>
        </p:spPr>
      </p:pic>
      <p:sp>
        <p:nvSpPr>
          <p:cNvPr id="7" name="a1u_n1166"/>
          <p:cNvSpPr txBox="1"/>
          <p:nvPr/>
        </p:nvSpPr>
        <p:spPr>
          <a:xfrm>
            <a:off x="54864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400"/>
          </a:p>
        </p:txBody>
      </p:sp>
      <p:sp>
        <p:nvSpPr>
          <p:cNvPr id="8" name="a1u_d1167"/>
          <p:cNvSpPr txBox="1"/>
          <p:nvPr/>
        </p:nvSpPr>
        <p:spPr>
          <a:xfrm>
            <a:off x="54864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rows, no duplicates</a:t>
            </a:r>
            <a:endParaRPr lang="en-US" dirty="0" sz="1200"/>
          </a:p>
        </p:txBody>
      </p:sp>
      <p:sp>
        <p:nvSpPr>
          <p:cNvPr id="9" name="a2u_c1168"/>
          <p:cNvSpPr/>
          <p:nvPr/>
        </p:nvSpPr>
        <p:spPr>
          <a:xfrm>
            <a:off x="256032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0" name="a2u_sv1169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331720"/>
            <a:ext cx="1554480" cy="984504"/>
          </a:xfrm>
          <a:prstGeom prst="rect">
            <a:avLst/>
          </a:prstGeom>
        </p:spPr>
      </p:pic>
      <p:sp>
        <p:nvSpPr>
          <p:cNvPr id="11" name="a2u_n1170"/>
          <p:cNvSpPr txBox="1"/>
          <p:nvPr/>
        </p:nvSpPr>
        <p:spPr>
          <a:xfrm>
            <a:off x="265176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dirty="0" sz="1400"/>
          </a:p>
        </p:txBody>
      </p:sp>
      <p:sp>
        <p:nvSpPr>
          <p:cNvPr id="12" name="a2u_d1171"/>
          <p:cNvSpPr txBox="1"/>
          <p:nvPr/>
        </p:nvSpPr>
        <p:spPr>
          <a:xfrm>
            <a:off x="265176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rows, duplicates kept</a:t>
            </a:r>
            <a:endParaRPr lang="en-US" dirty="0" sz="1200"/>
          </a:p>
        </p:txBody>
      </p:sp>
      <p:sp>
        <p:nvSpPr>
          <p:cNvPr id="13" name="a3u_c1172"/>
          <p:cNvSpPr/>
          <p:nvPr/>
        </p:nvSpPr>
        <p:spPr>
          <a:xfrm>
            <a:off x="466344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4" name="a3u_sv1173" descr="6e5385d95f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1554480" cy="984504"/>
          </a:xfrm>
          <a:prstGeom prst="rect">
            <a:avLst/>
          </a:prstGeom>
        </p:spPr>
      </p:pic>
      <p:sp>
        <p:nvSpPr>
          <p:cNvPr id="15" name="a3u_n1174"/>
          <p:cNvSpPr txBox="1"/>
          <p:nvPr/>
        </p:nvSpPr>
        <p:spPr>
          <a:xfrm>
            <a:off x="475488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400"/>
          </a:p>
        </p:txBody>
      </p:sp>
      <p:sp>
        <p:nvSpPr>
          <p:cNvPr id="16" name="a3u_d1175"/>
          <p:cNvSpPr txBox="1"/>
          <p:nvPr/>
        </p:nvSpPr>
        <p:spPr>
          <a:xfrm>
            <a:off x="475488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1st query but not the 2nd</a:t>
            </a:r>
            <a:endParaRPr lang="en-US" dirty="0" sz="1200"/>
          </a:p>
        </p:txBody>
      </p:sp>
      <p:sp>
        <p:nvSpPr>
          <p:cNvPr id="17" name="a4u_c1176"/>
          <p:cNvSpPr/>
          <p:nvPr/>
        </p:nvSpPr>
        <p:spPr>
          <a:xfrm>
            <a:off x="6766560" y="2148840"/>
            <a:ext cx="1920240" cy="23317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18" name="a4u_sv1177" descr="219ee9bd1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331720"/>
            <a:ext cx="1554480" cy="984504"/>
          </a:xfrm>
          <a:prstGeom prst="rect">
            <a:avLst/>
          </a:prstGeom>
        </p:spPr>
      </p:pic>
      <p:sp>
        <p:nvSpPr>
          <p:cNvPr id="19" name="a4u_n1178"/>
          <p:cNvSpPr txBox="1"/>
          <p:nvPr/>
        </p:nvSpPr>
        <p:spPr>
          <a:xfrm>
            <a:off x="685800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endParaRPr lang="en-US" dirty="0" sz="1400"/>
          </a:p>
        </p:txBody>
      </p:sp>
      <p:sp>
        <p:nvSpPr>
          <p:cNvPr id="20" name="a4u_d1179"/>
          <p:cNvSpPr txBox="1"/>
          <p:nvPr/>
        </p:nvSpPr>
        <p:spPr>
          <a:xfrm>
            <a:off x="685800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found in both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vs. Set Operators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combine data from multiple queries into a single result — but in different directions</a:t>
            </a:r>
            <a:endParaRPr lang="en-US" dirty="0" sz="1300"/>
          </a:p>
        </p:txBody>
      </p:sp>
      <p:sp>
        <p:nvSpPr>
          <p:cNvPr id="4" name="a0f_box1180"/>
          <p:cNvSpPr txBox="1"/>
          <p:nvPr/>
        </p:nvSpPr>
        <p:spPr>
          <a:xfrm>
            <a:off x="2103120" y="123444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2700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</a:t>
            </a:r>
            <a:endParaRPr lang="en-US" dirty="0" sz="1500"/>
          </a:p>
        </p:txBody>
      </p:sp>
      <p:sp>
        <p:nvSpPr>
          <p:cNvPr id="5" name="a0f_box1181"/>
          <p:cNvSpPr txBox="1"/>
          <p:nvPr/>
        </p:nvSpPr>
        <p:spPr>
          <a:xfrm>
            <a:off x="5440680" y="123444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</a:t>
            </a:r>
            <a:endParaRPr lang="en-US" dirty="0" sz="1500"/>
          </a:p>
        </p:txBody>
      </p:sp>
      <p:sp>
        <p:nvSpPr>
          <p:cNvPr id="6" name="a1f_box1182"/>
          <p:cNvSpPr txBox="1"/>
          <p:nvPr/>
        </p:nvSpPr>
        <p:spPr>
          <a:xfrm>
            <a:off x="457200" y="1828800"/>
            <a:ext cx="1508760" cy="731520"/>
          </a:xfrm>
          <a:prstGeom prst="roundRect">
            <a:avLst>
              <a:gd name="adj" fmla="val 7500"/>
            </a:avLst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</a:t>
            </a:r>
            <a:endParaRPr lang="en-US" dirty="0" sz="1300"/>
          </a:p>
        </p:txBody>
      </p:sp>
      <p:sp>
        <p:nvSpPr>
          <p:cNvPr id="7" name="a1wd100_box1183"/>
          <p:cNvSpPr txBox="1"/>
          <p:nvPr/>
        </p:nvSpPr>
        <p:spPr>
          <a:xfrm>
            <a:off x="2103120" y="1828800"/>
            <a:ext cx="32004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— side by side (wider table)</a:t>
            </a:r>
            <a:endParaRPr lang="en-US" dirty="0" sz="1300"/>
          </a:p>
        </p:txBody>
      </p:sp>
      <p:sp>
        <p:nvSpPr>
          <p:cNvPr id="8" name="a1wd300_box1184"/>
          <p:cNvSpPr txBox="1"/>
          <p:nvPr/>
        </p:nvSpPr>
        <p:spPr>
          <a:xfrm>
            <a:off x="5440680" y="182880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— stacked below (longer table)</a:t>
            </a:r>
            <a:endParaRPr lang="en-US" dirty="0" sz="1300"/>
          </a:p>
        </p:txBody>
      </p:sp>
      <p:sp>
        <p:nvSpPr>
          <p:cNvPr id="9" name="a2f_box1185"/>
          <p:cNvSpPr txBox="1"/>
          <p:nvPr/>
        </p:nvSpPr>
        <p:spPr>
          <a:xfrm>
            <a:off x="457200" y="2697480"/>
            <a:ext cx="1508760" cy="731520"/>
          </a:xfrm>
          <a:prstGeom prst="roundRect">
            <a:avLst>
              <a:gd name="adj" fmla="val 7500"/>
            </a:avLst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dirty="0" sz="1300"/>
          </a:p>
        </p:txBody>
      </p:sp>
      <p:sp>
        <p:nvSpPr>
          <p:cNvPr id="10" name="a2wd100_box1186"/>
          <p:cNvSpPr txBox="1"/>
          <p:nvPr/>
        </p:nvSpPr>
        <p:spPr>
          <a:xfrm>
            <a:off x="2103120" y="2697480"/>
            <a:ext cx="32004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column to match rows</a:t>
            </a:r>
            <a:endParaRPr lang="en-US" dirty="0" sz="1300"/>
          </a:p>
        </p:txBody>
      </p:sp>
      <p:sp>
        <p:nvSpPr>
          <p:cNvPr id="11" name="a2wd300_box1187"/>
          <p:cNvSpPr txBox="1"/>
          <p:nvPr/>
        </p:nvSpPr>
        <p:spPr>
          <a:xfrm>
            <a:off x="5440680" y="269748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columns in each query — no key needed</a:t>
            </a:r>
            <a:endParaRPr lang="en-US" dirty="0" sz="1300"/>
          </a:p>
        </p:txBody>
      </p:sp>
      <p:sp>
        <p:nvSpPr>
          <p:cNvPr id="12" name="a3f_box1188"/>
          <p:cNvSpPr txBox="1"/>
          <p:nvPr/>
        </p:nvSpPr>
        <p:spPr>
          <a:xfrm>
            <a:off x="457200" y="3566160"/>
            <a:ext cx="1508760" cy="731520"/>
          </a:xfrm>
          <a:prstGeom prst="roundRect">
            <a:avLst>
              <a:gd name="adj" fmla="val 7500"/>
            </a:avLst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dirty="0" sz="1300"/>
          </a:p>
        </p:txBody>
      </p:sp>
      <p:sp>
        <p:nvSpPr>
          <p:cNvPr id="13" name="a3wd100_box1189"/>
          <p:cNvSpPr txBox="1"/>
          <p:nvPr/>
        </p:nvSpPr>
        <p:spPr>
          <a:xfrm>
            <a:off x="2103120" y="3566160"/>
            <a:ext cx="320040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· LEFT · RIGHT · FULL</a:t>
            </a:r>
            <a:endParaRPr lang="en-US" dirty="0" sz="1300"/>
          </a:p>
        </p:txBody>
      </p:sp>
      <p:sp>
        <p:nvSpPr>
          <p:cNvPr id="14" name="a3wd300_box1190"/>
          <p:cNvSpPr txBox="1"/>
          <p:nvPr/>
        </p:nvSpPr>
        <p:spPr>
          <a:xfrm>
            <a:off x="5440680" y="356616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· UNION ALL · EXCEPT (MINUS) · INTERSECT</a:t>
            </a:r>
            <a:endParaRPr lang="en-US" dirty="0" sz="1300"/>
          </a:p>
        </p:txBody>
      </p:sp>
      <p:sp>
        <p:nvSpPr>
          <p:cNvPr id="15" name="a4u_rt1191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</a:t>
            </a: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more columns? Join. Need more rows? Use a set operator.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 Syntax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SELECT statements with the operator placed between them</a:t>
            </a:r>
            <a:endParaRPr lang="en-US" dirty="0" sz="1300"/>
          </a:p>
        </p:txBody>
      </p:sp>
      <p:sp>
        <p:nvSpPr>
          <p:cNvPr id="4" name="a1f_codebg1192"/>
          <p:cNvSpPr/>
          <p:nvPr/>
        </p:nvSpPr>
        <p:spPr>
          <a:xfrm>
            <a:off x="457200" y="132588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1193"/>
          <p:cNvSpPr txBox="1"/>
          <p:nvPr/>
        </p:nvSpPr>
        <p:spPr>
          <a:xfrm>
            <a:off x="640080" y="14630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400"/>
          </a:p>
        </p:txBody>
      </p:sp>
      <p:sp>
        <p:nvSpPr>
          <p:cNvPr id="6" name="a1wd0_code1194"/>
          <p:cNvSpPr txBox="1"/>
          <p:nvPr/>
        </p:nvSpPr>
        <p:spPr>
          <a:xfrm>
            <a:off x="640080" y="18288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400"/>
          </a:p>
        </p:txBody>
      </p:sp>
      <p:sp>
        <p:nvSpPr>
          <p:cNvPr id="7" name="a2wd0_code1195"/>
          <p:cNvSpPr txBox="1"/>
          <p:nvPr/>
        </p:nvSpPr>
        <p:spPr>
          <a:xfrm>
            <a:off x="640080" y="21945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400"/>
          </a:p>
        </p:txBody>
      </p:sp>
      <p:sp>
        <p:nvSpPr>
          <p:cNvPr id="8" name="a3wd0_code1196"/>
          <p:cNvSpPr txBox="1"/>
          <p:nvPr/>
        </p:nvSpPr>
        <p:spPr>
          <a:xfrm>
            <a:off x="640080" y="25603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400"/>
          </a:p>
        </p:txBody>
      </p:sp>
      <p:sp>
        <p:nvSpPr>
          <p:cNvPr id="9" name="a3wd0_code1197"/>
          <p:cNvSpPr txBox="1"/>
          <p:nvPr/>
        </p:nvSpPr>
        <p:spPr>
          <a:xfrm>
            <a:off x="640080" y="29260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4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400"/>
          </a:p>
        </p:txBody>
      </p:sp>
      <p:sp>
        <p:nvSpPr>
          <p:cNvPr id="10" name="a1f_br1198"/>
          <p:cNvSpPr/>
          <p:nvPr/>
        </p:nvSpPr>
        <p:spPr>
          <a:xfrm>
            <a:off x="5120640" y="1481328"/>
            <a:ext cx="54864" cy="6949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1" name="a1f_box1199"/>
          <p:cNvSpPr txBox="1"/>
          <p:nvPr/>
        </p:nvSpPr>
        <p:spPr>
          <a:xfrm>
            <a:off x="5303520" y="1627632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300"/>
          </a:p>
        </p:txBody>
      </p:sp>
      <p:sp>
        <p:nvSpPr>
          <p:cNvPr id="12" name="a2f_br1200"/>
          <p:cNvSpPr/>
          <p:nvPr/>
        </p:nvSpPr>
        <p:spPr>
          <a:xfrm>
            <a:off x="5120640" y="2212848"/>
            <a:ext cx="54864" cy="32918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3" name="a2f_box1201"/>
          <p:cNvSpPr txBox="1"/>
          <p:nvPr/>
        </p:nvSpPr>
        <p:spPr>
          <a:xfrm>
            <a:off x="5303520" y="2176272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</a:t>
            </a:r>
            <a:endParaRPr lang="en-US" dirty="0" sz="1300"/>
          </a:p>
        </p:txBody>
      </p:sp>
      <p:sp>
        <p:nvSpPr>
          <p:cNvPr id="14" name="a3f_br1202"/>
          <p:cNvSpPr/>
          <p:nvPr/>
        </p:nvSpPr>
        <p:spPr>
          <a:xfrm>
            <a:off x="5120640" y="2578608"/>
            <a:ext cx="54864" cy="69494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5" name="a3f_box1203"/>
          <p:cNvSpPr txBox="1"/>
          <p:nvPr/>
        </p:nvSpPr>
        <p:spPr>
          <a:xfrm>
            <a:off x="5303520" y="2724912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</a:t>
            </a:r>
            <a:endParaRPr lang="en-US" dirty="0" sz="1300"/>
          </a:p>
        </p:txBody>
      </p:sp>
      <p:sp>
        <p:nvSpPr>
          <p:cNvPr id="16" name="a4f_any1204"/>
          <p:cNvSpPr txBox="1"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four operators can go in the middle:</a:t>
            </a:r>
            <a:endParaRPr lang="en-US" dirty="0" sz="1300"/>
          </a:p>
        </p:txBody>
      </p:sp>
      <p:sp>
        <p:nvSpPr>
          <p:cNvPr id="17" name="a4ud150_box1205"/>
          <p:cNvSpPr txBox="1"/>
          <p:nvPr/>
        </p:nvSpPr>
        <p:spPr>
          <a:xfrm>
            <a:off x="457200" y="402336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300"/>
          </a:p>
        </p:txBody>
      </p:sp>
      <p:sp>
        <p:nvSpPr>
          <p:cNvPr id="18" name="a4ud270_box1206"/>
          <p:cNvSpPr txBox="1"/>
          <p:nvPr/>
        </p:nvSpPr>
        <p:spPr>
          <a:xfrm>
            <a:off x="2057400" y="402336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dirty="0" sz="1300"/>
          </a:p>
        </p:txBody>
      </p:sp>
      <p:sp>
        <p:nvSpPr>
          <p:cNvPr id="19" name="a4ud390_box1207"/>
          <p:cNvSpPr txBox="1"/>
          <p:nvPr/>
        </p:nvSpPr>
        <p:spPr>
          <a:xfrm>
            <a:off x="3657600" y="402336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300"/>
          </a:p>
        </p:txBody>
      </p:sp>
      <p:sp>
        <p:nvSpPr>
          <p:cNvPr id="20" name="a4ud510_box1208"/>
          <p:cNvSpPr txBox="1"/>
          <p:nvPr/>
        </p:nvSpPr>
        <p:spPr>
          <a:xfrm>
            <a:off x="5257800" y="402336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7" grpId="0" animBg="1"/>
      <p:bldP spid="12" grpId="0" animBg="1"/>
      <p:bldP spid="13" grpId="0" animBg="1"/>
      <p:bldP spid="8" grpId="0" animBg="1"/>
      <p:bldP spid="9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Rules of Set Operators</a:t>
            </a:r>
            <a:endParaRPr lang="en-US" dirty="0" sz="2800"/>
          </a:p>
        </p:txBody>
      </p:sp>
      <p:sp>
        <p:nvSpPr>
          <p:cNvPr id="3" name="a1u_c1209"/>
          <p:cNvSpPr/>
          <p:nvPr/>
        </p:nvSpPr>
        <p:spPr>
          <a:xfrm>
            <a:off x="457200" y="10058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a1u_box1210"/>
          <p:cNvSpPr txBox="1"/>
          <p:nvPr/>
        </p:nvSpPr>
        <p:spPr>
          <a:xfrm>
            <a:off x="685800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5" name="a1u_h1211"/>
          <p:cNvSpPr txBox="1"/>
          <p:nvPr/>
        </p:nvSpPr>
        <p:spPr>
          <a:xfrm>
            <a:off x="685800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once</a:t>
            </a:r>
            <a:endParaRPr lang="en-US" dirty="0" sz="1500"/>
          </a:p>
        </p:txBody>
      </p:sp>
      <p:sp>
        <p:nvSpPr>
          <p:cNvPr id="6" name="a1u_d1212"/>
          <p:cNvSpPr txBox="1"/>
          <p:nvPr/>
        </p:nvSpPr>
        <p:spPr>
          <a:xfrm>
            <a:off x="685800" y="20848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only once, at the very end of the whole query.</a:t>
            </a:r>
            <a:endParaRPr lang="en-US" dirty="0" sz="1200"/>
          </a:p>
        </p:txBody>
      </p:sp>
      <p:sp>
        <p:nvSpPr>
          <p:cNvPr id="7" name="a2u_c1213"/>
          <p:cNvSpPr/>
          <p:nvPr/>
        </p:nvSpPr>
        <p:spPr>
          <a:xfrm>
            <a:off x="3246120" y="10058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a2u_box1214"/>
          <p:cNvSpPr txBox="1"/>
          <p:nvPr/>
        </p:nvSpPr>
        <p:spPr>
          <a:xfrm>
            <a:off x="3474720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9" name="a2u_h1215"/>
          <p:cNvSpPr txBox="1"/>
          <p:nvPr/>
        </p:nvSpPr>
        <p:spPr>
          <a:xfrm>
            <a:off x="3474720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 of columns</a:t>
            </a:r>
            <a:endParaRPr lang="en-US" dirty="0" sz="1500"/>
          </a:p>
        </p:txBody>
      </p:sp>
      <p:sp>
        <p:nvSpPr>
          <p:cNvPr id="10" name="a2u_d1216"/>
          <p:cNvSpPr txBox="1"/>
          <p:nvPr/>
        </p:nvSpPr>
        <p:spPr>
          <a:xfrm>
            <a:off x="3474720" y="20848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must return the same column count.</a:t>
            </a:r>
            <a:endParaRPr lang="en-US" dirty="0" sz="1200"/>
          </a:p>
        </p:txBody>
      </p:sp>
      <p:sp>
        <p:nvSpPr>
          <p:cNvPr id="11" name="a3u_c1217"/>
          <p:cNvSpPr/>
          <p:nvPr/>
        </p:nvSpPr>
        <p:spPr>
          <a:xfrm>
            <a:off x="6035040" y="10058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a3u_box1218"/>
          <p:cNvSpPr txBox="1"/>
          <p:nvPr/>
        </p:nvSpPr>
        <p:spPr>
          <a:xfrm>
            <a:off x="6263640" y="120700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13" name="a3u_h1219"/>
          <p:cNvSpPr txBox="1"/>
          <p:nvPr/>
        </p:nvSpPr>
        <p:spPr>
          <a:xfrm>
            <a:off x="6263640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data types</a:t>
            </a:r>
            <a:endParaRPr lang="en-US" dirty="0" sz="1500"/>
          </a:p>
        </p:txBody>
      </p:sp>
      <p:sp>
        <p:nvSpPr>
          <p:cNvPr id="14" name="a3u_d1220"/>
          <p:cNvSpPr txBox="1"/>
          <p:nvPr/>
        </p:nvSpPr>
        <p:spPr>
          <a:xfrm>
            <a:off x="6263640" y="208483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in the same position must have compatible types.</a:t>
            </a:r>
            <a:endParaRPr lang="en-US" dirty="0" sz="1200"/>
          </a:p>
        </p:txBody>
      </p:sp>
      <p:sp>
        <p:nvSpPr>
          <p:cNvPr id="15" name="a4u_c1221"/>
          <p:cNvSpPr/>
          <p:nvPr/>
        </p:nvSpPr>
        <p:spPr>
          <a:xfrm>
            <a:off x="457200" y="29260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a4u_box1222"/>
          <p:cNvSpPr txBox="1"/>
          <p:nvPr/>
        </p:nvSpPr>
        <p:spPr>
          <a:xfrm>
            <a:off x="685800" y="31272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7" name="a4u_h1223"/>
          <p:cNvSpPr txBox="1"/>
          <p:nvPr/>
        </p:nvSpPr>
        <p:spPr>
          <a:xfrm>
            <a:off x="68580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column order</a:t>
            </a:r>
            <a:endParaRPr lang="en-US" dirty="0" sz="1500"/>
          </a:p>
        </p:txBody>
      </p:sp>
      <p:sp>
        <p:nvSpPr>
          <p:cNvPr id="18" name="a4u_d1224"/>
          <p:cNvSpPr txBox="1"/>
          <p:nvPr/>
        </p:nvSpPr>
        <p:spPr>
          <a:xfrm>
            <a:off x="685800" y="400507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are matched by position, not by name.</a:t>
            </a:r>
            <a:endParaRPr lang="en-US" dirty="0" sz="1200"/>
          </a:p>
        </p:txBody>
      </p:sp>
      <p:sp>
        <p:nvSpPr>
          <p:cNvPr id="19" name="a5u_c1225"/>
          <p:cNvSpPr/>
          <p:nvPr/>
        </p:nvSpPr>
        <p:spPr>
          <a:xfrm>
            <a:off x="3246120" y="29260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a5u_box1226"/>
          <p:cNvSpPr txBox="1"/>
          <p:nvPr/>
        </p:nvSpPr>
        <p:spPr>
          <a:xfrm>
            <a:off x="3474720" y="31272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600"/>
          </a:p>
        </p:txBody>
      </p:sp>
      <p:sp>
        <p:nvSpPr>
          <p:cNvPr id="21" name="a5u_h1227"/>
          <p:cNvSpPr txBox="1"/>
          <p:nvPr/>
        </p:nvSpPr>
        <p:spPr>
          <a:xfrm>
            <a:off x="347472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query names columns</a:t>
            </a:r>
            <a:endParaRPr lang="en-US" dirty="0" sz="1500"/>
          </a:p>
        </p:txBody>
      </p:sp>
      <p:sp>
        <p:nvSpPr>
          <p:cNvPr id="22" name="a5u_d1228"/>
          <p:cNvSpPr txBox="1"/>
          <p:nvPr/>
        </p:nvSpPr>
        <p:spPr>
          <a:xfrm>
            <a:off x="3474720" y="400507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names and aliases (and types) come from the 1st query.</a:t>
            </a:r>
            <a:endParaRPr lang="en-US" dirty="0" sz="1200"/>
          </a:p>
        </p:txBody>
      </p:sp>
      <p:sp>
        <p:nvSpPr>
          <p:cNvPr id="23" name="a6u_c1229"/>
          <p:cNvSpPr/>
          <p:nvPr/>
        </p:nvSpPr>
        <p:spPr>
          <a:xfrm>
            <a:off x="6035040" y="29260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a6u_box1230"/>
          <p:cNvSpPr txBox="1"/>
          <p:nvPr/>
        </p:nvSpPr>
        <p:spPr>
          <a:xfrm>
            <a:off x="6263640" y="31272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600"/>
          </a:p>
        </p:txBody>
      </p:sp>
      <p:sp>
        <p:nvSpPr>
          <p:cNvPr id="25" name="a6u_h1231"/>
          <p:cNvSpPr txBox="1"/>
          <p:nvPr/>
        </p:nvSpPr>
        <p:spPr>
          <a:xfrm>
            <a:off x="626364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right information</a:t>
            </a:r>
            <a:endParaRPr lang="en-US" dirty="0" sz="1500"/>
          </a:p>
        </p:txBody>
      </p:sp>
      <p:sp>
        <p:nvSpPr>
          <p:cNvPr id="26" name="a6u_d1232"/>
          <p:cNvSpPr txBox="1"/>
          <p:nvPr/>
        </p:nvSpPr>
        <p:spPr>
          <a:xfrm>
            <a:off x="6263640" y="400507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error doesn't mean correct data — check the meaning.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 · ORDER BY Only Once, at the End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may use WHERE, JOIN, GROUP BY, HAVING — but not its own ORDER BY</a:t>
            </a:r>
            <a:endParaRPr lang="en-US" dirty="0" sz="1300"/>
          </a:p>
        </p:txBody>
      </p:sp>
      <p:sp>
        <p:nvSpPr>
          <p:cNvPr id="4" name="a1f_l123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Not allowed</a:t>
            </a:r>
            <a:endParaRPr lang="en-US" dirty="0" sz="1400"/>
          </a:p>
        </p:txBody>
      </p:sp>
      <p:sp>
        <p:nvSpPr>
          <p:cNvPr id="5" name="a1f_codebg1234"/>
          <p:cNvSpPr/>
          <p:nvPr/>
        </p:nvSpPr>
        <p:spPr>
          <a:xfrm>
            <a:off x="457200" y="1508760"/>
            <a:ext cx="3886200" cy="2029968"/>
          </a:xfrm>
          <a:prstGeom prst="roundRect">
            <a:avLst>
              <a:gd name="adj" fmla="val 3604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6" name="a1f_hl1235"/>
          <p:cNvSpPr/>
          <p:nvPr/>
        </p:nvSpPr>
        <p:spPr>
          <a:xfrm>
            <a:off x="530352" y="2231136"/>
            <a:ext cx="3739896" cy="292608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7" name="a1wd0_code1236"/>
          <p:cNvSpPr txBox="1"/>
          <p:nvPr/>
        </p:nvSpPr>
        <p:spPr>
          <a:xfrm>
            <a:off x="640080" y="1645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8" name="a1wd100_code1237"/>
          <p:cNvSpPr txBox="1"/>
          <p:nvPr/>
        </p:nvSpPr>
        <p:spPr>
          <a:xfrm>
            <a:off x="640080" y="19385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9" name="a1wd200_code1238"/>
          <p:cNvSpPr txBox="1"/>
          <p:nvPr/>
        </p:nvSpPr>
        <p:spPr>
          <a:xfrm>
            <a:off x="64008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endParaRPr lang="en-US" dirty="0" sz="1200"/>
          </a:p>
        </p:txBody>
      </p:sp>
      <p:sp>
        <p:nvSpPr>
          <p:cNvPr id="10" name="a1wd300_code1239"/>
          <p:cNvSpPr txBox="1"/>
          <p:nvPr/>
        </p:nvSpPr>
        <p:spPr>
          <a:xfrm>
            <a:off x="640080" y="25237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11" name="a1wd400_code1240"/>
          <p:cNvSpPr txBox="1"/>
          <p:nvPr/>
        </p:nvSpPr>
        <p:spPr>
          <a:xfrm>
            <a:off x="640080" y="28163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12" name="a1wd500_code1241"/>
          <p:cNvSpPr txBox="1"/>
          <p:nvPr/>
        </p:nvSpPr>
        <p:spPr>
          <a:xfrm>
            <a:off x="640080" y="3108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3" name="a2f_l1242"/>
          <p:cNvSpPr txBox="1"/>
          <p:nvPr/>
        </p:nvSpPr>
        <p:spPr>
          <a:xfrm>
            <a:off x="48006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Correct</a:t>
            </a:r>
            <a:endParaRPr lang="en-US" dirty="0" sz="1400"/>
          </a:p>
        </p:txBody>
      </p:sp>
      <p:sp>
        <p:nvSpPr>
          <p:cNvPr id="14" name="a2f_codebg1243"/>
          <p:cNvSpPr/>
          <p:nvPr/>
        </p:nvSpPr>
        <p:spPr>
          <a:xfrm>
            <a:off x="4800600" y="1508760"/>
            <a:ext cx="388620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5" name="a3f_hl1244"/>
          <p:cNvSpPr/>
          <p:nvPr/>
        </p:nvSpPr>
        <p:spPr>
          <a:xfrm>
            <a:off x="4873752" y="3401568"/>
            <a:ext cx="3739896" cy="292608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6" name="a2wd0_code1245"/>
          <p:cNvSpPr txBox="1"/>
          <p:nvPr/>
        </p:nvSpPr>
        <p:spPr>
          <a:xfrm>
            <a:off x="4983480" y="1645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17" name="a2wd100_code1246"/>
          <p:cNvSpPr txBox="1"/>
          <p:nvPr/>
        </p:nvSpPr>
        <p:spPr>
          <a:xfrm>
            <a:off x="4983480" y="19385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18" name="a2wd200_code1247"/>
          <p:cNvSpPr txBox="1"/>
          <p:nvPr/>
        </p:nvSpPr>
        <p:spPr>
          <a:xfrm>
            <a:off x="498348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dirty="0" sz="1200"/>
          </a:p>
        </p:txBody>
      </p:sp>
      <p:sp>
        <p:nvSpPr>
          <p:cNvPr id="19" name="a2wd300_code1248"/>
          <p:cNvSpPr txBox="1"/>
          <p:nvPr/>
        </p:nvSpPr>
        <p:spPr>
          <a:xfrm>
            <a:off x="4983480" y="25237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20" name="a2wd400_code1249"/>
          <p:cNvSpPr txBox="1"/>
          <p:nvPr/>
        </p:nvSpPr>
        <p:spPr>
          <a:xfrm>
            <a:off x="4983480" y="28163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1" name="a2wd500_code1250"/>
          <p:cNvSpPr txBox="1"/>
          <p:nvPr/>
        </p:nvSpPr>
        <p:spPr>
          <a:xfrm>
            <a:off x="4983480" y="3108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22" name="a2wd600_code1251"/>
          <p:cNvSpPr txBox="1"/>
          <p:nvPr/>
        </p:nvSpPr>
        <p:spPr>
          <a:xfrm>
            <a:off x="4983480" y="34015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23" name="a3u_nb1252"/>
          <p:cNvSpPr/>
          <p:nvPr/>
        </p:nvSpPr>
        <p:spPr>
          <a:xfrm>
            <a:off x="457200" y="416052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p/>
        </p:txBody>
      </p:sp>
      <p:sp>
        <p:nvSpPr>
          <p:cNvPr id="24" name="a3u_nt1253"/>
          <p:cNvSpPr txBox="1"/>
          <p:nvPr/>
        </p:nvSpPr>
        <p:spPr>
          <a:xfrm>
            <a:off x="685800" y="4160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sorts the final combined result, so it belongs after the last query.</a:t>
            </a:r>
            <a:endParaRPr lang="en-US" dirty="0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15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2 &amp; 3 · Column Count and Data Types</a:t>
            </a:r>
            <a:endParaRPr lang="en-US" dirty="0" sz="2800"/>
          </a:p>
        </p:txBody>
      </p:sp>
      <p:sp>
        <p:nvSpPr>
          <p:cNvPr id="3" name="a1f_c1254"/>
          <p:cNvSpPr/>
          <p:nvPr/>
        </p:nvSpPr>
        <p:spPr>
          <a:xfrm>
            <a:off x="457200" y="960120"/>
            <a:ext cx="397764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a1f_h1255"/>
          <p:cNvSpPr txBox="1"/>
          <p:nvPr/>
        </p:nvSpPr>
        <p:spPr>
          <a:xfrm>
            <a:off x="685800" y="1051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 · Same number of columns</a:t>
            </a:r>
            <a:endParaRPr lang="en-US" dirty="0" sz="1600"/>
          </a:p>
        </p:txBody>
      </p:sp>
      <p:sp>
        <p:nvSpPr>
          <p:cNvPr id="5" name="a1f_codebg1256"/>
          <p:cNvSpPr/>
          <p:nvPr/>
        </p:nvSpPr>
        <p:spPr>
          <a:xfrm>
            <a:off x="640080" y="14630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6" name="a1wd0_code1257"/>
          <p:cNvSpPr txBox="1"/>
          <p:nvPr/>
        </p:nvSpPr>
        <p:spPr>
          <a:xfrm>
            <a:off x="822960" y="1600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100"/>
          </a:p>
        </p:txBody>
      </p:sp>
      <p:sp>
        <p:nvSpPr>
          <p:cNvPr id="7" name="a1wd80_code1258"/>
          <p:cNvSpPr txBox="1"/>
          <p:nvPr/>
        </p:nvSpPr>
        <p:spPr>
          <a:xfrm>
            <a:off x="822960" y="18288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8" name="a1wd160_code1259"/>
          <p:cNvSpPr txBox="1"/>
          <p:nvPr/>
        </p:nvSpPr>
        <p:spPr>
          <a:xfrm>
            <a:off x="822960" y="2057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100"/>
          </a:p>
        </p:txBody>
      </p:sp>
      <p:sp>
        <p:nvSpPr>
          <p:cNvPr id="9" name="a1wd240_code1260"/>
          <p:cNvSpPr txBox="1"/>
          <p:nvPr/>
        </p:nvSpPr>
        <p:spPr>
          <a:xfrm>
            <a:off x="822960" y="2286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100"/>
          </a:p>
        </p:txBody>
      </p:sp>
      <p:sp>
        <p:nvSpPr>
          <p:cNvPr id="10" name="a1wd320_code1261"/>
          <p:cNvSpPr txBox="1"/>
          <p:nvPr/>
        </p:nvSpPr>
        <p:spPr>
          <a:xfrm>
            <a:off x="822960" y="25146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11" name="a3f_err1262"/>
          <p:cNvSpPr txBox="1"/>
          <p:nvPr/>
        </p:nvSpPr>
        <p:spPr>
          <a:xfrm>
            <a:off x="640080" y="292608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EF2F2"/>
          </a:solidFill>
          <a:ln>
            <a:solidFill>
              <a:srgbClr val="FECACA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Error: </a:t>
            </a:r>
            <a:r>
              <a:rPr sz="1100" i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combined with UNION, INTERSECT or EXCEPT must have an equal number of expressions.</a:t>
            </a:r>
            <a:endParaRPr lang="en-US" dirty="0" sz="1100"/>
          </a:p>
        </p:txBody>
      </p:sp>
      <p:sp>
        <p:nvSpPr>
          <p:cNvPr id="12" name="a3fd400_fix1263"/>
          <p:cNvSpPr txBox="1"/>
          <p:nvPr/>
        </p:nvSpPr>
        <p:spPr>
          <a:xfrm>
            <a:off x="640080" y="388620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F0FDF4"/>
          </a:solidFill>
          <a:ln>
            <a:solidFill>
              <a:srgbClr val="BBF7D0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Fix: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columns vs 2 — remove CustomerID so both return 2.</a:t>
            </a:r>
            <a:endParaRPr lang="en-US" dirty="0" sz="1200"/>
          </a:p>
        </p:txBody>
      </p:sp>
      <p:sp>
        <p:nvSpPr>
          <p:cNvPr id="13" name="a2f_c1264"/>
          <p:cNvSpPr/>
          <p:nvPr/>
        </p:nvSpPr>
        <p:spPr>
          <a:xfrm>
            <a:off x="4709160" y="960120"/>
            <a:ext cx="397764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a2f_h1265"/>
          <p:cNvSpPr txBox="1"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 · Matching data types</a:t>
            </a:r>
            <a:endParaRPr lang="en-US" dirty="0" sz="1600"/>
          </a:p>
        </p:txBody>
      </p:sp>
      <p:sp>
        <p:nvSpPr>
          <p:cNvPr id="15" name="a2f_codebg1266"/>
          <p:cNvSpPr/>
          <p:nvPr/>
        </p:nvSpPr>
        <p:spPr>
          <a:xfrm>
            <a:off x="4892040" y="14630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6" name="a2wd0_code1267"/>
          <p:cNvSpPr txBox="1"/>
          <p:nvPr/>
        </p:nvSpPr>
        <p:spPr>
          <a:xfrm>
            <a:off x="5074920" y="1600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100"/>
          </a:p>
        </p:txBody>
      </p:sp>
      <p:sp>
        <p:nvSpPr>
          <p:cNvPr id="17" name="a2wd80_code1268"/>
          <p:cNvSpPr txBox="1"/>
          <p:nvPr/>
        </p:nvSpPr>
        <p:spPr>
          <a:xfrm>
            <a:off x="5074920" y="18288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18" name="a2wd160_code1269"/>
          <p:cNvSpPr txBox="1"/>
          <p:nvPr/>
        </p:nvSpPr>
        <p:spPr>
          <a:xfrm>
            <a:off x="5074920" y="2057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100"/>
          </a:p>
        </p:txBody>
      </p:sp>
      <p:sp>
        <p:nvSpPr>
          <p:cNvPr id="19" name="a2wd240_code1270"/>
          <p:cNvSpPr txBox="1"/>
          <p:nvPr/>
        </p:nvSpPr>
        <p:spPr>
          <a:xfrm>
            <a:off x="5074920" y="2286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100"/>
          </a:p>
        </p:txBody>
      </p:sp>
      <p:sp>
        <p:nvSpPr>
          <p:cNvPr id="20" name="a2wd320_code1271"/>
          <p:cNvSpPr txBox="1"/>
          <p:nvPr/>
        </p:nvSpPr>
        <p:spPr>
          <a:xfrm>
            <a:off x="5074920" y="25146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21" name="a4f_err1272"/>
          <p:cNvSpPr txBox="1"/>
          <p:nvPr/>
        </p:nvSpPr>
        <p:spPr>
          <a:xfrm>
            <a:off x="4892040" y="2926080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EF2F2"/>
          </a:solidFill>
          <a:ln>
            <a:solidFill>
              <a:srgbClr val="FECACA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Error: </a:t>
            </a:r>
            <a:r>
              <a:rPr sz="1100" i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failed when converting the varchar value 'Frank' to data type int.</a:t>
            </a:r>
            <a:endParaRPr lang="en-US" dirty="0" sz="1100"/>
          </a:p>
        </p:txBody>
      </p:sp>
      <p:sp>
        <p:nvSpPr>
          <p:cNvPr id="22" name="a4fd400_fix1273"/>
          <p:cNvSpPr txBox="1"/>
          <p:nvPr/>
        </p:nvSpPr>
        <p:spPr>
          <a:xfrm>
            <a:off x="4892040" y="3886200"/>
            <a:ext cx="3611880" cy="731520"/>
          </a:xfrm>
          <a:prstGeom prst="roundRect">
            <a:avLst>
              <a:gd name="adj" fmla="val 7500"/>
            </a:avLst>
          </a:prstGeom>
          <a:solidFill>
            <a:srgbClr val="F0FDF4"/>
          </a:solidFill>
          <a:ln>
            <a:solidFill>
              <a:srgbClr val="BBF7D0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Fix: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vs VARCHAR — use EmployeeID (INT) in the 2nd query.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11" grpId="0" animBg="1"/>
      <p:bldP spid="12" grpId="0" animBg="1"/>
      <p:bldP spid="21" grpId="0" animBg="1"/>
      <p:bldP spid="22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 · Same Column Order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maps columns by position — 1st to 1st, 2nd to 2nd — never by name</a:t>
            </a:r>
            <a:endParaRPr lang="en-US" dirty="0" sz="1300"/>
          </a:p>
        </p:txBody>
      </p:sp>
      <p:sp>
        <p:nvSpPr>
          <p:cNvPr id="4" name="a1f_l1274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Swapped order</a:t>
            </a:r>
            <a:endParaRPr lang="en-US" dirty="0" sz="1400"/>
          </a:p>
        </p:txBody>
      </p:sp>
      <p:sp>
        <p:nvSpPr>
          <p:cNvPr id="5" name="a1f_q1275"/>
          <p:cNvSpPr txBox="1"/>
          <p:nvPr/>
        </p:nvSpPr>
        <p:spPr>
          <a:xfrm>
            <a:off x="457200" y="16459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100"/>
          </a:p>
        </p:txBody>
      </p:sp>
      <p:sp>
        <p:nvSpPr>
          <p:cNvPr id="6" name="a1f_box1276"/>
          <p:cNvSpPr txBox="1"/>
          <p:nvPr/>
        </p:nvSpPr>
        <p:spPr>
          <a:xfrm>
            <a:off x="1325880" y="1645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 · VARCHAR</a:t>
            </a:r>
            <a:endParaRPr lang="en-US" dirty="0" sz="1200"/>
          </a:p>
        </p:txBody>
      </p:sp>
      <p:sp>
        <p:nvSpPr>
          <p:cNvPr id="7" name="a1f_box1277"/>
          <p:cNvSpPr txBox="1"/>
          <p:nvPr/>
        </p:nvSpPr>
        <p:spPr>
          <a:xfrm>
            <a:off x="3108960" y="1645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CustomerID · INT</a:t>
            </a:r>
            <a:endParaRPr lang="en-US" dirty="0" sz="1200"/>
          </a:p>
        </p:txBody>
      </p:sp>
      <p:sp>
        <p:nvSpPr>
          <p:cNvPr id="8" name="a1f_q1278"/>
          <p:cNvSpPr txBox="1"/>
          <p:nvPr/>
        </p:nvSpPr>
        <p:spPr>
          <a:xfrm>
            <a:off x="457200" y="27889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</a:t>
            </a:r>
            <a:endParaRPr lang="en-US" dirty="0" sz="1100"/>
          </a:p>
        </p:txBody>
      </p:sp>
      <p:sp>
        <p:nvSpPr>
          <p:cNvPr id="9" name="a1f_box1279"/>
          <p:cNvSpPr txBox="1"/>
          <p:nvPr/>
        </p:nvSpPr>
        <p:spPr>
          <a:xfrm>
            <a:off x="1325880" y="2788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EmployeeID · INT</a:t>
            </a:r>
            <a:endParaRPr lang="en-US" dirty="0" sz="1200"/>
          </a:p>
        </p:txBody>
      </p:sp>
      <p:sp>
        <p:nvSpPr>
          <p:cNvPr id="10" name="a1f_box1280"/>
          <p:cNvSpPr txBox="1"/>
          <p:nvPr/>
        </p:nvSpPr>
        <p:spPr>
          <a:xfrm>
            <a:off x="3108960" y="2788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 · VARCHAR</a:t>
            </a:r>
            <a:endParaRPr lang="en-US" dirty="0" sz="1200"/>
          </a:p>
        </p:txBody>
      </p:sp>
      <p:sp>
        <p:nvSpPr>
          <p:cNvPr id="11" name="a2w_ln1281"/>
          <p:cNvSpPr/>
          <p:nvPr/>
        </p:nvSpPr>
        <p:spPr>
          <a:xfrm>
            <a:off x="2148840" y="2194560"/>
            <a:ext cx="0" cy="548640"/>
          </a:xfrm>
          <a:prstGeom prst="line">
            <a:avLst/>
          </a:prstGeom>
          <a:noFill/>
          <a:ln w="31750">
            <a:solidFill>
              <a:srgbClr val="DC2626"/>
            </a:solidFill>
            <a:headEnd type="triangle"/>
            <a:prstDash val="solid"/>
            <a:tailEnd type="triangle"/>
          </a:ln>
        </p:spPr>
        <p:txBody>
          <a:bodyPr/>
          <a:p/>
        </p:txBody>
      </p:sp>
      <p:sp>
        <p:nvSpPr>
          <p:cNvPr id="12" name="a2f_bdg1282"/>
          <p:cNvSpPr txBox="1"/>
          <p:nvPr/>
        </p:nvSpPr>
        <p:spPr>
          <a:xfrm>
            <a:off x="2258568" y="2359152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13" name="a2w_ln1283"/>
          <p:cNvSpPr/>
          <p:nvPr/>
        </p:nvSpPr>
        <p:spPr>
          <a:xfrm>
            <a:off x="3931920" y="2194560"/>
            <a:ext cx="0" cy="548640"/>
          </a:xfrm>
          <a:prstGeom prst="line">
            <a:avLst/>
          </a:prstGeom>
          <a:noFill/>
          <a:ln w="31750">
            <a:solidFill>
              <a:srgbClr val="DC2626"/>
            </a:solidFill>
            <a:headEnd type="triangle"/>
            <a:prstDash val="solid"/>
            <a:tailEnd type="triangle"/>
          </a:ln>
        </p:spPr>
        <p:txBody>
          <a:bodyPr/>
          <a:p/>
        </p:txBody>
      </p:sp>
      <p:sp>
        <p:nvSpPr>
          <p:cNvPr id="14" name="a2f_bdg1284"/>
          <p:cNvSpPr txBox="1"/>
          <p:nvPr/>
        </p:nvSpPr>
        <p:spPr>
          <a:xfrm>
            <a:off x="4041648" y="2359152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15" name="a3f_l1285"/>
          <p:cNvSpPr txBox="1"/>
          <p:nvPr/>
        </p:nvSpPr>
        <p:spPr>
          <a:xfrm>
            <a:off x="51206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Same order</a:t>
            </a:r>
            <a:endParaRPr lang="en-US" dirty="0" sz="1400"/>
          </a:p>
        </p:txBody>
      </p:sp>
      <p:sp>
        <p:nvSpPr>
          <p:cNvPr id="16" name="a3f_box1286"/>
          <p:cNvSpPr txBox="1"/>
          <p:nvPr/>
        </p:nvSpPr>
        <p:spPr>
          <a:xfrm>
            <a:off x="5120640" y="1645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CustomerID · INT</a:t>
            </a:r>
            <a:endParaRPr lang="en-US" dirty="0" sz="1200"/>
          </a:p>
        </p:txBody>
      </p:sp>
      <p:sp>
        <p:nvSpPr>
          <p:cNvPr id="17" name="a3f_box1287"/>
          <p:cNvSpPr txBox="1"/>
          <p:nvPr/>
        </p:nvSpPr>
        <p:spPr>
          <a:xfrm>
            <a:off x="6903720" y="1645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 · VARCHAR</a:t>
            </a:r>
            <a:endParaRPr lang="en-US" dirty="0" sz="1200"/>
          </a:p>
        </p:txBody>
      </p:sp>
      <p:sp>
        <p:nvSpPr>
          <p:cNvPr id="18" name="a3f_box1288"/>
          <p:cNvSpPr txBox="1"/>
          <p:nvPr/>
        </p:nvSpPr>
        <p:spPr>
          <a:xfrm>
            <a:off x="5120640" y="2788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EmployeeID · INT</a:t>
            </a:r>
            <a:endParaRPr lang="en-US" dirty="0" sz="1200"/>
          </a:p>
        </p:txBody>
      </p:sp>
      <p:sp>
        <p:nvSpPr>
          <p:cNvPr id="19" name="a3f_box1289"/>
          <p:cNvSpPr txBox="1"/>
          <p:nvPr/>
        </p:nvSpPr>
        <p:spPr>
          <a:xfrm>
            <a:off x="6903720" y="2788920"/>
            <a:ext cx="164592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 · VARCHAR</a:t>
            </a:r>
            <a:endParaRPr lang="en-US" dirty="0" sz="1200"/>
          </a:p>
        </p:txBody>
      </p:sp>
      <p:sp>
        <p:nvSpPr>
          <p:cNvPr id="20" name="a4w_ln1290"/>
          <p:cNvSpPr/>
          <p:nvPr/>
        </p:nvSpPr>
        <p:spPr>
          <a:xfrm>
            <a:off x="5943600" y="2194560"/>
            <a:ext cx="0" cy="548640"/>
          </a:xfrm>
          <a:prstGeom prst="line">
            <a:avLst/>
          </a:prstGeom>
          <a:noFill/>
          <a:ln w="31750">
            <a:solidFill>
              <a:srgbClr val="16A34A"/>
            </a:solidFill>
            <a:headEnd type="triangle"/>
            <a:prstDash val="solid"/>
            <a:tailEnd type="triangle"/>
          </a:ln>
        </p:spPr>
        <p:txBody>
          <a:bodyPr/>
          <a:p/>
        </p:txBody>
      </p:sp>
      <p:sp>
        <p:nvSpPr>
          <p:cNvPr id="21" name="a4f_bdg1291"/>
          <p:cNvSpPr txBox="1"/>
          <p:nvPr/>
        </p:nvSpPr>
        <p:spPr>
          <a:xfrm>
            <a:off x="6053328" y="2359152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22" name="a4w_ln1292"/>
          <p:cNvSpPr/>
          <p:nvPr/>
        </p:nvSpPr>
        <p:spPr>
          <a:xfrm>
            <a:off x="7726680" y="2194560"/>
            <a:ext cx="0" cy="548640"/>
          </a:xfrm>
          <a:prstGeom prst="line">
            <a:avLst/>
          </a:prstGeom>
          <a:noFill/>
          <a:ln w="31750">
            <a:solidFill>
              <a:srgbClr val="16A34A"/>
            </a:solidFill>
            <a:headEnd type="triangle"/>
            <a:prstDash val="solid"/>
            <a:tailEnd type="triangle"/>
          </a:ln>
        </p:spPr>
        <p:txBody>
          <a:bodyPr/>
          <a:p/>
        </p:txBody>
      </p:sp>
      <p:sp>
        <p:nvSpPr>
          <p:cNvPr id="23" name="a4f_bdg1293"/>
          <p:cNvSpPr txBox="1"/>
          <p:nvPr/>
        </p:nvSpPr>
        <p:spPr>
          <a:xfrm>
            <a:off x="7836408" y="2359152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24" name="a5u_nb1294"/>
          <p:cNvSpPr/>
          <p:nvPr/>
        </p:nvSpPr>
        <p:spPr>
          <a:xfrm>
            <a:off x="457200" y="37033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p/>
        </p:txBody>
      </p:sp>
      <p:sp>
        <p:nvSpPr>
          <p:cNvPr id="25" name="a5u_nt1295"/>
          <p:cNvSpPr txBox="1"/>
          <p:nvPr/>
        </p:nvSpPr>
        <p:spPr>
          <a:xfrm>
            <a:off x="685800" y="3703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 isn't enough. </a:t>
            </a: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queries hold an ID and a last name, but in different positions — so SQL pairs LastName with EmployeeID and fails converting a name to INT. Keep the column order identical.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 · The First Query Names the Columns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Aliases in later queries are ignored</a:t>
            </a:r>
            <a:endParaRPr lang="en-US" dirty="0" sz="1300"/>
          </a:p>
        </p:txBody>
      </p:sp>
      <p:sp>
        <p:nvSpPr>
          <p:cNvPr id="4" name="a1f_codebg1296"/>
          <p:cNvSpPr/>
          <p:nvPr/>
        </p:nvSpPr>
        <p:spPr>
          <a:xfrm>
            <a:off x="457200" y="1188720"/>
            <a:ext cx="420624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1297"/>
          <p:cNvSpPr txBox="1"/>
          <p:nvPr/>
        </p:nvSpPr>
        <p:spPr>
          <a:xfrm>
            <a:off x="640080" y="1325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80_code1298"/>
          <p:cNvSpPr txBox="1"/>
          <p:nvPr/>
        </p:nvSpPr>
        <p:spPr>
          <a:xfrm>
            <a:off x="640080" y="16002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7" name="a1wd160_code1299"/>
          <p:cNvSpPr txBox="1"/>
          <p:nvPr/>
        </p:nvSpPr>
        <p:spPr>
          <a:xfrm>
            <a:off x="640080" y="18745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8" name="a1wd240_code1300"/>
          <p:cNvSpPr txBox="1"/>
          <p:nvPr/>
        </p:nvSpPr>
        <p:spPr>
          <a:xfrm>
            <a:off x="640080" y="21488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9" name="a1wd320_code1301"/>
          <p:cNvSpPr txBox="1"/>
          <p:nvPr/>
        </p:nvSpPr>
        <p:spPr>
          <a:xfrm>
            <a:off x="640080" y="24231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10" name="a1wd400_code1302"/>
          <p:cNvSpPr txBox="1"/>
          <p:nvPr/>
        </p:nvSpPr>
        <p:spPr>
          <a:xfrm>
            <a:off x="640080" y="26974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11" name="a1wd480_code1303"/>
          <p:cNvSpPr txBox="1"/>
          <p:nvPr/>
        </p:nvSpPr>
        <p:spPr>
          <a:xfrm>
            <a:off x="640080" y="29718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EmployeeID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200"/>
          </a:p>
        </p:txBody>
      </p:sp>
      <p:sp>
        <p:nvSpPr>
          <p:cNvPr id="12" name="a1wd560_code1304"/>
          <p:cNvSpPr txBox="1"/>
          <p:nvPr/>
        </p:nvSpPr>
        <p:spPr>
          <a:xfrm>
            <a:off x="640080" y="32461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Last_Name</a:t>
            </a:r>
            <a:endParaRPr lang="en-US" dirty="0" sz="1200"/>
          </a:p>
        </p:txBody>
      </p:sp>
      <p:sp>
        <p:nvSpPr>
          <p:cNvPr id="13" name="a1wd640_code1305"/>
          <p:cNvSpPr txBox="1"/>
          <p:nvPr/>
        </p:nvSpPr>
        <p:spPr>
          <a:xfrm>
            <a:off x="640080" y="35204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4" name="a2f_hl11306"/>
          <p:cNvSpPr/>
          <p:nvPr/>
        </p:nvSpPr>
        <p:spPr>
          <a:xfrm>
            <a:off x="530352" y="1600200"/>
            <a:ext cx="4059936" cy="274320"/>
          </a:xfrm>
          <a:prstGeom prst="rect">
            <a:avLst/>
          </a:prstGeom>
          <a:solidFill>
            <a:srgbClr val="16A34A">
              <a:alpha val="0"/>
            </a:srgbClr>
          </a:solidFill>
          <a:ln w="25400">
            <a:solidFill>
              <a:srgbClr val="4ADE80"/>
            </a:solidFill>
            <a:prstDash val="solid"/>
          </a:ln>
        </p:spPr>
        <p:txBody>
          <a:bodyPr/>
          <a:p/>
        </p:txBody>
      </p:sp>
      <p:sp>
        <p:nvSpPr>
          <p:cNvPr id="15" name="a3f_hl21307"/>
          <p:cNvSpPr/>
          <p:nvPr/>
        </p:nvSpPr>
        <p:spPr>
          <a:xfrm>
            <a:off x="530352" y="3246120"/>
            <a:ext cx="4059936" cy="274320"/>
          </a:xfrm>
          <a:prstGeom prst="rect">
            <a:avLst/>
          </a:prstGeom>
          <a:solidFill>
            <a:srgbClr val="DC2626">
              <a:alpha val="0"/>
            </a:srgbClr>
          </a:solidFill>
          <a:ln w="254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6" name="a2f_rl1308"/>
          <p:cNvSpPr txBox="1"/>
          <p:nvPr/>
        </p:nvSpPr>
        <p:spPr>
          <a:xfrm>
            <a:off x="512064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columns</a:t>
            </a:r>
            <a:endParaRPr lang="en-US" dirty="0" sz="1300"/>
          </a:p>
        </p:txBody>
      </p:sp>
      <p:sp>
        <p:nvSpPr>
          <p:cNvPr id="17" name="a2f_box1309"/>
          <p:cNvSpPr txBox="1"/>
          <p:nvPr/>
        </p:nvSpPr>
        <p:spPr>
          <a:xfrm>
            <a:off x="5120640" y="1554480"/>
            <a:ext cx="1737360" cy="457200"/>
          </a:xfrm>
          <a:prstGeom prst="rect">
            <a:avLst>
              <a:gd name="adj" fmla="val 12000"/>
            </a:avLst>
          </a:prstGeom>
          <a:solidFill>
            <a:srgbClr val="6D28D9"/>
          </a:solidFill>
          <a:ln w="12700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400"/>
          </a:p>
        </p:txBody>
      </p:sp>
      <p:sp>
        <p:nvSpPr>
          <p:cNvPr id="18" name="a3f_box1310"/>
          <p:cNvSpPr txBox="1"/>
          <p:nvPr/>
        </p:nvSpPr>
        <p:spPr>
          <a:xfrm>
            <a:off x="6858000" y="1554480"/>
            <a:ext cx="1737360" cy="457200"/>
          </a:xfrm>
          <a:prstGeom prst="rect">
            <a:avLst>
              <a:gd name="adj" fmla="val 12000"/>
            </a:avLst>
          </a:prstGeom>
          <a:solidFill>
            <a:srgbClr val="6D28D9"/>
          </a:solidFill>
          <a:ln w="12700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400"/>
          </a:p>
        </p:txBody>
      </p:sp>
      <p:sp>
        <p:nvSpPr>
          <p:cNvPr id="19" name="a2fd300_t1311"/>
          <p:cNvSpPr txBox="1"/>
          <p:nvPr/>
        </p:nvSpPr>
        <p:spPr>
          <a:xfrm>
            <a:off x="512064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— alias from the 1st query is used</a:t>
            </a:r>
            <a:endParaRPr lang="en-US" dirty="0" sz="1200"/>
          </a:p>
        </p:txBody>
      </p:sp>
      <p:sp>
        <p:nvSpPr>
          <p:cNvPr id="20" name="a3fd300_t1312"/>
          <p:cNvSpPr txBox="1"/>
          <p:nvPr/>
        </p:nvSpPr>
        <p:spPr>
          <a:xfrm>
            <a:off x="512064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Last_Name — alias in the 2nd query is ignored</a:t>
            </a:r>
            <a:endParaRPr lang="en-US" dirty="0" sz="1200"/>
          </a:p>
        </p:txBody>
      </p:sp>
      <p:sp>
        <p:nvSpPr>
          <p:cNvPr id="21" name="a4u_tb1313"/>
          <p:cNvSpPr/>
          <p:nvPr/>
        </p:nvSpPr>
        <p:spPr>
          <a:xfrm>
            <a:off x="5120640" y="31089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pic>
        <p:nvPicPr>
          <p:cNvPr id="22" name="a4u_ti1314" descr="b6ae7cf15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474720"/>
            <a:ext cx="411480" cy="411480"/>
          </a:xfrm>
          <a:prstGeom prst="rect">
            <a:avLst/>
          </a:prstGeom>
        </p:spPr>
      </p:pic>
      <p:sp>
        <p:nvSpPr>
          <p:cNvPr id="23" name="a4u_tt1315"/>
          <p:cNvSpPr txBox="1"/>
          <p:nvPr/>
        </p:nvSpPr>
        <p:spPr>
          <a:xfrm>
            <a:off x="5760720" y="3108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columns only in the first query. It also sets the data types of the combined result.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15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6 · Map the Right Information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checks types, not meaning — no error doesn't mean a correct result</a:t>
            </a:r>
            <a:endParaRPr lang="en-US" dirty="0" sz="1300"/>
          </a:p>
        </p:txBody>
      </p:sp>
      <p:sp>
        <p:nvSpPr>
          <p:cNvPr id="4" name="a1f_codebg1316"/>
          <p:cNvSpPr/>
          <p:nvPr/>
        </p:nvSpPr>
        <p:spPr>
          <a:xfrm>
            <a:off x="457200" y="123444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2f_hl1317"/>
          <p:cNvSpPr/>
          <p:nvPr/>
        </p:nvSpPr>
        <p:spPr>
          <a:xfrm>
            <a:off x="530352" y="2249424"/>
            <a:ext cx="3785616" cy="292608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a1wd0_code1318"/>
          <p:cNvSpPr txBox="1"/>
          <p:nvPr/>
        </p:nvSpPr>
        <p:spPr>
          <a:xfrm>
            <a:off x="640080" y="13716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7" name="a1wd100_code1319"/>
          <p:cNvSpPr txBox="1"/>
          <p:nvPr/>
        </p:nvSpPr>
        <p:spPr>
          <a:xfrm>
            <a:off x="640080" y="166420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8" name="a1wd200_code1320"/>
          <p:cNvSpPr txBox="1"/>
          <p:nvPr/>
        </p:nvSpPr>
        <p:spPr>
          <a:xfrm>
            <a:off x="640080" y="195681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9" name="a1wd300_code1321"/>
          <p:cNvSpPr txBox="1"/>
          <p:nvPr/>
        </p:nvSpPr>
        <p:spPr>
          <a:xfrm>
            <a:off x="640080" y="22494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endParaRPr lang="en-US" dirty="0" sz="1200"/>
          </a:p>
        </p:txBody>
      </p:sp>
      <p:sp>
        <p:nvSpPr>
          <p:cNvPr id="10" name="a1wd400_code1322"/>
          <p:cNvSpPr txBox="1"/>
          <p:nvPr/>
        </p:nvSpPr>
        <p:spPr>
          <a:xfrm>
            <a:off x="640080" y="254203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1" name="a3f_cell1323"/>
          <p:cNvSpPr txBox="1"/>
          <p:nvPr/>
        </p:nvSpPr>
        <p:spPr>
          <a:xfrm>
            <a:off x="4846320" y="1188720"/>
            <a:ext cx="18288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100"/>
          </a:p>
        </p:txBody>
      </p:sp>
      <p:sp>
        <p:nvSpPr>
          <p:cNvPr id="12" name="a3wd0_cell1324"/>
          <p:cNvSpPr txBox="1"/>
          <p:nvPr/>
        </p:nvSpPr>
        <p:spPr>
          <a:xfrm>
            <a:off x="4846320" y="146304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100"/>
          </a:p>
        </p:txBody>
      </p:sp>
      <p:sp>
        <p:nvSpPr>
          <p:cNvPr id="13" name="a3wd80_cell1325"/>
          <p:cNvSpPr txBox="1"/>
          <p:nvPr/>
        </p:nvSpPr>
        <p:spPr>
          <a:xfrm>
            <a:off x="4846320" y="173736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14" name="a3wd160_cell1326"/>
          <p:cNvSpPr txBox="1"/>
          <p:nvPr/>
        </p:nvSpPr>
        <p:spPr>
          <a:xfrm>
            <a:off x="4846320" y="201168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15" name="a3wd240_cell1327"/>
          <p:cNvSpPr txBox="1"/>
          <p:nvPr/>
        </p:nvSpPr>
        <p:spPr>
          <a:xfrm>
            <a:off x="4846320" y="228600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100"/>
          </a:p>
        </p:txBody>
      </p:sp>
      <p:sp>
        <p:nvSpPr>
          <p:cNvPr id="16" name="a3wd320_cell1328"/>
          <p:cNvSpPr txBox="1"/>
          <p:nvPr/>
        </p:nvSpPr>
        <p:spPr>
          <a:xfrm>
            <a:off x="4846320" y="256032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100"/>
          </a:p>
        </p:txBody>
      </p:sp>
      <p:sp>
        <p:nvSpPr>
          <p:cNvPr id="17" name="a3wd400_cell1329"/>
          <p:cNvSpPr txBox="1"/>
          <p:nvPr/>
        </p:nvSpPr>
        <p:spPr>
          <a:xfrm>
            <a:off x="4846320" y="283464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100"/>
          </a:p>
        </p:txBody>
      </p:sp>
      <p:sp>
        <p:nvSpPr>
          <p:cNvPr id="18" name="a3wd480_cell1330"/>
          <p:cNvSpPr txBox="1"/>
          <p:nvPr/>
        </p:nvSpPr>
        <p:spPr>
          <a:xfrm>
            <a:off x="4846320" y="310896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100"/>
          </a:p>
        </p:txBody>
      </p:sp>
      <p:sp>
        <p:nvSpPr>
          <p:cNvPr id="19" name="a3wd560_cell1331"/>
          <p:cNvSpPr txBox="1"/>
          <p:nvPr/>
        </p:nvSpPr>
        <p:spPr>
          <a:xfrm>
            <a:off x="4846320" y="3383280"/>
            <a:ext cx="18288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0" name="a3wd640_cell1332"/>
          <p:cNvSpPr txBox="1"/>
          <p:nvPr/>
        </p:nvSpPr>
        <p:spPr>
          <a:xfrm>
            <a:off x="4846320" y="365760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100"/>
          </a:p>
        </p:txBody>
      </p:sp>
      <p:sp>
        <p:nvSpPr>
          <p:cNvPr id="21" name="a3wd720_cell1333"/>
          <p:cNvSpPr txBox="1"/>
          <p:nvPr/>
        </p:nvSpPr>
        <p:spPr>
          <a:xfrm>
            <a:off x="4846320" y="393192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100"/>
          </a:p>
        </p:txBody>
      </p:sp>
      <p:sp>
        <p:nvSpPr>
          <p:cNvPr id="22" name="a3f_cell1334"/>
          <p:cNvSpPr txBox="1"/>
          <p:nvPr/>
        </p:nvSpPr>
        <p:spPr>
          <a:xfrm>
            <a:off x="6675120" y="1188720"/>
            <a:ext cx="18288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100"/>
          </a:p>
        </p:txBody>
      </p:sp>
      <p:sp>
        <p:nvSpPr>
          <p:cNvPr id="23" name="a3wd0_cell1335"/>
          <p:cNvSpPr txBox="1"/>
          <p:nvPr/>
        </p:nvSpPr>
        <p:spPr>
          <a:xfrm>
            <a:off x="6675120" y="146304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100"/>
          </a:p>
        </p:txBody>
      </p:sp>
      <p:sp>
        <p:nvSpPr>
          <p:cNvPr id="24" name="a3wd80_cell1336"/>
          <p:cNvSpPr txBox="1"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100"/>
          </a:p>
        </p:txBody>
      </p:sp>
      <p:sp>
        <p:nvSpPr>
          <p:cNvPr id="25" name="a3wd160_cell1337"/>
          <p:cNvSpPr txBox="1"/>
          <p:nvPr/>
        </p:nvSpPr>
        <p:spPr>
          <a:xfrm>
            <a:off x="6675120" y="2011680"/>
            <a:ext cx="1828800" cy="274320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6" name="a3wd240_cell1338"/>
          <p:cNvSpPr txBox="1"/>
          <p:nvPr/>
        </p:nvSpPr>
        <p:spPr>
          <a:xfrm>
            <a:off x="6675120" y="228600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100"/>
          </a:p>
        </p:txBody>
      </p:sp>
      <p:sp>
        <p:nvSpPr>
          <p:cNvPr id="27" name="a3wd320_cell1339"/>
          <p:cNvSpPr txBox="1"/>
          <p:nvPr/>
        </p:nvSpPr>
        <p:spPr>
          <a:xfrm>
            <a:off x="6675120" y="256032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100"/>
          </a:p>
        </p:txBody>
      </p:sp>
      <p:sp>
        <p:nvSpPr>
          <p:cNvPr id="28" name="a3wd400_cell1340"/>
          <p:cNvSpPr txBox="1"/>
          <p:nvPr/>
        </p:nvSpPr>
        <p:spPr>
          <a:xfrm>
            <a:off x="6675120" y="283464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9" name="a3wd480_cell1341"/>
          <p:cNvSpPr txBox="1"/>
          <p:nvPr/>
        </p:nvSpPr>
        <p:spPr>
          <a:xfrm>
            <a:off x="6675120" y="310896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30" name="a3wd560_cell1342"/>
          <p:cNvSpPr txBox="1"/>
          <p:nvPr/>
        </p:nvSpPr>
        <p:spPr>
          <a:xfrm>
            <a:off x="6675120" y="338328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31" name="a3wd640_cell1343"/>
          <p:cNvSpPr txBox="1"/>
          <p:nvPr/>
        </p:nvSpPr>
        <p:spPr>
          <a:xfrm>
            <a:off x="6675120" y="365760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32" name="a3wd720_cell1344"/>
          <p:cNvSpPr txBox="1"/>
          <p:nvPr/>
        </p:nvSpPr>
        <p:spPr>
          <a:xfrm>
            <a:off x="6675120" y="3931920"/>
            <a:ext cx="1828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  <p:sp>
        <p:nvSpPr>
          <p:cNvPr id="33" name="a4f_bad1345"/>
          <p:cNvSpPr/>
          <p:nvPr/>
        </p:nvSpPr>
        <p:spPr>
          <a:xfrm>
            <a:off x="4818888" y="2816352"/>
            <a:ext cx="3712464" cy="1408176"/>
          </a:xfrm>
          <a:prstGeom prst="rect">
            <a:avLst/>
          </a:prstGeom>
          <a:solidFill>
            <a:srgbClr val="DC2626">
              <a:alpha val="12000"/>
            </a:srgbClr>
          </a:solidFill>
          <a:ln w="2857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4" name="a4fd200_bl1346"/>
          <p:cNvSpPr txBox="1"/>
          <p:nvPr/>
        </p:nvSpPr>
        <p:spPr>
          <a:xfrm>
            <a:off x="484632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names in FirstName ✘</a:t>
            </a:r>
            <a:endParaRPr lang="en-US" dirty="0" sz="1200"/>
          </a:p>
        </p:txBody>
      </p:sp>
      <p:sp>
        <p:nvSpPr>
          <p:cNvPr id="35" name="a5u_nb1347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36" name="a5u_ni1348" descr="62a4287d7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566160"/>
            <a:ext cx="411480" cy="411480"/>
          </a:xfrm>
          <a:prstGeom prst="rect">
            <a:avLst/>
          </a:prstGeom>
        </p:spPr>
      </p:pic>
      <p:sp>
        <p:nvSpPr>
          <p:cNvPr id="37" name="a5u_nt1349"/>
          <p:cNvSpPr txBox="1"/>
          <p:nvPr/>
        </p:nvSpPr>
        <p:spPr>
          <a:xfrm>
            <a:off x="1188720" y="30632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— and it's wrong. </a:t>
            </a: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are VARCHAR, so SQL happily combines them. You are responsible for mapping columns that mean the same thing.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5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1350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dirty="0" sz="6000"/>
          </a:p>
        </p:txBody>
      </p:sp>
      <p:sp>
        <p:nvSpPr>
          <p:cNvPr id="3" name="a0ud200_h1351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</a:t>
            </a:r>
            <a:endParaRPr lang="en-US" dirty="0" sz="4000"/>
          </a:p>
        </p:txBody>
      </p:sp>
      <p:sp>
        <p:nvSpPr>
          <p:cNvPr id="4" name="a0fd450_t1352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distinct rows from both queries — duplicates removed</a:t>
            </a:r>
            <a:endParaRPr lang="en-US" dirty="0" sz="1700"/>
          </a:p>
        </p:txBody>
      </p:sp>
      <p:pic>
        <p:nvPicPr>
          <p:cNvPr id="5" name="a0fd300_v1353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— Concept &amp; Query</a:t>
            </a:r>
            <a:endParaRPr lang="en-US" dirty="0" sz="2800"/>
          </a:p>
        </p:txBody>
      </p:sp>
      <p:pic>
        <p:nvPicPr>
          <p:cNvPr id="3" name="Image 0" descr="b6cc453b66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657600" cy="2316480"/>
          </a:xfrm>
          <a:prstGeom prst="rect">
            <a:avLst/>
          </a:prstGeom>
        </p:spPr>
      </p:pic>
      <p:sp>
        <p:nvSpPr>
          <p:cNvPr id="4" name="a2f_nm1354"/>
          <p:cNvSpPr txBox="1"/>
          <p:nvPr/>
        </p:nvSpPr>
        <p:spPr>
          <a:xfrm>
            <a:off x="8686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200"/>
          </a:p>
        </p:txBody>
      </p:sp>
      <p:sp>
        <p:nvSpPr>
          <p:cNvPr id="5" name="a2f_nm1355"/>
          <p:cNvSpPr txBox="1"/>
          <p:nvPr/>
        </p:nvSpPr>
        <p:spPr>
          <a:xfrm>
            <a:off x="8686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200"/>
          </a:p>
        </p:txBody>
      </p:sp>
      <p:sp>
        <p:nvSpPr>
          <p:cNvPr id="6" name="a2f_nm1356"/>
          <p:cNvSpPr txBox="1"/>
          <p:nvPr/>
        </p:nvSpPr>
        <p:spPr>
          <a:xfrm>
            <a:off x="8686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200"/>
          </a:p>
        </p:txBody>
      </p:sp>
      <p:sp>
        <p:nvSpPr>
          <p:cNvPr id="7" name="a2fd250_nm1357"/>
          <p:cNvSpPr txBox="1"/>
          <p:nvPr/>
        </p:nvSpPr>
        <p:spPr>
          <a:xfrm>
            <a:off x="1783080" y="187147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200"/>
          </a:p>
        </p:txBody>
      </p:sp>
      <p:sp>
        <p:nvSpPr>
          <p:cNvPr id="8" name="a2fd250_nm1358"/>
          <p:cNvSpPr txBox="1"/>
          <p:nvPr/>
        </p:nvSpPr>
        <p:spPr>
          <a:xfrm>
            <a:off x="1783080" y="2118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200"/>
          </a:p>
        </p:txBody>
      </p:sp>
      <p:sp>
        <p:nvSpPr>
          <p:cNvPr id="9" name="a2fd500_nm1359"/>
          <p:cNvSpPr txBox="1"/>
          <p:nvPr/>
        </p:nvSpPr>
        <p:spPr>
          <a:xfrm>
            <a:off x="26974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200"/>
          </a:p>
        </p:txBody>
      </p:sp>
      <p:sp>
        <p:nvSpPr>
          <p:cNvPr id="10" name="a2fd500_nm1360"/>
          <p:cNvSpPr txBox="1"/>
          <p:nvPr/>
        </p:nvSpPr>
        <p:spPr>
          <a:xfrm>
            <a:off x="26974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200"/>
          </a:p>
        </p:txBody>
      </p:sp>
      <p:sp>
        <p:nvSpPr>
          <p:cNvPr id="11" name="a2fd500_nm1361"/>
          <p:cNvSpPr txBox="1"/>
          <p:nvPr/>
        </p:nvSpPr>
        <p:spPr>
          <a:xfrm>
            <a:off x="26974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200"/>
          </a:p>
        </p:txBody>
      </p:sp>
      <p:sp>
        <p:nvSpPr>
          <p:cNvPr id="12" name="Text 9"/>
          <p:cNvSpPr txBox="1"/>
          <p:nvPr/>
        </p:nvSpPr>
        <p:spPr>
          <a:xfrm>
            <a:off x="4572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(1st query)</a:t>
            </a:r>
            <a:endParaRPr lang="en-US" dirty="0" sz="1100"/>
          </a:p>
        </p:txBody>
      </p:sp>
      <p:sp>
        <p:nvSpPr>
          <p:cNvPr id="13" name="Text 10"/>
          <p:cNvSpPr txBox="1"/>
          <p:nvPr/>
        </p:nvSpPr>
        <p:spPr>
          <a:xfrm>
            <a:off x="22860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(2nd query)</a:t>
            </a:r>
            <a:endParaRPr lang="en-US" dirty="0" sz="1100"/>
          </a:p>
        </p:txBody>
      </p:sp>
      <p:sp>
        <p:nvSpPr>
          <p:cNvPr id="14" name="a4u_pill1362"/>
          <p:cNvSpPr txBox="1"/>
          <p:nvPr/>
        </p:nvSpPr>
        <p:spPr>
          <a:xfrm>
            <a:off x="457200" y="370332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— each row appears once</a:t>
            </a:r>
            <a:endParaRPr lang="en-US" dirty="0" sz="1200"/>
          </a:p>
        </p:txBody>
      </p:sp>
      <p:sp>
        <p:nvSpPr>
          <p:cNvPr id="15" name="a4ud200_pill1363"/>
          <p:cNvSpPr txBox="1"/>
          <p:nvPr/>
        </p:nvSpPr>
        <p:spPr>
          <a:xfrm>
            <a:off x="457200" y="420624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solidFill>
              <a:srgbClr val="F0FDF4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200"/>
          </a:p>
        </p:txBody>
      </p:sp>
      <p:sp>
        <p:nvSpPr>
          <p:cNvPr id="16" name="Text 13"/>
          <p:cNvSpPr txBox="1"/>
          <p:nvPr/>
        </p:nvSpPr>
        <p:spPr>
          <a:xfrm>
            <a:off x="4434840" y="914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distinct rows from both queries; duplicate rows are removed.</a:t>
            </a:r>
            <a:endParaRPr lang="en-US" dirty="0" sz="1500"/>
          </a:p>
        </p:txBody>
      </p:sp>
      <p:sp>
        <p:nvSpPr>
          <p:cNvPr id="17" name="a1f_codebg1364"/>
          <p:cNvSpPr/>
          <p:nvPr/>
        </p:nvSpPr>
        <p:spPr>
          <a:xfrm>
            <a:off x="4434840" y="169164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1f_hl1365"/>
          <p:cNvSpPr/>
          <p:nvPr/>
        </p:nvSpPr>
        <p:spPr>
          <a:xfrm>
            <a:off x="4507992" y="2340864"/>
            <a:ext cx="410565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a1wd0_code1366"/>
          <p:cNvSpPr txBox="1"/>
          <p:nvPr/>
        </p:nvSpPr>
        <p:spPr>
          <a:xfrm>
            <a:off x="4617720" y="1828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0" name="a1wd120_code1367"/>
          <p:cNvSpPr txBox="1"/>
          <p:nvPr/>
        </p:nvSpPr>
        <p:spPr>
          <a:xfrm>
            <a:off x="4617720" y="2084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21" name="a1wd240_code1368"/>
          <p:cNvSpPr txBox="1"/>
          <p:nvPr/>
        </p:nvSpPr>
        <p:spPr>
          <a:xfrm>
            <a:off x="4617720" y="2340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22" name="a1wd360_code1369"/>
          <p:cNvSpPr txBox="1"/>
          <p:nvPr/>
        </p:nvSpPr>
        <p:spPr>
          <a:xfrm>
            <a:off x="461772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3" name="a1wd480_code1370"/>
          <p:cNvSpPr txBox="1"/>
          <p:nvPr/>
        </p:nvSpPr>
        <p:spPr>
          <a:xfrm>
            <a:off x="461772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24" name="a3f_rl1371"/>
          <p:cNvSpPr txBox="1"/>
          <p:nvPr/>
        </p:nvSpPr>
        <p:spPr>
          <a:xfrm>
            <a:off x="44348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8 rows</a:t>
            </a:r>
            <a:endParaRPr lang="en-US" dirty="0" sz="1200"/>
          </a:p>
        </p:txBody>
      </p:sp>
      <p:sp>
        <p:nvSpPr>
          <p:cNvPr id="25" name="a3ud0_box1372"/>
          <p:cNvSpPr txBox="1"/>
          <p:nvPr/>
        </p:nvSpPr>
        <p:spPr>
          <a:xfrm>
            <a:off x="4434840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6" name="a3ud90_box1373"/>
          <p:cNvSpPr txBox="1"/>
          <p:nvPr/>
        </p:nvSpPr>
        <p:spPr>
          <a:xfrm>
            <a:off x="5294376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27" name="a3ud180_box1374"/>
          <p:cNvSpPr txBox="1"/>
          <p:nvPr/>
        </p:nvSpPr>
        <p:spPr>
          <a:xfrm>
            <a:off x="6153912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28" name="a3ud270_box1375"/>
          <p:cNvSpPr txBox="1"/>
          <p:nvPr/>
        </p:nvSpPr>
        <p:spPr>
          <a:xfrm>
            <a:off x="7013448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29" name="a3ud360_box1376"/>
          <p:cNvSpPr txBox="1"/>
          <p:nvPr/>
        </p:nvSpPr>
        <p:spPr>
          <a:xfrm>
            <a:off x="7872984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  <p:sp>
        <p:nvSpPr>
          <p:cNvPr id="30" name="a3ud450_box1377"/>
          <p:cNvSpPr txBox="1"/>
          <p:nvPr/>
        </p:nvSpPr>
        <p:spPr>
          <a:xfrm>
            <a:off x="4434840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100"/>
          </a:p>
        </p:txBody>
      </p:sp>
      <p:sp>
        <p:nvSpPr>
          <p:cNvPr id="31" name="a3ud540_box1378"/>
          <p:cNvSpPr txBox="1"/>
          <p:nvPr/>
        </p:nvSpPr>
        <p:spPr>
          <a:xfrm>
            <a:off x="5294376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100"/>
          </a:p>
        </p:txBody>
      </p:sp>
      <p:sp>
        <p:nvSpPr>
          <p:cNvPr id="32" name="a3ud630_box1379"/>
          <p:cNvSpPr txBox="1"/>
          <p:nvPr/>
        </p:nvSpPr>
        <p:spPr>
          <a:xfrm>
            <a:off x="6153912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14" grpId="0" animBg="1"/>
      <p:bldP spid="15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UNION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data from employees and customers into one table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 · Employees</a:t>
            </a:r>
            <a:endParaRPr lang="en-US" dirty="0" sz="1100"/>
          </a:p>
        </p:txBody>
      </p:sp>
      <p:sp>
        <p:nvSpPr>
          <p:cNvPr id="5" name="s_cell1380"/>
          <p:cNvSpPr txBox="1"/>
          <p:nvPr/>
        </p:nvSpPr>
        <p:spPr>
          <a:xfrm>
            <a:off x="45720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6" name="s_cell1381"/>
          <p:cNvSpPr txBox="1"/>
          <p:nvPr/>
        </p:nvSpPr>
        <p:spPr>
          <a:xfrm>
            <a:off x="4572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7" name="s_cell1382"/>
          <p:cNvSpPr txBox="1"/>
          <p:nvPr/>
        </p:nvSpPr>
        <p:spPr>
          <a:xfrm>
            <a:off x="4572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8" name="s_cell1383"/>
          <p:cNvSpPr txBox="1"/>
          <p:nvPr/>
        </p:nvSpPr>
        <p:spPr>
          <a:xfrm>
            <a:off x="4572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9" name="s_cell1384"/>
          <p:cNvSpPr txBox="1"/>
          <p:nvPr/>
        </p:nvSpPr>
        <p:spPr>
          <a:xfrm>
            <a:off x="4572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10" name="s_cell1385"/>
          <p:cNvSpPr txBox="1"/>
          <p:nvPr/>
        </p:nvSpPr>
        <p:spPr>
          <a:xfrm>
            <a:off x="4572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11" name="s_cell1386"/>
          <p:cNvSpPr txBox="1"/>
          <p:nvPr/>
        </p:nvSpPr>
        <p:spPr>
          <a:xfrm>
            <a:off x="132588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12" name="s_cell1387"/>
          <p:cNvSpPr txBox="1"/>
          <p:nvPr/>
        </p:nvSpPr>
        <p:spPr>
          <a:xfrm>
            <a:off x="13258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13" name="s_cell1388"/>
          <p:cNvSpPr txBox="1"/>
          <p:nvPr/>
        </p:nvSpPr>
        <p:spPr>
          <a:xfrm>
            <a:off x="13258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14" name="s_cell1389"/>
          <p:cNvSpPr txBox="1"/>
          <p:nvPr/>
        </p:nvSpPr>
        <p:spPr>
          <a:xfrm>
            <a:off x="13258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15" name="s_cell1390"/>
          <p:cNvSpPr txBox="1"/>
          <p:nvPr/>
        </p:nvSpPr>
        <p:spPr>
          <a:xfrm>
            <a:off x="13258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16" name="s_cell1391"/>
          <p:cNvSpPr txBox="1"/>
          <p:nvPr/>
        </p:nvSpPr>
        <p:spPr>
          <a:xfrm>
            <a:off x="13258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17" name="Text 15"/>
          <p:cNvSpPr txBox="1"/>
          <p:nvPr/>
        </p:nvSpPr>
        <p:spPr>
          <a:xfrm>
            <a:off x="2514600" y="1188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 · Customers</a:t>
            </a:r>
            <a:endParaRPr lang="en-US" dirty="0" sz="1100"/>
          </a:p>
        </p:txBody>
      </p:sp>
      <p:sp>
        <p:nvSpPr>
          <p:cNvPr id="18" name="s_cell1392"/>
          <p:cNvSpPr txBox="1"/>
          <p:nvPr/>
        </p:nvSpPr>
        <p:spPr>
          <a:xfrm>
            <a:off x="251460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19" name="s_cell1393"/>
          <p:cNvSpPr txBox="1"/>
          <p:nvPr/>
        </p:nvSpPr>
        <p:spPr>
          <a:xfrm>
            <a:off x="25146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20" name="s_cell1394"/>
          <p:cNvSpPr txBox="1"/>
          <p:nvPr/>
        </p:nvSpPr>
        <p:spPr>
          <a:xfrm>
            <a:off x="25146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21" name="s_cell1395"/>
          <p:cNvSpPr txBox="1"/>
          <p:nvPr/>
        </p:nvSpPr>
        <p:spPr>
          <a:xfrm>
            <a:off x="25146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22" name="s_cell1396"/>
          <p:cNvSpPr txBox="1"/>
          <p:nvPr/>
        </p:nvSpPr>
        <p:spPr>
          <a:xfrm>
            <a:off x="25146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23" name="s_cell1397"/>
          <p:cNvSpPr txBox="1"/>
          <p:nvPr/>
        </p:nvSpPr>
        <p:spPr>
          <a:xfrm>
            <a:off x="25146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24" name="s_cell1398"/>
          <p:cNvSpPr txBox="1"/>
          <p:nvPr/>
        </p:nvSpPr>
        <p:spPr>
          <a:xfrm>
            <a:off x="338328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25" name="s_cell1399"/>
          <p:cNvSpPr txBox="1"/>
          <p:nvPr/>
        </p:nvSpPr>
        <p:spPr>
          <a:xfrm>
            <a:off x="33832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26" name="s_cell1400"/>
          <p:cNvSpPr txBox="1"/>
          <p:nvPr/>
        </p:nvSpPr>
        <p:spPr>
          <a:xfrm>
            <a:off x="33832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27" name="s_cell1401"/>
          <p:cNvSpPr txBox="1"/>
          <p:nvPr/>
        </p:nvSpPr>
        <p:spPr>
          <a:xfrm>
            <a:off x="33832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28" name="s_cell1402"/>
          <p:cNvSpPr txBox="1"/>
          <p:nvPr/>
        </p:nvSpPr>
        <p:spPr>
          <a:xfrm>
            <a:off x="33832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29" name="s_cell1403"/>
          <p:cNvSpPr txBox="1"/>
          <p:nvPr/>
        </p:nvSpPr>
        <p:spPr>
          <a:xfrm>
            <a:off x="33832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30" name="a1f_rl1404"/>
          <p:cNvSpPr txBox="1"/>
          <p:nvPr/>
        </p:nvSpPr>
        <p:spPr>
          <a:xfrm>
            <a:off x="484632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100"/>
          </a:p>
        </p:txBody>
      </p:sp>
      <p:sp>
        <p:nvSpPr>
          <p:cNvPr id="31" name="a1f_cell1405"/>
          <p:cNvSpPr txBox="1"/>
          <p:nvPr/>
        </p:nvSpPr>
        <p:spPr>
          <a:xfrm>
            <a:off x="484632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32" name="a1f_cell1406"/>
          <p:cNvSpPr txBox="1"/>
          <p:nvPr/>
        </p:nvSpPr>
        <p:spPr>
          <a:xfrm>
            <a:off x="580644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33" name="Shape 31"/>
          <p:cNvSpPr/>
          <p:nvPr/>
        </p:nvSpPr>
        <p:spPr>
          <a:xfrm>
            <a:off x="457200" y="3108960"/>
            <a:ext cx="41605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3154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9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900"/>
          </a:p>
        </p:txBody>
      </p:sp>
      <p:sp>
        <p:nvSpPr>
          <p:cNvPr id="35" name="a1fd200_log1407"/>
          <p:cNvSpPr txBox="1"/>
          <p:nvPr/>
        </p:nvSpPr>
        <p:spPr>
          <a:xfrm>
            <a:off x="640080" y="338328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Column names come from the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000"/>
          </a:p>
        </p:txBody>
      </p:sp>
      <p:sp>
        <p:nvSpPr>
          <p:cNvPr id="36" name="a2wd0_dot1408"/>
          <p:cNvSpPr/>
          <p:nvPr/>
        </p:nvSpPr>
        <p:spPr>
          <a:xfrm>
            <a:off x="4663440" y="1792224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7" name="a2wd0_cell1409"/>
          <p:cNvSpPr txBox="1"/>
          <p:nvPr/>
        </p:nvSpPr>
        <p:spPr>
          <a:xfrm>
            <a:off x="484632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38" name="a2wd0_cell1410"/>
          <p:cNvSpPr txBox="1"/>
          <p:nvPr/>
        </p:nvSpPr>
        <p:spPr>
          <a:xfrm>
            <a:off x="580644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39" name="a2wd100_dot1411"/>
          <p:cNvSpPr/>
          <p:nvPr/>
        </p:nvSpPr>
        <p:spPr>
          <a:xfrm>
            <a:off x="4663440" y="204825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0" name="a2wd100_cell1412"/>
          <p:cNvSpPr txBox="1"/>
          <p:nvPr/>
        </p:nvSpPr>
        <p:spPr>
          <a:xfrm>
            <a:off x="484632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41" name="a2wd100_cell1413"/>
          <p:cNvSpPr txBox="1"/>
          <p:nvPr/>
        </p:nvSpPr>
        <p:spPr>
          <a:xfrm>
            <a:off x="580644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42" name="a2wd200_dot1414"/>
          <p:cNvSpPr/>
          <p:nvPr/>
        </p:nvSpPr>
        <p:spPr>
          <a:xfrm>
            <a:off x="4663440" y="2304288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3" name="a2wd200_cell1415"/>
          <p:cNvSpPr txBox="1"/>
          <p:nvPr/>
        </p:nvSpPr>
        <p:spPr>
          <a:xfrm>
            <a:off x="4846320" y="2231136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44" name="a2wd200_cell1416"/>
          <p:cNvSpPr txBox="1"/>
          <p:nvPr/>
        </p:nvSpPr>
        <p:spPr>
          <a:xfrm>
            <a:off x="5806440" y="2231136"/>
            <a:ext cx="96012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45" name="a2wd300_dot1417"/>
          <p:cNvSpPr/>
          <p:nvPr/>
        </p:nvSpPr>
        <p:spPr>
          <a:xfrm>
            <a:off x="4663440" y="2560320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6" name="a2wd300_cell1418"/>
          <p:cNvSpPr txBox="1"/>
          <p:nvPr/>
        </p:nvSpPr>
        <p:spPr>
          <a:xfrm>
            <a:off x="4846320" y="2487168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47" name="a2wd300_cell1419"/>
          <p:cNvSpPr txBox="1"/>
          <p:nvPr/>
        </p:nvSpPr>
        <p:spPr>
          <a:xfrm>
            <a:off x="5806440" y="2487168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48" name="a2wd400_dot1420"/>
          <p:cNvSpPr/>
          <p:nvPr/>
        </p:nvSpPr>
        <p:spPr>
          <a:xfrm>
            <a:off x="4663440" y="2816352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9" name="a2wd400_cell1421"/>
          <p:cNvSpPr txBox="1"/>
          <p:nvPr/>
        </p:nvSpPr>
        <p:spPr>
          <a:xfrm>
            <a:off x="4846320" y="2743200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50" name="a2wd400_cell1422"/>
          <p:cNvSpPr txBox="1"/>
          <p:nvPr/>
        </p:nvSpPr>
        <p:spPr>
          <a:xfrm>
            <a:off x="5806440" y="2743200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51" name="a2fd200_log1423"/>
          <p:cNvSpPr txBox="1"/>
          <p:nvPr/>
        </p:nvSpPr>
        <p:spPr>
          <a:xfrm>
            <a:off x="640080" y="355701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Add all employee rows</a:t>
            </a:r>
            <a:endParaRPr lang="en-US" dirty="0" sz="1000"/>
          </a:p>
        </p:txBody>
      </p:sp>
      <p:sp>
        <p:nvSpPr>
          <p:cNvPr id="52" name="a3f_bdg1424"/>
          <p:cNvSpPr txBox="1"/>
          <p:nvPr/>
        </p:nvSpPr>
        <p:spPr>
          <a:xfrm>
            <a:off x="4306824" y="1737360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53" name="a3wd200_dot1425"/>
          <p:cNvSpPr/>
          <p:nvPr/>
        </p:nvSpPr>
        <p:spPr>
          <a:xfrm>
            <a:off x="4663440" y="307238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4" name="a3wd200_cell1426"/>
          <p:cNvSpPr txBox="1"/>
          <p:nvPr/>
        </p:nvSpPr>
        <p:spPr>
          <a:xfrm>
            <a:off x="4846320" y="2999232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55" name="a3wd200_cell1427"/>
          <p:cNvSpPr txBox="1"/>
          <p:nvPr/>
        </p:nvSpPr>
        <p:spPr>
          <a:xfrm>
            <a:off x="5806440" y="2999232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56" name="a3fd200_log1428"/>
          <p:cNvSpPr txBox="1"/>
          <p:nvPr/>
        </p:nvSpPr>
        <p:spPr>
          <a:xfrm>
            <a:off x="640080" y="3730752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Joseph → not in result yet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dirty="0" sz="1000"/>
          </a:p>
        </p:txBody>
      </p:sp>
      <p:sp>
        <p:nvSpPr>
          <p:cNvPr id="57" name="a4f_bdg1429"/>
          <p:cNvSpPr txBox="1"/>
          <p:nvPr/>
        </p:nvSpPr>
        <p:spPr>
          <a:xfrm>
            <a:off x="4306824" y="1993392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8" name="a4fd200_log1430"/>
          <p:cNvSpPr txBox="1"/>
          <p:nvPr/>
        </p:nvSpPr>
        <p:spPr>
          <a:xfrm>
            <a:off x="640080" y="3904488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Kevin Brown → already in result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dirty="0" sz="1000"/>
          </a:p>
        </p:txBody>
      </p:sp>
      <p:sp>
        <p:nvSpPr>
          <p:cNvPr id="59" name="a5f_bdg1431"/>
          <p:cNvSpPr txBox="1"/>
          <p:nvPr/>
        </p:nvSpPr>
        <p:spPr>
          <a:xfrm>
            <a:off x="4306824" y="2249424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60" name="a5fd200_log1432"/>
          <p:cNvSpPr txBox="1"/>
          <p:nvPr/>
        </p:nvSpPr>
        <p:spPr>
          <a:xfrm>
            <a:off x="640080" y="4078224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Mary → already in result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dirty="0" sz="1000"/>
          </a:p>
        </p:txBody>
      </p:sp>
      <p:sp>
        <p:nvSpPr>
          <p:cNvPr id="61" name="a6f_bdg1433"/>
          <p:cNvSpPr txBox="1"/>
          <p:nvPr/>
        </p:nvSpPr>
        <p:spPr>
          <a:xfrm>
            <a:off x="4306824" y="2505456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62" name="a6wd200_dot1434"/>
          <p:cNvSpPr/>
          <p:nvPr/>
        </p:nvSpPr>
        <p:spPr>
          <a:xfrm>
            <a:off x="4663440" y="33284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3" name="a6wd200_cell1435"/>
          <p:cNvSpPr txBox="1"/>
          <p:nvPr/>
        </p:nvSpPr>
        <p:spPr>
          <a:xfrm>
            <a:off x="4846320" y="3255264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64" name="a6wd200_cell1436"/>
          <p:cNvSpPr txBox="1"/>
          <p:nvPr/>
        </p:nvSpPr>
        <p:spPr>
          <a:xfrm>
            <a:off x="5806440" y="3255264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65" name="a6fd200_log1437"/>
          <p:cNvSpPr txBox="1"/>
          <p:nvPr/>
        </p:nvSpPr>
        <p:spPr>
          <a:xfrm>
            <a:off x="640080" y="425196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Mark → not in result yet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dirty="0" sz="1000"/>
          </a:p>
        </p:txBody>
      </p:sp>
      <p:sp>
        <p:nvSpPr>
          <p:cNvPr id="66" name="a7f_bdg1438"/>
          <p:cNvSpPr txBox="1"/>
          <p:nvPr/>
        </p:nvSpPr>
        <p:spPr>
          <a:xfrm>
            <a:off x="4306824" y="2761488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67" name="a7wd200_dot1439"/>
          <p:cNvSpPr/>
          <p:nvPr/>
        </p:nvSpPr>
        <p:spPr>
          <a:xfrm>
            <a:off x="4663440" y="358444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8" name="a7wd200_cell1440"/>
          <p:cNvSpPr txBox="1"/>
          <p:nvPr/>
        </p:nvSpPr>
        <p:spPr>
          <a:xfrm>
            <a:off x="4846320" y="3511296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69" name="a7wd200_cell1441"/>
          <p:cNvSpPr txBox="1"/>
          <p:nvPr/>
        </p:nvSpPr>
        <p:spPr>
          <a:xfrm>
            <a:off x="5806440" y="3511296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70" name="a7fd200_log1442"/>
          <p:cNvSpPr txBox="1"/>
          <p:nvPr/>
        </p:nvSpPr>
        <p:spPr>
          <a:xfrm>
            <a:off x="640080" y="442569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Anna → not in result yet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dirty="0" sz="1000"/>
          </a:p>
        </p:txBody>
      </p:sp>
      <p:sp>
        <p:nvSpPr>
          <p:cNvPr id="71" name="a8u_tb1443"/>
          <p:cNvSpPr/>
          <p:nvPr/>
        </p:nvSpPr>
        <p:spPr>
          <a:xfrm>
            <a:off x="6995160" y="1188720"/>
            <a:ext cx="1691640" cy="1920240"/>
          </a:xfrm>
          <a:prstGeom prst="roundRect">
            <a:avLst>
              <a:gd name="adj" fmla="val 4324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72" name="a8u_tt1444"/>
          <p:cNvSpPr txBox="1"/>
          <p:nvPr/>
        </p:nvSpPr>
        <p:spPr>
          <a:xfrm>
            <a:off x="7132320" y="1188720"/>
            <a:ext cx="1463040" cy="1920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people. SQL adds a row only if it isn't already in the result.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1445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dirty="0" sz="6000"/>
          </a:p>
        </p:txBody>
      </p:sp>
      <p:sp>
        <p:nvSpPr>
          <p:cNvPr id="3" name="a0ud200_h1446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ALL</a:t>
            </a:r>
            <a:endParaRPr lang="en-US" dirty="0" sz="4000"/>
          </a:p>
        </p:txBody>
      </p:sp>
      <p:sp>
        <p:nvSpPr>
          <p:cNvPr id="4" name="a0fd450_t1447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from both queries — duplicates kept</a:t>
            </a:r>
            <a:endParaRPr lang="en-US" dirty="0" sz="1700"/>
          </a:p>
        </p:txBody>
      </p:sp>
      <p:pic>
        <p:nvPicPr>
          <p:cNvPr id="5" name="a0fd300_v1448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ALL — Concept &amp; Query</a:t>
            </a:r>
            <a:endParaRPr lang="en-US" dirty="0" sz="2800"/>
          </a:p>
        </p:txBody>
      </p:sp>
      <p:pic>
        <p:nvPicPr>
          <p:cNvPr id="3" name="Image 0" descr="b6cc453b66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657600" cy="2316480"/>
          </a:xfrm>
          <a:prstGeom prst="rect">
            <a:avLst/>
          </a:prstGeom>
        </p:spPr>
      </p:pic>
      <p:sp>
        <p:nvSpPr>
          <p:cNvPr id="4" name="a2f_nm1449"/>
          <p:cNvSpPr txBox="1"/>
          <p:nvPr/>
        </p:nvSpPr>
        <p:spPr>
          <a:xfrm>
            <a:off x="8686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200"/>
          </a:p>
        </p:txBody>
      </p:sp>
      <p:sp>
        <p:nvSpPr>
          <p:cNvPr id="5" name="a2f_nm1450"/>
          <p:cNvSpPr txBox="1"/>
          <p:nvPr/>
        </p:nvSpPr>
        <p:spPr>
          <a:xfrm>
            <a:off x="8686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200"/>
          </a:p>
        </p:txBody>
      </p:sp>
      <p:sp>
        <p:nvSpPr>
          <p:cNvPr id="6" name="a2f_nm1451"/>
          <p:cNvSpPr txBox="1"/>
          <p:nvPr/>
        </p:nvSpPr>
        <p:spPr>
          <a:xfrm>
            <a:off x="8686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200"/>
          </a:p>
        </p:txBody>
      </p:sp>
      <p:sp>
        <p:nvSpPr>
          <p:cNvPr id="7" name="a2fd250_nm1452"/>
          <p:cNvSpPr txBox="1"/>
          <p:nvPr/>
        </p:nvSpPr>
        <p:spPr>
          <a:xfrm>
            <a:off x="1783080" y="187147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200"/>
          </a:p>
        </p:txBody>
      </p:sp>
      <p:sp>
        <p:nvSpPr>
          <p:cNvPr id="8" name="a2fd250_nm1453"/>
          <p:cNvSpPr txBox="1"/>
          <p:nvPr/>
        </p:nvSpPr>
        <p:spPr>
          <a:xfrm>
            <a:off x="1783080" y="2118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200"/>
          </a:p>
        </p:txBody>
      </p:sp>
      <p:sp>
        <p:nvSpPr>
          <p:cNvPr id="9" name="a2fd500_nm1454"/>
          <p:cNvSpPr txBox="1"/>
          <p:nvPr/>
        </p:nvSpPr>
        <p:spPr>
          <a:xfrm>
            <a:off x="26974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200"/>
          </a:p>
        </p:txBody>
      </p:sp>
      <p:sp>
        <p:nvSpPr>
          <p:cNvPr id="10" name="a2fd500_nm1455"/>
          <p:cNvSpPr txBox="1"/>
          <p:nvPr/>
        </p:nvSpPr>
        <p:spPr>
          <a:xfrm>
            <a:off x="26974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200"/>
          </a:p>
        </p:txBody>
      </p:sp>
      <p:sp>
        <p:nvSpPr>
          <p:cNvPr id="11" name="a2fd500_nm1456"/>
          <p:cNvSpPr txBox="1"/>
          <p:nvPr/>
        </p:nvSpPr>
        <p:spPr>
          <a:xfrm>
            <a:off x="26974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200"/>
          </a:p>
        </p:txBody>
      </p:sp>
      <p:sp>
        <p:nvSpPr>
          <p:cNvPr id="12" name="Text 9"/>
          <p:cNvSpPr txBox="1"/>
          <p:nvPr/>
        </p:nvSpPr>
        <p:spPr>
          <a:xfrm>
            <a:off x="4572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(1st query)</a:t>
            </a:r>
            <a:endParaRPr lang="en-US" dirty="0" sz="1100"/>
          </a:p>
        </p:txBody>
      </p:sp>
      <p:sp>
        <p:nvSpPr>
          <p:cNvPr id="13" name="Text 10"/>
          <p:cNvSpPr txBox="1"/>
          <p:nvPr/>
        </p:nvSpPr>
        <p:spPr>
          <a:xfrm>
            <a:off x="22860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(2nd query)</a:t>
            </a:r>
            <a:endParaRPr lang="en-US" dirty="0" sz="1100"/>
          </a:p>
        </p:txBody>
      </p:sp>
      <p:sp>
        <p:nvSpPr>
          <p:cNvPr id="14" name="a4u_pill1457"/>
          <p:cNvSpPr txBox="1"/>
          <p:nvPr/>
        </p:nvSpPr>
        <p:spPr>
          <a:xfrm>
            <a:off x="457200" y="370332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(the only operator that does)</a:t>
            </a:r>
            <a:endParaRPr lang="en-US" dirty="0" sz="1200"/>
          </a:p>
        </p:txBody>
      </p:sp>
      <p:sp>
        <p:nvSpPr>
          <p:cNvPr id="15" name="a4ud200_pill1458"/>
          <p:cNvSpPr txBox="1"/>
          <p:nvPr/>
        </p:nvSpPr>
        <p:spPr>
          <a:xfrm>
            <a:off x="457200" y="420624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solidFill>
              <a:srgbClr val="F0FDF4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200"/>
          </a:p>
        </p:txBody>
      </p:sp>
      <p:sp>
        <p:nvSpPr>
          <p:cNvPr id="16" name="Text 13"/>
          <p:cNvSpPr txBox="1"/>
          <p:nvPr/>
        </p:nvSpPr>
        <p:spPr>
          <a:xfrm>
            <a:off x="4434840" y="914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rows from both queries — duplicates are NOT removed.</a:t>
            </a:r>
            <a:endParaRPr lang="en-US" dirty="0" sz="1500"/>
          </a:p>
        </p:txBody>
      </p:sp>
      <p:sp>
        <p:nvSpPr>
          <p:cNvPr id="17" name="a1f_codebg1459"/>
          <p:cNvSpPr/>
          <p:nvPr/>
        </p:nvSpPr>
        <p:spPr>
          <a:xfrm>
            <a:off x="4434840" y="169164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1f_hl1460"/>
          <p:cNvSpPr/>
          <p:nvPr/>
        </p:nvSpPr>
        <p:spPr>
          <a:xfrm>
            <a:off x="4507992" y="2340864"/>
            <a:ext cx="410565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a1wd0_code1461"/>
          <p:cNvSpPr txBox="1"/>
          <p:nvPr/>
        </p:nvSpPr>
        <p:spPr>
          <a:xfrm>
            <a:off x="4617720" y="1828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0" name="a1wd120_code1462"/>
          <p:cNvSpPr txBox="1"/>
          <p:nvPr/>
        </p:nvSpPr>
        <p:spPr>
          <a:xfrm>
            <a:off x="4617720" y="2084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21" name="a1wd240_code1463"/>
          <p:cNvSpPr txBox="1"/>
          <p:nvPr/>
        </p:nvSpPr>
        <p:spPr>
          <a:xfrm>
            <a:off x="4617720" y="2340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endParaRPr lang="en-US" dirty="0" sz="1200"/>
          </a:p>
        </p:txBody>
      </p:sp>
      <p:sp>
        <p:nvSpPr>
          <p:cNvPr id="22" name="a1wd360_code1464"/>
          <p:cNvSpPr txBox="1"/>
          <p:nvPr/>
        </p:nvSpPr>
        <p:spPr>
          <a:xfrm>
            <a:off x="461772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3" name="a1wd480_code1465"/>
          <p:cNvSpPr txBox="1"/>
          <p:nvPr/>
        </p:nvSpPr>
        <p:spPr>
          <a:xfrm>
            <a:off x="461772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24" name="a3f_rl1466"/>
          <p:cNvSpPr txBox="1"/>
          <p:nvPr/>
        </p:nvSpPr>
        <p:spPr>
          <a:xfrm>
            <a:off x="44348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10 rows</a:t>
            </a:r>
            <a:endParaRPr lang="en-US" dirty="0" sz="1200"/>
          </a:p>
        </p:txBody>
      </p:sp>
      <p:sp>
        <p:nvSpPr>
          <p:cNvPr id="25" name="a3ud0_box1467"/>
          <p:cNvSpPr txBox="1"/>
          <p:nvPr/>
        </p:nvSpPr>
        <p:spPr>
          <a:xfrm>
            <a:off x="4434840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6" name="a3ud90_box1468"/>
          <p:cNvSpPr txBox="1"/>
          <p:nvPr/>
        </p:nvSpPr>
        <p:spPr>
          <a:xfrm>
            <a:off x="5294376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27" name="a3ud180_box1469"/>
          <p:cNvSpPr txBox="1"/>
          <p:nvPr/>
        </p:nvSpPr>
        <p:spPr>
          <a:xfrm>
            <a:off x="6153912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28" name="a3ud270_box1470"/>
          <p:cNvSpPr txBox="1"/>
          <p:nvPr/>
        </p:nvSpPr>
        <p:spPr>
          <a:xfrm>
            <a:off x="7013448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29" name="a3ud360_box1471"/>
          <p:cNvSpPr txBox="1"/>
          <p:nvPr/>
        </p:nvSpPr>
        <p:spPr>
          <a:xfrm>
            <a:off x="7872984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  <p:sp>
        <p:nvSpPr>
          <p:cNvPr id="30" name="a3ud450_box1472"/>
          <p:cNvSpPr txBox="1"/>
          <p:nvPr/>
        </p:nvSpPr>
        <p:spPr>
          <a:xfrm>
            <a:off x="4434840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100"/>
          </a:p>
        </p:txBody>
      </p:sp>
      <p:sp>
        <p:nvSpPr>
          <p:cNvPr id="31" name="a3ud540_box1473"/>
          <p:cNvSpPr txBox="1"/>
          <p:nvPr/>
        </p:nvSpPr>
        <p:spPr>
          <a:xfrm>
            <a:off x="5294376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32" name="a3ud630_box1474"/>
          <p:cNvSpPr txBox="1"/>
          <p:nvPr/>
        </p:nvSpPr>
        <p:spPr>
          <a:xfrm>
            <a:off x="6153912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33" name="a3ud720_box1475"/>
          <p:cNvSpPr txBox="1"/>
          <p:nvPr/>
        </p:nvSpPr>
        <p:spPr>
          <a:xfrm>
            <a:off x="7013448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100"/>
          </a:p>
        </p:txBody>
      </p:sp>
      <p:sp>
        <p:nvSpPr>
          <p:cNvPr id="34" name="a3ud810_box1476"/>
          <p:cNvSpPr txBox="1"/>
          <p:nvPr/>
        </p:nvSpPr>
        <p:spPr>
          <a:xfrm>
            <a:off x="7872984" y="3986784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4" grpId="0" animBg="1"/>
      <p:bldP spid="15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vs UNION ALL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which</a:t>
            </a:r>
            <a:endParaRPr lang="en-US" dirty="0" sz="1300"/>
          </a:p>
        </p:txBody>
      </p:sp>
      <p:sp>
        <p:nvSpPr>
          <p:cNvPr id="4" name="a1u_c1477"/>
          <p:cNvSpPr/>
          <p:nvPr/>
        </p:nvSpPr>
        <p:spPr>
          <a:xfrm>
            <a:off x="457200" y="1143000"/>
            <a:ext cx="388620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u_n1478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000" b="1" lang="en-US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2000"/>
          </a:p>
        </p:txBody>
      </p:sp>
      <p:sp>
        <p:nvSpPr>
          <p:cNvPr id="6" name="a1u_s1479"/>
          <p:cNvSpPr txBox="1"/>
          <p:nvPr/>
        </p:nvSpPr>
        <p:spPr>
          <a:xfrm>
            <a:off x="73152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rows</a:t>
            </a:r>
            <a:endParaRPr lang="en-US" dirty="0" sz="3600"/>
          </a:p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duplicates</a:t>
            </a:r>
            <a:endParaRPr lang="en-US" dirty="0" sz="3600"/>
          </a:p>
        </p:txBody>
      </p:sp>
      <p:sp>
        <p:nvSpPr>
          <p:cNvPr id="7" name="a1ud300_p1480"/>
          <p:cNvSpPr txBox="1"/>
          <p:nvPr/>
        </p:nvSpPr>
        <p:spPr>
          <a:xfrm>
            <a:off x="731520" y="2926080"/>
            <a:ext cx="3337560" cy="4572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step: compares rows to drop duplicates</a:t>
            </a:r>
            <a:endParaRPr lang="en-US" dirty="0" sz="1200"/>
          </a:p>
        </p:txBody>
      </p:sp>
      <p:sp>
        <p:nvSpPr>
          <p:cNvPr id="8" name="a1ud500_p1481"/>
          <p:cNvSpPr txBox="1"/>
          <p:nvPr/>
        </p:nvSpPr>
        <p:spPr>
          <a:xfrm>
            <a:off x="731520" y="3474720"/>
            <a:ext cx="3337560" cy="4572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duplicates must be removed</a:t>
            </a:r>
            <a:endParaRPr lang="en-US" dirty="0" sz="1200"/>
          </a:p>
        </p:txBody>
      </p:sp>
      <p:sp>
        <p:nvSpPr>
          <p:cNvPr id="9" name="a2u_c1482"/>
          <p:cNvSpPr/>
          <p:nvPr/>
        </p:nvSpPr>
        <p:spPr>
          <a:xfrm>
            <a:off x="4800600" y="1143000"/>
            <a:ext cx="388620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a2u_n1483"/>
          <p:cNvSpPr txBox="1"/>
          <p:nvPr/>
        </p:nvSpPr>
        <p:spPr>
          <a:xfrm>
            <a:off x="50749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000" b="1" lang="en-US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dirty="0" sz="2000"/>
          </a:p>
        </p:txBody>
      </p:sp>
      <p:sp>
        <p:nvSpPr>
          <p:cNvPr id="11" name="a2u_s1484"/>
          <p:cNvSpPr txBox="1"/>
          <p:nvPr/>
        </p:nvSpPr>
        <p:spPr>
          <a:xfrm>
            <a:off x="507492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rows</a:t>
            </a:r>
            <a:endParaRPr lang="en-US" dirty="0" sz="3600"/>
          </a:p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duplicates</a:t>
            </a:r>
            <a:endParaRPr lang="en-US" dirty="0" sz="3600"/>
          </a:p>
        </p:txBody>
      </p:sp>
      <p:sp>
        <p:nvSpPr>
          <p:cNvPr id="12" name="a2ud300_p1485"/>
          <p:cNvSpPr txBox="1"/>
          <p:nvPr/>
        </p:nvSpPr>
        <p:spPr>
          <a:xfrm>
            <a:off x="5074920" y="2926080"/>
            <a:ext cx="333756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check → faster</a:t>
            </a:r>
            <a:endParaRPr lang="en-US" dirty="0" sz="1200"/>
          </a:p>
        </p:txBody>
      </p:sp>
      <p:sp>
        <p:nvSpPr>
          <p:cNvPr id="13" name="a2ud500_p1486"/>
          <p:cNvSpPr txBox="1"/>
          <p:nvPr/>
        </p:nvSpPr>
        <p:spPr>
          <a:xfrm>
            <a:off x="5074920" y="3474720"/>
            <a:ext cx="333756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you know there are no duplicates</a:t>
            </a:r>
            <a:endParaRPr lang="en-US" dirty="0" sz="1200"/>
          </a:p>
        </p:txBody>
      </p:sp>
      <p:sp>
        <p:nvSpPr>
          <p:cNvPr id="14" name="a2ud700_p1487"/>
          <p:cNvSpPr txBox="1"/>
          <p:nvPr/>
        </p:nvSpPr>
        <p:spPr>
          <a:xfrm>
            <a:off x="5074920" y="4023360"/>
            <a:ext cx="333756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101600" tIns="0" rIns="10160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 find duplicates (data quality checks)</a:t>
            </a:r>
            <a:endParaRPr lang="en-US" dirty="0" sz="1200"/>
          </a:p>
        </p:txBody>
      </p:sp>
      <p:sp>
        <p:nvSpPr>
          <p:cNvPr id="15" name="a3u_tip1488"/>
          <p:cNvSpPr txBox="1"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sure the queries can't overlap, prefer UNION ALL for performance.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UNION ALL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employees and customers into one table, including duplicates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 · Employees</a:t>
            </a:r>
            <a:endParaRPr lang="en-US" dirty="0" sz="1100"/>
          </a:p>
        </p:txBody>
      </p:sp>
      <p:sp>
        <p:nvSpPr>
          <p:cNvPr id="5" name="s_cell1489"/>
          <p:cNvSpPr txBox="1"/>
          <p:nvPr/>
        </p:nvSpPr>
        <p:spPr>
          <a:xfrm>
            <a:off x="45720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6" name="s_cell1490"/>
          <p:cNvSpPr txBox="1"/>
          <p:nvPr/>
        </p:nvSpPr>
        <p:spPr>
          <a:xfrm>
            <a:off x="4572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7" name="s_cell1491"/>
          <p:cNvSpPr txBox="1"/>
          <p:nvPr/>
        </p:nvSpPr>
        <p:spPr>
          <a:xfrm>
            <a:off x="4572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8" name="s_cell1492"/>
          <p:cNvSpPr txBox="1"/>
          <p:nvPr/>
        </p:nvSpPr>
        <p:spPr>
          <a:xfrm>
            <a:off x="4572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9" name="s_cell1493"/>
          <p:cNvSpPr txBox="1"/>
          <p:nvPr/>
        </p:nvSpPr>
        <p:spPr>
          <a:xfrm>
            <a:off x="4572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10" name="s_cell1494"/>
          <p:cNvSpPr txBox="1"/>
          <p:nvPr/>
        </p:nvSpPr>
        <p:spPr>
          <a:xfrm>
            <a:off x="4572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11" name="s_cell1495"/>
          <p:cNvSpPr txBox="1"/>
          <p:nvPr/>
        </p:nvSpPr>
        <p:spPr>
          <a:xfrm>
            <a:off x="132588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12" name="s_cell1496"/>
          <p:cNvSpPr txBox="1"/>
          <p:nvPr/>
        </p:nvSpPr>
        <p:spPr>
          <a:xfrm>
            <a:off x="13258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13" name="s_cell1497"/>
          <p:cNvSpPr txBox="1"/>
          <p:nvPr/>
        </p:nvSpPr>
        <p:spPr>
          <a:xfrm>
            <a:off x="13258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14" name="s_cell1498"/>
          <p:cNvSpPr txBox="1"/>
          <p:nvPr/>
        </p:nvSpPr>
        <p:spPr>
          <a:xfrm>
            <a:off x="13258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15" name="s_cell1499"/>
          <p:cNvSpPr txBox="1"/>
          <p:nvPr/>
        </p:nvSpPr>
        <p:spPr>
          <a:xfrm>
            <a:off x="13258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16" name="s_cell1500"/>
          <p:cNvSpPr txBox="1"/>
          <p:nvPr/>
        </p:nvSpPr>
        <p:spPr>
          <a:xfrm>
            <a:off x="13258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17" name="Text 15"/>
          <p:cNvSpPr txBox="1"/>
          <p:nvPr/>
        </p:nvSpPr>
        <p:spPr>
          <a:xfrm>
            <a:off x="2514600" y="1188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 · Customers</a:t>
            </a:r>
            <a:endParaRPr lang="en-US" dirty="0" sz="1100"/>
          </a:p>
        </p:txBody>
      </p:sp>
      <p:sp>
        <p:nvSpPr>
          <p:cNvPr id="18" name="s_cell1501"/>
          <p:cNvSpPr txBox="1"/>
          <p:nvPr/>
        </p:nvSpPr>
        <p:spPr>
          <a:xfrm>
            <a:off x="251460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19" name="s_cell1502"/>
          <p:cNvSpPr txBox="1"/>
          <p:nvPr/>
        </p:nvSpPr>
        <p:spPr>
          <a:xfrm>
            <a:off x="25146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20" name="s_cell1503"/>
          <p:cNvSpPr txBox="1"/>
          <p:nvPr/>
        </p:nvSpPr>
        <p:spPr>
          <a:xfrm>
            <a:off x="25146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21" name="s_cell1504"/>
          <p:cNvSpPr txBox="1"/>
          <p:nvPr/>
        </p:nvSpPr>
        <p:spPr>
          <a:xfrm>
            <a:off x="25146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22" name="s_cell1505"/>
          <p:cNvSpPr txBox="1"/>
          <p:nvPr/>
        </p:nvSpPr>
        <p:spPr>
          <a:xfrm>
            <a:off x="25146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23" name="s_cell1506"/>
          <p:cNvSpPr txBox="1"/>
          <p:nvPr/>
        </p:nvSpPr>
        <p:spPr>
          <a:xfrm>
            <a:off x="25146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24" name="s_cell1507"/>
          <p:cNvSpPr txBox="1"/>
          <p:nvPr/>
        </p:nvSpPr>
        <p:spPr>
          <a:xfrm>
            <a:off x="338328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25" name="s_cell1508"/>
          <p:cNvSpPr txBox="1"/>
          <p:nvPr/>
        </p:nvSpPr>
        <p:spPr>
          <a:xfrm>
            <a:off x="33832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26" name="s_cell1509"/>
          <p:cNvSpPr txBox="1"/>
          <p:nvPr/>
        </p:nvSpPr>
        <p:spPr>
          <a:xfrm>
            <a:off x="33832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27" name="s_cell1510"/>
          <p:cNvSpPr txBox="1"/>
          <p:nvPr/>
        </p:nvSpPr>
        <p:spPr>
          <a:xfrm>
            <a:off x="33832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28" name="s_cell1511"/>
          <p:cNvSpPr txBox="1"/>
          <p:nvPr/>
        </p:nvSpPr>
        <p:spPr>
          <a:xfrm>
            <a:off x="33832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29" name="s_cell1512"/>
          <p:cNvSpPr txBox="1"/>
          <p:nvPr/>
        </p:nvSpPr>
        <p:spPr>
          <a:xfrm>
            <a:off x="33832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30" name="a1f_rl1513"/>
          <p:cNvSpPr txBox="1"/>
          <p:nvPr/>
        </p:nvSpPr>
        <p:spPr>
          <a:xfrm>
            <a:off x="484632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100"/>
          </a:p>
        </p:txBody>
      </p:sp>
      <p:sp>
        <p:nvSpPr>
          <p:cNvPr id="31" name="a1f_cell1514"/>
          <p:cNvSpPr txBox="1"/>
          <p:nvPr/>
        </p:nvSpPr>
        <p:spPr>
          <a:xfrm>
            <a:off x="484632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32" name="a1f_cell1515"/>
          <p:cNvSpPr txBox="1"/>
          <p:nvPr/>
        </p:nvSpPr>
        <p:spPr>
          <a:xfrm>
            <a:off x="580644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33" name="Shape 31"/>
          <p:cNvSpPr/>
          <p:nvPr/>
        </p:nvSpPr>
        <p:spPr>
          <a:xfrm>
            <a:off x="457200" y="3108960"/>
            <a:ext cx="41605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3154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9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900"/>
          </a:p>
        </p:txBody>
      </p:sp>
      <p:sp>
        <p:nvSpPr>
          <p:cNvPr id="35" name="a1fd200_log1516"/>
          <p:cNvSpPr txBox="1"/>
          <p:nvPr/>
        </p:nvSpPr>
        <p:spPr>
          <a:xfrm>
            <a:off x="640080" y="338328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Column names come from the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000"/>
          </a:p>
        </p:txBody>
      </p:sp>
      <p:sp>
        <p:nvSpPr>
          <p:cNvPr id="36" name="a2wd0_dot1517"/>
          <p:cNvSpPr/>
          <p:nvPr/>
        </p:nvSpPr>
        <p:spPr>
          <a:xfrm>
            <a:off x="4663440" y="1792224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7" name="a2wd0_cell1518"/>
          <p:cNvSpPr txBox="1"/>
          <p:nvPr/>
        </p:nvSpPr>
        <p:spPr>
          <a:xfrm>
            <a:off x="484632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38" name="a2wd0_cell1519"/>
          <p:cNvSpPr txBox="1"/>
          <p:nvPr/>
        </p:nvSpPr>
        <p:spPr>
          <a:xfrm>
            <a:off x="580644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39" name="a2wd100_dot1520"/>
          <p:cNvSpPr/>
          <p:nvPr/>
        </p:nvSpPr>
        <p:spPr>
          <a:xfrm>
            <a:off x="4663440" y="204825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0" name="a2wd100_cell1521"/>
          <p:cNvSpPr txBox="1"/>
          <p:nvPr/>
        </p:nvSpPr>
        <p:spPr>
          <a:xfrm>
            <a:off x="484632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41" name="a2wd100_cell1522"/>
          <p:cNvSpPr txBox="1"/>
          <p:nvPr/>
        </p:nvSpPr>
        <p:spPr>
          <a:xfrm>
            <a:off x="580644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42" name="a2wd200_dot1523"/>
          <p:cNvSpPr/>
          <p:nvPr/>
        </p:nvSpPr>
        <p:spPr>
          <a:xfrm>
            <a:off x="4663440" y="2304288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3" name="a2wd200_cell1524"/>
          <p:cNvSpPr txBox="1"/>
          <p:nvPr/>
        </p:nvSpPr>
        <p:spPr>
          <a:xfrm>
            <a:off x="4846320" y="2231136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44" name="a2wd200_cell1525"/>
          <p:cNvSpPr txBox="1"/>
          <p:nvPr/>
        </p:nvSpPr>
        <p:spPr>
          <a:xfrm>
            <a:off x="5806440" y="2231136"/>
            <a:ext cx="96012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45" name="a2wd300_dot1526"/>
          <p:cNvSpPr/>
          <p:nvPr/>
        </p:nvSpPr>
        <p:spPr>
          <a:xfrm>
            <a:off x="4663440" y="2560320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6" name="a2wd300_cell1527"/>
          <p:cNvSpPr txBox="1"/>
          <p:nvPr/>
        </p:nvSpPr>
        <p:spPr>
          <a:xfrm>
            <a:off x="4846320" y="2487168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47" name="a2wd300_cell1528"/>
          <p:cNvSpPr txBox="1"/>
          <p:nvPr/>
        </p:nvSpPr>
        <p:spPr>
          <a:xfrm>
            <a:off x="5806440" y="2487168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48" name="a2wd400_dot1529"/>
          <p:cNvSpPr/>
          <p:nvPr/>
        </p:nvSpPr>
        <p:spPr>
          <a:xfrm>
            <a:off x="4663440" y="2816352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9" name="a2wd400_cell1530"/>
          <p:cNvSpPr txBox="1"/>
          <p:nvPr/>
        </p:nvSpPr>
        <p:spPr>
          <a:xfrm>
            <a:off x="4846320" y="2743200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50" name="a2wd400_cell1531"/>
          <p:cNvSpPr txBox="1"/>
          <p:nvPr/>
        </p:nvSpPr>
        <p:spPr>
          <a:xfrm>
            <a:off x="5806440" y="2743200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51" name="a2fd200_log1532"/>
          <p:cNvSpPr txBox="1"/>
          <p:nvPr/>
        </p:nvSpPr>
        <p:spPr>
          <a:xfrm>
            <a:off x="640080" y="355701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Append all employee rows —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checks</a:t>
            </a:r>
            <a:endParaRPr lang="en-US" dirty="0" sz="1000"/>
          </a:p>
        </p:txBody>
      </p:sp>
      <p:sp>
        <p:nvSpPr>
          <p:cNvPr id="52" name="a3wd0_dot1533"/>
          <p:cNvSpPr/>
          <p:nvPr/>
        </p:nvSpPr>
        <p:spPr>
          <a:xfrm>
            <a:off x="4663440" y="307238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3" name="a3wd0_cell1534"/>
          <p:cNvSpPr txBox="1"/>
          <p:nvPr/>
        </p:nvSpPr>
        <p:spPr>
          <a:xfrm>
            <a:off x="4846320" y="2999232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54" name="a3wd0_cell1535"/>
          <p:cNvSpPr txBox="1"/>
          <p:nvPr/>
        </p:nvSpPr>
        <p:spPr>
          <a:xfrm>
            <a:off x="5806440" y="2999232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55" name="a3wd120_dot1536"/>
          <p:cNvSpPr/>
          <p:nvPr/>
        </p:nvSpPr>
        <p:spPr>
          <a:xfrm>
            <a:off x="4663440" y="33284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6" name="a3wd120_cell1537"/>
          <p:cNvSpPr txBox="1"/>
          <p:nvPr/>
        </p:nvSpPr>
        <p:spPr>
          <a:xfrm>
            <a:off x="4846320" y="3255264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57" name="a3wd120_cell1538"/>
          <p:cNvSpPr txBox="1"/>
          <p:nvPr/>
        </p:nvSpPr>
        <p:spPr>
          <a:xfrm>
            <a:off x="5806440" y="3255264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58" name="a3fd800_dupo1539"/>
          <p:cNvSpPr/>
          <p:nvPr/>
        </p:nvSpPr>
        <p:spPr>
          <a:xfrm>
            <a:off x="4828032" y="3264408"/>
            <a:ext cx="195681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9" name="a3wd240_dot1540"/>
          <p:cNvSpPr/>
          <p:nvPr/>
        </p:nvSpPr>
        <p:spPr>
          <a:xfrm>
            <a:off x="4663440" y="358444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0" name="a3wd240_cell1541"/>
          <p:cNvSpPr txBox="1"/>
          <p:nvPr/>
        </p:nvSpPr>
        <p:spPr>
          <a:xfrm>
            <a:off x="4846320" y="3511296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61" name="a3wd240_cell1542"/>
          <p:cNvSpPr txBox="1"/>
          <p:nvPr/>
        </p:nvSpPr>
        <p:spPr>
          <a:xfrm>
            <a:off x="5806440" y="3511296"/>
            <a:ext cx="96012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62" name="a3fd800_dupo1543"/>
          <p:cNvSpPr/>
          <p:nvPr/>
        </p:nvSpPr>
        <p:spPr>
          <a:xfrm>
            <a:off x="4828032" y="3520440"/>
            <a:ext cx="195681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3" name="a3wd360_dot1544"/>
          <p:cNvSpPr/>
          <p:nvPr/>
        </p:nvSpPr>
        <p:spPr>
          <a:xfrm>
            <a:off x="4663440" y="384048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4" name="a3wd360_cell1545"/>
          <p:cNvSpPr txBox="1"/>
          <p:nvPr/>
        </p:nvSpPr>
        <p:spPr>
          <a:xfrm>
            <a:off x="4846320" y="3767328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65" name="a3wd360_cell1546"/>
          <p:cNvSpPr txBox="1"/>
          <p:nvPr/>
        </p:nvSpPr>
        <p:spPr>
          <a:xfrm>
            <a:off x="5806440" y="3767328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66" name="a3wd480_dot1547"/>
          <p:cNvSpPr/>
          <p:nvPr/>
        </p:nvSpPr>
        <p:spPr>
          <a:xfrm>
            <a:off x="4663440" y="40965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7" name="a3wd480_cell1548"/>
          <p:cNvSpPr txBox="1"/>
          <p:nvPr/>
        </p:nvSpPr>
        <p:spPr>
          <a:xfrm>
            <a:off x="4846320" y="4023360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68" name="a3wd480_cell1549"/>
          <p:cNvSpPr txBox="1"/>
          <p:nvPr/>
        </p:nvSpPr>
        <p:spPr>
          <a:xfrm>
            <a:off x="5806440" y="4023360"/>
            <a:ext cx="960120" cy="256032"/>
          </a:xfrm>
          <a:prstGeom prst="rect">
            <a:avLst/>
          </a:prstGeom>
          <a:solidFill>
            <a:srgbClr val="FEF3C7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69" name="a3fd200_log1550"/>
          <p:cNvSpPr txBox="1"/>
          <p:nvPr/>
        </p:nvSpPr>
        <p:spPr>
          <a:xfrm>
            <a:off x="640080" y="3730752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Append all customer rows —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checks</a:t>
            </a:r>
            <a:endParaRPr lang="en-US" dirty="0" sz="1000"/>
          </a:p>
        </p:txBody>
      </p:sp>
      <p:sp>
        <p:nvSpPr>
          <p:cNvPr id="70" name="a3fd900_log1551"/>
          <p:cNvSpPr txBox="1"/>
          <p:nvPr/>
        </p:nvSpPr>
        <p:spPr>
          <a:xfrm>
            <a:off x="640080" y="3904488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Kevin and Mary now appear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twice</a:t>
            </a:r>
            <a:endParaRPr lang="en-US" dirty="0" sz="1000"/>
          </a:p>
        </p:txBody>
      </p:sp>
      <p:sp>
        <p:nvSpPr>
          <p:cNvPr id="71" name="a4u_tb1552"/>
          <p:cNvSpPr/>
          <p:nvPr/>
        </p:nvSpPr>
        <p:spPr>
          <a:xfrm>
            <a:off x="6995160" y="1188720"/>
            <a:ext cx="1691640" cy="1920240"/>
          </a:xfrm>
          <a:prstGeom prst="roundRect">
            <a:avLst>
              <a:gd name="adj" fmla="val 4324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72" name="a4u_tt1553"/>
          <p:cNvSpPr txBox="1"/>
          <p:nvPr/>
        </p:nvSpPr>
        <p:spPr>
          <a:xfrm>
            <a:off x="7132320" y="1188720"/>
            <a:ext cx="1463040" cy="1920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rows. No checks — rows are simply appended, so it's the fastest.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1554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dirty="0" sz="6000"/>
          </a:p>
        </p:txBody>
      </p:sp>
      <p:sp>
        <p:nvSpPr>
          <p:cNvPr id="3" name="a0ud200_h1555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</a:t>
            </a:r>
            <a:endParaRPr lang="en-US" dirty="0" sz="4000"/>
          </a:p>
        </p:txBody>
      </p:sp>
      <p:sp>
        <p:nvSpPr>
          <p:cNvPr id="4" name="a0fd450_t1556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from the first query that are not in the second (MINUS in some databases)</a:t>
            </a:r>
            <a:endParaRPr lang="en-US" dirty="0" sz="1700"/>
          </a:p>
        </p:txBody>
      </p:sp>
      <p:pic>
        <p:nvPicPr>
          <p:cNvPr id="5" name="a0fd300_v1557" descr="6e5385d95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— Concept &amp; Query</a:t>
            </a:r>
            <a:endParaRPr lang="en-US" dirty="0" sz="2800"/>
          </a:p>
        </p:txBody>
      </p:sp>
      <p:pic>
        <p:nvPicPr>
          <p:cNvPr id="3" name="Image 0" descr="c3eff33f5d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657600" cy="2316480"/>
          </a:xfrm>
          <a:prstGeom prst="rect">
            <a:avLst/>
          </a:prstGeom>
        </p:spPr>
      </p:pic>
      <p:sp>
        <p:nvSpPr>
          <p:cNvPr id="4" name="a2f_nm1558"/>
          <p:cNvSpPr txBox="1"/>
          <p:nvPr/>
        </p:nvSpPr>
        <p:spPr>
          <a:xfrm>
            <a:off x="8686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200"/>
          </a:p>
        </p:txBody>
      </p:sp>
      <p:sp>
        <p:nvSpPr>
          <p:cNvPr id="5" name="a2f_nm1559"/>
          <p:cNvSpPr txBox="1"/>
          <p:nvPr/>
        </p:nvSpPr>
        <p:spPr>
          <a:xfrm>
            <a:off x="8686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200"/>
          </a:p>
        </p:txBody>
      </p:sp>
      <p:sp>
        <p:nvSpPr>
          <p:cNvPr id="6" name="a2f_nm1560"/>
          <p:cNvSpPr txBox="1"/>
          <p:nvPr/>
        </p:nvSpPr>
        <p:spPr>
          <a:xfrm>
            <a:off x="8686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200"/>
          </a:p>
        </p:txBody>
      </p:sp>
      <p:sp>
        <p:nvSpPr>
          <p:cNvPr id="7" name="a2fd250_nm1561"/>
          <p:cNvSpPr txBox="1"/>
          <p:nvPr/>
        </p:nvSpPr>
        <p:spPr>
          <a:xfrm>
            <a:off x="1783080" y="187147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200"/>
          </a:p>
        </p:txBody>
      </p:sp>
      <p:sp>
        <p:nvSpPr>
          <p:cNvPr id="8" name="a2fd250_nm1562"/>
          <p:cNvSpPr txBox="1"/>
          <p:nvPr/>
        </p:nvSpPr>
        <p:spPr>
          <a:xfrm>
            <a:off x="1783080" y="2118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200"/>
          </a:p>
        </p:txBody>
      </p:sp>
      <p:sp>
        <p:nvSpPr>
          <p:cNvPr id="9" name="a2fd500_nm1563"/>
          <p:cNvSpPr txBox="1"/>
          <p:nvPr/>
        </p:nvSpPr>
        <p:spPr>
          <a:xfrm>
            <a:off x="26974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200"/>
          </a:p>
        </p:txBody>
      </p:sp>
      <p:sp>
        <p:nvSpPr>
          <p:cNvPr id="10" name="a2fd500_nm1564"/>
          <p:cNvSpPr txBox="1"/>
          <p:nvPr/>
        </p:nvSpPr>
        <p:spPr>
          <a:xfrm>
            <a:off x="26974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200"/>
          </a:p>
        </p:txBody>
      </p:sp>
      <p:sp>
        <p:nvSpPr>
          <p:cNvPr id="11" name="a2fd500_nm1565"/>
          <p:cNvSpPr txBox="1"/>
          <p:nvPr/>
        </p:nvSpPr>
        <p:spPr>
          <a:xfrm>
            <a:off x="26974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200"/>
          </a:p>
        </p:txBody>
      </p:sp>
      <p:sp>
        <p:nvSpPr>
          <p:cNvPr id="12" name="Text 9"/>
          <p:cNvSpPr txBox="1"/>
          <p:nvPr/>
        </p:nvSpPr>
        <p:spPr>
          <a:xfrm>
            <a:off x="4572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(1st query)</a:t>
            </a:r>
            <a:endParaRPr lang="en-US" dirty="0" sz="1100"/>
          </a:p>
        </p:txBody>
      </p:sp>
      <p:sp>
        <p:nvSpPr>
          <p:cNvPr id="13" name="Text 10"/>
          <p:cNvSpPr txBox="1"/>
          <p:nvPr/>
        </p:nvSpPr>
        <p:spPr>
          <a:xfrm>
            <a:off x="22860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(2nd query)</a:t>
            </a:r>
            <a:endParaRPr lang="en-US" dirty="0" sz="1100"/>
          </a:p>
        </p:txBody>
      </p:sp>
      <p:sp>
        <p:nvSpPr>
          <p:cNvPr id="14" name="a4u_pill1566"/>
          <p:cNvSpPr txBox="1"/>
          <p:nvPr/>
        </p:nvSpPr>
        <p:spPr>
          <a:xfrm>
            <a:off x="457200" y="370332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dirty="0" sz="1200"/>
          </a:p>
        </p:txBody>
      </p:sp>
      <p:sp>
        <p:nvSpPr>
          <p:cNvPr id="15" name="a4ud200_pill1567"/>
          <p:cNvSpPr txBox="1"/>
          <p:nvPr/>
        </p:nvSpPr>
        <p:spPr>
          <a:xfrm>
            <a:off x="457200" y="420624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>
            <a:solidFill>
              <a:srgbClr val="FEF2F2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— the only one where it does</a:t>
            </a:r>
            <a:endParaRPr lang="en-US" dirty="0" sz="1200"/>
          </a:p>
        </p:txBody>
      </p:sp>
      <p:sp>
        <p:nvSpPr>
          <p:cNvPr id="16" name="Text 13"/>
          <p:cNvSpPr txBox="1"/>
          <p:nvPr/>
        </p:nvSpPr>
        <p:spPr>
          <a:xfrm>
            <a:off x="4434840" y="914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distinct rows from the 1st query that are not found in the 2nd query.</a:t>
            </a:r>
            <a:endParaRPr lang="en-US" dirty="0" sz="1500"/>
          </a:p>
        </p:txBody>
      </p:sp>
      <p:sp>
        <p:nvSpPr>
          <p:cNvPr id="17" name="a1f_codebg1568"/>
          <p:cNvSpPr/>
          <p:nvPr/>
        </p:nvSpPr>
        <p:spPr>
          <a:xfrm>
            <a:off x="4434840" y="169164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1f_hl1569"/>
          <p:cNvSpPr/>
          <p:nvPr/>
        </p:nvSpPr>
        <p:spPr>
          <a:xfrm>
            <a:off x="4507992" y="2340864"/>
            <a:ext cx="410565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a1wd0_code1570"/>
          <p:cNvSpPr txBox="1"/>
          <p:nvPr/>
        </p:nvSpPr>
        <p:spPr>
          <a:xfrm>
            <a:off x="4617720" y="1828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0" name="a1wd120_code1571"/>
          <p:cNvSpPr txBox="1"/>
          <p:nvPr/>
        </p:nvSpPr>
        <p:spPr>
          <a:xfrm>
            <a:off x="4617720" y="2084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21" name="a1wd240_code1572"/>
          <p:cNvSpPr txBox="1"/>
          <p:nvPr/>
        </p:nvSpPr>
        <p:spPr>
          <a:xfrm>
            <a:off x="4617720" y="2340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200"/>
          </a:p>
        </p:txBody>
      </p:sp>
      <p:sp>
        <p:nvSpPr>
          <p:cNvPr id="22" name="a1wd360_code1573"/>
          <p:cNvSpPr txBox="1"/>
          <p:nvPr/>
        </p:nvSpPr>
        <p:spPr>
          <a:xfrm>
            <a:off x="461772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3" name="a1wd480_code1574"/>
          <p:cNvSpPr txBox="1"/>
          <p:nvPr/>
        </p:nvSpPr>
        <p:spPr>
          <a:xfrm>
            <a:off x="461772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24" name="a3f_rl1575"/>
          <p:cNvSpPr txBox="1"/>
          <p:nvPr/>
        </p:nvSpPr>
        <p:spPr>
          <a:xfrm>
            <a:off x="44348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3 rows</a:t>
            </a:r>
            <a:endParaRPr lang="en-US" dirty="0" sz="1200"/>
          </a:p>
        </p:txBody>
      </p:sp>
      <p:sp>
        <p:nvSpPr>
          <p:cNvPr id="25" name="a3ud0_box1576"/>
          <p:cNvSpPr txBox="1"/>
          <p:nvPr/>
        </p:nvSpPr>
        <p:spPr>
          <a:xfrm>
            <a:off x="4434840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6" name="a3ud90_box1577"/>
          <p:cNvSpPr txBox="1"/>
          <p:nvPr/>
        </p:nvSpPr>
        <p:spPr>
          <a:xfrm>
            <a:off x="5294376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27" name="a3ud180_box1578"/>
          <p:cNvSpPr txBox="1"/>
          <p:nvPr/>
        </p:nvSpPr>
        <p:spPr>
          <a:xfrm>
            <a:off x="6153912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5" grpId="0" animBg="1"/>
      <p:bldP spid="26" grpId="0" animBg="1"/>
      <p:bldP spid="27" grpId="0" animBg="1"/>
      <p:bldP spid="14" grpId="0" animBg="1"/>
      <p:bldP spid="15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EXCEPT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employees who are not customers at the same time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 · Employees</a:t>
            </a:r>
            <a:endParaRPr lang="en-US" dirty="0" sz="1100"/>
          </a:p>
        </p:txBody>
      </p:sp>
      <p:sp>
        <p:nvSpPr>
          <p:cNvPr id="5" name="s_cell1579"/>
          <p:cNvSpPr txBox="1"/>
          <p:nvPr/>
        </p:nvSpPr>
        <p:spPr>
          <a:xfrm>
            <a:off x="45720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6" name="s_cell1580"/>
          <p:cNvSpPr txBox="1"/>
          <p:nvPr/>
        </p:nvSpPr>
        <p:spPr>
          <a:xfrm>
            <a:off x="4572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7" name="s_cell1581"/>
          <p:cNvSpPr txBox="1"/>
          <p:nvPr/>
        </p:nvSpPr>
        <p:spPr>
          <a:xfrm>
            <a:off x="4572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8" name="s_cell1582"/>
          <p:cNvSpPr txBox="1"/>
          <p:nvPr/>
        </p:nvSpPr>
        <p:spPr>
          <a:xfrm>
            <a:off x="4572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9" name="s_cell1583"/>
          <p:cNvSpPr txBox="1"/>
          <p:nvPr/>
        </p:nvSpPr>
        <p:spPr>
          <a:xfrm>
            <a:off x="4572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10" name="s_cell1584"/>
          <p:cNvSpPr txBox="1"/>
          <p:nvPr/>
        </p:nvSpPr>
        <p:spPr>
          <a:xfrm>
            <a:off x="4572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11" name="s_cell1585"/>
          <p:cNvSpPr txBox="1"/>
          <p:nvPr/>
        </p:nvSpPr>
        <p:spPr>
          <a:xfrm>
            <a:off x="132588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12" name="s_cell1586"/>
          <p:cNvSpPr txBox="1"/>
          <p:nvPr/>
        </p:nvSpPr>
        <p:spPr>
          <a:xfrm>
            <a:off x="13258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13" name="s_cell1587"/>
          <p:cNvSpPr txBox="1"/>
          <p:nvPr/>
        </p:nvSpPr>
        <p:spPr>
          <a:xfrm>
            <a:off x="13258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14" name="s_cell1588"/>
          <p:cNvSpPr txBox="1"/>
          <p:nvPr/>
        </p:nvSpPr>
        <p:spPr>
          <a:xfrm>
            <a:off x="13258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15" name="s_cell1589"/>
          <p:cNvSpPr txBox="1"/>
          <p:nvPr/>
        </p:nvSpPr>
        <p:spPr>
          <a:xfrm>
            <a:off x="13258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16" name="s_cell1590"/>
          <p:cNvSpPr txBox="1"/>
          <p:nvPr/>
        </p:nvSpPr>
        <p:spPr>
          <a:xfrm>
            <a:off x="13258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17" name="Text 15"/>
          <p:cNvSpPr txBox="1"/>
          <p:nvPr/>
        </p:nvSpPr>
        <p:spPr>
          <a:xfrm>
            <a:off x="2514600" y="1188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 · Customers (lookup)</a:t>
            </a:r>
            <a:endParaRPr lang="en-US" dirty="0" sz="1100"/>
          </a:p>
        </p:txBody>
      </p:sp>
      <p:sp>
        <p:nvSpPr>
          <p:cNvPr id="18" name="s_cell1591"/>
          <p:cNvSpPr txBox="1"/>
          <p:nvPr/>
        </p:nvSpPr>
        <p:spPr>
          <a:xfrm>
            <a:off x="251460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19" name="s_cell1592"/>
          <p:cNvSpPr txBox="1"/>
          <p:nvPr/>
        </p:nvSpPr>
        <p:spPr>
          <a:xfrm>
            <a:off x="25146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20" name="s_cell1593"/>
          <p:cNvSpPr txBox="1"/>
          <p:nvPr/>
        </p:nvSpPr>
        <p:spPr>
          <a:xfrm>
            <a:off x="25146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21" name="s_cell1594"/>
          <p:cNvSpPr txBox="1"/>
          <p:nvPr/>
        </p:nvSpPr>
        <p:spPr>
          <a:xfrm>
            <a:off x="25146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22" name="s_cell1595"/>
          <p:cNvSpPr txBox="1"/>
          <p:nvPr/>
        </p:nvSpPr>
        <p:spPr>
          <a:xfrm>
            <a:off x="25146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23" name="s_cell1596"/>
          <p:cNvSpPr txBox="1"/>
          <p:nvPr/>
        </p:nvSpPr>
        <p:spPr>
          <a:xfrm>
            <a:off x="25146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24" name="s_cell1597"/>
          <p:cNvSpPr txBox="1"/>
          <p:nvPr/>
        </p:nvSpPr>
        <p:spPr>
          <a:xfrm>
            <a:off x="338328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25" name="s_cell1598"/>
          <p:cNvSpPr txBox="1"/>
          <p:nvPr/>
        </p:nvSpPr>
        <p:spPr>
          <a:xfrm>
            <a:off x="33832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26" name="s_cell1599"/>
          <p:cNvSpPr txBox="1"/>
          <p:nvPr/>
        </p:nvSpPr>
        <p:spPr>
          <a:xfrm>
            <a:off x="33832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27" name="s_cell1600"/>
          <p:cNvSpPr txBox="1"/>
          <p:nvPr/>
        </p:nvSpPr>
        <p:spPr>
          <a:xfrm>
            <a:off x="33832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28" name="s_cell1601"/>
          <p:cNvSpPr txBox="1"/>
          <p:nvPr/>
        </p:nvSpPr>
        <p:spPr>
          <a:xfrm>
            <a:off x="33832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29" name="s_cell1602"/>
          <p:cNvSpPr txBox="1"/>
          <p:nvPr/>
        </p:nvSpPr>
        <p:spPr>
          <a:xfrm>
            <a:off x="33832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30" name="a1f_rl1603"/>
          <p:cNvSpPr txBox="1"/>
          <p:nvPr/>
        </p:nvSpPr>
        <p:spPr>
          <a:xfrm>
            <a:off x="484632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100"/>
          </a:p>
        </p:txBody>
      </p:sp>
      <p:sp>
        <p:nvSpPr>
          <p:cNvPr id="31" name="a1f_cell1604"/>
          <p:cNvSpPr txBox="1"/>
          <p:nvPr/>
        </p:nvSpPr>
        <p:spPr>
          <a:xfrm>
            <a:off x="484632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32" name="a1f_cell1605"/>
          <p:cNvSpPr txBox="1"/>
          <p:nvPr/>
        </p:nvSpPr>
        <p:spPr>
          <a:xfrm>
            <a:off x="580644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33" name="Shape 31"/>
          <p:cNvSpPr/>
          <p:nvPr/>
        </p:nvSpPr>
        <p:spPr>
          <a:xfrm>
            <a:off x="457200" y="3108960"/>
            <a:ext cx="41605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3154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9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900"/>
          </a:p>
        </p:txBody>
      </p:sp>
      <p:sp>
        <p:nvSpPr>
          <p:cNvPr id="35" name="a1fd200_log1606"/>
          <p:cNvSpPr txBox="1"/>
          <p:nvPr/>
        </p:nvSpPr>
        <p:spPr>
          <a:xfrm>
            <a:off x="640080" y="338328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Column names come from the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000"/>
          </a:p>
        </p:txBody>
      </p:sp>
      <p:sp>
        <p:nvSpPr>
          <p:cNvPr id="36" name="a2f_bdg1607"/>
          <p:cNvSpPr txBox="1"/>
          <p:nvPr/>
        </p:nvSpPr>
        <p:spPr>
          <a:xfrm>
            <a:off x="2249424" y="1737360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37" name="a2wd200_dot1608"/>
          <p:cNvSpPr/>
          <p:nvPr/>
        </p:nvSpPr>
        <p:spPr>
          <a:xfrm>
            <a:off x="4663440" y="1792224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38" name="a2wd200_cell1609"/>
          <p:cNvSpPr txBox="1"/>
          <p:nvPr/>
        </p:nvSpPr>
        <p:spPr>
          <a:xfrm>
            <a:off x="484632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39" name="a2wd200_cell1610"/>
          <p:cNvSpPr txBox="1"/>
          <p:nvPr/>
        </p:nvSpPr>
        <p:spPr>
          <a:xfrm>
            <a:off x="580644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40" name="a2fd200_log1611"/>
          <p:cNvSpPr txBox="1"/>
          <p:nvPr/>
        </p:nvSpPr>
        <p:spPr>
          <a:xfrm>
            <a:off x="640080" y="355701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Frank → not a customer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dirty="0" sz="1000"/>
          </a:p>
        </p:txBody>
      </p:sp>
      <p:sp>
        <p:nvSpPr>
          <p:cNvPr id="41" name="a3f_bdg1612"/>
          <p:cNvSpPr txBox="1"/>
          <p:nvPr/>
        </p:nvSpPr>
        <p:spPr>
          <a:xfrm>
            <a:off x="2249424" y="1993392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42" name="a3fd150_ro1613"/>
          <p:cNvSpPr/>
          <p:nvPr/>
        </p:nvSpPr>
        <p:spPr>
          <a:xfrm>
            <a:off x="2496312" y="1984248"/>
            <a:ext cx="177393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a3fd200_log1614"/>
          <p:cNvSpPr txBox="1"/>
          <p:nvPr/>
        </p:nvSpPr>
        <p:spPr>
          <a:xfrm>
            <a:off x="640080" y="3730752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Kevin → found in customers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44" name="a4f_bdg1615"/>
          <p:cNvSpPr txBox="1"/>
          <p:nvPr/>
        </p:nvSpPr>
        <p:spPr>
          <a:xfrm>
            <a:off x="2249424" y="2249424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45" name="a4fd150_ro1616"/>
          <p:cNvSpPr/>
          <p:nvPr/>
        </p:nvSpPr>
        <p:spPr>
          <a:xfrm>
            <a:off x="2496312" y="2240280"/>
            <a:ext cx="177393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a4fd200_log1617"/>
          <p:cNvSpPr txBox="1"/>
          <p:nvPr/>
        </p:nvSpPr>
        <p:spPr>
          <a:xfrm>
            <a:off x="640080" y="3904488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Mary → found in customers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47" name="a5f_bdg1618"/>
          <p:cNvSpPr txBox="1"/>
          <p:nvPr/>
        </p:nvSpPr>
        <p:spPr>
          <a:xfrm>
            <a:off x="2249424" y="2505456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48" name="a5wd200_dot1619"/>
          <p:cNvSpPr/>
          <p:nvPr/>
        </p:nvSpPr>
        <p:spPr>
          <a:xfrm>
            <a:off x="4663440" y="204825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9" name="a5wd200_cell1620"/>
          <p:cNvSpPr txBox="1"/>
          <p:nvPr/>
        </p:nvSpPr>
        <p:spPr>
          <a:xfrm>
            <a:off x="484632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50" name="a5wd200_cell1621"/>
          <p:cNvSpPr txBox="1"/>
          <p:nvPr/>
        </p:nvSpPr>
        <p:spPr>
          <a:xfrm>
            <a:off x="580644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51" name="a5fd200_log1622"/>
          <p:cNvSpPr txBox="1"/>
          <p:nvPr/>
        </p:nvSpPr>
        <p:spPr>
          <a:xfrm>
            <a:off x="640080" y="4078224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Michael → not a customer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dirty="0" sz="1000"/>
          </a:p>
        </p:txBody>
      </p:sp>
      <p:sp>
        <p:nvSpPr>
          <p:cNvPr id="52" name="a6f_bdg1623"/>
          <p:cNvSpPr txBox="1"/>
          <p:nvPr/>
        </p:nvSpPr>
        <p:spPr>
          <a:xfrm>
            <a:off x="2249424" y="2761488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53" name="a6wd200_dot1624"/>
          <p:cNvSpPr/>
          <p:nvPr/>
        </p:nvSpPr>
        <p:spPr>
          <a:xfrm>
            <a:off x="4663440" y="2304288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54" name="a6wd200_cell1625"/>
          <p:cNvSpPr txBox="1"/>
          <p:nvPr/>
        </p:nvSpPr>
        <p:spPr>
          <a:xfrm>
            <a:off x="4846320" y="2231136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55" name="a6wd200_cell1626"/>
          <p:cNvSpPr txBox="1"/>
          <p:nvPr/>
        </p:nvSpPr>
        <p:spPr>
          <a:xfrm>
            <a:off x="5806440" y="2231136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56" name="a6fd200_log1627"/>
          <p:cNvSpPr txBox="1"/>
          <p:nvPr/>
        </p:nvSpPr>
        <p:spPr>
          <a:xfrm>
            <a:off x="640080" y="425196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Carol → not a customer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dirty="0" sz="1000"/>
          </a:p>
        </p:txBody>
      </p:sp>
      <p:sp>
        <p:nvSpPr>
          <p:cNvPr id="57" name="a7u_tb1628"/>
          <p:cNvSpPr/>
          <p:nvPr/>
        </p:nvSpPr>
        <p:spPr>
          <a:xfrm>
            <a:off x="6995160" y="1188720"/>
            <a:ext cx="1691640" cy="1920240"/>
          </a:xfrm>
          <a:prstGeom prst="roundRect">
            <a:avLst>
              <a:gd name="adj" fmla="val 4324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58" name="a7u_tt1629"/>
          <p:cNvSpPr txBox="1"/>
          <p:nvPr/>
        </p:nvSpPr>
        <p:spPr>
          <a:xfrm>
            <a:off x="7132320" y="1188720"/>
            <a:ext cx="1463040" cy="1920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queries and you get Joseph, Mark, Anna instead. Order matters!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n1630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6000"/>
          </a:p>
        </p:txBody>
      </p:sp>
      <p:sp>
        <p:nvSpPr>
          <p:cNvPr id="3" name="a0ud200_h1631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endParaRPr lang="en-US" dirty="0" sz="4000"/>
          </a:p>
        </p:txBody>
      </p:sp>
      <p:sp>
        <p:nvSpPr>
          <p:cNvPr id="4" name="a0fd450_t1632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rows that appear in both queries</a:t>
            </a:r>
            <a:endParaRPr lang="en-US" dirty="0" sz="1700"/>
          </a:p>
        </p:txBody>
      </p:sp>
      <p:pic>
        <p:nvPicPr>
          <p:cNvPr id="5" name="a0fd300_v1633" descr="219ee9bd1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0" cy="231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 — Concept &amp; Query</a:t>
            </a:r>
            <a:endParaRPr lang="en-US" dirty="0" sz="2800"/>
          </a:p>
        </p:txBody>
      </p:sp>
      <p:pic>
        <p:nvPicPr>
          <p:cNvPr id="3" name="Image 0" descr="1aa22eb5d0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3657600" cy="2316480"/>
          </a:xfrm>
          <a:prstGeom prst="rect">
            <a:avLst/>
          </a:prstGeom>
        </p:spPr>
      </p:pic>
      <p:sp>
        <p:nvSpPr>
          <p:cNvPr id="4" name="a2f_nm1634"/>
          <p:cNvSpPr txBox="1"/>
          <p:nvPr/>
        </p:nvSpPr>
        <p:spPr>
          <a:xfrm>
            <a:off x="8686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200"/>
          </a:p>
        </p:txBody>
      </p:sp>
      <p:sp>
        <p:nvSpPr>
          <p:cNvPr id="5" name="a2f_nm1635"/>
          <p:cNvSpPr txBox="1"/>
          <p:nvPr/>
        </p:nvSpPr>
        <p:spPr>
          <a:xfrm>
            <a:off x="8686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200"/>
          </a:p>
        </p:txBody>
      </p:sp>
      <p:sp>
        <p:nvSpPr>
          <p:cNvPr id="6" name="a2f_nm1636"/>
          <p:cNvSpPr txBox="1"/>
          <p:nvPr/>
        </p:nvSpPr>
        <p:spPr>
          <a:xfrm>
            <a:off x="8686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200"/>
          </a:p>
        </p:txBody>
      </p:sp>
      <p:sp>
        <p:nvSpPr>
          <p:cNvPr id="7" name="a2fd250_nm1637"/>
          <p:cNvSpPr txBox="1"/>
          <p:nvPr/>
        </p:nvSpPr>
        <p:spPr>
          <a:xfrm>
            <a:off x="1783080" y="187147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200"/>
          </a:p>
        </p:txBody>
      </p:sp>
      <p:sp>
        <p:nvSpPr>
          <p:cNvPr id="8" name="a2fd250_nm1638"/>
          <p:cNvSpPr txBox="1"/>
          <p:nvPr/>
        </p:nvSpPr>
        <p:spPr>
          <a:xfrm>
            <a:off x="1783080" y="2118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200"/>
          </a:p>
        </p:txBody>
      </p:sp>
      <p:sp>
        <p:nvSpPr>
          <p:cNvPr id="9" name="a2fd500_nm1639"/>
          <p:cNvSpPr txBox="1"/>
          <p:nvPr/>
        </p:nvSpPr>
        <p:spPr>
          <a:xfrm>
            <a:off x="2697480" y="17480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200"/>
          </a:p>
        </p:txBody>
      </p:sp>
      <p:sp>
        <p:nvSpPr>
          <p:cNvPr id="10" name="a2fd500_nm1640"/>
          <p:cNvSpPr txBox="1"/>
          <p:nvPr/>
        </p:nvSpPr>
        <p:spPr>
          <a:xfrm>
            <a:off x="2697480" y="199491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200"/>
          </a:p>
        </p:txBody>
      </p:sp>
      <p:sp>
        <p:nvSpPr>
          <p:cNvPr id="11" name="a2fd500_nm1641"/>
          <p:cNvSpPr txBox="1"/>
          <p:nvPr/>
        </p:nvSpPr>
        <p:spPr>
          <a:xfrm>
            <a:off x="2697480" y="224180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200"/>
          </a:p>
        </p:txBody>
      </p:sp>
      <p:sp>
        <p:nvSpPr>
          <p:cNvPr id="12" name="Text 9"/>
          <p:cNvSpPr txBox="1"/>
          <p:nvPr/>
        </p:nvSpPr>
        <p:spPr>
          <a:xfrm>
            <a:off x="4572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(1st query)</a:t>
            </a:r>
            <a:endParaRPr lang="en-US" dirty="0" sz="1100"/>
          </a:p>
        </p:txBody>
      </p:sp>
      <p:sp>
        <p:nvSpPr>
          <p:cNvPr id="13" name="Text 10"/>
          <p:cNvSpPr txBox="1"/>
          <p:nvPr/>
        </p:nvSpPr>
        <p:spPr>
          <a:xfrm>
            <a:off x="2286000" y="3304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(2nd query)</a:t>
            </a:r>
            <a:endParaRPr lang="en-US" dirty="0" sz="1100"/>
          </a:p>
        </p:txBody>
      </p:sp>
      <p:sp>
        <p:nvSpPr>
          <p:cNvPr id="14" name="a4u_pill1642"/>
          <p:cNvSpPr txBox="1"/>
          <p:nvPr/>
        </p:nvSpPr>
        <p:spPr>
          <a:xfrm>
            <a:off x="457200" y="370332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dirty="0" sz="1200"/>
          </a:p>
        </p:txBody>
      </p:sp>
      <p:sp>
        <p:nvSpPr>
          <p:cNvPr id="15" name="a4ud200_pill1643"/>
          <p:cNvSpPr txBox="1"/>
          <p:nvPr/>
        </p:nvSpPr>
        <p:spPr>
          <a:xfrm>
            <a:off x="457200" y="4206240"/>
            <a:ext cx="3657600" cy="384048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>
            <a:solidFill>
              <a:srgbClr val="F0FDF4"/>
            </a:solidFill>
          </a:ln>
        </p:spPr>
        <p:txBody>
          <a:bodyPr wrap="square" lIns="139700" tIns="0" rIns="13970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order: 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200"/>
          </a:p>
        </p:txBody>
      </p:sp>
      <p:sp>
        <p:nvSpPr>
          <p:cNvPr id="16" name="Text 13"/>
          <p:cNvSpPr txBox="1"/>
          <p:nvPr/>
        </p:nvSpPr>
        <p:spPr>
          <a:xfrm>
            <a:off x="4434840" y="914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only the rows common to both queries — similar in spirit to INNER JOIN.</a:t>
            </a:r>
            <a:endParaRPr lang="en-US" dirty="0" sz="1500"/>
          </a:p>
        </p:txBody>
      </p:sp>
      <p:sp>
        <p:nvSpPr>
          <p:cNvPr id="17" name="a1f_codebg1644"/>
          <p:cNvSpPr/>
          <p:nvPr/>
        </p:nvSpPr>
        <p:spPr>
          <a:xfrm>
            <a:off x="4434840" y="169164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1f_hl1645"/>
          <p:cNvSpPr/>
          <p:nvPr/>
        </p:nvSpPr>
        <p:spPr>
          <a:xfrm>
            <a:off x="4507992" y="2340864"/>
            <a:ext cx="4105656" cy="256032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a1wd0_code1646"/>
          <p:cNvSpPr txBox="1"/>
          <p:nvPr/>
        </p:nvSpPr>
        <p:spPr>
          <a:xfrm>
            <a:off x="4617720" y="1828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0" name="a1wd120_code1647"/>
          <p:cNvSpPr txBox="1"/>
          <p:nvPr/>
        </p:nvSpPr>
        <p:spPr>
          <a:xfrm>
            <a:off x="4617720" y="2084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21" name="a1wd240_code1648"/>
          <p:cNvSpPr txBox="1"/>
          <p:nvPr/>
        </p:nvSpPr>
        <p:spPr>
          <a:xfrm>
            <a:off x="4617720" y="23408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endParaRPr lang="en-US" dirty="0" sz="1200"/>
          </a:p>
        </p:txBody>
      </p:sp>
      <p:sp>
        <p:nvSpPr>
          <p:cNvPr id="22" name="a1wd360_code1649"/>
          <p:cNvSpPr txBox="1"/>
          <p:nvPr/>
        </p:nvSpPr>
        <p:spPr>
          <a:xfrm>
            <a:off x="461772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dirty="0" sz="1200"/>
          </a:p>
        </p:txBody>
      </p:sp>
      <p:sp>
        <p:nvSpPr>
          <p:cNvPr id="23" name="a1wd480_code1650"/>
          <p:cNvSpPr txBox="1"/>
          <p:nvPr/>
        </p:nvSpPr>
        <p:spPr>
          <a:xfrm>
            <a:off x="461772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24" name="a3f_rl1651"/>
          <p:cNvSpPr txBox="1"/>
          <p:nvPr/>
        </p:nvSpPr>
        <p:spPr>
          <a:xfrm>
            <a:off x="44348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2 rows</a:t>
            </a:r>
            <a:endParaRPr lang="en-US" dirty="0" sz="1200"/>
          </a:p>
        </p:txBody>
      </p:sp>
      <p:sp>
        <p:nvSpPr>
          <p:cNvPr id="25" name="a3ud0_box1652"/>
          <p:cNvSpPr txBox="1"/>
          <p:nvPr/>
        </p:nvSpPr>
        <p:spPr>
          <a:xfrm>
            <a:off x="4434840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26" name="a3ud90_box1653"/>
          <p:cNvSpPr txBox="1"/>
          <p:nvPr/>
        </p:nvSpPr>
        <p:spPr>
          <a:xfrm>
            <a:off x="5294376" y="3566160"/>
            <a:ext cx="786384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24" grpId="0" animBg="1"/>
      <p:bldP spid="25" grpId="0" animBg="1"/>
      <p:bldP spid="26" grpId="0" animBg="1"/>
      <p:bldP spid="14" grpId="0" animBg="1"/>
      <p:bldP spid="15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INTERSECT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employees who are also customers</a:t>
            </a:r>
            <a:endParaRPr lang="en-US" dirty="0" sz="130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 · Employees</a:t>
            </a:r>
            <a:endParaRPr lang="en-US" dirty="0" sz="1100"/>
          </a:p>
        </p:txBody>
      </p:sp>
      <p:sp>
        <p:nvSpPr>
          <p:cNvPr id="5" name="s_cell1654"/>
          <p:cNvSpPr txBox="1"/>
          <p:nvPr/>
        </p:nvSpPr>
        <p:spPr>
          <a:xfrm>
            <a:off x="45720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6" name="s_cell1655"/>
          <p:cNvSpPr txBox="1"/>
          <p:nvPr/>
        </p:nvSpPr>
        <p:spPr>
          <a:xfrm>
            <a:off x="4572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000"/>
          </a:p>
        </p:txBody>
      </p:sp>
      <p:sp>
        <p:nvSpPr>
          <p:cNvPr id="7" name="s_cell1656"/>
          <p:cNvSpPr txBox="1"/>
          <p:nvPr/>
        </p:nvSpPr>
        <p:spPr>
          <a:xfrm>
            <a:off x="4572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8" name="s_cell1657"/>
          <p:cNvSpPr txBox="1"/>
          <p:nvPr/>
        </p:nvSpPr>
        <p:spPr>
          <a:xfrm>
            <a:off x="4572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9" name="s_cell1658"/>
          <p:cNvSpPr txBox="1"/>
          <p:nvPr/>
        </p:nvSpPr>
        <p:spPr>
          <a:xfrm>
            <a:off x="4572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000"/>
          </a:p>
        </p:txBody>
      </p:sp>
      <p:sp>
        <p:nvSpPr>
          <p:cNvPr id="10" name="s_cell1659"/>
          <p:cNvSpPr txBox="1"/>
          <p:nvPr/>
        </p:nvSpPr>
        <p:spPr>
          <a:xfrm>
            <a:off x="4572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000"/>
          </a:p>
        </p:txBody>
      </p:sp>
      <p:sp>
        <p:nvSpPr>
          <p:cNvPr id="11" name="s_cell1660"/>
          <p:cNvSpPr txBox="1"/>
          <p:nvPr/>
        </p:nvSpPr>
        <p:spPr>
          <a:xfrm>
            <a:off x="1325880" y="1463040"/>
            <a:ext cx="86868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12" name="s_cell1661"/>
          <p:cNvSpPr txBox="1"/>
          <p:nvPr/>
        </p:nvSpPr>
        <p:spPr>
          <a:xfrm>
            <a:off x="13258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</a:t>
            </a:r>
            <a:endParaRPr lang="en-US" dirty="0" sz="1000"/>
          </a:p>
        </p:txBody>
      </p:sp>
      <p:sp>
        <p:nvSpPr>
          <p:cNvPr id="13" name="s_cell1662"/>
          <p:cNvSpPr txBox="1"/>
          <p:nvPr/>
        </p:nvSpPr>
        <p:spPr>
          <a:xfrm>
            <a:off x="13258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14" name="s_cell1663"/>
          <p:cNvSpPr txBox="1"/>
          <p:nvPr/>
        </p:nvSpPr>
        <p:spPr>
          <a:xfrm>
            <a:off x="13258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15" name="s_cell1664"/>
          <p:cNvSpPr txBox="1"/>
          <p:nvPr/>
        </p:nvSpPr>
        <p:spPr>
          <a:xfrm>
            <a:off x="13258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</a:t>
            </a:r>
            <a:endParaRPr lang="en-US" dirty="0" sz="1000"/>
          </a:p>
        </p:txBody>
      </p:sp>
      <p:sp>
        <p:nvSpPr>
          <p:cNvPr id="16" name="s_cell1665"/>
          <p:cNvSpPr txBox="1"/>
          <p:nvPr/>
        </p:nvSpPr>
        <p:spPr>
          <a:xfrm>
            <a:off x="13258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</a:t>
            </a:r>
            <a:endParaRPr lang="en-US" dirty="0" sz="1000"/>
          </a:p>
        </p:txBody>
      </p:sp>
      <p:sp>
        <p:nvSpPr>
          <p:cNvPr id="17" name="Text 15"/>
          <p:cNvSpPr txBox="1"/>
          <p:nvPr/>
        </p:nvSpPr>
        <p:spPr>
          <a:xfrm>
            <a:off x="2514600" y="1188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query · Customers (lookup)</a:t>
            </a:r>
            <a:endParaRPr lang="en-US" dirty="0" sz="1100"/>
          </a:p>
        </p:txBody>
      </p:sp>
      <p:sp>
        <p:nvSpPr>
          <p:cNvPr id="18" name="s_cell1666"/>
          <p:cNvSpPr txBox="1"/>
          <p:nvPr/>
        </p:nvSpPr>
        <p:spPr>
          <a:xfrm>
            <a:off x="251460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19" name="s_cell1667"/>
          <p:cNvSpPr txBox="1"/>
          <p:nvPr/>
        </p:nvSpPr>
        <p:spPr>
          <a:xfrm>
            <a:off x="251460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</a:t>
            </a:r>
            <a:endParaRPr lang="en-US" dirty="0" sz="1000"/>
          </a:p>
        </p:txBody>
      </p:sp>
      <p:sp>
        <p:nvSpPr>
          <p:cNvPr id="20" name="s_cell1668"/>
          <p:cNvSpPr txBox="1"/>
          <p:nvPr/>
        </p:nvSpPr>
        <p:spPr>
          <a:xfrm>
            <a:off x="251460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21" name="s_cell1669"/>
          <p:cNvSpPr txBox="1"/>
          <p:nvPr/>
        </p:nvSpPr>
        <p:spPr>
          <a:xfrm>
            <a:off x="2514600" y="2231136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22" name="s_cell1670"/>
          <p:cNvSpPr txBox="1"/>
          <p:nvPr/>
        </p:nvSpPr>
        <p:spPr>
          <a:xfrm>
            <a:off x="251460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</a:t>
            </a:r>
            <a:endParaRPr lang="en-US" dirty="0" sz="1000"/>
          </a:p>
        </p:txBody>
      </p:sp>
      <p:sp>
        <p:nvSpPr>
          <p:cNvPr id="23" name="s_cell1671"/>
          <p:cNvSpPr txBox="1"/>
          <p:nvPr/>
        </p:nvSpPr>
        <p:spPr>
          <a:xfrm>
            <a:off x="251460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</a:t>
            </a:r>
            <a:endParaRPr lang="en-US" dirty="0" sz="1000"/>
          </a:p>
        </p:txBody>
      </p:sp>
      <p:sp>
        <p:nvSpPr>
          <p:cNvPr id="24" name="s_cell1672"/>
          <p:cNvSpPr txBox="1"/>
          <p:nvPr/>
        </p:nvSpPr>
        <p:spPr>
          <a:xfrm>
            <a:off x="3383280" y="1463040"/>
            <a:ext cx="868680" cy="25603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25" name="s_cell1673"/>
          <p:cNvSpPr txBox="1"/>
          <p:nvPr/>
        </p:nvSpPr>
        <p:spPr>
          <a:xfrm>
            <a:off x="3383280" y="1719072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Goldberg</a:t>
            </a:r>
            <a:endParaRPr lang="en-US" dirty="0" sz="1000"/>
          </a:p>
        </p:txBody>
      </p:sp>
      <p:sp>
        <p:nvSpPr>
          <p:cNvPr id="26" name="s_cell1674"/>
          <p:cNvSpPr txBox="1"/>
          <p:nvPr/>
        </p:nvSpPr>
        <p:spPr>
          <a:xfrm>
            <a:off x="3383280" y="1975104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27" name="s_cell1675"/>
          <p:cNvSpPr txBox="1"/>
          <p:nvPr/>
        </p:nvSpPr>
        <p:spPr>
          <a:xfrm>
            <a:off x="3383280" y="2231136"/>
            <a:ext cx="86868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28" name="s_cell1676"/>
          <p:cNvSpPr txBox="1"/>
          <p:nvPr/>
        </p:nvSpPr>
        <p:spPr>
          <a:xfrm>
            <a:off x="3383280" y="2487168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Schwarz</a:t>
            </a:r>
            <a:endParaRPr lang="en-US" dirty="0" sz="1000"/>
          </a:p>
        </p:txBody>
      </p:sp>
      <p:sp>
        <p:nvSpPr>
          <p:cNvPr id="29" name="s_cell1677"/>
          <p:cNvSpPr txBox="1"/>
          <p:nvPr/>
        </p:nvSpPr>
        <p:spPr>
          <a:xfrm>
            <a:off x="3383280" y="2743200"/>
            <a:ext cx="8686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Adams</a:t>
            </a:r>
            <a:endParaRPr lang="en-US" dirty="0" sz="1000"/>
          </a:p>
        </p:txBody>
      </p:sp>
      <p:sp>
        <p:nvSpPr>
          <p:cNvPr id="30" name="a1f_rl1678"/>
          <p:cNvSpPr txBox="1"/>
          <p:nvPr/>
        </p:nvSpPr>
        <p:spPr>
          <a:xfrm>
            <a:off x="4846320" y="1188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100"/>
          </a:p>
        </p:txBody>
      </p:sp>
      <p:sp>
        <p:nvSpPr>
          <p:cNvPr id="31" name="a1f_cell1679"/>
          <p:cNvSpPr txBox="1"/>
          <p:nvPr/>
        </p:nvSpPr>
        <p:spPr>
          <a:xfrm>
            <a:off x="484632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FirstName</a:t>
            </a:r>
            <a:endParaRPr lang="en-US" dirty="0" sz="1000"/>
          </a:p>
        </p:txBody>
      </p:sp>
      <p:sp>
        <p:nvSpPr>
          <p:cNvPr id="32" name="a1f_cell1680"/>
          <p:cNvSpPr txBox="1"/>
          <p:nvPr/>
        </p:nvSpPr>
        <p:spPr>
          <a:xfrm>
            <a:off x="5806440" y="1463040"/>
            <a:ext cx="960120" cy="256032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LastName</a:t>
            </a:r>
            <a:endParaRPr lang="en-US" dirty="0" sz="1000"/>
          </a:p>
        </p:txBody>
      </p:sp>
      <p:sp>
        <p:nvSpPr>
          <p:cNvPr id="33" name="Shape 31"/>
          <p:cNvSpPr/>
          <p:nvPr/>
        </p:nvSpPr>
        <p:spPr>
          <a:xfrm>
            <a:off x="457200" y="3108960"/>
            <a:ext cx="41605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3154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9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900"/>
          </a:p>
        </p:txBody>
      </p:sp>
      <p:sp>
        <p:nvSpPr>
          <p:cNvPr id="35" name="a1fd200_log1681"/>
          <p:cNvSpPr txBox="1"/>
          <p:nvPr/>
        </p:nvSpPr>
        <p:spPr>
          <a:xfrm>
            <a:off x="640080" y="338328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Column names come from the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query</a:t>
            </a:r>
            <a:endParaRPr lang="en-US" dirty="0" sz="1000"/>
          </a:p>
        </p:txBody>
      </p:sp>
      <p:sp>
        <p:nvSpPr>
          <p:cNvPr id="36" name="a2f_bdg1682"/>
          <p:cNvSpPr txBox="1"/>
          <p:nvPr/>
        </p:nvSpPr>
        <p:spPr>
          <a:xfrm>
            <a:off x="2249424" y="1737360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37" name="a2fd200_log1683"/>
          <p:cNvSpPr txBox="1"/>
          <p:nvPr/>
        </p:nvSpPr>
        <p:spPr>
          <a:xfrm>
            <a:off x="640080" y="355701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Frank → not a customer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38" name="a3f_bdg1684"/>
          <p:cNvSpPr txBox="1"/>
          <p:nvPr/>
        </p:nvSpPr>
        <p:spPr>
          <a:xfrm>
            <a:off x="2249424" y="1993392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39" name="a3fd150_ro1685"/>
          <p:cNvSpPr/>
          <p:nvPr/>
        </p:nvSpPr>
        <p:spPr>
          <a:xfrm>
            <a:off x="2496312" y="1984248"/>
            <a:ext cx="177393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0" name="a3wd200_dot1686"/>
          <p:cNvSpPr/>
          <p:nvPr/>
        </p:nvSpPr>
        <p:spPr>
          <a:xfrm>
            <a:off x="4663440" y="1792224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1" name="a3wd200_cell1687"/>
          <p:cNvSpPr txBox="1"/>
          <p:nvPr/>
        </p:nvSpPr>
        <p:spPr>
          <a:xfrm>
            <a:off x="484632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000"/>
          </a:p>
        </p:txBody>
      </p:sp>
      <p:sp>
        <p:nvSpPr>
          <p:cNvPr id="42" name="a3wd200_cell1688"/>
          <p:cNvSpPr txBox="1"/>
          <p:nvPr/>
        </p:nvSpPr>
        <p:spPr>
          <a:xfrm>
            <a:off x="5806440" y="1719072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</a:t>
            </a:r>
            <a:endParaRPr lang="en-US" dirty="0" sz="1000"/>
          </a:p>
        </p:txBody>
      </p:sp>
      <p:sp>
        <p:nvSpPr>
          <p:cNvPr id="43" name="a3fd200_log1689"/>
          <p:cNvSpPr txBox="1"/>
          <p:nvPr/>
        </p:nvSpPr>
        <p:spPr>
          <a:xfrm>
            <a:off x="640080" y="3730752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Kevin → also a customer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dirty="0" sz="1000"/>
          </a:p>
        </p:txBody>
      </p:sp>
      <p:sp>
        <p:nvSpPr>
          <p:cNvPr id="44" name="a4f_bdg1690"/>
          <p:cNvSpPr txBox="1"/>
          <p:nvPr/>
        </p:nvSpPr>
        <p:spPr>
          <a:xfrm>
            <a:off x="2249424" y="2249424"/>
            <a:ext cx="219456" cy="219456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900"/>
          </a:p>
        </p:txBody>
      </p:sp>
      <p:sp>
        <p:nvSpPr>
          <p:cNvPr id="45" name="a4fd150_ro1691"/>
          <p:cNvSpPr/>
          <p:nvPr/>
        </p:nvSpPr>
        <p:spPr>
          <a:xfrm>
            <a:off x="2496312" y="2240280"/>
            <a:ext cx="1773936" cy="2377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6" name="a4wd200_dot1692"/>
          <p:cNvSpPr/>
          <p:nvPr/>
        </p:nvSpPr>
        <p:spPr>
          <a:xfrm>
            <a:off x="4663440" y="204825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47" name="a4wd200_cell1693"/>
          <p:cNvSpPr txBox="1"/>
          <p:nvPr/>
        </p:nvSpPr>
        <p:spPr>
          <a:xfrm>
            <a:off x="4846320" y="1975104"/>
            <a:ext cx="960120" cy="256032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000"/>
          </a:p>
        </p:txBody>
      </p:sp>
      <p:sp>
        <p:nvSpPr>
          <p:cNvPr id="48" name="a4wd200_cell1694"/>
          <p:cNvSpPr txBox="1"/>
          <p:nvPr/>
        </p:nvSpPr>
        <p:spPr>
          <a:xfrm>
            <a:off x="5806440" y="1975104"/>
            <a:ext cx="960120" cy="256032"/>
          </a:xfrm>
          <a:prstGeom prst="rect">
            <a:avLst/>
          </a:prstGeom>
          <a:solidFill>
            <a:srgbClr val="FEF2F2"/>
          </a:solidFill>
          <a:ln w="9525">
            <a:solidFill>
              <a:srgbClr val="CBD5E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i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000"/>
          </a:p>
        </p:txBody>
      </p:sp>
      <p:sp>
        <p:nvSpPr>
          <p:cNvPr id="49" name="a4fd200_log1695"/>
          <p:cNvSpPr txBox="1"/>
          <p:nvPr/>
        </p:nvSpPr>
        <p:spPr>
          <a:xfrm>
            <a:off x="640080" y="3904488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Mary → also a customer → </a:t>
            </a:r>
            <a:r>
              <a:rPr sz="10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dirty="0" sz="1000"/>
          </a:p>
        </p:txBody>
      </p:sp>
      <p:sp>
        <p:nvSpPr>
          <p:cNvPr id="50" name="a5f_bdg1696"/>
          <p:cNvSpPr txBox="1"/>
          <p:nvPr/>
        </p:nvSpPr>
        <p:spPr>
          <a:xfrm>
            <a:off x="2249424" y="2505456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1" name="a5fd200_log1697"/>
          <p:cNvSpPr txBox="1"/>
          <p:nvPr/>
        </p:nvSpPr>
        <p:spPr>
          <a:xfrm>
            <a:off x="640080" y="4078224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Michael → not a customer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52" name="a6f_bdg1698"/>
          <p:cNvSpPr txBox="1"/>
          <p:nvPr/>
        </p:nvSpPr>
        <p:spPr>
          <a:xfrm>
            <a:off x="2249424" y="2761488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3" name="a6fd200_log1699"/>
          <p:cNvSpPr txBox="1"/>
          <p:nvPr/>
        </p:nvSpPr>
        <p:spPr>
          <a:xfrm>
            <a:off x="640080" y="4251960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Carol → not a customer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54" name="a7f_bdg1700"/>
          <p:cNvSpPr txBox="1"/>
          <p:nvPr/>
        </p:nvSpPr>
        <p:spPr>
          <a:xfrm>
            <a:off x="4306824" y="1737360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5" name="a7f_bdg1701"/>
          <p:cNvSpPr txBox="1"/>
          <p:nvPr/>
        </p:nvSpPr>
        <p:spPr>
          <a:xfrm>
            <a:off x="4306824" y="2505456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6" name="a7f_bdg1702"/>
          <p:cNvSpPr txBox="1"/>
          <p:nvPr/>
        </p:nvSpPr>
        <p:spPr>
          <a:xfrm>
            <a:off x="4306824" y="2761488"/>
            <a:ext cx="219456" cy="219456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900"/>
          </a:p>
        </p:txBody>
      </p:sp>
      <p:sp>
        <p:nvSpPr>
          <p:cNvPr id="57" name="a7fd200_log1703"/>
          <p:cNvSpPr txBox="1"/>
          <p:nvPr/>
        </p:nvSpPr>
        <p:spPr>
          <a:xfrm>
            <a:off x="640080" y="4425696"/>
            <a:ext cx="3886200" cy="17373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Joseph, Mark, Anna → only customers → </a:t>
            </a:r>
            <a:r>
              <a:rPr sz="10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</a:t>
            </a:r>
            <a:endParaRPr lang="en-US" dirty="0" sz="1000"/>
          </a:p>
        </p:txBody>
      </p:sp>
      <p:sp>
        <p:nvSpPr>
          <p:cNvPr id="58" name="a8u_tb1704"/>
          <p:cNvSpPr/>
          <p:nvPr/>
        </p:nvSpPr>
        <p:spPr>
          <a:xfrm>
            <a:off x="6995160" y="1188720"/>
            <a:ext cx="1691640" cy="1920240"/>
          </a:xfrm>
          <a:prstGeom prst="roundRect">
            <a:avLst>
              <a:gd name="adj" fmla="val 4324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59" name="a8u_tt1705"/>
          <p:cNvSpPr txBox="1"/>
          <p:nvPr/>
        </p:nvSpPr>
        <p:spPr>
          <a:xfrm>
            <a:off x="7132320" y="1188720"/>
            <a:ext cx="1463040" cy="19202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common rows survive. Swapping the queries gives the same result.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 in Real Projects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 cases for data analysis and data engineering</a:t>
            </a:r>
            <a:endParaRPr lang="en-US" dirty="0" sz="1300"/>
          </a:p>
        </p:txBody>
      </p:sp>
      <p:sp>
        <p:nvSpPr>
          <p:cNvPr id="4" name="a1u_c1706"/>
          <p:cNvSpPr/>
          <p:nvPr/>
        </p:nvSpPr>
        <p:spPr>
          <a:xfrm>
            <a:off x="45720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u_o1707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p/>
        </p:txBody>
      </p:sp>
      <p:pic>
        <p:nvPicPr>
          <p:cNvPr id="6" name="a1u_i1708" descr="63cef8796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618488"/>
            <a:ext cx="374904" cy="374904"/>
          </a:xfrm>
          <a:prstGeom prst="rect">
            <a:avLst/>
          </a:prstGeom>
        </p:spPr>
      </p:pic>
      <p:sp>
        <p:nvSpPr>
          <p:cNvPr id="7" name="a1u_h1709"/>
          <p:cNvSpPr txBox="1"/>
          <p:nvPr/>
        </p:nvSpPr>
        <p:spPr>
          <a:xfrm>
            <a:off x="73152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tables</a:t>
            </a:r>
            <a:endParaRPr lang="en-US" dirty="0" sz="1800"/>
          </a:p>
        </p:txBody>
      </p:sp>
      <p:sp>
        <p:nvSpPr>
          <p:cNvPr id="8" name="a1u_d1710"/>
          <p:cNvSpPr txBox="1"/>
          <p:nvPr/>
        </p:nvSpPr>
        <p:spPr>
          <a:xfrm>
            <a:off x="73152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tables with the same kind of data into one before analysis.</a:t>
            </a:r>
            <a:endParaRPr lang="en-US" dirty="0" sz="1300"/>
          </a:p>
        </p:txBody>
      </p:sp>
      <p:sp>
        <p:nvSpPr>
          <p:cNvPr id="9" name="a1u_box1711"/>
          <p:cNvSpPr txBox="1"/>
          <p:nvPr/>
        </p:nvSpPr>
        <p:spPr>
          <a:xfrm>
            <a:off x="731520" y="397764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· UNION ALL</a:t>
            </a:r>
            <a:endParaRPr lang="en-US" dirty="0" sz="1200"/>
          </a:p>
        </p:txBody>
      </p:sp>
      <p:sp>
        <p:nvSpPr>
          <p:cNvPr id="10" name="a2u_c1712"/>
          <p:cNvSpPr/>
          <p:nvPr/>
        </p:nvSpPr>
        <p:spPr>
          <a:xfrm>
            <a:off x="324612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a2u_o1713"/>
          <p:cNvSpPr/>
          <p:nvPr/>
        </p:nvSpPr>
        <p:spPr>
          <a:xfrm>
            <a:off x="3520440" y="1463040"/>
            <a:ext cx="685800" cy="685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pic>
        <p:nvPicPr>
          <p:cNvPr id="12" name="a2u_i1714" descr="0b1a107e6a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618488"/>
            <a:ext cx="374904" cy="374904"/>
          </a:xfrm>
          <a:prstGeom prst="rect">
            <a:avLst/>
          </a:prstGeom>
        </p:spPr>
      </p:pic>
      <p:sp>
        <p:nvSpPr>
          <p:cNvPr id="13" name="a2u_h1715"/>
          <p:cNvSpPr txBox="1"/>
          <p:nvPr/>
        </p:nvSpPr>
        <p:spPr>
          <a:xfrm>
            <a:off x="352044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delta</a:t>
            </a:r>
            <a:endParaRPr lang="en-US" dirty="0" sz="1800"/>
          </a:p>
        </p:txBody>
      </p:sp>
      <p:sp>
        <p:nvSpPr>
          <p:cNvPr id="14" name="a2u_d1716"/>
          <p:cNvSpPr txBox="1"/>
          <p:nvPr/>
        </p:nvSpPr>
        <p:spPr>
          <a:xfrm>
            <a:off x="352044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new batch with the previous load to find only new rows.</a:t>
            </a:r>
            <a:endParaRPr lang="en-US" dirty="0" sz="1300"/>
          </a:p>
        </p:txBody>
      </p:sp>
      <p:sp>
        <p:nvSpPr>
          <p:cNvPr id="15" name="a2u_box1717"/>
          <p:cNvSpPr txBox="1"/>
          <p:nvPr/>
        </p:nvSpPr>
        <p:spPr>
          <a:xfrm>
            <a:off x="3520440" y="397764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200"/>
          </a:p>
        </p:txBody>
      </p:sp>
      <p:sp>
        <p:nvSpPr>
          <p:cNvPr id="16" name="a3u_c1718"/>
          <p:cNvSpPr/>
          <p:nvPr/>
        </p:nvSpPr>
        <p:spPr>
          <a:xfrm>
            <a:off x="6035040" y="1234440"/>
            <a:ext cx="2606040" cy="347472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a3u_o1719"/>
          <p:cNvSpPr/>
          <p:nvPr/>
        </p:nvSpPr>
        <p:spPr>
          <a:xfrm>
            <a:off x="6309360" y="146304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pic>
        <p:nvPicPr>
          <p:cNvPr id="18" name="a3u_i1720" descr="2bc0d5d35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618488"/>
            <a:ext cx="374904" cy="374904"/>
          </a:xfrm>
          <a:prstGeom prst="rect">
            <a:avLst/>
          </a:prstGeom>
        </p:spPr>
      </p:pic>
      <p:sp>
        <p:nvSpPr>
          <p:cNvPr id="19" name="a3u_h1721"/>
          <p:cNvSpPr txBox="1"/>
          <p:nvPr/>
        </p:nvSpPr>
        <p:spPr>
          <a:xfrm>
            <a:off x="6309360" y="22860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completeness</a:t>
            </a:r>
            <a:endParaRPr lang="en-US" dirty="0" sz="1800"/>
          </a:p>
        </p:txBody>
      </p:sp>
      <p:sp>
        <p:nvSpPr>
          <p:cNvPr id="20" name="a3u_d1722"/>
          <p:cNvSpPr txBox="1"/>
          <p:nvPr/>
        </p:nvSpPr>
        <p:spPr>
          <a:xfrm>
            <a:off x="630936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migration, prove no rows are missing on either side.</a:t>
            </a:r>
            <a:endParaRPr lang="en-US" dirty="0" sz="1300"/>
          </a:p>
        </p:txBody>
      </p:sp>
      <p:sp>
        <p:nvSpPr>
          <p:cNvPr id="21" name="a3u_box1723"/>
          <p:cNvSpPr txBox="1"/>
          <p:nvPr/>
        </p:nvSpPr>
        <p:spPr>
          <a:xfrm>
            <a:off x="6309360" y="397764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(both ways)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 · Combine Similar Tables First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report that needs every person in the database</a:t>
            </a:r>
            <a:endParaRPr lang="en-US" dirty="0" sz="1300"/>
          </a:p>
        </p:txBody>
      </p:sp>
      <p:sp>
        <p:nvSpPr>
          <p:cNvPr id="4" name="a1f_pn1724"/>
          <p:cNvSpPr/>
          <p:nvPr/>
        </p:nvSpPr>
        <p:spPr>
          <a:xfrm>
            <a:off x="457200" y="1188720"/>
            <a:ext cx="3886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a1f_ph1725"/>
          <p:cNvSpPr txBox="1"/>
          <p:nvPr/>
        </p:nvSpPr>
        <p:spPr>
          <a:xfrm>
            <a:off x="6400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Four separate queries</a:t>
            </a:r>
            <a:endParaRPr lang="en-US" dirty="0" sz="1400"/>
          </a:p>
        </p:txBody>
      </p:sp>
      <p:sp>
        <p:nvSpPr>
          <p:cNvPr id="6" name="a1ud0_box1726"/>
          <p:cNvSpPr txBox="1"/>
          <p:nvPr/>
        </p:nvSpPr>
        <p:spPr>
          <a:xfrm>
            <a:off x="5943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dirty="0" sz="1000"/>
          </a:p>
        </p:txBody>
      </p:sp>
      <p:sp>
        <p:nvSpPr>
          <p:cNvPr id="7" name="a1ud100_box1727"/>
          <p:cNvSpPr txBox="1"/>
          <p:nvPr/>
        </p:nvSpPr>
        <p:spPr>
          <a:xfrm>
            <a:off x="15087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dirty="0" sz="1000"/>
          </a:p>
        </p:txBody>
      </p:sp>
      <p:sp>
        <p:nvSpPr>
          <p:cNvPr id="8" name="a1ud200_box1728"/>
          <p:cNvSpPr txBox="1"/>
          <p:nvPr/>
        </p:nvSpPr>
        <p:spPr>
          <a:xfrm>
            <a:off x="24231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dirty="0" sz="1000"/>
          </a:p>
        </p:txBody>
      </p:sp>
      <p:sp>
        <p:nvSpPr>
          <p:cNvPr id="9" name="a1ud300_box1729"/>
          <p:cNvSpPr txBox="1"/>
          <p:nvPr/>
        </p:nvSpPr>
        <p:spPr>
          <a:xfrm>
            <a:off x="33375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dirty="0" sz="1000"/>
          </a:p>
        </p:txBody>
      </p:sp>
      <p:sp>
        <p:nvSpPr>
          <p:cNvPr id="10" name="a3f_pn1730"/>
          <p:cNvSpPr/>
          <p:nvPr/>
        </p:nvSpPr>
        <p:spPr>
          <a:xfrm>
            <a:off x="4800600" y="1188720"/>
            <a:ext cx="3886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a3f_ph1731"/>
          <p:cNvSpPr txBox="1"/>
          <p:nvPr/>
        </p:nvSpPr>
        <p:spPr>
          <a:xfrm>
            <a:off x="4983480" y="12618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UNION first, then one query</a:t>
            </a:r>
            <a:endParaRPr lang="en-US" dirty="0" sz="1400"/>
          </a:p>
        </p:txBody>
      </p:sp>
      <p:sp>
        <p:nvSpPr>
          <p:cNvPr id="12" name="a3ud0_box1732"/>
          <p:cNvSpPr txBox="1"/>
          <p:nvPr/>
        </p:nvSpPr>
        <p:spPr>
          <a:xfrm>
            <a:off x="49377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dirty="0" sz="1000"/>
          </a:p>
        </p:txBody>
      </p:sp>
      <p:sp>
        <p:nvSpPr>
          <p:cNvPr id="13" name="a3ud100_box1733"/>
          <p:cNvSpPr txBox="1"/>
          <p:nvPr/>
        </p:nvSpPr>
        <p:spPr>
          <a:xfrm>
            <a:off x="58521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dirty="0" sz="1000"/>
          </a:p>
        </p:txBody>
      </p:sp>
      <p:sp>
        <p:nvSpPr>
          <p:cNvPr id="14" name="a3ud200_box1734"/>
          <p:cNvSpPr txBox="1"/>
          <p:nvPr/>
        </p:nvSpPr>
        <p:spPr>
          <a:xfrm>
            <a:off x="67665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dirty="0" sz="1000"/>
          </a:p>
        </p:txBody>
      </p:sp>
      <p:sp>
        <p:nvSpPr>
          <p:cNvPr id="15" name="a3ud300_box1735"/>
          <p:cNvSpPr txBox="1"/>
          <p:nvPr/>
        </p:nvSpPr>
        <p:spPr>
          <a:xfrm>
            <a:off x="7680960" y="1737360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dirty="0" sz="1000"/>
          </a:p>
        </p:txBody>
      </p:sp>
      <p:sp>
        <p:nvSpPr>
          <p:cNvPr id="16" name="a1fd500_conn1736"/>
          <p:cNvSpPr/>
          <p:nvPr/>
        </p:nvSpPr>
        <p:spPr>
          <a:xfrm>
            <a:off x="1014984" y="2103120"/>
            <a:ext cx="0" cy="274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a1fd600_box1737"/>
          <p:cNvSpPr txBox="1"/>
          <p:nvPr/>
        </p:nvSpPr>
        <p:spPr>
          <a:xfrm>
            <a:off x="594360" y="2395728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</a:t>
            </a:r>
            <a:endParaRPr lang="en-US" dirty="0" sz="1000"/>
          </a:p>
        </p:txBody>
      </p:sp>
      <p:sp>
        <p:nvSpPr>
          <p:cNvPr id="18" name="a2w_conn1738"/>
          <p:cNvSpPr/>
          <p:nvPr/>
        </p:nvSpPr>
        <p:spPr>
          <a:xfrm>
            <a:off x="1014984" y="2761488"/>
            <a:ext cx="1385316" cy="43891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a3wd500_conn1739"/>
          <p:cNvSpPr/>
          <p:nvPr/>
        </p:nvSpPr>
        <p:spPr>
          <a:xfrm>
            <a:off x="5358384" y="2103120"/>
            <a:ext cx="1385316" cy="29260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a1fd500_conn1740"/>
          <p:cNvSpPr/>
          <p:nvPr/>
        </p:nvSpPr>
        <p:spPr>
          <a:xfrm>
            <a:off x="1929384" y="2103120"/>
            <a:ext cx="0" cy="274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a1fd600_box1741"/>
          <p:cNvSpPr txBox="1"/>
          <p:nvPr/>
        </p:nvSpPr>
        <p:spPr>
          <a:xfrm>
            <a:off x="1508760" y="2395728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</a:t>
            </a:r>
            <a:endParaRPr lang="en-US" dirty="0" sz="1000"/>
          </a:p>
        </p:txBody>
      </p:sp>
      <p:sp>
        <p:nvSpPr>
          <p:cNvPr id="22" name="a2w_conn1742"/>
          <p:cNvSpPr/>
          <p:nvPr/>
        </p:nvSpPr>
        <p:spPr>
          <a:xfrm>
            <a:off x="1929384" y="2761488"/>
            <a:ext cx="470916" cy="43891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a3wd500_conn1743"/>
          <p:cNvSpPr/>
          <p:nvPr/>
        </p:nvSpPr>
        <p:spPr>
          <a:xfrm>
            <a:off x="6272784" y="2103120"/>
            <a:ext cx="470916" cy="29260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a1fd500_conn1744"/>
          <p:cNvSpPr/>
          <p:nvPr/>
        </p:nvSpPr>
        <p:spPr>
          <a:xfrm>
            <a:off x="2843784" y="2103120"/>
            <a:ext cx="0" cy="274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1fd600_box1745"/>
          <p:cNvSpPr txBox="1"/>
          <p:nvPr/>
        </p:nvSpPr>
        <p:spPr>
          <a:xfrm>
            <a:off x="2423160" y="2395728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</a:t>
            </a:r>
            <a:endParaRPr lang="en-US" dirty="0" sz="1000"/>
          </a:p>
        </p:txBody>
      </p:sp>
      <p:sp>
        <p:nvSpPr>
          <p:cNvPr id="26" name="a2w_conn1746"/>
          <p:cNvSpPr/>
          <p:nvPr/>
        </p:nvSpPr>
        <p:spPr>
          <a:xfrm flipH="1">
            <a:off x="2400300" y="2761488"/>
            <a:ext cx="443484" cy="43891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a3wd500_conn1747"/>
          <p:cNvSpPr/>
          <p:nvPr/>
        </p:nvSpPr>
        <p:spPr>
          <a:xfrm flipH="1">
            <a:off x="6743700" y="2103120"/>
            <a:ext cx="443484" cy="29260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1fd500_conn1748"/>
          <p:cNvSpPr/>
          <p:nvPr/>
        </p:nvSpPr>
        <p:spPr>
          <a:xfrm>
            <a:off x="3758184" y="2103120"/>
            <a:ext cx="0" cy="274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1fd600_box1749"/>
          <p:cNvSpPr txBox="1"/>
          <p:nvPr/>
        </p:nvSpPr>
        <p:spPr>
          <a:xfrm>
            <a:off x="3337560" y="2395728"/>
            <a:ext cx="841248" cy="347472"/>
          </a:xfrm>
          <a:prstGeom prst="roundRect">
            <a:avLst>
              <a:gd name="adj" fmla="val 15789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</a:t>
            </a:r>
            <a:endParaRPr lang="en-US" dirty="0" sz="1000"/>
          </a:p>
        </p:txBody>
      </p:sp>
      <p:sp>
        <p:nvSpPr>
          <p:cNvPr id="30" name="a2w_conn1750"/>
          <p:cNvSpPr/>
          <p:nvPr/>
        </p:nvSpPr>
        <p:spPr>
          <a:xfrm flipH="1">
            <a:off x="2400300" y="2761488"/>
            <a:ext cx="1357884" cy="43891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3wd500_conn1751"/>
          <p:cNvSpPr/>
          <p:nvPr/>
        </p:nvSpPr>
        <p:spPr>
          <a:xfrm flipH="1">
            <a:off x="6743700" y="2103120"/>
            <a:ext cx="1357884" cy="29260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2f_box1752"/>
          <p:cNvSpPr txBox="1"/>
          <p:nvPr/>
        </p:nvSpPr>
        <p:spPr>
          <a:xfrm>
            <a:off x="1805940" y="3218688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dirty="0" sz="1200"/>
          </a:p>
        </p:txBody>
      </p:sp>
      <p:sp>
        <p:nvSpPr>
          <p:cNvPr id="33" name="a2fd300_w1753"/>
          <p:cNvSpPr txBox="1"/>
          <p:nvPr/>
        </p:nvSpPr>
        <p:spPr>
          <a:xfrm>
            <a:off x="640080" y="374904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logic written 4 times — update one, forget another → inconsistent reports.</a:t>
            </a:r>
            <a:endParaRPr lang="en-US" dirty="0" sz="1200"/>
          </a:p>
        </p:txBody>
      </p:sp>
      <p:sp>
        <p:nvSpPr>
          <p:cNvPr id="34" name="a3fd700_box1754"/>
          <p:cNvSpPr txBox="1"/>
          <p:nvPr/>
        </p:nvSpPr>
        <p:spPr>
          <a:xfrm>
            <a:off x="6149340" y="2414016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200"/>
          </a:p>
        </p:txBody>
      </p:sp>
      <p:sp>
        <p:nvSpPr>
          <p:cNvPr id="35" name="a4f_conn1755"/>
          <p:cNvSpPr/>
          <p:nvPr/>
        </p:nvSpPr>
        <p:spPr>
          <a:xfrm>
            <a:off x="6743700" y="2761488"/>
            <a:ext cx="0" cy="16459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a4f_box1756"/>
          <p:cNvSpPr txBox="1"/>
          <p:nvPr/>
        </p:nvSpPr>
        <p:spPr>
          <a:xfrm>
            <a:off x="6012180" y="2944368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Persons</a:t>
            </a:r>
            <a:endParaRPr lang="en-US" dirty="0" sz="1200"/>
          </a:p>
        </p:txBody>
      </p:sp>
      <p:sp>
        <p:nvSpPr>
          <p:cNvPr id="37" name="a4fd200_conn1757"/>
          <p:cNvSpPr/>
          <p:nvPr/>
        </p:nvSpPr>
        <p:spPr>
          <a:xfrm>
            <a:off x="6743700" y="3291840"/>
            <a:ext cx="0" cy="10972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a4fd200_box1758"/>
          <p:cNvSpPr txBox="1"/>
          <p:nvPr/>
        </p:nvSpPr>
        <p:spPr>
          <a:xfrm>
            <a:off x="5783580" y="3419856"/>
            <a:ext cx="1920240" cy="329184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→ Report</a:t>
            </a:r>
            <a:endParaRPr lang="en-US" dirty="0" sz="1200"/>
          </a:p>
        </p:txBody>
      </p:sp>
      <p:sp>
        <p:nvSpPr>
          <p:cNvPr id="39" name="a4fd400_g1759"/>
          <p:cNvSpPr txBox="1"/>
          <p:nvPr/>
        </p:nvSpPr>
        <p:spPr>
          <a:xfrm>
            <a:off x="4983480" y="38404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change the logic — every person is always included.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6" grpId="0" animBg="1"/>
      <p:bldP spid="17" grpId="0" animBg="1"/>
      <p:bldP spid="20" grpId="0" animBg="1"/>
      <p:bldP spid="21" grpId="0" animBg="1"/>
      <p:bldP spid="24" grpId="0" animBg="1"/>
      <p:bldP spid="25" grpId="0" animBg="1"/>
      <p:bldP spid="28" grpId="0" animBg="1"/>
      <p:bldP spid="29" grpId="0" animBg="1"/>
      <p:bldP spid="18" grpId="0" animBg="1"/>
      <p:bldP spid="22" grpId="0" animBg="1"/>
      <p:bldP spid="26" grpId="0" animBg="1"/>
      <p:bldP spid="30" grpId="0" animBg="1"/>
      <p:bldP spid="32" grpId="0" animBg="1"/>
      <p:bldP spid="33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3" grpId="0" animBg="1"/>
      <p:bldP spid="27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 · Tables Split for Performance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tables are sometimes divided (e.g. by year) — combine them before analysis</a:t>
            </a:r>
            <a:endParaRPr lang="en-US" dirty="0" sz="1300"/>
          </a:p>
        </p:txBody>
      </p:sp>
      <p:sp>
        <p:nvSpPr>
          <p:cNvPr id="4" name="a1ud0_box1760"/>
          <p:cNvSpPr txBox="1"/>
          <p:nvPr/>
        </p:nvSpPr>
        <p:spPr>
          <a:xfrm>
            <a:off x="457200" y="141732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Orders_2022</a:t>
            </a:r>
            <a:endParaRPr lang="en-US" dirty="0" sz="1200"/>
          </a:p>
        </p:txBody>
      </p:sp>
      <p:sp>
        <p:nvSpPr>
          <p:cNvPr id="5" name="a2w_conn1761"/>
          <p:cNvSpPr/>
          <p:nvPr/>
        </p:nvSpPr>
        <p:spPr>
          <a:xfrm>
            <a:off x="2029968" y="1645920"/>
            <a:ext cx="576072" cy="6858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a1ud150_box1762"/>
          <p:cNvSpPr txBox="1"/>
          <p:nvPr/>
        </p:nvSpPr>
        <p:spPr>
          <a:xfrm>
            <a:off x="457200" y="210312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Orders_2023</a:t>
            </a:r>
            <a:endParaRPr lang="en-US" dirty="0" sz="1200"/>
          </a:p>
        </p:txBody>
      </p:sp>
      <p:sp>
        <p:nvSpPr>
          <p:cNvPr id="7" name="a2w_conn1763"/>
          <p:cNvSpPr/>
          <p:nvPr/>
        </p:nvSpPr>
        <p:spPr>
          <a:xfrm>
            <a:off x="2029968" y="2331720"/>
            <a:ext cx="576072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a1ud300_box1764"/>
          <p:cNvSpPr txBox="1"/>
          <p:nvPr/>
        </p:nvSpPr>
        <p:spPr>
          <a:xfrm>
            <a:off x="457200" y="278892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Orders_2024</a:t>
            </a:r>
            <a:endParaRPr lang="en-US" dirty="0" sz="1200"/>
          </a:p>
        </p:txBody>
      </p:sp>
      <p:sp>
        <p:nvSpPr>
          <p:cNvPr id="9" name="a2w_conn1765"/>
          <p:cNvSpPr/>
          <p:nvPr/>
        </p:nvSpPr>
        <p:spPr>
          <a:xfrm flipV="1">
            <a:off x="2029968" y="2331720"/>
            <a:ext cx="576072" cy="6858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a2fd300_box1766"/>
          <p:cNvSpPr txBox="1"/>
          <p:nvPr/>
        </p:nvSpPr>
        <p:spPr>
          <a:xfrm>
            <a:off x="2651760" y="210312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300"/>
          </a:p>
        </p:txBody>
      </p:sp>
      <p:sp>
        <p:nvSpPr>
          <p:cNvPr id="11" name="a2fd500_conn1767"/>
          <p:cNvSpPr/>
          <p:nvPr/>
        </p:nvSpPr>
        <p:spPr>
          <a:xfrm>
            <a:off x="3858768" y="2331720"/>
            <a:ext cx="484632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a2fd500_box1768"/>
          <p:cNvSpPr txBox="1"/>
          <p:nvPr/>
        </p:nvSpPr>
        <p:spPr>
          <a:xfrm>
            <a:off x="4389120" y="2103120"/>
            <a:ext cx="1280160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dirty="0" sz="1300"/>
          </a:p>
        </p:txBody>
      </p:sp>
      <p:sp>
        <p:nvSpPr>
          <p:cNvPr id="13" name="a3f_conn1769"/>
          <p:cNvSpPr/>
          <p:nvPr/>
        </p:nvSpPr>
        <p:spPr>
          <a:xfrm>
            <a:off x="5687568" y="2331720"/>
            <a:ext cx="438912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a3f_box1770"/>
          <p:cNvSpPr txBox="1"/>
          <p:nvPr/>
        </p:nvSpPr>
        <p:spPr>
          <a:xfrm>
            <a:off x="6172200" y="210312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query</a:t>
            </a:r>
            <a:endParaRPr lang="en-US" dirty="0" sz="1200"/>
          </a:p>
        </p:txBody>
      </p:sp>
      <p:sp>
        <p:nvSpPr>
          <p:cNvPr id="15" name="a3fd300_conn1771"/>
          <p:cNvSpPr/>
          <p:nvPr/>
        </p:nvSpPr>
        <p:spPr>
          <a:xfrm>
            <a:off x="7516368" y="2331720"/>
            <a:ext cx="393192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a3fd300_box1772"/>
          <p:cNvSpPr txBox="1"/>
          <p:nvPr/>
        </p:nvSpPr>
        <p:spPr>
          <a:xfrm>
            <a:off x="7955280" y="210312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dirty="0" sz="1200"/>
          </a:p>
        </p:txBody>
      </p:sp>
      <p:sp>
        <p:nvSpPr>
          <p:cNvPr id="17" name="a4f_codebg1773"/>
          <p:cNvSpPr/>
          <p:nvPr/>
        </p:nvSpPr>
        <p:spPr>
          <a:xfrm>
            <a:off x="457200" y="361188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4wd0_code1774"/>
          <p:cNvSpPr txBox="1"/>
          <p:nvPr/>
        </p:nvSpPr>
        <p:spPr>
          <a:xfrm>
            <a:off x="640080" y="374904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dirty="0" sz="1100"/>
          </a:p>
        </p:txBody>
      </p:sp>
      <p:sp>
        <p:nvSpPr>
          <p:cNvPr id="19" name="a4wd80_code1775"/>
          <p:cNvSpPr txBox="1"/>
          <p:nvPr/>
        </p:nvSpPr>
        <p:spPr>
          <a:xfrm>
            <a:off x="640080" y="393192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100"/>
          </a:p>
        </p:txBody>
      </p:sp>
      <p:sp>
        <p:nvSpPr>
          <p:cNvPr id="20" name="a4wd160_code1776"/>
          <p:cNvSpPr txBox="1"/>
          <p:nvPr/>
        </p:nvSpPr>
        <p:spPr>
          <a:xfrm>
            <a:off x="640080" y="411480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dirty="0" sz="1100"/>
          </a:p>
        </p:txBody>
      </p:sp>
      <p:sp>
        <p:nvSpPr>
          <p:cNvPr id="21" name="a4wd240_code1777"/>
          <p:cNvSpPr txBox="1"/>
          <p:nvPr/>
        </p:nvSpPr>
        <p:spPr>
          <a:xfrm>
            <a:off x="640080" y="429768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100"/>
          </a:p>
        </p:txBody>
      </p:sp>
      <p:sp>
        <p:nvSpPr>
          <p:cNvPr id="22" name="a4wd320_code1778"/>
          <p:cNvSpPr txBox="1"/>
          <p:nvPr/>
        </p:nvSpPr>
        <p:spPr>
          <a:xfrm>
            <a:off x="640080" y="448056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Orders_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23" name="a4fd400_t1779"/>
          <p:cNvSpPr txBox="1"/>
          <p:nvPr/>
        </p:nvSpPr>
        <p:spPr>
          <a:xfrm>
            <a:off x="5669280" y="3611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orders over time from one central result instead of querying each year separately.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5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 · In Practice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 </a:t>
            </a: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live in Orders and OrdersArchive. Combine all orders into one report without duplicates.</a:t>
            </a:r>
            <a:endParaRPr lang="en-US" dirty="0" sz="1300"/>
          </a:p>
        </p:txBody>
      </p:sp>
      <p:sp>
        <p:nvSpPr>
          <p:cNvPr id="4" name="a1f_codebg1780"/>
          <p:cNvSpPr/>
          <p:nvPr/>
        </p:nvSpPr>
        <p:spPr>
          <a:xfrm>
            <a:off x="457200" y="1554480"/>
            <a:ext cx="4069080" cy="3346704"/>
          </a:xfrm>
          <a:prstGeom prst="roundRect">
            <a:avLst>
              <a:gd name="adj" fmla="val 218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5" name="a1wd0_code1781"/>
          <p:cNvSpPr txBox="1"/>
          <p:nvPr/>
        </p:nvSpPr>
        <p:spPr>
          <a:xfrm>
            <a:off x="640080" y="1691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100"/>
          </a:p>
        </p:txBody>
      </p:sp>
      <p:sp>
        <p:nvSpPr>
          <p:cNvPr id="6" name="a3wd0_code1782"/>
          <p:cNvSpPr txBox="1"/>
          <p:nvPr/>
        </p:nvSpPr>
        <p:spPr>
          <a:xfrm>
            <a:off x="640080" y="19476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SourceTable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7" name="a1wd60_code1783"/>
          <p:cNvSpPr txBox="1"/>
          <p:nvPr/>
        </p:nvSpPr>
        <p:spPr>
          <a:xfrm>
            <a:off x="640080" y="22037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8" name="a1wd120_code1784"/>
          <p:cNvSpPr txBox="1"/>
          <p:nvPr/>
        </p:nvSpPr>
        <p:spPr>
          <a:xfrm>
            <a:off x="640080" y="24597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dirty="0" sz="1100"/>
          </a:p>
        </p:txBody>
      </p:sp>
      <p:sp>
        <p:nvSpPr>
          <p:cNvPr id="9" name="a1wd180_code1785"/>
          <p:cNvSpPr txBox="1"/>
          <p:nvPr/>
        </p:nvSpPr>
        <p:spPr>
          <a:xfrm>
            <a:off x="640080" y="2715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dirty="0" sz="1100"/>
          </a:p>
        </p:txBody>
      </p:sp>
      <p:sp>
        <p:nvSpPr>
          <p:cNvPr id="10" name="a1wd240_code1786"/>
          <p:cNvSpPr txBox="1"/>
          <p:nvPr/>
        </p:nvSpPr>
        <p:spPr>
          <a:xfrm>
            <a:off x="640080" y="2971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100"/>
          </a:p>
        </p:txBody>
      </p:sp>
      <p:sp>
        <p:nvSpPr>
          <p:cNvPr id="11" name="a1wd300_code1787"/>
          <p:cNvSpPr txBox="1"/>
          <p:nvPr/>
        </p:nvSpPr>
        <p:spPr>
          <a:xfrm>
            <a:off x="640080" y="3227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100"/>
          </a:p>
        </p:txBody>
      </p:sp>
      <p:sp>
        <p:nvSpPr>
          <p:cNvPr id="12" name="a3wd0_code1788"/>
          <p:cNvSpPr txBox="1"/>
          <p:nvPr/>
        </p:nvSpPr>
        <p:spPr>
          <a:xfrm>
            <a:off x="640080" y="3483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OrdersArchive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SourceTable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13" name="a1wd360_code1789"/>
          <p:cNvSpPr txBox="1"/>
          <p:nvPr/>
        </p:nvSpPr>
        <p:spPr>
          <a:xfrm>
            <a:off x="640080" y="37398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14" name="a1wd420_code1790"/>
          <p:cNvSpPr txBox="1"/>
          <p:nvPr/>
        </p:nvSpPr>
        <p:spPr>
          <a:xfrm>
            <a:off x="640080" y="39959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dirty="0" sz="1100"/>
          </a:p>
        </p:txBody>
      </p:sp>
      <p:sp>
        <p:nvSpPr>
          <p:cNvPr id="15" name="a1wd480_code1791"/>
          <p:cNvSpPr txBox="1"/>
          <p:nvPr/>
        </p:nvSpPr>
        <p:spPr>
          <a:xfrm>
            <a:off x="640080" y="4251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OrdersArchive</a:t>
            </a:r>
            <a:endParaRPr lang="en-US" dirty="0" sz="1100"/>
          </a:p>
        </p:txBody>
      </p:sp>
      <p:sp>
        <p:nvSpPr>
          <p:cNvPr id="16" name="a4wd0_code1792"/>
          <p:cNvSpPr txBox="1"/>
          <p:nvPr/>
        </p:nvSpPr>
        <p:spPr>
          <a:xfrm>
            <a:off x="640080" y="45079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OrderID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17" name="a2u_c1793"/>
          <p:cNvSpPr/>
          <p:nvPr/>
        </p:nvSpPr>
        <p:spPr>
          <a:xfrm>
            <a:off x="4754880" y="155448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a2u_box1794"/>
          <p:cNvSpPr txBox="1"/>
          <p:nvPr/>
        </p:nvSpPr>
        <p:spPr>
          <a:xfrm>
            <a:off x="4892040" y="18288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400"/>
          </a:p>
        </p:txBody>
      </p:sp>
      <p:sp>
        <p:nvSpPr>
          <p:cNvPr id="19" name="a2u_t1795"/>
          <p:cNvSpPr txBox="1"/>
          <p:nvPr/>
        </p:nvSpPr>
        <p:spPr>
          <a:xfrm>
            <a:off x="5440680" y="155448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columns — avoid SELECT *</a:t>
            </a:r>
            <a:endParaRPr lang="en-US" dirty="0" sz="13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table's schema changes (e.g. two columns swap), * silently mixes OrderIDs with ProductIDs.</a:t>
            </a:r>
            <a:endParaRPr lang="en-US" dirty="0" sz="1300"/>
          </a:p>
        </p:txBody>
      </p:sp>
      <p:sp>
        <p:nvSpPr>
          <p:cNvPr id="20" name="a3u_c1796"/>
          <p:cNvSpPr/>
          <p:nvPr/>
        </p:nvSpPr>
        <p:spPr>
          <a:xfrm>
            <a:off x="4754880" y="263347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a3u_box1797"/>
          <p:cNvSpPr txBox="1"/>
          <p:nvPr/>
        </p:nvSpPr>
        <p:spPr>
          <a:xfrm>
            <a:off x="4892040" y="2907792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400"/>
          </a:p>
        </p:txBody>
      </p:sp>
      <p:sp>
        <p:nvSpPr>
          <p:cNvPr id="22" name="a3u_t1798"/>
          <p:cNvSpPr txBox="1"/>
          <p:nvPr/>
        </p:nvSpPr>
        <p:spPr>
          <a:xfrm>
            <a:off x="5440680" y="263347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SourceTable column</a:t>
            </a:r>
            <a:endParaRPr lang="en-US" dirty="0" sz="13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OrderID 1 can exist in both tables. A static label shows where each row came from.</a:t>
            </a:r>
            <a:endParaRPr lang="en-US" dirty="0" sz="1300"/>
          </a:p>
        </p:txBody>
      </p:sp>
      <p:sp>
        <p:nvSpPr>
          <p:cNvPr id="23" name="a4u_c1799"/>
          <p:cNvSpPr/>
          <p:nvPr/>
        </p:nvSpPr>
        <p:spPr>
          <a:xfrm>
            <a:off x="4754880" y="3712464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a4u_box1800"/>
          <p:cNvSpPr txBox="1"/>
          <p:nvPr/>
        </p:nvSpPr>
        <p:spPr>
          <a:xfrm>
            <a:off x="4892040" y="3986784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400"/>
          </a:p>
        </p:txBody>
      </p:sp>
      <p:sp>
        <p:nvSpPr>
          <p:cNvPr id="25" name="a4u_t1801"/>
          <p:cNvSpPr txBox="1"/>
          <p:nvPr/>
        </p:nvSpPr>
        <p:spPr>
          <a:xfrm>
            <a:off x="5440680" y="3712464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once, at the end</a:t>
            </a:r>
            <a:endParaRPr lang="en-US" dirty="0" sz="1300"/>
          </a:p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OrderID after the last query puts both sources side by side.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6" grpId="0" animBg="1"/>
      <p:bldP spid="12" grpId="0" animBg="1"/>
      <p:bldP spid="20" grpId="0" animBg="1"/>
      <p:bldP spid="21" grpId="0" animBg="1"/>
      <p:bldP spid="22" grpId="0" animBg="1"/>
      <p:bldP spid="16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 · Find the Delta With EXCEPT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pipelines load only what's new since the previous load</a:t>
            </a:r>
            <a:endParaRPr lang="en-US" dirty="0" sz="1300"/>
          </a:p>
        </p:txBody>
      </p:sp>
      <p:sp>
        <p:nvSpPr>
          <p:cNvPr id="4" name="a1f_d11802"/>
          <p:cNvSpPr txBox="1"/>
          <p:nvPr/>
        </p:nvSpPr>
        <p:spPr>
          <a:xfrm>
            <a:off x="45720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dirty="0" sz="1500"/>
          </a:p>
        </p:txBody>
      </p:sp>
      <p:sp>
        <p:nvSpPr>
          <p:cNvPr id="5" name="a1f_l1803"/>
          <p:cNvSpPr txBox="1"/>
          <p:nvPr/>
        </p:nvSpPr>
        <p:spPr>
          <a:xfrm>
            <a:off x="1325880" y="1097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dirty="0" sz="1000"/>
          </a:p>
        </p:txBody>
      </p:sp>
      <p:sp>
        <p:nvSpPr>
          <p:cNvPr id="6" name="a1f_box1804"/>
          <p:cNvSpPr txBox="1"/>
          <p:nvPr/>
        </p:nvSpPr>
        <p:spPr>
          <a:xfrm>
            <a:off x="13258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300"/>
          </a:p>
        </p:txBody>
      </p:sp>
      <p:sp>
        <p:nvSpPr>
          <p:cNvPr id="7" name="a1f_box1805"/>
          <p:cNvSpPr txBox="1"/>
          <p:nvPr/>
        </p:nvSpPr>
        <p:spPr>
          <a:xfrm>
            <a:off x="17830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CCFBF1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300"/>
          </a:p>
        </p:txBody>
      </p:sp>
      <p:sp>
        <p:nvSpPr>
          <p:cNvPr id="8" name="a1wd200_conn1806"/>
          <p:cNvSpPr/>
          <p:nvPr/>
        </p:nvSpPr>
        <p:spPr>
          <a:xfrm>
            <a:off x="2286000" y="1517904"/>
            <a:ext cx="155448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a1fd200_l1807"/>
          <p:cNvSpPr txBox="1"/>
          <p:nvPr/>
        </p:nvSpPr>
        <p:spPr>
          <a:xfrm>
            <a:off x="2286000" y="1188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everything</a:t>
            </a:r>
            <a:endParaRPr lang="en-US" dirty="0" sz="1000"/>
          </a:p>
        </p:txBody>
      </p:sp>
      <p:sp>
        <p:nvSpPr>
          <p:cNvPr id="10" name="a1fd400_l1808"/>
          <p:cNvSpPr txBox="1"/>
          <p:nvPr/>
        </p:nvSpPr>
        <p:spPr>
          <a:xfrm>
            <a:off x="3931920" y="1097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dirty="0" sz="1000"/>
          </a:p>
        </p:txBody>
      </p:sp>
      <p:sp>
        <p:nvSpPr>
          <p:cNvPr id="11" name="a1fd400_box1809"/>
          <p:cNvSpPr txBox="1"/>
          <p:nvPr/>
        </p:nvSpPr>
        <p:spPr>
          <a:xfrm>
            <a:off x="393192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300"/>
          </a:p>
        </p:txBody>
      </p:sp>
      <p:sp>
        <p:nvSpPr>
          <p:cNvPr id="12" name="a1fd400_box1810"/>
          <p:cNvSpPr txBox="1"/>
          <p:nvPr/>
        </p:nvSpPr>
        <p:spPr>
          <a:xfrm>
            <a:off x="438912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300"/>
          </a:p>
        </p:txBody>
      </p:sp>
      <p:sp>
        <p:nvSpPr>
          <p:cNvPr id="13" name="a2f_d21811"/>
          <p:cNvSpPr txBox="1"/>
          <p:nvPr/>
        </p:nvSpPr>
        <p:spPr>
          <a:xfrm>
            <a:off x="457200" y="2514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dirty="0" sz="1500"/>
          </a:p>
        </p:txBody>
      </p:sp>
      <p:sp>
        <p:nvSpPr>
          <p:cNvPr id="14" name="a2f_l1812"/>
          <p:cNvSpPr txBox="1"/>
          <p:nvPr/>
        </p:nvSpPr>
        <p:spPr>
          <a:xfrm>
            <a:off x="1325880" y="2286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dirty="0" sz="1000"/>
          </a:p>
        </p:txBody>
      </p:sp>
      <p:sp>
        <p:nvSpPr>
          <p:cNvPr id="15" name="a2f_box1813"/>
          <p:cNvSpPr txBox="1"/>
          <p:nvPr/>
        </p:nvSpPr>
        <p:spPr>
          <a:xfrm>
            <a:off x="132588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300"/>
          </a:p>
        </p:txBody>
      </p:sp>
      <p:sp>
        <p:nvSpPr>
          <p:cNvPr id="16" name="a2f_box1814"/>
          <p:cNvSpPr txBox="1"/>
          <p:nvPr/>
        </p:nvSpPr>
        <p:spPr>
          <a:xfrm>
            <a:off x="178308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300"/>
          </a:p>
        </p:txBody>
      </p:sp>
      <p:sp>
        <p:nvSpPr>
          <p:cNvPr id="17" name="a3f_box1815"/>
          <p:cNvSpPr txBox="1"/>
          <p:nvPr/>
        </p:nvSpPr>
        <p:spPr>
          <a:xfrm>
            <a:off x="2377440" y="251460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Day 1</a:t>
            </a:r>
            <a:endParaRPr lang="en-US" dirty="0" sz="1100"/>
          </a:p>
        </p:txBody>
      </p:sp>
      <p:sp>
        <p:nvSpPr>
          <p:cNvPr id="18" name="a3fd200_conn1816"/>
          <p:cNvSpPr/>
          <p:nvPr/>
        </p:nvSpPr>
        <p:spPr>
          <a:xfrm>
            <a:off x="3794760" y="2706624"/>
            <a:ext cx="502920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a3fd300_l1817"/>
          <p:cNvSpPr txBox="1"/>
          <p:nvPr/>
        </p:nvSpPr>
        <p:spPr>
          <a:xfrm>
            <a:off x="4343400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dirty="0" sz="1000"/>
          </a:p>
        </p:txBody>
      </p:sp>
      <p:sp>
        <p:nvSpPr>
          <p:cNvPr id="20" name="a3fd300_box1818"/>
          <p:cNvSpPr txBox="1"/>
          <p:nvPr/>
        </p:nvSpPr>
        <p:spPr>
          <a:xfrm>
            <a:off x="434340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300"/>
          </a:p>
        </p:txBody>
      </p:sp>
      <p:sp>
        <p:nvSpPr>
          <p:cNvPr id="21" name="a4f_conn1819"/>
          <p:cNvSpPr/>
          <p:nvPr/>
        </p:nvSpPr>
        <p:spPr>
          <a:xfrm>
            <a:off x="4773168" y="2706624"/>
            <a:ext cx="667512" cy="91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a4f_l1820"/>
          <p:cNvSpPr txBox="1"/>
          <p:nvPr/>
        </p:nvSpPr>
        <p:spPr>
          <a:xfrm>
            <a:off x="4754880" y="23957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dirty="0" sz="1000"/>
          </a:p>
        </p:txBody>
      </p:sp>
      <p:sp>
        <p:nvSpPr>
          <p:cNvPr id="23" name="a4fd200_l1821"/>
          <p:cNvSpPr txBox="1"/>
          <p:nvPr/>
        </p:nvSpPr>
        <p:spPr>
          <a:xfrm>
            <a:off x="5486400" y="2286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dirty="0" sz="1000"/>
          </a:p>
        </p:txBody>
      </p:sp>
      <p:sp>
        <p:nvSpPr>
          <p:cNvPr id="24" name="a4fd200_box1822"/>
          <p:cNvSpPr txBox="1"/>
          <p:nvPr/>
        </p:nvSpPr>
        <p:spPr>
          <a:xfrm>
            <a:off x="548640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300"/>
          </a:p>
        </p:txBody>
      </p:sp>
      <p:sp>
        <p:nvSpPr>
          <p:cNvPr id="25" name="a4fd200_box1823"/>
          <p:cNvSpPr txBox="1"/>
          <p:nvPr/>
        </p:nvSpPr>
        <p:spPr>
          <a:xfrm>
            <a:off x="594360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93B"/>
          </a:solidFill>
          <a:ln w="12700">
            <a:solidFill>
              <a:srgbClr val="1E293B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300"/>
          </a:p>
        </p:txBody>
      </p:sp>
      <p:sp>
        <p:nvSpPr>
          <p:cNvPr id="26" name="a4fd400_box1824"/>
          <p:cNvSpPr txBox="1"/>
          <p:nvPr/>
        </p:nvSpPr>
        <p:spPr>
          <a:xfrm>
            <a:off x="6400800" y="25146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300"/>
          </a:p>
        </p:txBody>
      </p:sp>
      <p:sp>
        <p:nvSpPr>
          <p:cNvPr id="27" name="a5f_codebg1825"/>
          <p:cNvSpPr/>
          <p:nvPr/>
        </p:nvSpPr>
        <p:spPr>
          <a:xfrm>
            <a:off x="457200" y="3429000"/>
            <a:ext cx="4572000" cy="1261872"/>
          </a:xfrm>
          <a:prstGeom prst="roundRect">
            <a:avLst>
              <a:gd name="adj" fmla="val 579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28" name="a5wd0_code1826"/>
          <p:cNvSpPr txBox="1"/>
          <p:nvPr/>
        </p:nvSpPr>
        <p:spPr>
          <a:xfrm>
            <a:off x="640080" y="3566160"/>
            <a:ext cx="425196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Customers_Day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dirty="0" sz="1100"/>
          </a:p>
        </p:txBody>
      </p:sp>
      <p:sp>
        <p:nvSpPr>
          <p:cNvPr id="29" name="a5wd100_code1827"/>
          <p:cNvSpPr txBox="1"/>
          <p:nvPr/>
        </p:nvSpPr>
        <p:spPr>
          <a:xfrm>
            <a:off x="640080" y="3813048"/>
            <a:ext cx="425196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100"/>
          </a:p>
        </p:txBody>
      </p:sp>
      <p:sp>
        <p:nvSpPr>
          <p:cNvPr id="30" name="a5wd200_code1828"/>
          <p:cNvSpPr txBox="1"/>
          <p:nvPr/>
        </p:nvSpPr>
        <p:spPr>
          <a:xfrm>
            <a:off x="640080" y="4059936"/>
            <a:ext cx="425196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Customers_Day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31" name="a5wd300_code1829"/>
          <p:cNvSpPr txBox="1"/>
          <p:nvPr/>
        </p:nvSpPr>
        <p:spPr>
          <a:xfrm>
            <a:off x="640080" y="4306824"/>
            <a:ext cx="425196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dirty="0" sz="1100"/>
          </a:p>
        </p:txBody>
      </p:sp>
      <p:sp>
        <p:nvSpPr>
          <p:cNvPr id="32" name="a5fd300_t1830"/>
          <p:cNvSpPr txBox="1"/>
          <p:nvPr/>
        </p:nvSpPr>
        <p:spPr>
          <a:xfrm>
            <a:off x="5303520" y="3429000"/>
            <a:ext cx="3383280" cy="12618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 was already loaded, so only customer 3 is inserted — no duplicates in the warehouse.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3 · Check Migration Completeness</a:t>
            </a:r>
            <a:endParaRPr lang="en-US" dirty="0" sz="280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EXCEPT in both directions — both results should be empty</a:t>
            </a:r>
            <a:endParaRPr lang="en-US" dirty="0" sz="1300"/>
          </a:p>
        </p:txBody>
      </p:sp>
      <p:sp>
        <p:nvSpPr>
          <p:cNvPr id="4" name="a1f_dbA1831"/>
          <p:cNvSpPr/>
          <p:nvPr/>
        </p:nvSpPr>
        <p:spPr>
          <a:xfrm>
            <a:off x="1828800" y="1143000"/>
            <a:ext cx="1188720" cy="868680"/>
          </a:xfrm>
          <a:prstGeom prst="can">
            <a:avLst/>
          </a:prstGeom>
          <a:solidFill>
            <a:srgbClr val="CCFBF1"/>
          </a:solidFill>
          <a:ln w="19050">
            <a:solidFill>
              <a:srgbClr val="14B8A6"/>
            </a:solidFill>
            <a:prstDash val="solid"/>
          </a:ln>
        </p:spPr>
        <p:txBody>
          <a:bodyPr/>
          <a:p/>
        </p:txBody>
      </p:sp>
      <p:sp>
        <p:nvSpPr>
          <p:cNvPr id="5" name="a1f_la1832"/>
          <p:cNvSpPr txBox="1"/>
          <p:nvPr/>
        </p:nvSpPr>
        <p:spPr>
          <a:xfrm>
            <a:off x="155448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</a:t>
            </a:r>
            <a:endParaRPr lang="en-US" dirty="0" sz="1200"/>
          </a:p>
        </p:txBody>
      </p:sp>
      <p:sp>
        <p:nvSpPr>
          <p:cNvPr id="6" name="a1wd200_conn1833"/>
          <p:cNvSpPr/>
          <p:nvPr/>
        </p:nvSpPr>
        <p:spPr>
          <a:xfrm>
            <a:off x="3154680" y="1572768"/>
            <a:ext cx="2377440" cy="914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a1fd200_m1834"/>
          <p:cNvSpPr txBox="1"/>
          <p:nvPr/>
        </p:nvSpPr>
        <p:spPr>
          <a:xfrm>
            <a:off x="315468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Customers table</a:t>
            </a:r>
            <a:endParaRPr lang="en-US" dirty="0" sz="1100"/>
          </a:p>
        </p:txBody>
      </p:sp>
      <p:sp>
        <p:nvSpPr>
          <p:cNvPr id="8" name="a1fd400_dbB1835"/>
          <p:cNvSpPr/>
          <p:nvPr/>
        </p:nvSpPr>
        <p:spPr>
          <a:xfrm>
            <a:off x="5669280" y="1143000"/>
            <a:ext cx="1188720" cy="868680"/>
          </a:xfrm>
          <a:prstGeom prst="can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a1fd400_lb1836"/>
          <p:cNvSpPr txBox="1"/>
          <p:nvPr/>
        </p:nvSpPr>
        <p:spPr>
          <a:xfrm>
            <a:off x="539496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</a:t>
            </a:r>
            <a:endParaRPr lang="en-US" dirty="0" sz="1200"/>
          </a:p>
        </p:txBody>
      </p:sp>
      <p:sp>
        <p:nvSpPr>
          <p:cNvPr id="10" name="a2f_h1837"/>
          <p:cNvSpPr txBox="1"/>
          <p:nvPr/>
        </p:nvSpPr>
        <p:spPr>
          <a:xfrm>
            <a:off x="45720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1 · anything missing in B?</a:t>
            </a:r>
            <a:endParaRPr lang="en-US" dirty="0" sz="1300"/>
          </a:p>
        </p:txBody>
      </p:sp>
      <p:sp>
        <p:nvSpPr>
          <p:cNvPr id="11" name="a2f_codebg1838"/>
          <p:cNvSpPr/>
          <p:nvPr/>
        </p:nvSpPr>
        <p:spPr>
          <a:xfrm>
            <a:off x="457200" y="2560320"/>
            <a:ext cx="40233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2" name="a2wd0_code1839"/>
          <p:cNvSpPr txBox="1"/>
          <p:nvPr/>
        </p:nvSpPr>
        <p:spPr>
          <a:xfrm>
            <a:off x="640080" y="26974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DatabaseA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dbo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050"/>
          </a:p>
        </p:txBody>
      </p:sp>
      <p:sp>
        <p:nvSpPr>
          <p:cNvPr id="13" name="a2wd100_code1840"/>
          <p:cNvSpPr txBox="1"/>
          <p:nvPr/>
        </p:nvSpPr>
        <p:spPr>
          <a:xfrm>
            <a:off x="640080" y="293522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050"/>
          </a:p>
        </p:txBody>
      </p:sp>
      <p:sp>
        <p:nvSpPr>
          <p:cNvPr id="14" name="a2wd200_code1841"/>
          <p:cNvSpPr txBox="1"/>
          <p:nvPr/>
        </p:nvSpPr>
        <p:spPr>
          <a:xfrm>
            <a:off x="640080" y="317296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DatabaseB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dbo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050"/>
          </a:p>
        </p:txBody>
      </p:sp>
      <p:sp>
        <p:nvSpPr>
          <p:cNvPr id="15" name="a2fd500_box1842"/>
          <p:cNvSpPr txBox="1"/>
          <p:nvPr/>
        </p:nvSpPr>
        <p:spPr>
          <a:xfrm>
            <a:off x="457200" y="361188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0 rows returned</a:t>
            </a:r>
            <a:endParaRPr lang="en-US" dirty="0" sz="1200"/>
          </a:p>
        </p:txBody>
      </p:sp>
      <p:sp>
        <p:nvSpPr>
          <p:cNvPr id="16" name="a3f_h1843"/>
          <p:cNvSpPr txBox="1"/>
          <p:nvPr/>
        </p:nvSpPr>
        <p:spPr>
          <a:xfrm>
            <a:off x="4663440" y="2240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2 · anything extra in B?</a:t>
            </a:r>
            <a:endParaRPr lang="en-US" dirty="0" sz="1300"/>
          </a:p>
        </p:txBody>
      </p:sp>
      <p:sp>
        <p:nvSpPr>
          <p:cNvPr id="17" name="a3f_codebg1844"/>
          <p:cNvSpPr/>
          <p:nvPr/>
        </p:nvSpPr>
        <p:spPr>
          <a:xfrm>
            <a:off x="4663440" y="2560320"/>
            <a:ext cx="40233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18" name="a3wd0_code1845"/>
          <p:cNvSpPr txBox="1"/>
          <p:nvPr/>
        </p:nvSpPr>
        <p:spPr>
          <a:xfrm>
            <a:off x="4846320" y="26974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DatabaseB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dbo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050"/>
          </a:p>
        </p:txBody>
      </p:sp>
      <p:sp>
        <p:nvSpPr>
          <p:cNvPr id="19" name="a3wd100_code1846"/>
          <p:cNvSpPr txBox="1"/>
          <p:nvPr/>
        </p:nvSpPr>
        <p:spPr>
          <a:xfrm>
            <a:off x="4846320" y="293522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050"/>
          </a:p>
        </p:txBody>
      </p:sp>
      <p:sp>
        <p:nvSpPr>
          <p:cNvPr id="20" name="a3wd200_code1847"/>
          <p:cNvSpPr txBox="1"/>
          <p:nvPr/>
        </p:nvSpPr>
        <p:spPr>
          <a:xfrm>
            <a:off x="4846320" y="317296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F9A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DatabaseA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dbo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05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050"/>
          </a:p>
        </p:txBody>
      </p:sp>
      <p:sp>
        <p:nvSpPr>
          <p:cNvPr id="21" name="a3fd500_box1848"/>
          <p:cNvSpPr txBox="1"/>
          <p:nvPr/>
        </p:nvSpPr>
        <p:spPr>
          <a:xfrm>
            <a:off x="4663440" y="361188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0 rows returned</a:t>
            </a:r>
            <a:endParaRPr lang="en-US" dirty="0" sz="1200"/>
          </a:p>
        </p:txBody>
      </p:sp>
      <p:sp>
        <p:nvSpPr>
          <p:cNvPr id="22" name="a4u_ok1849"/>
          <p:cNvSpPr/>
          <p:nvPr/>
        </p:nvSpPr>
        <p:spPr>
          <a:xfrm>
            <a:off x="457200" y="416052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23" name="a4u_okt1850"/>
          <p:cNvSpPr txBox="1"/>
          <p:nvPr/>
        </p:nvSpPr>
        <p:spPr>
          <a:xfrm>
            <a:off x="685800" y="4160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checks empty → the two tables are identical. Nothing was lost or added during migration.</a:t>
            </a:r>
            <a:endParaRPr lang="en-US" dirty="0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Set Operators at a Glance</a:t>
            </a:r>
            <a:endParaRPr lang="en-US" dirty="0" sz="2800"/>
          </a:p>
        </p:txBody>
      </p:sp>
      <p:sp>
        <p:nvSpPr>
          <p:cNvPr id="3" name="a1u_c1851"/>
          <p:cNvSpPr/>
          <p:nvPr/>
        </p:nvSpPr>
        <p:spPr>
          <a:xfrm>
            <a:off x="457200" y="914400"/>
            <a:ext cx="1920240" cy="31546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4" name="a1u_sv1852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24128"/>
            <a:ext cx="1463040" cy="926592"/>
          </a:xfrm>
          <a:prstGeom prst="rect">
            <a:avLst/>
          </a:prstGeom>
        </p:spPr>
      </p:pic>
      <p:sp>
        <p:nvSpPr>
          <p:cNvPr id="5" name="a1u_n1853"/>
          <p:cNvSpPr txBox="1"/>
          <p:nvPr/>
        </p:nvSpPr>
        <p:spPr>
          <a:xfrm>
            <a:off x="548640" y="19842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endParaRPr lang="en-US" dirty="0" sz="1500"/>
          </a:p>
        </p:txBody>
      </p:sp>
      <p:sp>
        <p:nvSpPr>
          <p:cNvPr id="6" name="a1u_b1854"/>
          <p:cNvSpPr txBox="1"/>
          <p:nvPr/>
        </p:nvSpPr>
        <p:spPr>
          <a:xfrm>
            <a:off x="640080" y="23774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from both</a:t>
            </a:r>
            <a:endParaRPr lang="en-US" dirty="0" sz="1000"/>
          </a:p>
        </p:txBody>
      </p:sp>
      <p:sp>
        <p:nvSpPr>
          <p:cNvPr id="7" name="a1u_b1855"/>
          <p:cNvSpPr txBox="1"/>
          <p:nvPr/>
        </p:nvSpPr>
        <p:spPr>
          <a:xfrm>
            <a:off x="640080" y="29077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dirty="0" sz="1000"/>
          </a:p>
        </p:txBody>
      </p:sp>
      <p:sp>
        <p:nvSpPr>
          <p:cNvPr id="8" name="a1u_b1856"/>
          <p:cNvSpPr txBox="1"/>
          <p:nvPr/>
        </p:nvSpPr>
        <p:spPr>
          <a:xfrm>
            <a:off x="640080" y="34381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9" name="a2u_c1857"/>
          <p:cNvSpPr/>
          <p:nvPr/>
        </p:nvSpPr>
        <p:spPr>
          <a:xfrm>
            <a:off x="2560320" y="914400"/>
            <a:ext cx="1920240" cy="31546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0" name="a2u_sv1858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024128"/>
            <a:ext cx="1463040" cy="926592"/>
          </a:xfrm>
          <a:prstGeom prst="rect">
            <a:avLst/>
          </a:prstGeom>
        </p:spPr>
      </p:pic>
      <p:sp>
        <p:nvSpPr>
          <p:cNvPr id="11" name="a2u_n1859"/>
          <p:cNvSpPr txBox="1"/>
          <p:nvPr/>
        </p:nvSpPr>
        <p:spPr>
          <a:xfrm>
            <a:off x="2651760" y="19842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endParaRPr lang="en-US" dirty="0" sz="1500"/>
          </a:p>
        </p:txBody>
      </p:sp>
      <p:sp>
        <p:nvSpPr>
          <p:cNvPr id="12" name="a2u_b1860"/>
          <p:cNvSpPr txBox="1"/>
          <p:nvPr/>
        </p:nvSpPr>
        <p:spPr>
          <a:xfrm>
            <a:off x="2743200" y="23774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rows from both</a:t>
            </a:r>
            <a:endParaRPr lang="en-US" dirty="0" sz="1000"/>
          </a:p>
        </p:txBody>
      </p:sp>
      <p:sp>
        <p:nvSpPr>
          <p:cNvPr id="13" name="a2u_b1861"/>
          <p:cNvSpPr txBox="1"/>
          <p:nvPr/>
        </p:nvSpPr>
        <p:spPr>
          <a:xfrm>
            <a:off x="2743200" y="29077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(fastest)</a:t>
            </a:r>
            <a:endParaRPr lang="en-US" dirty="0" sz="1000"/>
          </a:p>
        </p:txBody>
      </p:sp>
      <p:sp>
        <p:nvSpPr>
          <p:cNvPr id="14" name="a2u_b1862"/>
          <p:cNvSpPr txBox="1"/>
          <p:nvPr/>
        </p:nvSpPr>
        <p:spPr>
          <a:xfrm>
            <a:off x="2743200" y="34381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15" name="a3u_c1863"/>
          <p:cNvSpPr/>
          <p:nvPr/>
        </p:nvSpPr>
        <p:spPr>
          <a:xfrm>
            <a:off x="4663440" y="914400"/>
            <a:ext cx="1920240" cy="31546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16" name="a3u_sv1864" descr="678de5af87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024128"/>
            <a:ext cx="1463040" cy="926592"/>
          </a:xfrm>
          <a:prstGeom prst="rect">
            <a:avLst/>
          </a:prstGeom>
        </p:spPr>
      </p:pic>
      <p:sp>
        <p:nvSpPr>
          <p:cNvPr id="17" name="a3u_n1865"/>
          <p:cNvSpPr txBox="1"/>
          <p:nvPr/>
        </p:nvSpPr>
        <p:spPr>
          <a:xfrm>
            <a:off x="4754880" y="19842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dirty="0" sz="1500"/>
          </a:p>
        </p:txBody>
      </p:sp>
      <p:sp>
        <p:nvSpPr>
          <p:cNvPr id="18" name="a3u_b1866"/>
          <p:cNvSpPr txBox="1"/>
          <p:nvPr/>
        </p:nvSpPr>
        <p:spPr>
          <a:xfrm>
            <a:off x="4846320" y="23774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the 1st query</a:t>
            </a:r>
            <a:endParaRPr lang="en-US" dirty="0" sz="1000"/>
          </a:p>
        </p:txBody>
      </p:sp>
      <p:sp>
        <p:nvSpPr>
          <p:cNvPr id="19" name="a3u_b1867"/>
          <p:cNvSpPr txBox="1"/>
          <p:nvPr/>
        </p:nvSpPr>
        <p:spPr>
          <a:xfrm>
            <a:off x="4846320" y="29077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dirty="0" sz="1000"/>
          </a:p>
        </p:txBody>
      </p:sp>
      <p:sp>
        <p:nvSpPr>
          <p:cNvPr id="20" name="a3u_b1868"/>
          <p:cNvSpPr txBox="1"/>
          <p:nvPr/>
        </p:nvSpPr>
        <p:spPr>
          <a:xfrm>
            <a:off x="4846320" y="34381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</a:t>
            </a:r>
            <a:endParaRPr lang="en-US" dirty="0" sz="1000"/>
          </a:p>
        </p:txBody>
      </p:sp>
      <p:sp>
        <p:nvSpPr>
          <p:cNvPr id="21" name="a4u_c1869"/>
          <p:cNvSpPr/>
          <p:nvPr/>
        </p:nvSpPr>
        <p:spPr>
          <a:xfrm>
            <a:off x="6766560" y="914400"/>
            <a:ext cx="1920240" cy="31546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22" name="a4u_sv1870" descr="080871519f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024128"/>
            <a:ext cx="1463040" cy="926592"/>
          </a:xfrm>
          <a:prstGeom prst="rect">
            <a:avLst/>
          </a:prstGeom>
        </p:spPr>
      </p:pic>
      <p:sp>
        <p:nvSpPr>
          <p:cNvPr id="23" name="a4u_n1871"/>
          <p:cNvSpPr txBox="1"/>
          <p:nvPr/>
        </p:nvSpPr>
        <p:spPr>
          <a:xfrm>
            <a:off x="6858000" y="19842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endParaRPr lang="en-US" dirty="0" sz="1500"/>
          </a:p>
        </p:txBody>
      </p:sp>
      <p:sp>
        <p:nvSpPr>
          <p:cNvPr id="24" name="a4u_b1872"/>
          <p:cNvSpPr txBox="1"/>
          <p:nvPr/>
        </p:nvSpPr>
        <p:spPr>
          <a:xfrm>
            <a:off x="6949440" y="23774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found in both</a:t>
            </a:r>
            <a:endParaRPr lang="en-US" dirty="0" sz="1000"/>
          </a:p>
        </p:txBody>
      </p:sp>
      <p:sp>
        <p:nvSpPr>
          <p:cNvPr id="25" name="a4u_b1873"/>
          <p:cNvSpPr txBox="1"/>
          <p:nvPr/>
        </p:nvSpPr>
        <p:spPr>
          <a:xfrm>
            <a:off x="6949440" y="29077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dirty="0" sz="1000"/>
          </a:p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endParaRPr lang="en-US" dirty="0" sz="1000"/>
          </a:p>
        </p:txBody>
      </p:sp>
      <p:sp>
        <p:nvSpPr>
          <p:cNvPr id="26" name="a4u_b1874"/>
          <p:cNvSpPr txBox="1"/>
          <p:nvPr/>
        </p:nvSpPr>
        <p:spPr>
          <a:xfrm>
            <a:off x="6949440" y="34381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ORDER</a:t>
            </a:r>
            <a:endParaRPr lang="en-US" dirty="0" sz="1000"/>
          </a:p>
          <a:p>
            <a:pPr marL="0" indent="0">
              <a:buNone/>
            </a:pPr>
            <a:r>
              <a:rPr sz="12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matter</a:t>
            </a:r>
            <a:endParaRPr lang="en-US" dirty="0" sz="1000"/>
          </a:p>
        </p:txBody>
      </p:sp>
      <p:sp>
        <p:nvSpPr>
          <p:cNvPr id="27" name="a5u_r1875"/>
          <p:cNvSpPr/>
          <p:nvPr/>
        </p:nvSpPr>
        <p:spPr>
          <a:xfrm>
            <a:off x="457200" y="42062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p/>
        </p:txBody>
      </p:sp>
      <p:sp>
        <p:nvSpPr>
          <p:cNvPr id="28" name="a5u_rt1876"/>
          <p:cNvSpPr txBox="1"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</a:t>
            </a:r>
            <a:r>
              <a:rPr sz="12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column count · compatible types · same order · 1st query names the columns · ORDER BY once at the end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/>
      <p:sp>
        <p:nvSpPr>
          <p:cNvPr id="2" name="a0f_h1877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· Set Operators</a:t>
            </a:r>
            <a:endParaRPr lang="en-US" dirty="0" sz="3200"/>
          </a:p>
        </p:txBody>
      </p:sp>
      <p:sp>
        <p:nvSpPr>
          <p:cNvPr id="3" name="a1u_n1878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4" name="a1u_t1879"/>
          <p:cNvSpPr txBox="1"/>
          <p:nvPr/>
        </p:nvSpPr>
        <p:spPr>
          <a:xfrm>
            <a:off x="118872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 stack rows from multiple queries; joins add columns.</a:t>
            </a:r>
            <a:endParaRPr lang="en-US" dirty="0" sz="1500"/>
          </a:p>
        </p:txBody>
      </p:sp>
      <p:sp>
        <p:nvSpPr>
          <p:cNvPr id="5" name="a2u_n1880"/>
          <p:cNvSpPr txBox="1"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6" name="a2u_t1881"/>
          <p:cNvSpPr txBox="1"/>
          <p:nvPr/>
        </p:nvSpPr>
        <p:spPr>
          <a:xfrm>
            <a:off x="118872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must match in column count, types and order — the 1st query names the result.</a:t>
            </a:r>
            <a:endParaRPr lang="en-US" dirty="0" sz="1500"/>
          </a:p>
        </p:txBody>
      </p:sp>
      <p:sp>
        <p:nvSpPr>
          <p:cNvPr id="7" name="a3u_n1882"/>
          <p:cNvSpPr txBox="1"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8" name="a3u_t1883"/>
          <p:cNvSpPr txBox="1"/>
          <p:nvPr/>
        </p:nvSpPr>
        <p:spPr>
          <a:xfrm>
            <a:off x="1188720" y="3063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removes duplicates; UNION ALL keeps them and is faster.</a:t>
            </a:r>
            <a:endParaRPr lang="en-US" dirty="0" sz="1500"/>
          </a:p>
        </p:txBody>
      </p:sp>
      <p:sp>
        <p:nvSpPr>
          <p:cNvPr id="9" name="a4u_n1884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0" name="a4u_t1885"/>
          <p:cNvSpPr txBox="1"/>
          <p:nvPr/>
        </p:nvSpPr>
        <p:spPr>
          <a:xfrm>
            <a:off x="1188720" y="3886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finds differences (order matters); INTERSECT finds what's common.</a:t>
            </a:r>
            <a:endParaRPr lang="en-US" dirty="0" sz="1500"/>
          </a:p>
        </p:txBody>
      </p:sp>
      <p:pic>
        <p:nvPicPr>
          <p:cNvPr id="11" name="a0fd300_v1886" descr="8231790ee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2468880" cy="1563624"/>
          </a:xfrm>
          <a:prstGeom prst="rect">
            <a:avLst/>
          </a:prstGeom>
        </p:spPr>
      </p:pic>
      <p:sp>
        <p:nvSpPr>
          <p:cNvPr id="12" name="a5u_next1887"/>
          <p:cNvSpPr txBox="1"/>
          <p:nvPr/>
        </p:nvSpPr>
        <p:spPr>
          <a:xfrm>
            <a:off x="6217920" y="3108960"/>
            <a:ext cx="2468880" cy="100584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>
            <a:solidFill>
              <a:srgbClr val="475569"/>
            </a:solidFill>
          </a:ln>
        </p:spPr>
        <p:txBody>
          <a:bodyPr wrap="square" lIns="165100" tIns="0" rIns="16510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next  </a:t>
            </a:r>
            <a:r>
              <a:rPr sz="13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statements — conditional logic and derived values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k1"/>
          <p:cNvSpPr txBox="1"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spc="300" kern="0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dirty="0" sz="1300"/>
          </a:p>
        </p:txBody>
      </p:sp>
      <p:sp>
        <p:nvSpPr>
          <p:cNvPr id="3" name="a0ud200_t2"/>
          <p:cNvSpPr txBox="1"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in the Real World</a:t>
            </a:r>
            <a:endParaRPr lang="en-US" dirty="0" sz="4000"/>
          </a:p>
        </p:txBody>
      </p:sp>
      <p:sp>
        <p:nvSpPr>
          <p:cNvPr id="4" name="a0fd400_s3"/>
          <p:cNvSpPr txBox="1"/>
          <p:nvPr/>
        </p:nvSpPr>
        <p:spPr>
          <a:xfrm>
            <a:off x="548640" y="1463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two tables, the ON-vs-WHERE trap, self joins and range joins</a:t>
            </a:r>
            <a:endParaRPr lang="en-US" dirty="0" sz="1600"/>
          </a:p>
        </p:txBody>
      </p:sp>
      <p:sp>
        <p:nvSpPr>
          <p:cNvPr id="5" name="a1u_c4"/>
          <p:cNvSpPr/>
          <p:nvPr/>
        </p:nvSpPr>
        <p:spPr>
          <a:xfrm>
            <a:off x="45720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a1u_sv5"/>
          <p:cNvSpPr/>
          <p:nvPr/>
        </p:nvSpPr>
        <p:spPr>
          <a:xfrm>
            <a:off x="713232" y="2624328"/>
            <a:ext cx="384048" cy="38404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7" name="a1u_sv6"/>
          <p:cNvSpPr/>
          <p:nvPr/>
        </p:nvSpPr>
        <p:spPr>
          <a:xfrm>
            <a:off x="1243584" y="262432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8" name="a1u_sv7"/>
          <p:cNvSpPr/>
          <p:nvPr/>
        </p:nvSpPr>
        <p:spPr>
          <a:xfrm>
            <a:off x="1773936" y="2624328"/>
            <a:ext cx="384048" cy="38404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9" name="a1u_sv8"/>
          <p:cNvSpPr/>
          <p:nvPr/>
        </p:nvSpPr>
        <p:spPr>
          <a:xfrm>
            <a:off x="1097280" y="2798064"/>
            <a:ext cx="146304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10" name="a1u_sv9"/>
          <p:cNvSpPr/>
          <p:nvPr/>
        </p:nvSpPr>
        <p:spPr>
          <a:xfrm>
            <a:off x="1627632" y="2798064"/>
            <a:ext cx="146304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11" name="a1u_n10"/>
          <p:cNvSpPr txBox="1"/>
          <p:nvPr/>
        </p:nvSpPr>
        <p:spPr>
          <a:xfrm>
            <a:off x="54864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MULTI-TABLE</a:t>
            </a:r>
            <a:endParaRPr lang="en-US" dirty="0" sz="1400"/>
          </a:p>
        </p:txBody>
      </p:sp>
      <p:sp>
        <p:nvSpPr>
          <p:cNvPr id="12" name="a1u_d11"/>
          <p:cNvSpPr txBox="1"/>
          <p:nvPr/>
        </p:nvSpPr>
        <p:spPr>
          <a:xfrm>
            <a:off x="54864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joins</a:t>
            </a:r>
            <a:endParaRPr lang="en-US" dirty="0" sz="1200"/>
          </a:p>
        </p:txBody>
      </p:sp>
      <p:sp>
        <p:nvSpPr>
          <p:cNvPr id="13" name="a2u_c12"/>
          <p:cNvSpPr/>
          <p:nvPr/>
        </p:nvSpPr>
        <p:spPr>
          <a:xfrm>
            <a:off x="256032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a2u_sv13"/>
          <p:cNvSpPr/>
          <p:nvPr/>
        </p:nvSpPr>
        <p:spPr>
          <a:xfrm>
            <a:off x="2761488" y="2551176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5" name="a2u_sv14"/>
          <p:cNvSpPr/>
          <p:nvPr/>
        </p:nvSpPr>
        <p:spPr>
          <a:xfrm>
            <a:off x="2761488" y="2752344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6" name="a2u_sv15"/>
          <p:cNvSpPr/>
          <p:nvPr/>
        </p:nvSpPr>
        <p:spPr>
          <a:xfrm>
            <a:off x="2761488" y="2953512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7" name="a2u_sv16"/>
          <p:cNvSpPr/>
          <p:nvPr/>
        </p:nvSpPr>
        <p:spPr>
          <a:xfrm>
            <a:off x="3364992" y="2724912"/>
            <a:ext cx="274320" cy="182880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8" name="a2u_sv17"/>
          <p:cNvSpPr/>
          <p:nvPr/>
        </p:nvSpPr>
        <p:spPr>
          <a:xfrm>
            <a:off x="3749040" y="2551176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9" name="a2u_sv18"/>
          <p:cNvSpPr/>
          <p:nvPr/>
        </p:nvSpPr>
        <p:spPr>
          <a:xfrm>
            <a:off x="3749040" y="2752344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20" name="a2u_sv19"/>
          <p:cNvSpPr/>
          <p:nvPr/>
        </p:nvSpPr>
        <p:spPr>
          <a:xfrm>
            <a:off x="3749040" y="2953512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21" name="a2u_sv20"/>
          <p:cNvSpPr txBox="1"/>
          <p:nvPr/>
        </p:nvSpPr>
        <p:spPr>
          <a:xfrm>
            <a:off x="4041648" y="2788920"/>
            <a:ext cx="256032" cy="25603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dirty="0" sz="1300"/>
          </a:p>
        </p:txBody>
      </p:sp>
      <p:sp>
        <p:nvSpPr>
          <p:cNvPr id="22" name="a2u_n21"/>
          <p:cNvSpPr txBox="1"/>
          <p:nvPr/>
        </p:nvSpPr>
        <p:spPr>
          <a:xfrm>
            <a:off x="265176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vs WHERE</a:t>
            </a:r>
            <a:endParaRPr lang="en-US" dirty="0" sz="1400"/>
          </a:p>
        </p:txBody>
      </p:sp>
      <p:sp>
        <p:nvSpPr>
          <p:cNvPr id="23" name="a2u_d22"/>
          <p:cNvSpPr txBox="1"/>
          <p:nvPr/>
        </p:nvSpPr>
        <p:spPr>
          <a:xfrm>
            <a:off x="265176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undo a LEFT JOIN</a:t>
            </a:r>
            <a:endParaRPr lang="en-US" dirty="0" sz="1200"/>
          </a:p>
        </p:txBody>
      </p:sp>
      <p:sp>
        <p:nvSpPr>
          <p:cNvPr id="24" name="a3u_c23"/>
          <p:cNvSpPr/>
          <p:nvPr/>
        </p:nvSpPr>
        <p:spPr>
          <a:xfrm>
            <a:off x="466344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a3u_sv24"/>
          <p:cNvSpPr txBox="1"/>
          <p:nvPr/>
        </p:nvSpPr>
        <p:spPr>
          <a:xfrm>
            <a:off x="4919472" y="2578608"/>
            <a:ext cx="475488" cy="47548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dirty="0" sz="1600"/>
          </a:p>
        </p:txBody>
      </p:sp>
      <p:sp>
        <p:nvSpPr>
          <p:cNvPr id="26" name="a3u_sv25"/>
          <p:cNvSpPr txBox="1"/>
          <p:nvPr/>
        </p:nvSpPr>
        <p:spPr>
          <a:xfrm>
            <a:off x="5852160" y="2578608"/>
            <a:ext cx="475488" cy="47548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dirty="0" sz="1600"/>
          </a:p>
        </p:txBody>
      </p:sp>
      <p:sp>
        <p:nvSpPr>
          <p:cNvPr id="27" name="a3u_sv26"/>
          <p:cNvSpPr/>
          <p:nvPr/>
        </p:nvSpPr>
        <p:spPr>
          <a:xfrm>
            <a:off x="5449824" y="2724912"/>
            <a:ext cx="347472" cy="182880"/>
          </a:xfrm>
          <a:prstGeom prst="left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8" name="a3u_n27"/>
          <p:cNvSpPr txBox="1"/>
          <p:nvPr/>
        </p:nvSpPr>
        <p:spPr>
          <a:xfrm>
            <a:off x="475488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 JOIN</a:t>
            </a:r>
            <a:endParaRPr lang="en-US" dirty="0" sz="1400"/>
          </a:p>
        </p:txBody>
      </p:sp>
      <p:sp>
        <p:nvSpPr>
          <p:cNvPr id="29" name="a3u_d28"/>
          <p:cNvSpPr txBox="1"/>
          <p:nvPr/>
        </p:nvSpPr>
        <p:spPr>
          <a:xfrm>
            <a:off x="475488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joined to itself</a:t>
            </a:r>
            <a:endParaRPr lang="en-US" dirty="0" sz="1200"/>
          </a:p>
        </p:txBody>
      </p:sp>
      <p:sp>
        <p:nvSpPr>
          <p:cNvPr id="30" name="a4u_c29"/>
          <p:cNvSpPr/>
          <p:nvPr/>
        </p:nvSpPr>
        <p:spPr>
          <a:xfrm>
            <a:off x="676656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a4u_sv30"/>
          <p:cNvSpPr/>
          <p:nvPr/>
        </p:nvSpPr>
        <p:spPr>
          <a:xfrm>
            <a:off x="6995160" y="2862072"/>
            <a:ext cx="475488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2" name="a4u_sv31"/>
          <p:cNvSpPr/>
          <p:nvPr/>
        </p:nvSpPr>
        <p:spPr>
          <a:xfrm>
            <a:off x="7488936" y="2862072"/>
            <a:ext cx="475488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33" name="a4u_sv32"/>
          <p:cNvSpPr/>
          <p:nvPr/>
        </p:nvSpPr>
        <p:spPr>
          <a:xfrm>
            <a:off x="7982712" y="2862072"/>
            <a:ext cx="475488" cy="164592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34" name="a4u_sv33"/>
          <p:cNvSpPr/>
          <p:nvPr/>
        </p:nvSpPr>
        <p:spPr>
          <a:xfrm>
            <a:off x="7607808" y="2569464"/>
            <a:ext cx="237744" cy="237744"/>
          </a:xfrm>
          <a:prstGeom prst="flowChartMerge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35" name="a4u_n34"/>
          <p:cNvSpPr txBox="1"/>
          <p:nvPr/>
        </p:nvSpPr>
        <p:spPr>
          <a:xfrm>
            <a:off x="685800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NON-EQUI</a:t>
            </a:r>
            <a:endParaRPr lang="en-US" dirty="0" sz="1400"/>
          </a:p>
        </p:txBody>
      </p:sp>
      <p:sp>
        <p:nvSpPr>
          <p:cNvPr id="36" name="a4u_d35"/>
          <p:cNvSpPr txBox="1"/>
          <p:nvPr/>
        </p:nvSpPr>
        <p:spPr>
          <a:xfrm>
            <a:off x="685800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 a range, not =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joins — start from the main table and add one table at a time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288459" y="1905717"/>
            <a:ext cx="881051" cy="881051"/>
          </a:xfrm>
          <a:prstGeom prst="ellipse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6505149" y="1905717"/>
            <a:ext cx="881051" cy="881051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7721839" y="1905717"/>
            <a:ext cx="881051" cy="881051"/>
          </a:xfrm>
          <a:prstGeom prst="ellipse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6169511" y="2304288"/>
            <a:ext cx="335639" cy="104887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7386200" y="2304288"/>
            <a:ext cx="335639" cy="104887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Multiple Tables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main table, then add one join per extra table</a:t>
            </a:r>
            <a:endParaRPr lang="en-US" dirty="0" sz="1300"/>
          </a:p>
        </p:txBody>
      </p:sp>
      <p:sp>
        <p:nvSpPr>
          <p:cNvPr id="4" name="a1f_th3"/>
          <p:cNvSpPr txBox="1"/>
          <p:nvPr/>
        </p:nvSpPr>
        <p:spPr>
          <a:xfrm>
            <a:off x="457200" y="1325880"/>
            <a:ext cx="1737360" cy="310896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 (main)</a:t>
            </a:r>
            <a:endParaRPr lang="en-US" dirty="0" sz="1200"/>
          </a:p>
        </p:txBody>
      </p:sp>
      <p:sp>
        <p:nvSpPr>
          <p:cNvPr id="5" name="a1f_tr4"/>
          <p:cNvSpPr txBox="1"/>
          <p:nvPr/>
        </p:nvSpPr>
        <p:spPr>
          <a:xfrm>
            <a:off x="457200" y="1636776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dirty="0" sz="1050"/>
          </a:p>
        </p:txBody>
      </p:sp>
      <p:sp>
        <p:nvSpPr>
          <p:cNvPr id="6" name="a1f_tr5"/>
          <p:cNvSpPr txBox="1"/>
          <p:nvPr/>
        </p:nvSpPr>
        <p:spPr>
          <a:xfrm>
            <a:off x="457200" y="1874520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dirty="0" sz="1050"/>
          </a:p>
        </p:txBody>
      </p:sp>
      <p:sp>
        <p:nvSpPr>
          <p:cNvPr id="7" name="a1f_tr6"/>
          <p:cNvSpPr txBox="1"/>
          <p:nvPr/>
        </p:nvSpPr>
        <p:spPr>
          <a:xfrm>
            <a:off x="457200" y="2112264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country</a:t>
            </a:r>
            <a:endParaRPr lang="en-US" dirty="0" sz="1050"/>
          </a:p>
        </p:txBody>
      </p:sp>
      <p:sp>
        <p:nvSpPr>
          <p:cNvPr id="8" name="a1f_tr7"/>
          <p:cNvSpPr txBox="1"/>
          <p:nvPr/>
        </p:nvSpPr>
        <p:spPr>
          <a:xfrm>
            <a:off x="457200" y="2350008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dirty="0" sz="1050"/>
          </a:p>
        </p:txBody>
      </p:sp>
      <p:sp>
        <p:nvSpPr>
          <p:cNvPr id="9" name="a2f_th8"/>
          <p:cNvSpPr txBox="1"/>
          <p:nvPr/>
        </p:nvSpPr>
        <p:spPr>
          <a:xfrm>
            <a:off x="4023360" y="1234440"/>
            <a:ext cx="1737360" cy="310896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dirty="0" sz="1200"/>
          </a:p>
        </p:txBody>
      </p:sp>
      <p:sp>
        <p:nvSpPr>
          <p:cNvPr id="10" name="a2f_tr9"/>
          <p:cNvSpPr txBox="1"/>
          <p:nvPr/>
        </p:nvSpPr>
        <p:spPr>
          <a:xfrm>
            <a:off x="4023360" y="1545336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order_id</a:t>
            </a:r>
            <a:endParaRPr lang="en-US" dirty="0" sz="1050"/>
          </a:p>
        </p:txBody>
      </p:sp>
      <p:sp>
        <p:nvSpPr>
          <p:cNvPr id="11" name="a2f_tr10"/>
          <p:cNvSpPr txBox="1"/>
          <p:nvPr/>
        </p:nvSpPr>
        <p:spPr>
          <a:xfrm>
            <a:off x="4023360" y="1783080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customer_id</a:t>
            </a:r>
            <a:endParaRPr lang="en-US" dirty="0" sz="1050"/>
          </a:p>
        </p:txBody>
      </p:sp>
      <p:sp>
        <p:nvSpPr>
          <p:cNvPr id="12" name="a2f_tr11"/>
          <p:cNvSpPr txBox="1"/>
          <p:nvPr/>
        </p:nvSpPr>
        <p:spPr>
          <a:xfrm>
            <a:off x="4023360" y="2020824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order_date</a:t>
            </a:r>
            <a:endParaRPr lang="en-US" dirty="0" sz="1050"/>
          </a:p>
        </p:txBody>
      </p:sp>
      <p:sp>
        <p:nvSpPr>
          <p:cNvPr id="13" name="a2f_tr12"/>
          <p:cNvSpPr txBox="1"/>
          <p:nvPr/>
        </p:nvSpPr>
        <p:spPr>
          <a:xfrm>
            <a:off x="4023360" y="2258568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dirty="0" sz="1050"/>
          </a:p>
        </p:txBody>
      </p:sp>
      <p:sp>
        <p:nvSpPr>
          <p:cNvPr id="14" name="a3f_th13"/>
          <p:cNvSpPr txBox="1"/>
          <p:nvPr/>
        </p:nvSpPr>
        <p:spPr>
          <a:xfrm>
            <a:off x="4023360" y="2606040"/>
            <a:ext cx="1737360" cy="310896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dirty="0" sz="1200"/>
          </a:p>
        </p:txBody>
      </p:sp>
      <p:sp>
        <p:nvSpPr>
          <p:cNvPr id="15" name="a3f_tr14"/>
          <p:cNvSpPr txBox="1"/>
          <p:nvPr/>
        </p:nvSpPr>
        <p:spPr>
          <a:xfrm>
            <a:off x="4023360" y="2916936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country</a:t>
            </a:r>
            <a:endParaRPr lang="en-US" dirty="0" sz="1050"/>
          </a:p>
        </p:txBody>
      </p:sp>
      <p:sp>
        <p:nvSpPr>
          <p:cNvPr id="16" name="a3f_tr15"/>
          <p:cNvSpPr txBox="1"/>
          <p:nvPr/>
        </p:nvSpPr>
        <p:spPr>
          <a:xfrm>
            <a:off x="4023360" y="3154680"/>
            <a:ext cx="17373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109728" tIns="0" rIns="0" bIns="0" anchor="ctr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continent</a:t>
            </a:r>
            <a:endParaRPr lang="en-US" dirty="0" sz="1050"/>
          </a:p>
        </p:txBody>
      </p:sp>
      <p:cxnSp>
        <p:nvCxnSpPr>
          <p:cNvPr id="17" name="a2f_ln16"/>
          <p:cNvCxnSpPr/>
          <p:nvPr/>
        </p:nvCxnSpPr>
        <p:spPr>
          <a:xfrm>
            <a:off x="2194560" y="1764792"/>
            <a:ext cx="1828800" cy="0"/>
          </a:xfrm>
          <a:prstGeom prst="line">
            <a:avLst/>
          </a:prstGeom>
          <a:ln w="19050">
            <a:solidFill>
              <a:srgbClr val="8B5CF6"/>
            </a:solidFill>
            <a:tailEnd type="triangle"/>
          </a:ln>
        </p:spPr>
      </p:cxnSp>
      <p:sp>
        <p:nvSpPr>
          <p:cNvPr id="18" name="a2f_lt17"/>
          <p:cNvSpPr txBox="1"/>
          <p:nvPr/>
        </p:nvSpPr>
        <p:spPr>
          <a:xfrm>
            <a:off x="2240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c.id = o.customer_id</a:t>
            </a:r>
            <a:endParaRPr lang="en-US" dirty="0" sz="900"/>
          </a:p>
        </p:txBody>
      </p:sp>
      <p:cxnSp>
        <p:nvCxnSpPr>
          <p:cNvPr id="19" name="a3f_ln18"/>
          <p:cNvCxnSpPr/>
          <p:nvPr/>
        </p:nvCxnSpPr>
        <p:spPr>
          <a:xfrm>
            <a:off x="2194560" y="2240280"/>
            <a:ext cx="1828800" cy="758952"/>
          </a:xfrm>
          <a:prstGeom prst="line">
            <a:avLst/>
          </a:prstGeom>
          <a:ln w="19050">
            <a:solidFill>
              <a:srgbClr val="8B5CF6"/>
            </a:solidFill>
            <a:tailEnd type="triangle"/>
          </a:ln>
        </p:spPr>
      </p:cxnSp>
      <p:sp>
        <p:nvSpPr>
          <p:cNvPr id="20" name="a3f_lt19"/>
          <p:cNvSpPr txBox="1"/>
          <p:nvPr/>
        </p:nvSpPr>
        <p:spPr>
          <a:xfrm>
            <a:off x="228600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c.country = co.country</a:t>
            </a:r>
            <a:endParaRPr lang="en-US" dirty="0" sz="900"/>
          </a:p>
        </p:txBody>
      </p:sp>
      <p:sp>
        <p:nvSpPr>
          <p:cNvPr id="21" name="a4u_n20"/>
          <p:cNvSpPr txBox="1"/>
          <p:nvPr/>
        </p:nvSpPr>
        <p:spPr>
          <a:xfrm>
            <a:off x="6172200" y="1280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300"/>
          </a:p>
        </p:txBody>
      </p:sp>
      <p:sp>
        <p:nvSpPr>
          <p:cNvPr id="22" name="a4u_h21"/>
          <p:cNvSpPr txBox="1"/>
          <p:nvPr/>
        </p:nvSpPr>
        <p:spPr>
          <a:xfrm>
            <a:off x="667512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main table</a:t>
            </a:r>
            <a:endParaRPr lang="en-US" dirty="0" sz="1200"/>
          </a:p>
        </p:txBody>
      </p:sp>
      <p:sp>
        <p:nvSpPr>
          <p:cNvPr id="23" name="a4u_d22"/>
          <p:cNvSpPr txBox="1"/>
          <p:nvPr/>
        </p:nvSpPr>
        <p:spPr>
          <a:xfrm>
            <a:off x="6675120" y="1508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in FROM — every other table hangs off it.</a:t>
            </a:r>
            <a:endParaRPr lang="en-US" dirty="0" sz="1050"/>
          </a:p>
        </p:txBody>
      </p:sp>
      <p:sp>
        <p:nvSpPr>
          <p:cNvPr id="24" name="a5u_n23"/>
          <p:cNvSpPr txBox="1"/>
          <p:nvPr/>
        </p:nvSpPr>
        <p:spPr>
          <a:xfrm>
            <a:off x="6172200" y="201168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300"/>
          </a:p>
        </p:txBody>
      </p:sp>
      <p:sp>
        <p:nvSpPr>
          <p:cNvPr id="25" name="a5u_h24"/>
          <p:cNvSpPr txBox="1"/>
          <p:nvPr/>
        </p:nvSpPr>
        <p:spPr>
          <a:xfrm>
            <a:off x="6675120" y="1965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tables → n − 1 joins</a:t>
            </a:r>
            <a:endParaRPr lang="en-US" dirty="0" sz="1200"/>
          </a:p>
        </p:txBody>
      </p:sp>
      <p:sp>
        <p:nvSpPr>
          <p:cNvPr id="26" name="a5u_d25"/>
          <p:cNvSpPr txBox="1"/>
          <p:nvPr/>
        </p:nvSpPr>
        <p:spPr>
          <a:xfrm>
            <a:off x="6675120" y="2240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table needs its own ON condition.</a:t>
            </a:r>
            <a:endParaRPr lang="en-US" dirty="0" sz="1050"/>
          </a:p>
        </p:txBody>
      </p:sp>
      <p:sp>
        <p:nvSpPr>
          <p:cNvPr id="27" name="a6u_n26"/>
          <p:cNvSpPr txBox="1"/>
          <p:nvPr/>
        </p:nvSpPr>
        <p:spPr>
          <a:xfrm>
            <a:off x="6172200" y="274320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300"/>
          </a:p>
        </p:txBody>
      </p:sp>
      <p:sp>
        <p:nvSpPr>
          <p:cNvPr id="28" name="a6u_h27"/>
          <p:cNvSpPr txBox="1"/>
          <p:nvPr/>
        </p:nvSpPr>
        <p:spPr>
          <a:xfrm>
            <a:off x="6675120" y="2697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the lookups</a:t>
            </a:r>
            <a:endParaRPr lang="en-US" dirty="0" sz="1200"/>
          </a:p>
        </p:txBody>
      </p:sp>
      <p:sp>
        <p:nvSpPr>
          <p:cNvPr id="29" name="a6u_d28"/>
          <p:cNvSpPr txBox="1"/>
          <p:nvPr/>
        </p:nvSpPr>
        <p:spPr>
          <a:xfrm>
            <a:off x="6675120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05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rows are never lost when a lookup has no match.</a:t>
            </a:r>
            <a:endParaRPr lang="en-US" dirty="0" sz="1050"/>
          </a:p>
        </p:txBody>
      </p:sp>
      <p:sp>
        <p:nvSpPr>
          <p:cNvPr id="30" name="a7f_codebg29"/>
          <p:cNvSpPr/>
          <p:nvPr/>
        </p:nvSpPr>
        <p:spPr>
          <a:xfrm>
            <a:off x="457200" y="3611880"/>
            <a:ext cx="5303520" cy="122529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a7wd0_code30"/>
          <p:cNvSpPr txBox="1"/>
          <p:nvPr/>
        </p:nvSpPr>
        <p:spPr>
          <a:xfrm>
            <a:off x="640080" y="37490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...</a:t>
            </a:r>
            <a:endParaRPr lang="en-US" dirty="0" sz="1100"/>
          </a:p>
        </p:txBody>
      </p:sp>
      <p:sp>
        <p:nvSpPr>
          <p:cNvPr id="32" name="a7wd150_code31"/>
          <p:cNvSpPr txBox="1"/>
          <p:nvPr/>
        </p:nvSpPr>
        <p:spPr>
          <a:xfrm>
            <a:off x="640080" y="398678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100"/>
          </a:p>
        </p:txBody>
      </p:sp>
      <p:sp>
        <p:nvSpPr>
          <p:cNvPr id="33" name="a7wd300_code32"/>
          <p:cNvSpPr txBox="1"/>
          <p:nvPr/>
        </p:nvSpPr>
        <p:spPr>
          <a:xfrm>
            <a:off x="640080" y="422452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 =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.customer_id</a:t>
            </a:r>
            <a:endParaRPr lang="en-US" dirty="0" sz="1100"/>
          </a:p>
        </p:txBody>
      </p:sp>
      <p:sp>
        <p:nvSpPr>
          <p:cNvPr id="34" name="a7wd450_code33"/>
          <p:cNvSpPr txBox="1"/>
          <p:nvPr/>
        </p:nvSpPr>
        <p:spPr>
          <a:xfrm>
            <a:off x="640080" y="4462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countries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.country =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.country;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Joins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customer with their continent and their orders — keep customers without orders.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931920" cy="2834640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.continent,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.order_id,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.sales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countries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endParaRPr lang="en-US" dirty="0" sz="12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5753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.country =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.country</a:t>
            </a:r>
            <a:endParaRPr lang="en-US" dirty="0" sz="1200"/>
          </a:p>
        </p:txBody>
      </p:sp>
      <p:sp>
        <p:nvSpPr>
          <p:cNvPr id="13" name="a1wd1200_code12"/>
          <p:cNvSpPr txBox="1"/>
          <p:nvPr/>
        </p:nvSpPr>
        <p:spPr>
          <a:xfrm>
            <a:off x="640080" y="38313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4" name="a1wd1350_code13"/>
          <p:cNvSpPr txBox="1"/>
          <p:nvPr/>
        </p:nvSpPr>
        <p:spPr>
          <a:xfrm>
            <a:off x="640080" y="40873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 =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.customer_id;</a:t>
            </a:r>
            <a:endParaRPr lang="en-US" dirty="0" sz="1200"/>
          </a:p>
        </p:txBody>
      </p:sp>
      <p:sp>
        <p:nvSpPr>
          <p:cNvPr id="15" name="a2f_l14"/>
          <p:cNvSpPr txBox="1"/>
          <p:nvPr/>
        </p:nvSpPr>
        <p:spPr>
          <a:xfrm>
            <a:off x="4709160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(lookup)</a:t>
            </a:r>
            <a:endParaRPr lang="en-US" dirty="0" sz="1200"/>
          </a:p>
        </p:txBody>
      </p:sp>
      <p:sp>
        <p:nvSpPr>
          <p:cNvPr id="16" name="a2f_cell15"/>
          <p:cNvSpPr txBox="1"/>
          <p:nvPr/>
        </p:nvSpPr>
        <p:spPr>
          <a:xfrm>
            <a:off x="4709160" y="1856232"/>
            <a:ext cx="91440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7" name="a2wd200_cell16"/>
          <p:cNvSpPr txBox="1"/>
          <p:nvPr/>
        </p:nvSpPr>
        <p:spPr>
          <a:xfrm>
            <a:off x="4709160" y="2103120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8" name="a2wd400_cell17"/>
          <p:cNvSpPr txBox="1"/>
          <p:nvPr/>
        </p:nvSpPr>
        <p:spPr>
          <a:xfrm>
            <a:off x="4709160" y="2350008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9" name="a2wd600_cell18"/>
          <p:cNvSpPr txBox="1"/>
          <p:nvPr/>
        </p:nvSpPr>
        <p:spPr>
          <a:xfrm>
            <a:off x="4709160" y="2596896"/>
            <a:ext cx="91440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5623560" y="1856232"/>
            <a:ext cx="123444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5623560" y="2103120"/>
            <a:ext cx="12344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5623560" y="2350008"/>
            <a:ext cx="12344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5623560" y="2596896"/>
            <a:ext cx="123444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</a:t>
            </a:r>
            <a:endParaRPr lang="en-US" dirty="0" sz="1100"/>
          </a:p>
        </p:txBody>
      </p:sp>
      <p:sp>
        <p:nvSpPr>
          <p:cNvPr id="24" name="a3f_l23"/>
          <p:cNvSpPr txBox="1"/>
          <p:nvPr/>
        </p:nvSpPr>
        <p:spPr>
          <a:xfrm>
            <a:off x="4709160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25" name="a3f_cell24"/>
          <p:cNvSpPr txBox="1"/>
          <p:nvPr/>
        </p:nvSpPr>
        <p:spPr>
          <a:xfrm>
            <a:off x="4709160" y="3182112"/>
            <a:ext cx="86868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6" name="a3wd200_cell25"/>
          <p:cNvSpPr txBox="1"/>
          <p:nvPr/>
        </p:nvSpPr>
        <p:spPr>
          <a:xfrm>
            <a:off x="4709160" y="3429000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7" name="a3wd400_cell26"/>
          <p:cNvSpPr txBox="1"/>
          <p:nvPr/>
        </p:nvSpPr>
        <p:spPr>
          <a:xfrm>
            <a:off x="4709160" y="3675888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8" name="a3wd600_cell27"/>
          <p:cNvSpPr txBox="1"/>
          <p:nvPr/>
        </p:nvSpPr>
        <p:spPr>
          <a:xfrm>
            <a:off x="4709160" y="3922776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9" name="a3wd800_cell28"/>
          <p:cNvSpPr txBox="1"/>
          <p:nvPr/>
        </p:nvSpPr>
        <p:spPr>
          <a:xfrm>
            <a:off x="4709160" y="4169664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30" name="a3wd1000_cell29"/>
          <p:cNvSpPr txBox="1"/>
          <p:nvPr/>
        </p:nvSpPr>
        <p:spPr>
          <a:xfrm>
            <a:off x="4709160" y="4416552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31" name="a3f_cell30"/>
          <p:cNvSpPr txBox="1"/>
          <p:nvPr/>
        </p:nvSpPr>
        <p:spPr>
          <a:xfrm>
            <a:off x="5577840" y="3182112"/>
            <a:ext cx="118872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</a:t>
            </a:r>
            <a:endParaRPr lang="en-US" dirty="0" sz="1100"/>
          </a:p>
        </p:txBody>
      </p:sp>
      <p:sp>
        <p:nvSpPr>
          <p:cNvPr id="32" name="a3wd200_cell31"/>
          <p:cNvSpPr txBox="1"/>
          <p:nvPr/>
        </p:nvSpPr>
        <p:spPr>
          <a:xfrm>
            <a:off x="5577840" y="3429000"/>
            <a:ext cx="11887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dirty="0" sz="1100"/>
          </a:p>
        </p:txBody>
      </p:sp>
      <p:sp>
        <p:nvSpPr>
          <p:cNvPr id="33" name="a3wd400_cell32"/>
          <p:cNvSpPr txBox="1"/>
          <p:nvPr/>
        </p:nvSpPr>
        <p:spPr>
          <a:xfrm>
            <a:off x="5577840" y="3675888"/>
            <a:ext cx="11887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</a:t>
            </a:r>
            <a:endParaRPr lang="en-US" dirty="0" sz="1100"/>
          </a:p>
        </p:txBody>
      </p:sp>
      <p:sp>
        <p:nvSpPr>
          <p:cNvPr id="34" name="a3wd600_cell33"/>
          <p:cNvSpPr txBox="1"/>
          <p:nvPr/>
        </p:nvSpPr>
        <p:spPr>
          <a:xfrm>
            <a:off x="5577840" y="3922776"/>
            <a:ext cx="11887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dirty="0" sz="1100"/>
          </a:p>
        </p:txBody>
      </p:sp>
      <p:sp>
        <p:nvSpPr>
          <p:cNvPr id="35" name="a3wd800_cell34"/>
          <p:cNvSpPr txBox="1"/>
          <p:nvPr/>
        </p:nvSpPr>
        <p:spPr>
          <a:xfrm>
            <a:off x="5577840" y="4169664"/>
            <a:ext cx="11887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dirty="0" sz="1100"/>
          </a:p>
        </p:txBody>
      </p:sp>
      <p:sp>
        <p:nvSpPr>
          <p:cNvPr id="36" name="a3wd1000_cell35"/>
          <p:cNvSpPr txBox="1"/>
          <p:nvPr/>
        </p:nvSpPr>
        <p:spPr>
          <a:xfrm>
            <a:off x="5577840" y="4416552"/>
            <a:ext cx="11887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</a:t>
            </a:r>
            <a:endParaRPr lang="en-US" dirty="0" sz="1100"/>
          </a:p>
        </p:txBody>
      </p:sp>
      <p:sp>
        <p:nvSpPr>
          <p:cNvPr id="37" name="a3f_cell36"/>
          <p:cNvSpPr txBox="1"/>
          <p:nvPr/>
        </p:nvSpPr>
        <p:spPr>
          <a:xfrm>
            <a:off x="6766560" y="3182112"/>
            <a:ext cx="73152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8" name="a3wd200_cell37"/>
          <p:cNvSpPr txBox="1"/>
          <p:nvPr/>
        </p:nvSpPr>
        <p:spPr>
          <a:xfrm>
            <a:off x="6766560" y="3429000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9" name="a3wd400_cell38"/>
          <p:cNvSpPr txBox="1"/>
          <p:nvPr/>
        </p:nvSpPr>
        <p:spPr>
          <a:xfrm>
            <a:off x="6766560" y="3675888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40" name="a3wd600_cell39"/>
          <p:cNvSpPr txBox="1"/>
          <p:nvPr/>
        </p:nvSpPr>
        <p:spPr>
          <a:xfrm>
            <a:off x="6766560" y="3922776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41" name="a3wd800_cell40"/>
          <p:cNvSpPr txBox="1"/>
          <p:nvPr/>
        </p:nvSpPr>
        <p:spPr>
          <a:xfrm>
            <a:off x="6766560" y="4169664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2" name="a3wd1000_cell41"/>
          <p:cNvSpPr txBox="1"/>
          <p:nvPr/>
        </p:nvSpPr>
        <p:spPr>
          <a:xfrm>
            <a:off x="6766560" y="4416552"/>
            <a:ext cx="7315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3" name="a3f_cell42"/>
          <p:cNvSpPr txBox="1"/>
          <p:nvPr/>
        </p:nvSpPr>
        <p:spPr>
          <a:xfrm>
            <a:off x="7498080" y="3182112"/>
            <a:ext cx="594360" cy="246888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44" name="a3wd200_cell43"/>
          <p:cNvSpPr txBox="1"/>
          <p:nvPr/>
        </p:nvSpPr>
        <p:spPr>
          <a:xfrm>
            <a:off x="7498080" y="3429000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5" name="a3wd400_cell44"/>
          <p:cNvSpPr txBox="1"/>
          <p:nvPr/>
        </p:nvSpPr>
        <p:spPr>
          <a:xfrm>
            <a:off x="7498080" y="3675888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46" name="a3wd600_cell45"/>
          <p:cNvSpPr txBox="1"/>
          <p:nvPr/>
        </p:nvSpPr>
        <p:spPr>
          <a:xfrm>
            <a:off x="7498080" y="3922776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7" name="a3wd800_cell46"/>
          <p:cNvSpPr txBox="1"/>
          <p:nvPr/>
        </p:nvSpPr>
        <p:spPr>
          <a:xfrm>
            <a:off x="7498080" y="4169664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8" name="a3wd1000_cell47"/>
          <p:cNvSpPr txBox="1"/>
          <p:nvPr/>
        </p:nvSpPr>
        <p:spPr>
          <a:xfrm>
            <a:off x="7498080" y="4416552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vs. WHERE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filter decides whether a LEFT JOIN survives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162595" y="1737898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5162595" y="2199401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5162595" y="2660904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6547104" y="2136469"/>
            <a:ext cx="629322" cy="419548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7428155" y="1737898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0" name="a0fd300_v9"/>
          <p:cNvSpPr/>
          <p:nvPr/>
        </p:nvSpPr>
        <p:spPr>
          <a:xfrm>
            <a:off x="7428155" y="2199401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11" name="a0fd300_v10"/>
          <p:cNvSpPr/>
          <p:nvPr/>
        </p:nvSpPr>
        <p:spPr>
          <a:xfrm>
            <a:off x="7428155" y="2660904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12" name="a0fd300_v11"/>
          <p:cNvSpPr txBox="1"/>
          <p:nvPr/>
        </p:nvSpPr>
        <p:spPr>
          <a:xfrm>
            <a:off x="8099432" y="2283311"/>
            <a:ext cx="587368" cy="58736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982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dirty="0" sz="2982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WHERE Turns LEFT Into INNER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filter on the right table in WHERE removes the rows the LEFT JOIN kept</a:t>
            </a:r>
            <a:endParaRPr lang="en-US" dirty="0" sz="1300"/>
          </a:p>
        </p:txBody>
      </p:sp>
      <p:sp>
        <p:nvSpPr>
          <p:cNvPr id="4" name="a1u_card3"/>
          <p:cNvSpPr/>
          <p:nvPr/>
        </p:nvSpPr>
        <p:spPr>
          <a:xfrm>
            <a:off x="457200" y="1188720"/>
            <a:ext cx="40233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1u_hd4"/>
          <p:cNvSpPr txBox="1"/>
          <p:nvPr/>
        </p:nvSpPr>
        <p:spPr>
          <a:xfrm>
            <a:off x="640080" y="12618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Filter in WHERE → 2 rows</a:t>
            </a:r>
            <a:endParaRPr lang="en-US" dirty="0" sz="1400"/>
          </a:p>
        </p:txBody>
      </p:sp>
      <p:sp>
        <p:nvSpPr>
          <p:cNvPr id="6" name="a1f_codebg5"/>
          <p:cNvSpPr/>
          <p:nvPr/>
        </p:nvSpPr>
        <p:spPr>
          <a:xfrm>
            <a:off x="640080" y="1645920"/>
            <a:ext cx="3657600" cy="1645920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a1wd0_code6"/>
          <p:cNvSpPr txBox="1"/>
          <p:nvPr/>
        </p:nvSpPr>
        <p:spPr>
          <a:xfrm>
            <a:off x="822960" y="17830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.first_name,</a:t>
            </a:r>
            <a:endParaRPr lang="en-US" dirty="0" sz="1100"/>
          </a:p>
        </p:txBody>
      </p:sp>
      <p:sp>
        <p:nvSpPr>
          <p:cNvPr id="8" name="a1wd150_code7"/>
          <p:cNvSpPr txBox="1"/>
          <p:nvPr/>
        </p:nvSpPr>
        <p:spPr>
          <a:xfrm>
            <a:off x="82296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.order_id,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.sales</a:t>
            </a:r>
            <a:endParaRPr lang="en-US" dirty="0" sz="1100"/>
          </a:p>
        </p:txBody>
      </p:sp>
      <p:sp>
        <p:nvSpPr>
          <p:cNvPr id="9" name="a1wd300_code8"/>
          <p:cNvSpPr txBox="1"/>
          <p:nvPr/>
        </p:nvSpPr>
        <p:spPr>
          <a:xfrm>
            <a:off x="822960" y="22402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100"/>
          </a:p>
        </p:txBody>
      </p:sp>
      <p:sp>
        <p:nvSpPr>
          <p:cNvPr id="10" name="a1wd450_code9"/>
          <p:cNvSpPr txBox="1"/>
          <p:nvPr/>
        </p:nvSpPr>
        <p:spPr>
          <a:xfrm>
            <a:off x="822960" y="24688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100"/>
          </a:p>
        </p:txBody>
      </p:sp>
      <p:sp>
        <p:nvSpPr>
          <p:cNvPr id="11" name="a1wd600_code10"/>
          <p:cNvSpPr txBox="1"/>
          <p:nvPr/>
        </p:nvSpPr>
        <p:spPr>
          <a:xfrm>
            <a:off x="822960" y="26974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 =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.customer_id</a:t>
            </a:r>
            <a:endParaRPr lang="en-US" dirty="0" sz="1100"/>
          </a:p>
        </p:txBody>
      </p:sp>
      <p:sp>
        <p:nvSpPr>
          <p:cNvPr id="12" name="a1wd750_code11"/>
          <p:cNvSpPr txBox="1"/>
          <p:nvPr/>
        </p:nvSpPr>
        <p:spPr>
          <a:xfrm>
            <a:off x="822960" y="29260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.sales &gt;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13" name="a2f_cell12"/>
          <p:cNvSpPr txBox="1"/>
          <p:nvPr/>
        </p:nvSpPr>
        <p:spPr>
          <a:xfrm>
            <a:off x="640080" y="3401568"/>
            <a:ext cx="1005840" cy="21031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000"/>
          </a:p>
        </p:txBody>
      </p:sp>
      <p:sp>
        <p:nvSpPr>
          <p:cNvPr id="14" name="a2wd200_cell13"/>
          <p:cNvSpPr txBox="1"/>
          <p:nvPr/>
        </p:nvSpPr>
        <p:spPr>
          <a:xfrm>
            <a:off x="640080" y="3611880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5" name="a2wd400_cell14"/>
          <p:cNvSpPr txBox="1"/>
          <p:nvPr/>
        </p:nvSpPr>
        <p:spPr>
          <a:xfrm>
            <a:off x="640080" y="3822192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6" name="a2f_cell15"/>
          <p:cNvSpPr txBox="1"/>
          <p:nvPr/>
        </p:nvSpPr>
        <p:spPr>
          <a:xfrm>
            <a:off x="1645920" y="3401568"/>
            <a:ext cx="822960" cy="21031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000"/>
          </a:p>
        </p:txBody>
      </p:sp>
      <p:sp>
        <p:nvSpPr>
          <p:cNvPr id="17" name="a2wd200_cell16"/>
          <p:cNvSpPr txBox="1"/>
          <p:nvPr/>
        </p:nvSpPr>
        <p:spPr>
          <a:xfrm>
            <a:off x="1645920" y="3611880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18" name="a2wd400_cell17"/>
          <p:cNvSpPr txBox="1"/>
          <p:nvPr/>
        </p:nvSpPr>
        <p:spPr>
          <a:xfrm>
            <a:off x="1645920" y="382219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19" name="a2f_cell18"/>
          <p:cNvSpPr txBox="1"/>
          <p:nvPr/>
        </p:nvSpPr>
        <p:spPr>
          <a:xfrm>
            <a:off x="2468880" y="3401568"/>
            <a:ext cx="685800" cy="21031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000"/>
          </a:p>
        </p:txBody>
      </p:sp>
      <p:sp>
        <p:nvSpPr>
          <p:cNvPr id="20" name="a2wd200_cell19"/>
          <p:cNvSpPr txBox="1"/>
          <p:nvPr/>
        </p:nvSpPr>
        <p:spPr>
          <a:xfrm>
            <a:off x="2468880" y="3611880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21" name="a2wd400_cell20"/>
          <p:cNvSpPr txBox="1"/>
          <p:nvPr/>
        </p:nvSpPr>
        <p:spPr>
          <a:xfrm>
            <a:off x="2468880" y="382219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22" name="a3u_card21"/>
          <p:cNvSpPr/>
          <p:nvPr/>
        </p:nvSpPr>
        <p:spPr>
          <a:xfrm>
            <a:off x="4663440" y="1188720"/>
            <a:ext cx="40233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a3u_hd22"/>
          <p:cNvSpPr txBox="1"/>
          <p:nvPr/>
        </p:nvSpPr>
        <p:spPr>
          <a:xfrm>
            <a:off x="4846320" y="12618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Filter in ON → 5 rows</a:t>
            </a:r>
            <a:endParaRPr lang="en-US" dirty="0" sz="1400"/>
          </a:p>
        </p:txBody>
      </p:sp>
      <p:sp>
        <p:nvSpPr>
          <p:cNvPr id="24" name="a3f_codebg23"/>
          <p:cNvSpPr/>
          <p:nvPr/>
        </p:nvSpPr>
        <p:spPr>
          <a:xfrm>
            <a:off x="4846320" y="1645920"/>
            <a:ext cx="3657600" cy="1645920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a3wd0_code24"/>
          <p:cNvSpPr txBox="1"/>
          <p:nvPr/>
        </p:nvSpPr>
        <p:spPr>
          <a:xfrm>
            <a:off x="5029200" y="17830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.first_name,</a:t>
            </a:r>
            <a:endParaRPr lang="en-US" dirty="0" sz="1100"/>
          </a:p>
        </p:txBody>
      </p:sp>
      <p:sp>
        <p:nvSpPr>
          <p:cNvPr id="26" name="a3wd150_code25"/>
          <p:cNvSpPr txBox="1"/>
          <p:nvPr/>
        </p:nvSpPr>
        <p:spPr>
          <a:xfrm>
            <a:off x="502920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.order_id,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.sales</a:t>
            </a:r>
            <a:endParaRPr lang="en-US" dirty="0" sz="1100"/>
          </a:p>
        </p:txBody>
      </p:sp>
      <p:sp>
        <p:nvSpPr>
          <p:cNvPr id="27" name="a3wd300_code26"/>
          <p:cNvSpPr txBox="1"/>
          <p:nvPr/>
        </p:nvSpPr>
        <p:spPr>
          <a:xfrm>
            <a:off x="5029200" y="22402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100"/>
          </a:p>
        </p:txBody>
      </p:sp>
      <p:sp>
        <p:nvSpPr>
          <p:cNvPr id="28" name="a3wd450_code27"/>
          <p:cNvSpPr txBox="1"/>
          <p:nvPr/>
        </p:nvSpPr>
        <p:spPr>
          <a:xfrm>
            <a:off x="5029200" y="24688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100"/>
          </a:p>
        </p:txBody>
      </p:sp>
      <p:sp>
        <p:nvSpPr>
          <p:cNvPr id="29" name="a3wd600_code28"/>
          <p:cNvSpPr txBox="1"/>
          <p:nvPr/>
        </p:nvSpPr>
        <p:spPr>
          <a:xfrm>
            <a:off x="5029200" y="26974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 =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.customer_id</a:t>
            </a:r>
            <a:endParaRPr lang="en-US" dirty="0" sz="1100"/>
          </a:p>
        </p:txBody>
      </p:sp>
      <p:sp>
        <p:nvSpPr>
          <p:cNvPr id="30" name="a3wd750_code29"/>
          <p:cNvSpPr txBox="1"/>
          <p:nvPr/>
        </p:nvSpPr>
        <p:spPr>
          <a:xfrm>
            <a:off x="5029200" y="29260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.sales &gt;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100"/>
          </a:p>
        </p:txBody>
      </p:sp>
      <p:sp>
        <p:nvSpPr>
          <p:cNvPr id="31" name="a4f_cell30"/>
          <p:cNvSpPr txBox="1"/>
          <p:nvPr/>
        </p:nvSpPr>
        <p:spPr>
          <a:xfrm>
            <a:off x="4846320" y="3401568"/>
            <a:ext cx="1005840" cy="21031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000"/>
          </a:p>
        </p:txBody>
      </p:sp>
      <p:sp>
        <p:nvSpPr>
          <p:cNvPr id="32" name="a4wd200_cell31"/>
          <p:cNvSpPr txBox="1"/>
          <p:nvPr/>
        </p:nvSpPr>
        <p:spPr>
          <a:xfrm>
            <a:off x="4846320" y="3611880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33" name="a4wd400_cell32"/>
          <p:cNvSpPr txBox="1"/>
          <p:nvPr/>
        </p:nvSpPr>
        <p:spPr>
          <a:xfrm>
            <a:off x="4846320" y="3822192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34" name="a4wd600_cell33"/>
          <p:cNvSpPr txBox="1"/>
          <p:nvPr/>
        </p:nvSpPr>
        <p:spPr>
          <a:xfrm>
            <a:off x="4846320" y="4032504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35" name="a4wd800_cell34"/>
          <p:cNvSpPr txBox="1"/>
          <p:nvPr/>
        </p:nvSpPr>
        <p:spPr>
          <a:xfrm>
            <a:off x="4846320" y="4242816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36" name="a4wd1000_cell35"/>
          <p:cNvSpPr txBox="1"/>
          <p:nvPr/>
        </p:nvSpPr>
        <p:spPr>
          <a:xfrm>
            <a:off x="4846320" y="4453128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37" name="a4f_cell36"/>
          <p:cNvSpPr txBox="1"/>
          <p:nvPr/>
        </p:nvSpPr>
        <p:spPr>
          <a:xfrm>
            <a:off x="5852160" y="3401568"/>
            <a:ext cx="822960" cy="21031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000"/>
          </a:p>
        </p:txBody>
      </p:sp>
      <p:sp>
        <p:nvSpPr>
          <p:cNvPr id="38" name="a4wd200_cell37"/>
          <p:cNvSpPr txBox="1"/>
          <p:nvPr/>
        </p:nvSpPr>
        <p:spPr>
          <a:xfrm>
            <a:off x="5852160" y="3611880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9" name="a4wd400_cell38"/>
          <p:cNvSpPr txBox="1"/>
          <p:nvPr/>
        </p:nvSpPr>
        <p:spPr>
          <a:xfrm>
            <a:off x="5852160" y="382219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0" name="a4wd600_cell39"/>
          <p:cNvSpPr txBox="1"/>
          <p:nvPr/>
        </p:nvSpPr>
        <p:spPr>
          <a:xfrm>
            <a:off x="5852160" y="4032504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41" name="a4wd800_cell40"/>
          <p:cNvSpPr txBox="1"/>
          <p:nvPr/>
        </p:nvSpPr>
        <p:spPr>
          <a:xfrm>
            <a:off x="5852160" y="4242816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2" name="a4wd1000_cell41"/>
          <p:cNvSpPr txBox="1"/>
          <p:nvPr/>
        </p:nvSpPr>
        <p:spPr>
          <a:xfrm>
            <a:off x="5852160" y="4453128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3" name="a4f_cell42"/>
          <p:cNvSpPr txBox="1"/>
          <p:nvPr/>
        </p:nvSpPr>
        <p:spPr>
          <a:xfrm>
            <a:off x="6675120" y="3401568"/>
            <a:ext cx="685800" cy="210312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000"/>
          </a:p>
        </p:txBody>
      </p:sp>
      <p:sp>
        <p:nvSpPr>
          <p:cNvPr id="44" name="a4wd200_cell43"/>
          <p:cNvSpPr txBox="1"/>
          <p:nvPr/>
        </p:nvSpPr>
        <p:spPr>
          <a:xfrm>
            <a:off x="6675120" y="3611880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45" name="a4wd400_cell44"/>
          <p:cNvSpPr txBox="1"/>
          <p:nvPr/>
        </p:nvSpPr>
        <p:spPr>
          <a:xfrm>
            <a:off x="6675120" y="382219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6" name="a4wd600_cell45"/>
          <p:cNvSpPr txBox="1"/>
          <p:nvPr/>
        </p:nvSpPr>
        <p:spPr>
          <a:xfrm>
            <a:off x="6675120" y="4032504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47" name="a4wd800_cell46"/>
          <p:cNvSpPr txBox="1"/>
          <p:nvPr/>
        </p:nvSpPr>
        <p:spPr>
          <a:xfrm>
            <a:off x="6675120" y="4242816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48" name="a4wd1000_cell47"/>
          <p:cNvSpPr txBox="1"/>
          <p:nvPr/>
        </p:nvSpPr>
        <p:spPr>
          <a:xfrm>
            <a:off x="6675120" y="4453128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WHERE After a LEFT JOIN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NULL rows disappear</a:t>
            </a:r>
            <a:endParaRPr lang="en-US" dirty="0" sz="1300"/>
          </a:p>
        </p:txBody>
      </p:sp>
      <p:sp>
        <p:nvSpPr>
          <p:cNvPr id="4" name="Text 3"/>
          <p:cNvSpPr txBox="1"/>
          <p:nvPr/>
        </p:nvSpPr>
        <p:spPr>
          <a:xfrm>
            <a:off x="45720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LEFT JOIN result</a:t>
            </a:r>
            <a:endParaRPr lang="en-US" dirty="0" sz="1200"/>
          </a:p>
        </p:txBody>
      </p:sp>
      <p:sp>
        <p:nvSpPr>
          <p:cNvPr id="5" name="s_cell4"/>
          <p:cNvSpPr txBox="1"/>
          <p:nvPr/>
        </p:nvSpPr>
        <p:spPr>
          <a:xfrm>
            <a:off x="457200" y="141732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6" name="s_cell5"/>
          <p:cNvSpPr txBox="1"/>
          <p:nvPr/>
        </p:nvSpPr>
        <p:spPr>
          <a:xfrm>
            <a:off x="457200" y="1691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7" name="s_cell6"/>
          <p:cNvSpPr txBox="1"/>
          <p:nvPr/>
        </p:nvSpPr>
        <p:spPr>
          <a:xfrm>
            <a:off x="457200" y="19659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8" name="s_cell7"/>
          <p:cNvSpPr txBox="1"/>
          <p:nvPr/>
        </p:nvSpPr>
        <p:spPr>
          <a:xfrm>
            <a:off x="457200" y="22402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9" name="s_cell8"/>
          <p:cNvSpPr txBox="1"/>
          <p:nvPr/>
        </p:nvSpPr>
        <p:spPr>
          <a:xfrm>
            <a:off x="457200" y="25146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0" name="s_cell9"/>
          <p:cNvSpPr txBox="1"/>
          <p:nvPr/>
        </p:nvSpPr>
        <p:spPr>
          <a:xfrm>
            <a:off x="457200" y="278892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1" name="s_cell10"/>
          <p:cNvSpPr txBox="1"/>
          <p:nvPr/>
        </p:nvSpPr>
        <p:spPr>
          <a:xfrm>
            <a:off x="132588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12" name="s_cell11"/>
          <p:cNvSpPr txBox="1"/>
          <p:nvPr/>
        </p:nvSpPr>
        <p:spPr>
          <a:xfrm>
            <a:off x="1325880" y="169164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13" name="s_cell12"/>
          <p:cNvSpPr txBox="1"/>
          <p:nvPr/>
        </p:nvSpPr>
        <p:spPr>
          <a:xfrm>
            <a:off x="1325880" y="1965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14" name="s_cell13"/>
          <p:cNvSpPr txBox="1"/>
          <p:nvPr/>
        </p:nvSpPr>
        <p:spPr>
          <a:xfrm>
            <a:off x="1325880" y="22402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15" name="s_cell14"/>
          <p:cNvSpPr txBox="1"/>
          <p:nvPr/>
        </p:nvSpPr>
        <p:spPr>
          <a:xfrm>
            <a:off x="1325880" y="25146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16" name="s_cell15"/>
          <p:cNvSpPr txBox="1"/>
          <p:nvPr/>
        </p:nvSpPr>
        <p:spPr>
          <a:xfrm>
            <a:off x="1325880" y="278892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17" name="s_cell16"/>
          <p:cNvSpPr txBox="1"/>
          <p:nvPr/>
        </p:nvSpPr>
        <p:spPr>
          <a:xfrm>
            <a:off x="2057400" y="1417320"/>
            <a:ext cx="59436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18" name="s_cell17"/>
          <p:cNvSpPr txBox="1"/>
          <p:nvPr/>
        </p:nvSpPr>
        <p:spPr>
          <a:xfrm>
            <a:off x="2057400" y="169164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19" name="s_cell18"/>
          <p:cNvSpPr txBox="1"/>
          <p:nvPr/>
        </p:nvSpPr>
        <p:spPr>
          <a:xfrm>
            <a:off x="2057400" y="196596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20" name="s_cell19"/>
          <p:cNvSpPr txBox="1"/>
          <p:nvPr/>
        </p:nvSpPr>
        <p:spPr>
          <a:xfrm>
            <a:off x="2057400" y="224028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21" name="s_cell20"/>
          <p:cNvSpPr txBox="1"/>
          <p:nvPr/>
        </p:nvSpPr>
        <p:spPr>
          <a:xfrm>
            <a:off x="2057400" y="251460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2" name="s_cell21"/>
          <p:cNvSpPr txBox="1"/>
          <p:nvPr/>
        </p:nvSpPr>
        <p:spPr>
          <a:xfrm>
            <a:off x="2057400" y="278892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3" name="Text 22"/>
          <p:cNvSpPr txBox="1"/>
          <p:nvPr/>
        </p:nvSpPr>
        <p:spPr>
          <a:xfrm>
            <a:off x="2880360" y="1143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WHERE o.sales &gt; 15</a:t>
            </a:r>
            <a:endParaRPr lang="en-US" dirty="0" sz="1200"/>
          </a:p>
        </p:txBody>
      </p:sp>
      <p:sp>
        <p:nvSpPr>
          <p:cNvPr id="24" name="a1f_ck23"/>
          <p:cNvSpPr txBox="1"/>
          <p:nvPr/>
        </p:nvSpPr>
        <p:spPr>
          <a:xfrm>
            <a:off x="28803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35 &gt; 15 → TRUE 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kept</a:t>
            </a:r>
            <a:endParaRPr lang="en-US" dirty="0" sz="1100"/>
          </a:p>
        </p:txBody>
      </p:sp>
      <p:sp>
        <p:nvSpPr>
          <p:cNvPr id="25" name="a2f_ck24"/>
          <p:cNvSpPr txBox="1"/>
          <p:nvPr/>
        </p:nvSpPr>
        <p:spPr>
          <a:xfrm>
            <a:off x="288036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&gt; 15 → FALSE 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dropped</a:t>
            </a:r>
            <a:endParaRPr lang="en-US" dirty="0" sz="1100"/>
          </a:p>
        </p:txBody>
      </p:sp>
      <p:sp>
        <p:nvSpPr>
          <p:cNvPr id="26" name="a3f_ck25"/>
          <p:cNvSpPr txBox="1"/>
          <p:nvPr/>
        </p:nvSpPr>
        <p:spPr>
          <a:xfrm>
            <a:off x="2880360" y="2240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&gt; 15 → TRUE  </a:t>
            </a: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kept</a:t>
            </a:r>
            <a:endParaRPr lang="en-US" dirty="0" sz="1100"/>
          </a:p>
        </p:txBody>
      </p:sp>
      <p:sp>
        <p:nvSpPr>
          <p:cNvPr id="27" name="a4f_ck26"/>
          <p:cNvSpPr txBox="1"/>
          <p:nvPr/>
        </p:nvSpPr>
        <p:spPr>
          <a:xfrm>
            <a:off x="288036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NULL &gt; 15 → UNKNOWN 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dropped</a:t>
            </a:r>
            <a:endParaRPr lang="en-US" dirty="0" sz="1100"/>
          </a:p>
        </p:txBody>
      </p:sp>
      <p:sp>
        <p:nvSpPr>
          <p:cNvPr id="28" name="a5f_ck27"/>
          <p:cNvSpPr txBox="1"/>
          <p:nvPr/>
        </p:nvSpPr>
        <p:spPr>
          <a:xfrm>
            <a:off x="288036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NULL &gt; 15 → UNKNOWN  </a:t>
            </a: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dropped</a:t>
            </a:r>
            <a:endParaRPr lang="en-US" dirty="0" sz="1100"/>
          </a:p>
        </p:txBody>
      </p:sp>
      <p:sp>
        <p:nvSpPr>
          <p:cNvPr id="29" name="a6f_rl28"/>
          <p:cNvSpPr txBox="1"/>
          <p:nvPr/>
        </p:nvSpPr>
        <p:spPr>
          <a:xfrm>
            <a:off x="61264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</a:t>
            </a:r>
            <a:endParaRPr lang="en-US" dirty="0" sz="1200"/>
          </a:p>
        </p:txBody>
      </p:sp>
      <p:sp>
        <p:nvSpPr>
          <p:cNvPr id="30" name="a6f_cell29"/>
          <p:cNvSpPr txBox="1"/>
          <p:nvPr/>
        </p:nvSpPr>
        <p:spPr>
          <a:xfrm>
            <a:off x="6126480" y="141732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31" name="a6wd200_cell30"/>
          <p:cNvSpPr txBox="1"/>
          <p:nvPr/>
        </p:nvSpPr>
        <p:spPr>
          <a:xfrm>
            <a:off x="6126480" y="169164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32" name="a6wd400_cell31"/>
          <p:cNvSpPr txBox="1"/>
          <p:nvPr/>
        </p:nvSpPr>
        <p:spPr>
          <a:xfrm>
            <a:off x="6126480" y="196596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33" name="a6f_cell32"/>
          <p:cNvSpPr txBox="1"/>
          <p:nvPr/>
        </p:nvSpPr>
        <p:spPr>
          <a:xfrm>
            <a:off x="6995160" y="141732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34" name="a6wd200_cell33"/>
          <p:cNvSpPr txBox="1"/>
          <p:nvPr/>
        </p:nvSpPr>
        <p:spPr>
          <a:xfrm>
            <a:off x="6995160" y="169164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35" name="a6wd400_cell34"/>
          <p:cNvSpPr txBox="1"/>
          <p:nvPr/>
        </p:nvSpPr>
        <p:spPr>
          <a:xfrm>
            <a:off x="6995160" y="1965960"/>
            <a:ext cx="7315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36" name="a6f_cell35"/>
          <p:cNvSpPr txBox="1"/>
          <p:nvPr/>
        </p:nvSpPr>
        <p:spPr>
          <a:xfrm>
            <a:off x="7726680" y="1417320"/>
            <a:ext cx="59436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37" name="a6wd200_cell36"/>
          <p:cNvSpPr txBox="1"/>
          <p:nvPr/>
        </p:nvSpPr>
        <p:spPr>
          <a:xfrm>
            <a:off x="7726680" y="1691640"/>
            <a:ext cx="59436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8" name="a6wd400_cell37"/>
          <p:cNvSpPr txBox="1"/>
          <p:nvPr/>
        </p:nvSpPr>
        <p:spPr>
          <a:xfrm>
            <a:off x="7726680" y="1965960"/>
            <a:ext cx="59436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9" name="a7u_tb38"/>
          <p:cNvSpPr/>
          <p:nvPr/>
        </p:nvSpPr>
        <p:spPr>
          <a:xfrm>
            <a:off x="457200" y="3429000"/>
            <a:ext cx="4846320" cy="114300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0" name="a7u_tt39"/>
          <p:cNvSpPr txBox="1"/>
          <p:nvPr/>
        </p:nvSpPr>
        <p:spPr>
          <a:xfrm>
            <a:off x="640080" y="3429000"/>
            <a:ext cx="4526280" cy="11430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filter the right (optional) table in ON; filter the left (main) table in WHERE.</a:t>
            </a:r>
            <a:endParaRPr lang="en-US" dirty="0" sz="1300"/>
          </a:p>
        </p:txBody>
      </p:sp>
      <p:sp>
        <p:nvSpPr>
          <p:cNvPr id="41" name="a8u_nb40"/>
          <p:cNvSpPr/>
          <p:nvPr/>
        </p:nvSpPr>
        <p:spPr>
          <a:xfrm>
            <a:off x="5577840" y="3429000"/>
            <a:ext cx="3108960" cy="114300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2" name="a8u_ni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840480"/>
            <a:ext cx="320040" cy="320040"/>
          </a:xfrm>
          <a:prstGeom prst="rect">
            <a:avLst/>
          </a:prstGeom>
        </p:spPr>
      </p:pic>
      <p:sp>
        <p:nvSpPr>
          <p:cNvPr id="43" name="a8u_nt42"/>
          <p:cNvSpPr txBox="1"/>
          <p:nvPr/>
        </p:nvSpPr>
        <p:spPr>
          <a:xfrm>
            <a:off x="6126480" y="342900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5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Want only customers with no order? </a:t>
            </a:r>
            <a:r>
              <a:rPr sz="115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left anti join: WHERE o.customer_id IS NULL.</a:t>
            </a:r>
            <a:endParaRPr lang="en-US" dirty="0" sz="115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JOIN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table to itself to walk a hierarchy</a:t>
            </a:r>
            <a:endParaRPr lang="en-US" dirty="0" sz="1700"/>
          </a:p>
        </p:txBody>
      </p:sp>
      <p:sp>
        <p:nvSpPr>
          <p:cNvPr id="5" name="a0fd300_v4"/>
          <p:cNvSpPr txBox="1"/>
          <p:nvPr/>
        </p:nvSpPr>
        <p:spPr>
          <a:xfrm>
            <a:off x="5288459" y="1800830"/>
            <a:ext cx="1090825" cy="1090825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367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dirty="0" sz="3670"/>
          </a:p>
        </p:txBody>
      </p:sp>
      <p:sp>
        <p:nvSpPr>
          <p:cNvPr id="6" name="a0fd300_v5"/>
          <p:cNvSpPr txBox="1"/>
          <p:nvPr/>
        </p:nvSpPr>
        <p:spPr>
          <a:xfrm>
            <a:off x="7428155" y="1800830"/>
            <a:ext cx="1090825" cy="1090825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367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dirty="0" sz="3670"/>
          </a:p>
        </p:txBody>
      </p:sp>
      <p:sp>
        <p:nvSpPr>
          <p:cNvPr id="7" name="a0fd300_v6"/>
          <p:cNvSpPr/>
          <p:nvPr/>
        </p:nvSpPr>
        <p:spPr>
          <a:xfrm>
            <a:off x="6505149" y="2136469"/>
            <a:ext cx="797142" cy="419548"/>
          </a:xfrm>
          <a:prstGeom prst="leftRightArrow">
            <a:avLst/>
          </a:prstGeom>
          <a:solidFill>
            <a:srgbClr val="A78BFA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Join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table, two roles: employees plays both the employee and the manager</a:t>
            </a:r>
            <a:endParaRPr lang="en-US" dirty="0" sz="1300"/>
          </a:p>
        </p:txBody>
      </p:sp>
      <p:sp>
        <p:nvSpPr>
          <p:cNvPr id="4" name="a1f_l3"/>
          <p:cNvSpPr txBox="1"/>
          <p:nvPr/>
        </p:nvSpPr>
        <p:spPr>
          <a:xfrm>
            <a:off x="45720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dirty="0" sz="1200"/>
          </a:p>
        </p:txBody>
      </p:sp>
      <p:sp>
        <p:nvSpPr>
          <p:cNvPr id="5" name="a1f_cell4"/>
          <p:cNvSpPr txBox="1"/>
          <p:nvPr/>
        </p:nvSpPr>
        <p:spPr>
          <a:xfrm>
            <a:off x="45720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6" name="a1wd200_cell5"/>
          <p:cNvSpPr txBox="1"/>
          <p:nvPr/>
        </p:nvSpPr>
        <p:spPr>
          <a:xfrm>
            <a:off x="457200" y="16916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7" name="a1wd400_cell6"/>
          <p:cNvSpPr txBox="1"/>
          <p:nvPr/>
        </p:nvSpPr>
        <p:spPr>
          <a:xfrm>
            <a:off x="457200" y="19659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8" name="a1wd600_cell7"/>
          <p:cNvSpPr txBox="1"/>
          <p:nvPr/>
        </p:nvSpPr>
        <p:spPr>
          <a:xfrm>
            <a:off x="457200" y="22402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9" name="a1wd800_cell8"/>
          <p:cNvSpPr txBox="1"/>
          <p:nvPr/>
        </p:nvSpPr>
        <p:spPr>
          <a:xfrm>
            <a:off x="457200" y="25146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0" name="a1wd1000_cell9"/>
          <p:cNvSpPr txBox="1"/>
          <p:nvPr/>
        </p:nvSpPr>
        <p:spPr>
          <a:xfrm>
            <a:off x="457200" y="27889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1" name="a1f_cell10"/>
          <p:cNvSpPr txBox="1"/>
          <p:nvPr/>
        </p:nvSpPr>
        <p:spPr>
          <a:xfrm>
            <a:off x="86868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2" name="a1wd200_cell11"/>
          <p:cNvSpPr txBox="1"/>
          <p:nvPr/>
        </p:nvSpPr>
        <p:spPr>
          <a:xfrm>
            <a:off x="868680" y="16916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13" name="a1wd400_cell12"/>
          <p:cNvSpPr txBox="1"/>
          <p:nvPr/>
        </p:nvSpPr>
        <p:spPr>
          <a:xfrm>
            <a:off x="868680" y="19659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14" name="a1wd600_cell13"/>
          <p:cNvSpPr txBox="1"/>
          <p:nvPr/>
        </p:nvSpPr>
        <p:spPr>
          <a:xfrm>
            <a:off x="868680" y="22402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15" name="a1wd800_cell14"/>
          <p:cNvSpPr txBox="1"/>
          <p:nvPr/>
        </p:nvSpPr>
        <p:spPr>
          <a:xfrm>
            <a:off x="868680" y="25146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16" name="a1wd1000_cell15"/>
          <p:cNvSpPr txBox="1"/>
          <p:nvPr/>
        </p:nvSpPr>
        <p:spPr>
          <a:xfrm>
            <a:off x="868680" y="27889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  <p:sp>
        <p:nvSpPr>
          <p:cNvPr id="17" name="a1f_cell16"/>
          <p:cNvSpPr txBox="1"/>
          <p:nvPr/>
        </p:nvSpPr>
        <p:spPr>
          <a:xfrm>
            <a:off x="178308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manager_id</a:t>
            </a:r>
            <a:endParaRPr lang="en-US" dirty="0" sz="1100"/>
          </a:p>
        </p:txBody>
      </p:sp>
      <p:sp>
        <p:nvSpPr>
          <p:cNvPr id="18" name="a1wd200_cell17"/>
          <p:cNvSpPr txBox="1"/>
          <p:nvPr/>
        </p:nvSpPr>
        <p:spPr>
          <a:xfrm>
            <a:off x="1783080" y="16916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19" name="a1wd400_cell18"/>
          <p:cNvSpPr txBox="1"/>
          <p:nvPr/>
        </p:nvSpPr>
        <p:spPr>
          <a:xfrm>
            <a:off x="1783080" y="19659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0" name="a1wd600_cell19"/>
          <p:cNvSpPr txBox="1"/>
          <p:nvPr/>
        </p:nvSpPr>
        <p:spPr>
          <a:xfrm>
            <a:off x="1783080" y="22402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1" name="a1wd800_cell20"/>
          <p:cNvSpPr txBox="1"/>
          <p:nvPr/>
        </p:nvSpPr>
        <p:spPr>
          <a:xfrm>
            <a:off x="1783080" y="25146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2" name="a1wd1000_cell21"/>
          <p:cNvSpPr txBox="1"/>
          <p:nvPr/>
        </p:nvSpPr>
        <p:spPr>
          <a:xfrm>
            <a:off x="1783080" y="27889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23" name="a2f_ar22"/>
          <p:cNvSpPr/>
          <p:nvPr/>
        </p:nvSpPr>
        <p:spPr>
          <a:xfrm>
            <a:off x="3017520" y="2103120"/>
            <a:ext cx="4572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24" name="a2f_at23"/>
          <p:cNvSpPr txBox="1"/>
          <p:nvPr/>
        </p:nvSpPr>
        <p:spPr>
          <a:xfrm>
            <a:off x="2788920" y="24231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95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manager_id points to another id</a:t>
            </a:r>
            <a:endParaRPr lang="en-US" dirty="0" sz="950"/>
          </a:p>
        </p:txBody>
      </p:sp>
      <p:sp>
        <p:nvSpPr>
          <p:cNvPr id="25" name="a2f_l24"/>
          <p:cNvSpPr txBox="1"/>
          <p:nvPr/>
        </p:nvSpPr>
        <p:spPr>
          <a:xfrm>
            <a:off x="493776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chart</a:t>
            </a:r>
            <a:endParaRPr lang="en-US" dirty="0" sz="1200"/>
          </a:p>
        </p:txBody>
      </p:sp>
      <p:sp>
        <p:nvSpPr>
          <p:cNvPr id="26" name="a2fd200_ob25"/>
          <p:cNvSpPr txBox="1"/>
          <p:nvPr/>
        </p:nvSpPr>
        <p:spPr>
          <a:xfrm>
            <a:off x="6080760" y="1417320"/>
            <a:ext cx="1143000" cy="365760"/>
          </a:xfrm>
          <a:prstGeom prst="roundRect">
            <a:avLst>
              <a:gd name="adj" fmla="val 16000"/>
            </a:avLst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200"/>
          </a:p>
        </p:txBody>
      </p:sp>
      <p:sp>
        <p:nvSpPr>
          <p:cNvPr id="27" name="a2fd200_ob26"/>
          <p:cNvSpPr txBox="1"/>
          <p:nvPr/>
        </p:nvSpPr>
        <p:spPr>
          <a:xfrm>
            <a:off x="4937760" y="2148840"/>
            <a:ext cx="1143000" cy="365760"/>
          </a:xfrm>
          <a:prstGeom prst="roundRect">
            <a:avLst>
              <a:gd name="adj" fmla="val 16000"/>
            </a:avLst>
          </a:prstGeom>
          <a:solidFill>
            <a:srgbClr val="EDE9FE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200"/>
          </a:p>
        </p:txBody>
      </p:sp>
      <p:sp>
        <p:nvSpPr>
          <p:cNvPr id="28" name="a2fd200_ob27"/>
          <p:cNvSpPr txBox="1"/>
          <p:nvPr/>
        </p:nvSpPr>
        <p:spPr>
          <a:xfrm>
            <a:off x="7223760" y="2148840"/>
            <a:ext cx="1143000" cy="365760"/>
          </a:xfrm>
          <a:prstGeom prst="roundRect">
            <a:avLst>
              <a:gd name="adj" fmla="val 16000"/>
            </a:avLst>
          </a:prstGeom>
          <a:solidFill>
            <a:srgbClr val="EDE9FE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200"/>
          </a:p>
        </p:txBody>
      </p:sp>
      <p:sp>
        <p:nvSpPr>
          <p:cNvPr id="29" name="a2fd200_ob28"/>
          <p:cNvSpPr txBox="1"/>
          <p:nvPr/>
        </p:nvSpPr>
        <p:spPr>
          <a:xfrm>
            <a:off x="4937760" y="2880360"/>
            <a:ext cx="1143000" cy="365760"/>
          </a:xfrm>
          <a:prstGeom prst="roundRect">
            <a:avLst>
              <a:gd name="adj" fmla="val 16000"/>
            </a:avLst>
          </a:prstGeom>
          <a:solidFill>
            <a:srgbClr val="EDE9FE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200"/>
          </a:p>
        </p:txBody>
      </p:sp>
      <p:sp>
        <p:nvSpPr>
          <p:cNvPr id="30" name="a2fd200_ob29"/>
          <p:cNvSpPr txBox="1"/>
          <p:nvPr/>
        </p:nvSpPr>
        <p:spPr>
          <a:xfrm>
            <a:off x="7223760" y="2880360"/>
            <a:ext cx="1143000" cy="365760"/>
          </a:xfrm>
          <a:prstGeom prst="roundRect">
            <a:avLst>
              <a:gd name="adj" fmla="val 16000"/>
            </a:avLst>
          </a:prstGeom>
          <a:solidFill>
            <a:srgbClr val="EDE9FE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200"/>
          </a:p>
        </p:txBody>
      </p:sp>
      <p:cxnSp>
        <p:nvCxnSpPr>
          <p:cNvPr id="31" name="a2fd200_ol30"/>
          <p:cNvCxnSpPr/>
          <p:nvPr/>
        </p:nvCxnSpPr>
        <p:spPr>
          <a:xfrm flipH="1">
            <a:off x="5509260" y="1783080"/>
            <a:ext cx="1143000" cy="365760"/>
          </a:xfrm>
          <a:prstGeom prst="line">
            <a:avLst/>
          </a:prstGeom>
          <a:ln w="19050">
            <a:solidFill>
              <a:srgbClr val="A78BFA"/>
            </a:solidFill>
          </a:ln>
        </p:spPr>
      </p:cxnSp>
      <p:cxnSp>
        <p:nvCxnSpPr>
          <p:cNvPr id="32" name="a2fd200_ol31"/>
          <p:cNvCxnSpPr/>
          <p:nvPr/>
        </p:nvCxnSpPr>
        <p:spPr>
          <a:xfrm>
            <a:off x="6652260" y="1783080"/>
            <a:ext cx="1143000" cy="365760"/>
          </a:xfrm>
          <a:prstGeom prst="line">
            <a:avLst/>
          </a:prstGeom>
          <a:ln w="19050">
            <a:solidFill>
              <a:srgbClr val="A78BFA"/>
            </a:solidFill>
          </a:ln>
        </p:spPr>
      </p:cxnSp>
      <p:cxnSp>
        <p:nvCxnSpPr>
          <p:cNvPr id="33" name="a2fd200_ol32"/>
          <p:cNvCxnSpPr/>
          <p:nvPr/>
        </p:nvCxnSpPr>
        <p:spPr>
          <a:xfrm>
            <a:off x="5509260" y="2514600"/>
            <a:ext cx="0" cy="365760"/>
          </a:xfrm>
          <a:prstGeom prst="line">
            <a:avLst/>
          </a:prstGeom>
          <a:ln w="19050">
            <a:solidFill>
              <a:srgbClr val="A78BFA"/>
            </a:solidFill>
          </a:ln>
        </p:spPr>
      </p:cxnSp>
      <p:cxnSp>
        <p:nvCxnSpPr>
          <p:cNvPr id="34" name="a2fd200_ol33"/>
          <p:cNvCxnSpPr/>
          <p:nvPr/>
        </p:nvCxnSpPr>
        <p:spPr>
          <a:xfrm>
            <a:off x="7795260" y="2514600"/>
            <a:ext cx="0" cy="365760"/>
          </a:xfrm>
          <a:prstGeom prst="line">
            <a:avLst/>
          </a:prstGeom>
          <a:ln w="19050">
            <a:solidFill>
              <a:srgbClr val="A78BFA"/>
            </a:solidFill>
          </a:ln>
        </p:spPr>
      </p:cxnSp>
      <p:sp>
        <p:nvSpPr>
          <p:cNvPr id="35" name="a3f_codebg34"/>
          <p:cNvSpPr/>
          <p:nvPr/>
        </p:nvSpPr>
        <p:spPr>
          <a:xfrm>
            <a:off x="457200" y="3429000"/>
            <a:ext cx="4480560" cy="122529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a3wd0_code35"/>
          <p:cNvSpPr txBox="1"/>
          <p:nvPr/>
        </p:nvSpPr>
        <p:spPr>
          <a:xfrm>
            <a:off x="640080" y="35661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.first_name,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</a:t>
            </a:r>
            <a:endParaRPr lang="en-US" dirty="0" sz="1100"/>
          </a:p>
        </p:txBody>
      </p:sp>
      <p:sp>
        <p:nvSpPr>
          <p:cNvPr id="37" name="a3wd150_code36"/>
          <p:cNvSpPr txBox="1"/>
          <p:nvPr/>
        </p:nvSpPr>
        <p:spPr>
          <a:xfrm>
            <a:off x="640080" y="3803904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dirty="0" sz="1100"/>
          </a:p>
        </p:txBody>
      </p:sp>
      <p:sp>
        <p:nvSpPr>
          <p:cNvPr id="38" name="a3wd300_code37"/>
          <p:cNvSpPr txBox="1"/>
          <p:nvPr/>
        </p:nvSpPr>
        <p:spPr>
          <a:xfrm>
            <a:off x="640080" y="404164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dirty="0" sz="1100"/>
          </a:p>
        </p:txBody>
      </p:sp>
      <p:sp>
        <p:nvSpPr>
          <p:cNvPr id="39" name="a3wd450_code38"/>
          <p:cNvSpPr txBox="1"/>
          <p:nvPr/>
        </p:nvSpPr>
        <p:spPr>
          <a:xfrm>
            <a:off x="640080" y="4279392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.manager_id = </a:t>
            </a:r>
            <a:r>
              <a:rPr sz="11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.id;</a:t>
            </a:r>
            <a:endParaRPr lang="en-US" dirty="0" sz="1100"/>
          </a:p>
        </p:txBody>
      </p:sp>
      <p:sp>
        <p:nvSpPr>
          <p:cNvPr id="40" name="a4u_nb39"/>
          <p:cNvSpPr/>
          <p:nvPr/>
        </p:nvSpPr>
        <p:spPr>
          <a:xfrm>
            <a:off x="5212080" y="3474720"/>
            <a:ext cx="3474720" cy="96012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1" name="a4u_ni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3794760"/>
            <a:ext cx="320040" cy="320040"/>
          </a:xfrm>
          <a:prstGeom prst="rect">
            <a:avLst/>
          </a:prstGeom>
        </p:spPr>
      </p:pic>
      <p:sp>
        <p:nvSpPr>
          <p:cNvPr id="42" name="a4u_nt41"/>
          <p:cNvSpPr txBox="1"/>
          <p:nvPr/>
        </p:nvSpPr>
        <p:spPr>
          <a:xfrm>
            <a:off x="5760720" y="347472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Aliases are required.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the employee copy, m = the manager copy — without them SQL cannot tell the two apart.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Join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employee with the name of their manager — including the top boss.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931920" cy="2066544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.id,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.first_name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employee,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.first_name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manager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.manager_id =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.id;</a:t>
            </a:r>
            <a:endParaRPr lang="en-US" dirty="0" sz="1200"/>
          </a:p>
        </p:txBody>
      </p:sp>
      <p:sp>
        <p:nvSpPr>
          <p:cNvPr id="12" name="a2f_l11"/>
          <p:cNvSpPr txBox="1"/>
          <p:nvPr/>
        </p:nvSpPr>
        <p:spPr>
          <a:xfrm>
            <a:off x="470916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3" name="a2f_cell12"/>
          <p:cNvSpPr txBox="1"/>
          <p:nvPr/>
        </p:nvSpPr>
        <p:spPr>
          <a:xfrm>
            <a:off x="4709160" y="192024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4" name="a2wd200_cell13"/>
          <p:cNvSpPr txBox="1"/>
          <p:nvPr/>
        </p:nvSpPr>
        <p:spPr>
          <a:xfrm>
            <a:off x="4709160" y="21945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5" name="a2wd400_cell14"/>
          <p:cNvSpPr txBox="1"/>
          <p:nvPr/>
        </p:nvSpPr>
        <p:spPr>
          <a:xfrm>
            <a:off x="4709160" y="24688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6" name="a2wd600_cell15"/>
          <p:cNvSpPr txBox="1"/>
          <p:nvPr/>
        </p:nvSpPr>
        <p:spPr>
          <a:xfrm>
            <a:off x="4709160" y="27432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7" name="a2wd800_cell16"/>
          <p:cNvSpPr txBox="1"/>
          <p:nvPr/>
        </p:nvSpPr>
        <p:spPr>
          <a:xfrm>
            <a:off x="4709160" y="30175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8" name="a2wd1000_cell17"/>
          <p:cNvSpPr txBox="1"/>
          <p:nvPr/>
        </p:nvSpPr>
        <p:spPr>
          <a:xfrm>
            <a:off x="4709160" y="32918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9" name="a2f_cell18"/>
          <p:cNvSpPr txBox="1"/>
          <p:nvPr/>
        </p:nvSpPr>
        <p:spPr>
          <a:xfrm>
            <a:off x="5120640" y="19202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dirty="0" sz="1100"/>
          </a:p>
        </p:txBody>
      </p:sp>
      <p:sp>
        <p:nvSpPr>
          <p:cNvPr id="20" name="a2wd200_cell19"/>
          <p:cNvSpPr txBox="1"/>
          <p:nvPr/>
        </p:nvSpPr>
        <p:spPr>
          <a:xfrm>
            <a:off x="512064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1" name="a2wd400_cell20"/>
          <p:cNvSpPr txBox="1"/>
          <p:nvPr/>
        </p:nvSpPr>
        <p:spPr>
          <a:xfrm>
            <a:off x="512064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22" name="a2wd600_cell21"/>
          <p:cNvSpPr txBox="1"/>
          <p:nvPr/>
        </p:nvSpPr>
        <p:spPr>
          <a:xfrm>
            <a:off x="512064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23" name="a2wd800_cell22"/>
          <p:cNvSpPr txBox="1"/>
          <p:nvPr/>
        </p:nvSpPr>
        <p:spPr>
          <a:xfrm>
            <a:off x="5120640" y="301752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</a:t>
            </a:r>
            <a:endParaRPr lang="en-US" dirty="0" sz="1100"/>
          </a:p>
        </p:txBody>
      </p:sp>
      <p:sp>
        <p:nvSpPr>
          <p:cNvPr id="24" name="a2wd1000_cell23"/>
          <p:cNvSpPr txBox="1"/>
          <p:nvPr/>
        </p:nvSpPr>
        <p:spPr>
          <a:xfrm>
            <a:off x="5120640" y="329184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dirty="0" sz="1100"/>
          </a:p>
        </p:txBody>
      </p:sp>
      <p:sp>
        <p:nvSpPr>
          <p:cNvPr id="25" name="a2f_cell24"/>
          <p:cNvSpPr txBox="1"/>
          <p:nvPr/>
        </p:nvSpPr>
        <p:spPr>
          <a:xfrm>
            <a:off x="6217920" y="1920240"/>
            <a:ext cx="10972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dirty="0" sz="1100"/>
          </a:p>
        </p:txBody>
      </p:sp>
      <p:sp>
        <p:nvSpPr>
          <p:cNvPr id="26" name="a2wd200_cell25"/>
          <p:cNvSpPr txBox="1"/>
          <p:nvPr/>
        </p:nvSpPr>
        <p:spPr>
          <a:xfrm>
            <a:off x="6217920" y="21945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27" name="a2wd400_cell26"/>
          <p:cNvSpPr txBox="1"/>
          <p:nvPr/>
        </p:nvSpPr>
        <p:spPr>
          <a:xfrm>
            <a:off x="6217920" y="24688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8" name="a2wd600_cell27"/>
          <p:cNvSpPr txBox="1"/>
          <p:nvPr/>
        </p:nvSpPr>
        <p:spPr>
          <a:xfrm>
            <a:off x="6217920" y="27432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</a:t>
            </a:r>
            <a:endParaRPr lang="en-US" dirty="0" sz="1100"/>
          </a:p>
        </p:txBody>
      </p:sp>
      <p:sp>
        <p:nvSpPr>
          <p:cNvPr id="29" name="a2wd800_cell28"/>
          <p:cNvSpPr txBox="1"/>
          <p:nvPr/>
        </p:nvSpPr>
        <p:spPr>
          <a:xfrm>
            <a:off x="6217920" y="301752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</a:t>
            </a:r>
            <a:endParaRPr lang="en-US" dirty="0" sz="1100"/>
          </a:p>
        </p:txBody>
      </p:sp>
      <p:sp>
        <p:nvSpPr>
          <p:cNvPr id="30" name="a2wd1000_cell29"/>
          <p:cNvSpPr txBox="1"/>
          <p:nvPr/>
        </p:nvSpPr>
        <p:spPr>
          <a:xfrm>
            <a:off x="6217920" y="329184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</a:t>
            </a:r>
            <a:endParaRPr lang="en-US" dirty="0" sz="1100"/>
          </a:p>
        </p:txBody>
      </p:sp>
      <p:sp>
        <p:nvSpPr>
          <p:cNvPr id="31" name="a3u_nb30"/>
          <p:cNvSpPr/>
          <p:nvPr/>
        </p:nvSpPr>
        <p:spPr>
          <a:xfrm>
            <a:off x="4709160" y="3703320"/>
            <a:ext cx="3977640" cy="10058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a3u_ni3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4046220"/>
            <a:ext cx="320040" cy="320040"/>
          </a:xfrm>
          <a:prstGeom prst="rect">
            <a:avLst/>
          </a:prstGeom>
        </p:spPr>
      </p:pic>
      <p:sp>
        <p:nvSpPr>
          <p:cNvPr id="33" name="a3u_nt32"/>
          <p:cNvSpPr txBox="1"/>
          <p:nvPr/>
        </p:nvSpPr>
        <p:spPr>
          <a:xfrm>
            <a:off x="5257800" y="37033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 LEFT JOIN?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has no manager. An INNER JOIN would drop him — the top of the hierarchy would vanish.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NON-EQUI JOIN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rows on a range instead of an exact key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225527" y="2451130"/>
            <a:ext cx="1090825" cy="377593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6358307" y="2451130"/>
            <a:ext cx="1090825" cy="377593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7491088" y="2451130"/>
            <a:ext cx="1090825" cy="377593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6631014" y="1779853"/>
            <a:ext cx="545413" cy="545413"/>
          </a:xfrm>
          <a:prstGeom prst="flowChartMerge">
            <a:avLst/>
          </a:prstGeom>
          <a:solidFill>
            <a:srgbClr val="F8FAFC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Non-Equi Join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 condition can use BETWEEN, &lt;, &gt; — not only =</a:t>
            </a:r>
            <a:endParaRPr lang="en-US" dirty="0" sz="1300"/>
          </a:p>
        </p:txBody>
      </p:sp>
      <p:sp>
        <p:nvSpPr>
          <p:cNvPr id="4" name="a1f_bd3"/>
          <p:cNvSpPr txBox="1"/>
          <p:nvPr/>
        </p:nvSpPr>
        <p:spPr>
          <a:xfrm>
            <a:off x="731520" y="1783080"/>
            <a:ext cx="3072384" cy="411480"/>
          </a:xfrm>
          <a:prstGeom prst="rect">
            <a:avLst/>
          </a:prstGeom>
          <a:solidFill>
            <a:srgbClr val="FFEDD5"/>
          </a:solidFill>
          <a:ln w="12700">
            <a:solidFill>
              <a:srgbClr val="FFFFFF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 0–399</a:t>
            </a:r>
            <a:endParaRPr lang="en-US" dirty="0" sz="1200"/>
          </a:p>
        </p:txBody>
      </p:sp>
      <p:sp>
        <p:nvSpPr>
          <p:cNvPr id="5" name="a1f_bd4"/>
          <p:cNvSpPr txBox="1"/>
          <p:nvPr/>
        </p:nvSpPr>
        <p:spPr>
          <a:xfrm>
            <a:off x="3803904" y="1783080"/>
            <a:ext cx="3072384" cy="41148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 400–799</a:t>
            </a:r>
            <a:endParaRPr lang="en-US" dirty="0" sz="1200"/>
          </a:p>
        </p:txBody>
      </p:sp>
      <p:sp>
        <p:nvSpPr>
          <p:cNvPr id="6" name="a1f_bd5"/>
          <p:cNvSpPr txBox="1"/>
          <p:nvPr/>
        </p:nvSpPr>
        <p:spPr>
          <a:xfrm>
            <a:off x="6876288" y="1783080"/>
            <a:ext cx="1536192" cy="411480"/>
          </a:xfrm>
          <a:prstGeom prst="rect">
            <a:avLst/>
          </a:prstGeom>
          <a:solidFill>
            <a:srgbClr val="EDE9FE"/>
          </a:solidFill>
          <a:ln w="12700">
            <a:solidFill>
              <a:srgbClr val="FFFFFF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 800–1000</a:t>
            </a:r>
            <a:endParaRPr lang="en-US" dirty="0" sz="1200"/>
          </a:p>
        </p:txBody>
      </p:sp>
      <p:sp>
        <p:nvSpPr>
          <p:cNvPr id="7" name="a1f_tk6"/>
          <p:cNvSpPr txBox="1"/>
          <p:nvPr/>
        </p:nvSpPr>
        <p:spPr>
          <a:xfrm>
            <a:off x="457200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900"/>
          </a:p>
        </p:txBody>
      </p:sp>
      <p:sp>
        <p:nvSpPr>
          <p:cNvPr id="8" name="a1f_tk7"/>
          <p:cNvSpPr txBox="1"/>
          <p:nvPr/>
        </p:nvSpPr>
        <p:spPr>
          <a:xfrm>
            <a:off x="3529584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dirty="0" sz="900"/>
          </a:p>
        </p:txBody>
      </p:sp>
      <p:sp>
        <p:nvSpPr>
          <p:cNvPr id="9" name="a1f_tk8"/>
          <p:cNvSpPr txBox="1"/>
          <p:nvPr/>
        </p:nvSpPr>
        <p:spPr>
          <a:xfrm>
            <a:off x="6601968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dirty="0" sz="900"/>
          </a:p>
        </p:txBody>
      </p:sp>
      <p:sp>
        <p:nvSpPr>
          <p:cNvPr id="10" name="a1f_tk9"/>
          <p:cNvSpPr txBox="1"/>
          <p:nvPr/>
        </p:nvSpPr>
        <p:spPr>
          <a:xfrm>
            <a:off x="8138160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dirty="0" sz="900"/>
          </a:p>
        </p:txBody>
      </p:sp>
      <p:sp>
        <p:nvSpPr>
          <p:cNvPr id="11" name="a2fd0_mk10"/>
          <p:cNvSpPr/>
          <p:nvPr/>
        </p:nvSpPr>
        <p:spPr>
          <a:xfrm>
            <a:off x="658368" y="1572768"/>
            <a:ext cx="146304" cy="14630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a2fd0_ml11"/>
          <p:cNvSpPr txBox="1"/>
          <p:nvPr/>
        </p:nvSpPr>
        <p:spPr>
          <a:xfrm>
            <a:off x="320040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5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0</a:t>
            </a:r>
            <a:endParaRPr lang="en-US" dirty="0" sz="950"/>
          </a:p>
        </p:txBody>
      </p:sp>
      <p:sp>
        <p:nvSpPr>
          <p:cNvPr id="13" name="a2fd100_mk12"/>
          <p:cNvSpPr/>
          <p:nvPr/>
        </p:nvSpPr>
        <p:spPr>
          <a:xfrm>
            <a:off x="3346704" y="1572768"/>
            <a:ext cx="146304" cy="14630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a2fd100_ml13"/>
          <p:cNvSpPr txBox="1"/>
          <p:nvPr/>
        </p:nvSpPr>
        <p:spPr>
          <a:xfrm>
            <a:off x="3008376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5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350</a:t>
            </a:r>
            <a:endParaRPr lang="en-US" dirty="0" sz="950"/>
          </a:p>
        </p:txBody>
      </p:sp>
      <p:sp>
        <p:nvSpPr>
          <p:cNvPr id="15" name="a2fd200_mk14"/>
          <p:cNvSpPr/>
          <p:nvPr/>
        </p:nvSpPr>
        <p:spPr>
          <a:xfrm>
            <a:off x="4498848" y="1572768"/>
            <a:ext cx="146304" cy="14630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a2fd200_ml15"/>
          <p:cNvSpPr txBox="1"/>
          <p:nvPr/>
        </p:nvSpPr>
        <p:spPr>
          <a:xfrm>
            <a:off x="4160520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5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500</a:t>
            </a:r>
            <a:endParaRPr lang="en-US" dirty="0" sz="950"/>
          </a:p>
        </p:txBody>
      </p:sp>
      <p:sp>
        <p:nvSpPr>
          <p:cNvPr id="17" name="a2fd300_mk16"/>
          <p:cNvSpPr/>
          <p:nvPr/>
        </p:nvSpPr>
        <p:spPr>
          <a:xfrm>
            <a:off x="6419088" y="1572768"/>
            <a:ext cx="146304" cy="14630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a2fd300_ml17"/>
          <p:cNvSpPr txBox="1"/>
          <p:nvPr/>
        </p:nvSpPr>
        <p:spPr>
          <a:xfrm>
            <a:off x="6080760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5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750</a:t>
            </a:r>
            <a:endParaRPr lang="en-US" dirty="0" sz="950"/>
          </a:p>
        </p:txBody>
      </p:sp>
      <p:sp>
        <p:nvSpPr>
          <p:cNvPr id="19" name="a2fd400_mk18"/>
          <p:cNvSpPr/>
          <p:nvPr/>
        </p:nvSpPr>
        <p:spPr>
          <a:xfrm>
            <a:off x="7571232" y="1572768"/>
            <a:ext cx="146304" cy="14630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a2fd400_ml19"/>
          <p:cNvSpPr txBox="1"/>
          <p:nvPr/>
        </p:nvSpPr>
        <p:spPr>
          <a:xfrm>
            <a:off x="7232904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5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900</a:t>
            </a:r>
            <a:endParaRPr lang="en-US" dirty="0" sz="950"/>
          </a:p>
        </p:txBody>
      </p:sp>
      <p:sp>
        <p:nvSpPr>
          <p:cNvPr id="21" name="a3f_l20"/>
          <p:cNvSpPr txBox="1"/>
          <p:nvPr/>
        </p:nvSpPr>
        <p:spPr>
          <a:xfrm>
            <a:off x="457200" y="2560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score_bands</a:t>
            </a:r>
            <a:endParaRPr lang="en-US" dirty="0" sz="1200"/>
          </a:p>
        </p:txBody>
      </p:sp>
      <p:sp>
        <p:nvSpPr>
          <p:cNvPr id="22" name="a3f_cell21"/>
          <p:cNvSpPr txBox="1"/>
          <p:nvPr/>
        </p:nvSpPr>
        <p:spPr>
          <a:xfrm>
            <a:off x="457200" y="283464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dirty="0" sz="1100"/>
          </a:p>
        </p:txBody>
      </p:sp>
      <p:sp>
        <p:nvSpPr>
          <p:cNvPr id="23" name="a3wd200_cell22"/>
          <p:cNvSpPr txBox="1"/>
          <p:nvPr/>
        </p:nvSpPr>
        <p:spPr>
          <a:xfrm>
            <a:off x="457200" y="310896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dirty="0" sz="1100"/>
          </a:p>
        </p:txBody>
      </p:sp>
      <p:sp>
        <p:nvSpPr>
          <p:cNvPr id="24" name="a3wd400_cell23"/>
          <p:cNvSpPr txBox="1"/>
          <p:nvPr/>
        </p:nvSpPr>
        <p:spPr>
          <a:xfrm>
            <a:off x="457200" y="338328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dirty="0" sz="1100"/>
          </a:p>
        </p:txBody>
      </p:sp>
      <p:sp>
        <p:nvSpPr>
          <p:cNvPr id="25" name="a3wd600_cell24"/>
          <p:cNvSpPr txBox="1"/>
          <p:nvPr/>
        </p:nvSpPr>
        <p:spPr>
          <a:xfrm>
            <a:off x="457200" y="365760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dirty="0" sz="1100"/>
          </a:p>
        </p:txBody>
      </p:sp>
      <p:sp>
        <p:nvSpPr>
          <p:cNvPr id="26" name="a3f_cell25"/>
          <p:cNvSpPr txBox="1"/>
          <p:nvPr/>
        </p:nvSpPr>
        <p:spPr>
          <a:xfrm>
            <a:off x="1280160" y="283464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min_score</a:t>
            </a:r>
            <a:endParaRPr lang="en-US" dirty="0" sz="1100"/>
          </a:p>
        </p:txBody>
      </p:sp>
      <p:sp>
        <p:nvSpPr>
          <p:cNvPr id="27" name="a3wd200_cell26"/>
          <p:cNvSpPr txBox="1"/>
          <p:nvPr/>
        </p:nvSpPr>
        <p:spPr>
          <a:xfrm>
            <a:off x="1280160" y="310896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8" name="a3wd400_cell27"/>
          <p:cNvSpPr txBox="1"/>
          <p:nvPr/>
        </p:nvSpPr>
        <p:spPr>
          <a:xfrm>
            <a:off x="1280160" y="338328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dirty="0" sz="1100"/>
          </a:p>
        </p:txBody>
      </p:sp>
      <p:sp>
        <p:nvSpPr>
          <p:cNvPr id="29" name="a3wd600_cell28"/>
          <p:cNvSpPr txBox="1"/>
          <p:nvPr/>
        </p:nvSpPr>
        <p:spPr>
          <a:xfrm>
            <a:off x="1280160" y="365760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dirty="0" sz="1100"/>
          </a:p>
        </p:txBody>
      </p:sp>
      <p:sp>
        <p:nvSpPr>
          <p:cNvPr id="30" name="a3f_cell29"/>
          <p:cNvSpPr txBox="1"/>
          <p:nvPr/>
        </p:nvSpPr>
        <p:spPr>
          <a:xfrm>
            <a:off x="2103120" y="283464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max_score</a:t>
            </a:r>
            <a:endParaRPr lang="en-US" dirty="0" sz="1100"/>
          </a:p>
        </p:txBody>
      </p:sp>
      <p:sp>
        <p:nvSpPr>
          <p:cNvPr id="31" name="a3wd200_cell30"/>
          <p:cNvSpPr txBox="1"/>
          <p:nvPr/>
        </p:nvSpPr>
        <p:spPr>
          <a:xfrm>
            <a:off x="2103120" y="310896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</a:t>
            </a:r>
            <a:endParaRPr lang="en-US" dirty="0" sz="1100"/>
          </a:p>
        </p:txBody>
      </p:sp>
      <p:sp>
        <p:nvSpPr>
          <p:cNvPr id="32" name="a3wd400_cell31"/>
          <p:cNvSpPr txBox="1"/>
          <p:nvPr/>
        </p:nvSpPr>
        <p:spPr>
          <a:xfrm>
            <a:off x="2103120" y="338328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799</a:t>
            </a:r>
            <a:endParaRPr lang="en-US" dirty="0" sz="1100"/>
          </a:p>
        </p:txBody>
      </p:sp>
      <p:sp>
        <p:nvSpPr>
          <p:cNvPr id="33" name="a3wd600_cell32"/>
          <p:cNvSpPr txBox="1"/>
          <p:nvPr/>
        </p:nvSpPr>
        <p:spPr>
          <a:xfrm>
            <a:off x="2103120" y="365760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dirty="0" sz="1100"/>
          </a:p>
        </p:txBody>
      </p:sp>
      <p:sp>
        <p:nvSpPr>
          <p:cNvPr id="34" name="a4f_codebg33"/>
          <p:cNvSpPr/>
          <p:nvPr/>
        </p:nvSpPr>
        <p:spPr>
          <a:xfrm>
            <a:off x="3200400" y="2834640"/>
            <a:ext cx="3566160" cy="1463040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a4wd0_code34"/>
          <p:cNvSpPr txBox="1"/>
          <p:nvPr/>
        </p:nvSpPr>
        <p:spPr>
          <a:xfrm>
            <a:off x="3383280" y="29718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.first_name,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.band</a:t>
            </a:r>
            <a:endParaRPr lang="en-US" dirty="0" sz="1100"/>
          </a:p>
        </p:txBody>
      </p:sp>
      <p:sp>
        <p:nvSpPr>
          <p:cNvPr id="36" name="a4wd150_code35"/>
          <p:cNvSpPr txBox="1"/>
          <p:nvPr/>
        </p:nvSpPr>
        <p:spPr>
          <a:xfrm>
            <a:off x="3383280" y="320954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100"/>
          </a:p>
        </p:txBody>
      </p:sp>
      <p:sp>
        <p:nvSpPr>
          <p:cNvPr id="37" name="a4wd300_code36"/>
          <p:cNvSpPr txBox="1"/>
          <p:nvPr/>
        </p:nvSpPr>
        <p:spPr>
          <a:xfrm>
            <a:off x="3383280" y="34472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score_bands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100"/>
          </a:p>
        </p:txBody>
      </p:sp>
      <p:sp>
        <p:nvSpPr>
          <p:cNvPr id="38" name="a4wd450_code37"/>
          <p:cNvSpPr txBox="1"/>
          <p:nvPr/>
        </p:nvSpPr>
        <p:spPr>
          <a:xfrm>
            <a:off x="3383280" y="368503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.score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.min_score</a:t>
            </a:r>
            <a:endParaRPr lang="en-US" dirty="0" sz="1100"/>
          </a:p>
        </p:txBody>
      </p:sp>
      <p:sp>
        <p:nvSpPr>
          <p:cNvPr id="39" name="a4wd600_code38"/>
          <p:cNvSpPr txBox="1"/>
          <p:nvPr/>
        </p:nvSpPr>
        <p:spPr>
          <a:xfrm>
            <a:off x="3383280" y="392277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.max_score;</a:t>
            </a:r>
            <a:endParaRPr lang="en-US" dirty="0" sz="1100"/>
          </a:p>
        </p:txBody>
      </p:sp>
      <p:sp>
        <p:nvSpPr>
          <p:cNvPr id="40" name="a5u_tb39"/>
          <p:cNvSpPr/>
          <p:nvPr/>
        </p:nvSpPr>
        <p:spPr>
          <a:xfrm>
            <a:off x="6995160" y="2834640"/>
            <a:ext cx="1691640" cy="146304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1" name="a5u_tt40"/>
          <p:cNvSpPr txBox="1"/>
          <p:nvPr/>
        </p:nvSpPr>
        <p:spPr>
          <a:xfrm>
            <a:off x="7178040" y="2834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key: each score falls inside exactly one range.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Non-Equi Join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customer to a score band: Bronze, Silver or Gold.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93192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.score,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.band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score_bands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.score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.min_score</a:t>
            </a:r>
            <a:endParaRPr lang="en-US" dirty="0" sz="12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5753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0AB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.max_score;</a:t>
            </a:r>
            <a:endParaRPr lang="en-US" dirty="0" sz="1200"/>
          </a:p>
        </p:txBody>
      </p:sp>
      <p:sp>
        <p:nvSpPr>
          <p:cNvPr id="13" name="a2f_l12"/>
          <p:cNvSpPr txBox="1"/>
          <p:nvPr/>
        </p:nvSpPr>
        <p:spPr>
          <a:xfrm>
            <a:off x="470916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13"/>
          <p:cNvSpPr txBox="1"/>
          <p:nvPr/>
        </p:nvSpPr>
        <p:spPr>
          <a:xfrm>
            <a:off x="4709160" y="192024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5" name="a2wd200_cell14"/>
          <p:cNvSpPr txBox="1"/>
          <p:nvPr/>
        </p:nvSpPr>
        <p:spPr>
          <a:xfrm>
            <a:off x="4709160" y="21945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6" name="a2wd400_cell15"/>
          <p:cNvSpPr txBox="1"/>
          <p:nvPr/>
        </p:nvSpPr>
        <p:spPr>
          <a:xfrm>
            <a:off x="4709160" y="246888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7" name="a2wd600_cell16"/>
          <p:cNvSpPr txBox="1"/>
          <p:nvPr/>
        </p:nvSpPr>
        <p:spPr>
          <a:xfrm>
            <a:off x="4709160" y="274320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8" name="a2wd800_cell17"/>
          <p:cNvSpPr txBox="1"/>
          <p:nvPr/>
        </p:nvSpPr>
        <p:spPr>
          <a:xfrm>
            <a:off x="4709160" y="301752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9" name="a2wd1000_cell18"/>
          <p:cNvSpPr txBox="1"/>
          <p:nvPr/>
        </p:nvSpPr>
        <p:spPr>
          <a:xfrm>
            <a:off x="4709160" y="329184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5715000" y="1920240"/>
            <a:ext cx="73152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5715000" y="21945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5715000" y="24688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5715000" y="27432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24" name="a2wd800_cell23"/>
          <p:cNvSpPr txBox="1"/>
          <p:nvPr/>
        </p:nvSpPr>
        <p:spPr>
          <a:xfrm>
            <a:off x="5715000" y="301752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100"/>
          </a:p>
        </p:txBody>
      </p:sp>
      <p:sp>
        <p:nvSpPr>
          <p:cNvPr id="25" name="a2wd1000_cell24"/>
          <p:cNvSpPr txBox="1"/>
          <p:nvPr/>
        </p:nvSpPr>
        <p:spPr>
          <a:xfrm>
            <a:off x="5715000" y="329184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6" name="a2f_cell25"/>
          <p:cNvSpPr txBox="1"/>
          <p:nvPr/>
        </p:nvSpPr>
        <p:spPr>
          <a:xfrm>
            <a:off x="6446520" y="1920240"/>
            <a:ext cx="91440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dirty="0" sz="1100"/>
          </a:p>
        </p:txBody>
      </p:sp>
      <p:sp>
        <p:nvSpPr>
          <p:cNvPr id="27" name="a2wd200_cell26"/>
          <p:cNvSpPr txBox="1"/>
          <p:nvPr/>
        </p:nvSpPr>
        <p:spPr>
          <a:xfrm>
            <a:off x="6446520" y="2194560"/>
            <a:ext cx="91440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dirty="0" sz="1100"/>
          </a:p>
        </p:txBody>
      </p:sp>
      <p:sp>
        <p:nvSpPr>
          <p:cNvPr id="28" name="a2wd400_cell27"/>
          <p:cNvSpPr txBox="1"/>
          <p:nvPr/>
        </p:nvSpPr>
        <p:spPr>
          <a:xfrm>
            <a:off x="6446520" y="24688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dirty="0" sz="1100"/>
          </a:p>
        </p:txBody>
      </p:sp>
      <p:sp>
        <p:nvSpPr>
          <p:cNvPr id="29" name="a2wd600_cell28"/>
          <p:cNvSpPr txBox="1"/>
          <p:nvPr/>
        </p:nvSpPr>
        <p:spPr>
          <a:xfrm>
            <a:off x="6446520" y="2743200"/>
            <a:ext cx="914400" cy="2743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dirty="0" sz="1100"/>
          </a:p>
        </p:txBody>
      </p:sp>
      <p:sp>
        <p:nvSpPr>
          <p:cNvPr id="30" name="a2wd800_cell29"/>
          <p:cNvSpPr txBox="1"/>
          <p:nvPr/>
        </p:nvSpPr>
        <p:spPr>
          <a:xfrm>
            <a:off x="6446520" y="3017520"/>
            <a:ext cx="914400" cy="2743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dirty="0" sz="1100"/>
          </a:p>
        </p:txBody>
      </p:sp>
      <p:sp>
        <p:nvSpPr>
          <p:cNvPr id="31" name="a2wd1000_cell30"/>
          <p:cNvSpPr txBox="1"/>
          <p:nvPr/>
        </p:nvSpPr>
        <p:spPr>
          <a:xfrm>
            <a:off x="6446520" y="3291840"/>
            <a:ext cx="91440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dirty="0" sz="1100"/>
          </a:p>
        </p:txBody>
      </p:sp>
      <p:sp>
        <p:nvSpPr>
          <p:cNvPr id="32" name="a3u_nb31"/>
          <p:cNvSpPr/>
          <p:nvPr/>
        </p:nvSpPr>
        <p:spPr>
          <a:xfrm>
            <a:off x="4709160" y="3703320"/>
            <a:ext cx="3977640" cy="10058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a3u_ni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4046220"/>
            <a:ext cx="320040" cy="320040"/>
          </a:xfrm>
          <a:prstGeom prst="rect">
            <a:avLst/>
          </a:prstGeom>
        </p:spPr>
      </p:pic>
      <p:sp>
        <p:nvSpPr>
          <p:cNvPr id="34" name="a3u_nt33"/>
          <p:cNvSpPr txBox="1"/>
          <p:nvPr/>
        </p:nvSpPr>
        <p:spPr>
          <a:xfrm>
            <a:off x="5257800" y="37033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Keep ranges gap-free and non-overlapping.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overlap matches a row twice; a gap drops it from an INNER JOIN.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h1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· Real-World Joins</a:t>
            </a:r>
            <a:endParaRPr lang="en-US" dirty="0" sz="3200"/>
          </a:p>
        </p:txBody>
      </p:sp>
      <p:sp>
        <p:nvSpPr>
          <p:cNvPr id="3" name="a1u_n2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4" name="a1u_t3"/>
          <p:cNvSpPr txBox="1"/>
          <p:nvPr/>
        </p:nvSpPr>
        <p:spPr>
          <a:xfrm>
            <a:off x="118872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n tables needs n − 1 join conditions. Start FROM the main table and LEFT JOIN the lookups.</a:t>
            </a:r>
            <a:endParaRPr lang="en-US" dirty="0" sz="1400"/>
          </a:p>
        </p:txBody>
      </p:sp>
      <p:sp>
        <p:nvSpPr>
          <p:cNvPr id="5" name="a2u_n4"/>
          <p:cNvSpPr txBox="1"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6" name="a2u_t5"/>
          <p:cNvSpPr txBox="1"/>
          <p:nvPr/>
        </p:nvSpPr>
        <p:spPr>
          <a:xfrm>
            <a:off x="118872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filter on the right table belongs in ON. In WHERE it silently turns a LEFT JOIN into an INNER JOIN.</a:t>
            </a:r>
            <a:endParaRPr lang="en-US" dirty="0" sz="1400"/>
          </a:p>
        </p:txBody>
      </p:sp>
      <p:sp>
        <p:nvSpPr>
          <p:cNvPr id="7" name="a3u_n6"/>
          <p:cNvSpPr txBox="1"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8" name="a3u_t7"/>
          <p:cNvSpPr txBox="1"/>
          <p:nvPr/>
        </p:nvSpPr>
        <p:spPr>
          <a:xfrm>
            <a:off x="1188720" y="3063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join = the same table twice with two aliases — the classic way to walk a hierarchy.</a:t>
            </a:r>
            <a:endParaRPr lang="en-US" dirty="0" sz="1400"/>
          </a:p>
        </p:txBody>
      </p:sp>
      <p:sp>
        <p:nvSpPr>
          <p:cNvPr id="9" name="a4u_n8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0" name="a4u_t9"/>
          <p:cNvSpPr txBox="1"/>
          <p:nvPr/>
        </p:nvSpPr>
        <p:spPr>
          <a:xfrm>
            <a:off x="1188720" y="3886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4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Non-equi joins match on ranges (BETWEEN, &lt;, &gt;). Keep the ranges gap-free and non-overlapping.</a:t>
            </a:r>
            <a:endParaRPr lang="en-US" dirty="0" sz="1400"/>
          </a:p>
        </p:txBody>
      </p:sp>
      <p:sp>
        <p:nvSpPr>
          <p:cNvPr id="11" name="a0fd300_v10"/>
          <p:cNvSpPr/>
          <p:nvPr/>
        </p:nvSpPr>
        <p:spPr>
          <a:xfrm>
            <a:off x="6334103" y="1836330"/>
            <a:ext cx="609959" cy="609959"/>
          </a:xfrm>
          <a:prstGeom prst="ellipse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12" name="a0fd300_v11"/>
          <p:cNvSpPr/>
          <p:nvPr/>
        </p:nvSpPr>
        <p:spPr>
          <a:xfrm>
            <a:off x="7176426" y="1836330"/>
            <a:ext cx="609959" cy="609959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3" name="a0fd300_v12"/>
          <p:cNvSpPr/>
          <p:nvPr/>
        </p:nvSpPr>
        <p:spPr>
          <a:xfrm>
            <a:off x="8018750" y="1836330"/>
            <a:ext cx="609959" cy="60995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14" name="a0fd300_v13"/>
          <p:cNvSpPr/>
          <p:nvPr/>
        </p:nvSpPr>
        <p:spPr>
          <a:xfrm>
            <a:off x="6944061" y="2112264"/>
            <a:ext cx="232365" cy="72614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15" name="a0fd300_v14"/>
          <p:cNvSpPr/>
          <p:nvPr/>
        </p:nvSpPr>
        <p:spPr>
          <a:xfrm>
            <a:off x="7786385" y="2112264"/>
            <a:ext cx="232365" cy="72614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16" name="a5u_next15"/>
          <p:cNvSpPr txBox="1"/>
          <p:nvPr/>
        </p:nvSpPr>
        <p:spPr>
          <a:xfrm>
            <a:off x="6217920" y="31089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 wrap="square" lIns="182880" tIns="91440" rIns="182880" bIns="9144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Up next  </a:t>
            </a:r>
            <a:r>
              <a:rPr sz="13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Aggregating &amp; pivoting the joined data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k1"/>
          <p:cNvSpPr txBox="1"/>
          <p:nvPr/>
        </p:nvSpPr>
        <p:spPr>
          <a:xfrm>
            <a:off x="548640" y="457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spc="300" kern="0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dirty="0" sz="1300"/>
          </a:p>
        </p:txBody>
      </p:sp>
      <p:sp>
        <p:nvSpPr>
          <p:cNvPr id="3" name="a0ud200_t2"/>
          <p:cNvSpPr txBox="1"/>
          <p:nvPr/>
        </p:nvSpPr>
        <p:spPr>
          <a:xfrm>
            <a:off x="548640" y="7772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Aggregating &amp; Pivoting Data</a:t>
            </a:r>
            <a:endParaRPr lang="en-US" dirty="0" sz="4000"/>
          </a:p>
        </p:txBody>
      </p:sp>
      <p:sp>
        <p:nvSpPr>
          <p:cNvPr id="4" name="a0fd400_s3"/>
          <p:cNvSpPr txBox="1"/>
          <p:nvPr/>
        </p:nvSpPr>
        <p:spPr>
          <a:xfrm>
            <a:off x="548640" y="1463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many rows into a few meaningful numbers</a:t>
            </a:r>
            <a:endParaRPr lang="en-US" dirty="0" sz="1600"/>
          </a:p>
        </p:txBody>
      </p:sp>
      <p:sp>
        <p:nvSpPr>
          <p:cNvPr id="5" name="a1u_c4"/>
          <p:cNvSpPr/>
          <p:nvPr/>
        </p:nvSpPr>
        <p:spPr>
          <a:xfrm>
            <a:off x="45720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a1u_sv5"/>
          <p:cNvSpPr/>
          <p:nvPr/>
        </p:nvSpPr>
        <p:spPr>
          <a:xfrm>
            <a:off x="685800" y="247802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7" name="a1u_sv6"/>
          <p:cNvSpPr/>
          <p:nvPr/>
        </p:nvSpPr>
        <p:spPr>
          <a:xfrm>
            <a:off x="685800" y="266090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8" name="a1u_sv7"/>
          <p:cNvSpPr/>
          <p:nvPr/>
        </p:nvSpPr>
        <p:spPr>
          <a:xfrm>
            <a:off x="685800" y="284378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9" name="a1u_sv8"/>
          <p:cNvSpPr/>
          <p:nvPr/>
        </p:nvSpPr>
        <p:spPr>
          <a:xfrm>
            <a:off x="685800" y="302666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10" name="a1u_sv9"/>
          <p:cNvSpPr/>
          <p:nvPr/>
        </p:nvSpPr>
        <p:spPr>
          <a:xfrm>
            <a:off x="1335024" y="2724912"/>
            <a:ext cx="274320" cy="18288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11" name="a1u_sv10"/>
          <p:cNvSpPr txBox="1"/>
          <p:nvPr/>
        </p:nvSpPr>
        <p:spPr>
          <a:xfrm>
            <a:off x="1664208" y="2542032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2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dirty="0" sz="2200"/>
          </a:p>
        </p:txBody>
      </p:sp>
      <p:sp>
        <p:nvSpPr>
          <p:cNvPr id="12" name="a1u_n11"/>
          <p:cNvSpPr txBox="1"/>
          <p:nvPr/>
        </p:nvSpPr>
        <p:spPr>
          <a:xfrm>
            <a:off x="54864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AGGREGATES</a:t>
            </a:r>
            <a:endParaRPr lang="en-US" dirty="0" sz="1400"/>
          </a:p>
        </p:txBody>
      </p:sp>
      <p:sp>
        <p:nvSpPr>
          <p:cNvPr id="13" name="a1u_d12"/>
          <p:cNvSpPr txBox="1"/>
          <p:nvPr/>
        </p:nvSpPr>
        <p:spPr>
          <a:xfrm>
            <a:off x="54864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rows → one value</a:t>
            </a:r>
            <a:endParaRPr lang="en-US" dirty="0" sz="1200"/>
          </a:p>
        </p:txBody>
      </p:sp>
      <p:sp>
        <p:nvSpPr>
          <p:cNvPr id="14" name="a2u_c13"/>
          <p:cNvSpPr/>
          <p:nvPr/>
        </p:nvSpPr>
        <p:spPr>
          <a:xfrm>
            <a:off x="256032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a2u_sv14"/>
          <p:cNvSpPr/>
          <p:nvPr/>
        </p:nvSpPr>
        <p:spPr>
          <a:xfrm>
            <a:off x="2788920" y="238658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6" name="a2u_sv15"/>
          <p:cNvSpPr/>
          <p:nvPr/>
        </p:nvSpPr>
        <p:spPr>
          <a:xfrm>
            <a:off x="2788920" y="256946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7" name="a2u_sv16"/>
          <p:cNvSpPr/>
          <p:nvPr/>
        </p:nvSpPr>
        <p:spPr>
          <a:xfrm>
            <a:off x="2788920" y="275234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18" name="a2u_sv17"/>
          <p:cNvSpPr/>
          <p:nvPr/>
        </p:nvSpPr>
        <p:spPr>
          <a:xfrm>
            <a:off x="2788920" y="293522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9" name="a2u_sv18"/>
          <p:cNvSpPr/>
          <p:nvPr/>
        </p:nvSpPr>
        <p:spPr>
          <a:xfrm>
            <a:off x="2788920" y="3118104"/>
            <a:ext cx="548640" cy="118872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20" name="a2u_sv19"/>
          <p:cNvSpPr/>
          <p:nvPr/>
        </p:nvSpPr>
        <p:spPr>
          <a:xfrm>
            <a:off x="3438144" y="2724912"/>
            <a:ext cx="274320" cy="182880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21" name="a2u_sv20"/>
          <p:cNvSpPr/>
          <p:nvPr/>
        </p:nvSpPr>
        <p:spPr>
          <a:xfrm>
            <a:off x="3767328" y="2551176"/>
            <a:ext cx="530352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22" name="a2u_sv21"/>
          <p:cNvSpPr/>
          <p:nvPr/>
        </p:nvSpPr>
        <p:spPr>
          <a:xfrm>
            <a:off x="3767328" y="2752344"/>
            <a:ext cx="530352" cy="13716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23" name="a2u_sv22"/>
          <p:cNvSpPr/>
          <p:nvPr/>
        </p:nvSpPr>
        <p:spPr>
          <a:xfrm>
            <a:off x="3767328" y="2953512"/>
            <a:ext cx="530352" cy="13716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24" name="a2u_n23"/>
          <p:cNvSpPr txBox="1"/>
          <p:nvPr/>
        </p:nvSpPr>
        <p:spPr>
          <a:xfrm>
            <a:off x="265176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dirty="0" sz="1400"/>
          </a:p>
        </p:txBody>
      </p:sp>
      <p:sp>
        <p:nvSpPr>
          <p:cNvPr id="25" name="a2u_d24"/>
          <p:cNvSpPr txBox="1"/>
          <p:nvPr/>
        </p:nvSpPr>
        <p:spPr>
          <a:xfrm>
            <a:off x="265176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result row per group</a:t>
            </a:r>
            <a:endParaRPr lang="en-US" dirty="0" sz="1200"/>
          </a:p>
        </p:txBody>
      </p:sp>
      <p:sp>
        <p:nvSpPr>
          <p:cNvPr id="26" name="a3u_c25"/>
          <p:cNvSpPr/>
          <p:nvPr/>
        </p:nvSpPr>
        <p:spPr>
          <a:xfrm>
            <a:off x="466344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a3u_sv26"/>
          <p:cNvSpPr/>
          <p:nvPr/>
        </p:nvSpPr>
        <p:spPr>
          <a:xfrm>
            <a:off x="4864608" y="2551176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28" name="a3u_sv27"/>
          <p:cNvSpPr/>
          <p:nvPr/>
        </p:nvSpPr>
        <p:spPr>
          <a:xfrm>
            <a:off x="4864608" y="2752344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29" name="a3u_sv28"/>
          <p:cNvSpPr/>
          <p:nvPr/>
        </p:nvSpPr>
        <p:spPr>
          <a:xfrm>
            <a:off x="4864608" y="2953512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30" name="a3u_sv29"/>
          <p:cNvSpPr/>
          <p:nvPr/>
        </p:nvSpPr>
        <p:spPr>
          <a:xfrm>
            <a:off x="5449824" y="2578608"/>
            <a:ext cx="365760" cy="457200"/>
          </a:xfrm>
          <a:prstGeom prst="flowChartMerg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31" name="a3u_sv30"/>
          <p:cNvSpPr/>
          <p:nvPr/>
        </p:nvSpPr>
        <p:spPr>
          <a:xfrm>
            <a:off x="5897880" y="2651760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32" name="a3u_sv31"/>
          <p:cNvSpPr/>
          <p:nvPr/>
        </p:nvSpPr>
        <p:spPr>
          <a:xfrm>
            <a:off x="5897880" y="2852928"/>
            <a:ext cx="502920" cy="13716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33" name="a3u_n32"/>
          <p:cNvSpPr txBox="1"/>
          <p:nvPr/>
        </p:nvSpPr>
        <p:spPr>
          <a:xfrm>
            <a:off x="475488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dirty="0" sz="1400"/>
          </a:p>
        </p:txBody>
      </p:sp>
      <p:sp>
        <p:nvSpPr>
          <p:cNvPr id="34" name="a3u_d33"/>
          <p:cNvSpPr txBox="1"/>
          <p:nvPr/>
        </p:nvSpPr>
        <p:spPr>
          <a:xfrm>
            <a:off x="475488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groups</a:t>
            </a:r>
            <a:endParaRPr lang="en-US" dirty="0" sz="1200"/>
          </a:p>
        </p:txBody>
      </p:sp>
      <p:sp>
        <p:nvSpPr>
          <p:cNvPr id="35" name="a4u_c34"/>
          <p:cNvSpPr/>
          <p:nvPr/>
        </p:nvSpPr>
        <p:spPr>
          <a:xfrm>
            <a:off x="6766560" y="2148840"/>
            <a:ext cx="1920240" cy="2331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a4u_sv35"/>
          <p:cNvSpPr/>
          <p:nvPr/>
        </p:nvSpPr>
        <p:spPr>
          <a:xfrm>
            <a:off x="7022592" y="2514600"/>
            <a:ext cx="411480" cy="16459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37" name="a4u_sv36"/>
          <p:cNvSpPr/>
          <p:nvPr/>
        </p:nvSpPr>
        <p:spPr>
          <a:xfrm>
            <a:off x="7022592" y="2734056"/>
            <a:ext cx="411480" cy="16459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38" name="a4u_sv37"/>
          <p:cNvSpPr/>
          <p:nvPr/>
        </p:nvSpPr>
        <p:spPr>
          <a:xfrm>
            <a:off x="7022592" y="2953512"/>
            <a:ext cx="411480" cy="16459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39" name="a4u_sv38"/>
          <p:cNvSpPr/>
          <p:nvPr/>
        </p:nvSpPr>
        <p:spPr>
          <a:xfrm>
            <a:off x="7552944" y="2734056"/>
            <a:ext cx="274320" cy="182880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40" name="a4u_sv39"/>
          <p:cNvSpPr/>
          <p:nvPr/>
        </p:nvSpPr>
        <p:spPr>
          <a:xfrm>
            <a:off x="7918704" y="2596896"/>
            <a:ext cx="164592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41" name="a4u_sv40"/>
          <p:cNvSpPr/>
          <p:nvPr/>
        </p:nvSpPr>
        <p:spPr>
          <a:xfrm>
            <a:off x="8119872" y="2596896"/>
            <a:ext cx="164592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42" name="a4u_sv41"/>
          <p:cNvSpPr/>
          <p:nvPr/>
        </p:nvSpPr>
        <p:spPr>
          <a:xfrm>
            <a:off x="8321040" y="2596896"/>
            <a:ext cx="164592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43" name="a4u_n42"/>
          <p:cNvSpPr txBox="1"/>
          <p:nvPr/>
        </p:nvSpPr>
        <p:spPr>
          <a:xfrm>
            <a:off x="6858000" y="3429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4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PIVOT</a:t>
            </a:r>
            <a:endParaRPr lang="en-US" dirty="0" sz="1400"/>
          </a:p>
        </p:txBody>
      </p:sp>
      <p:sp>
        <p:nvSpPr>
          <p:cNvPr id="44" name="a4u_d43"/>
          <p:cNvSpPr txBox="1"/>
          <p:nvPr/>
        </p:nvSpPr>
        <p:spPr>
          <a:xfrm>
            <a:off x="6858000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rows into columns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rows in — one summary value out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225527" y="1570079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5225527" y="1989627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5225527" y="2409175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5225527" y="2828723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475569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6714923" y="2136469"/>
            <a:ext cx="629322" cy="419548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10" name="a0fd300_v9"/>
          <p:cNvSpPr txBox="1"/>
          <p:nvPr/>
        </p:nvSpPr>
        <p:spPr>
          <a:xfrm>
            <a:off x="7470110" y="1716920"/>
            <a:ext cx="1216690" cy="121669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5047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dirty="0" sz="5047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calculation over many rows and return a single value</a:t>
            </a:r>
            <a:endParaRPr lang="en-US" dirty="0" sz="1300"/>
          </a:p>
        </p:txBody>
      </p:sp>
      <p:sp>
        <p:nvSpPr>
          <p:cNvPr id="4" name="a1f_l3"/>
          <p:cNvSpPr txBox="1"/>
          <p:nvPr/>
        </p:nvSpPr>
        <p:spPr>
          <a:xfrm>
            <a:off x="457200" y="1188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dirty="0" sz="1200"/>
          </a:p>
        </p:txBody>
      </p:sp>
      <p:sp>
        <p:nvSpPr>
          <p:cNvPr id="5" name="a1f_cell4"/>
          <p:cNvSpPr txBox="1"/>
          <p:nvPr/>
        </p:nvSpPr>
        <p:spPr>
          <a:xfrm>
            <a:off x="457200" y="1463040"/>
            <a:ext cx="7315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</a:t>
            </a:r>
            <a:endParaRPr lang="en-US" dirty="0" sz="1100"/>
          </a:p>
        </p:txBody>
      </p:sp>
      <p:sp>
        <p:nvSpPr>
          <p:cNvPr id="6" name="a1wd200_cell5"/>
          <p:cNvSpPr txBox="1"/>
          <p:nvPr/>
        </p:nvSpPr>
        <p:spPr>
          <a:xfrm>
            <a:off x="457200" y="17373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1001</a:t>
            </a:r>
            <a:endParaRPr lang="en-US" dirty="0" sz="1100"/>
          </a:p>
        </p:txBody>
      </p:sp>
      <p:sp>
        <p:nvSpPr>
          <p:cNvPr id="7" name="a1wd400_cell6"/>
          <p:cNvSpPr txBox="1"/>
          <p:nvPr/>
        </p:nvSpPr>
        <p:spPr>
          <a:xfrm>
            <a:off x="457200" y="201168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1002</a:t>
            </a:r>
            <a:endParaRPr lang="en-US" dirty="0" sz="1100"/>
          </a:p>
        </p:txBody>
      </p:sp>
      <p:sp>
        <p:nvSpPr>
          <p:cNvPr id="8" name="a1wd600_cell7"/>
          <p:cNvSpPr txBox="1"/>
          <p:nvPr/>
        </p:nvSpPr>
        <p:spPr>
          <a:xfrm>
            <a:off x="457200" y="228600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1003</a:t>
            </a:r>
            <a:endParaRPr lang="en-US" dirty="0" sz="1100"/>
          </a:p>
        </p:txBody>
      </p:sp>
      <p:sp>
        <p:nvSpPr>
          <p:cNvPr id="9" name="a1wd800_cell8"/>
          <p:cNvSpPr txBox="1"/>
          <p:nvPr/>
        </p:nvSpPr>
        <p:spPr>
          <a:xfrm>
            <a:off x="457200" y="256032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1004</a:t>
            </a:r>
            <a:endParaRPr lang="en-US" dirty="0" sz="1100"/>
          </a:p>
        </p:txBody>
      </p:sp>
      <p:sp>
        <p:nvSpPr>
          <p:cNvPr id="10" name="a1f_cell9"/>
          <p:cNvSpPr txBox="1"/>
          <p:nvPr/>
        </p:nvSpPr>
        <p:spPr>
          <a:xfrm>
            <a:off x="1188720" y="1463040"/>
            <a:ext cx="8686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</a:t>
            </a:r>
            <a:endParaRPr lang="en-US" dirty="0" sz="1100"/>
          </a:p>
        </p:txBody>
      </p:sp>
      <p:sp>
        <p:nvSpPr>
          <p:cNvPr id="11" name="a1wd200_cell10"/>
          <p:cNvSpPr txBox="1"/>
          <p:nvPr/>
        </p:nvSpPr>
        <p:spPr>
          <a:xfrm>
            <a:off x="1188720" y="17373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2" name="a1wd400_cell11"/>
          <p:cNvSpPr txBox="1"/>
          <p:nvPr/>
        </p:nvSpPr>
        <p:spPr>
          <a:xfrm>
            <a:off x="1188720" y="20116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3" name="a1wd600_cell12"/>
          <p:cNvSpPr txBox="1"/>
          <p:nvPr/>
        </p:nvSpPr>
        <p:spPr>
          <a:xfrm>
            <a:off x="1188720" y="22860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4" name="a1wd800_cell13"/>
          <p:cNvSpPr txBox="1"/>
          <p:nvPr/>
        </p:nvSpPr>
        <p:spPr>
          <a:xfrm>
            <a:off x="1188720" y="256032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100"/>
          </a:p>
        </p:txBody>
      </p:sp>
      <p:sp>
        <p:nvSpPr>
          <p:cNvPr id="15" name="a1f_cell14"/>
          <p:cNvSpPr txBox="1"/>
          <p:nvPr/>
        </p:nvSpPr>
        <p:spPr>
          <a:xfrm>
            <a:off x="2057400" y="1463040"/>
            <a:ext cx="59436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dirty="0" sz="1100"/>
          </a:p>
        </p:txBody>
      </p:sp>
      <p:sp>
        <p:nvSpPr>
          <p:cNvPr id="16" name="a1wd200_cell15"/>
          <p:cNvSpPr txBox="1"/>
          <p:nvPr/>
        </p:nvSpPr>
        <p:spPr>
          <a:xfrm>
            <a:off x="2057400" y="173736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17" name="a1wd400_cell16"/>
          <p:cNvSpPr txBox="1"/>
          <p:nvPr/>
        </p:nvSpPr>
        <p:spPr>
          <a:xfrm>
            <a:off x="2057400" y="201168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18" name="a1wd600_cell17"/>
          <p:cNvSpPr txBox="1"/>
          <p:nvPr/>
        </p:nvSpPr>
        <p:spPr>
          <a:xfrm>
            <a:off x="2057400" y="228600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19" name="a1wd800_cell18"/>
          <p:cNvSpPr txBox="1"/>
          <p:nvPr/>
        </p:nvSpPr>
        <p:spPr>
          <a:xfrm>
            <a:off x="2057400" y="256032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1100"/>
          </a:p>
        </p:txBody>
      </p:sp>
      <p:sp>
        <p:nvSpPr>
          <p:cNvPr id="20" name="a2u_sc19"/>
          <p:cNvSpPr/>
          <p:nvPr/>
        </p:nvSpPr>
        <p:spPr>
          <a:xfrm>
            <a:off x="3108960" y="1188720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a2u_sf20"/>
          <p:cNvSpPr txBox="1"/>
          <p:nvPr/>
        </p:nvSpPr>
        <p:spPr>
          <a:xfrm>
            <a:off x="3246120" y="1280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COUNT(*)</a:t>
            </a:r>
            <a:endParaRPr lang="en-US" dirty="0" sz="1200"/>
          </a:p>
        </p:txBody>
      </p:sp>
      <p:sp>
        <p:nvSpPr>
          <p:cNvPr id="22" name="a2u_sv21"/>
          <p:cNvSpPr txBox="1"/>
          <p:nvPr/>
        </p:nvSpPr>
        <p:spPr>
          <a:xfrm>
            <a:off x="324612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2800"/>
          </a:p>
        </p:txBody>
      </p:sp>
      <p:sp>
        <p:nvSpPr>
          <p:cNvPr id="23" name="a2u_sl22"/>
          <p:cNvSpPr txBox="1"/>
          <p:nvPr/>
        </p:nvSpPr>
        <p:spPr>
          <a:xfrm>
            <a:off x="3246120" y="19933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rows</a:t>
            </a:r>
            <a:endParaRPr lang="en-US" dirty="0" sz="1000"/>
          </a:p>
        </p:txBody>
      </p:sp>
      <p:sp>
        <p:nvSpPr>
          <p:cNvPr id="24" name="a3u_sc23"/>
          <p:cNvSpPr/>
          <p:nvPr/>
        </p:nvSpPr>
        <p:spPr>
          <a:xfrm>
            <a:off x="4983480" y="1188720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a3u_sf24"/>
          <p:cNvSpPr txBox="1"/>
          <p:nvPr/>
        </p:nvSpPr>
        <p:spPr>
          <a:xfrm>
            <a:off x="5120640" y="1280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SUM(sales)</a:t>
            </a:r>
            <a:endParaRPr lang="en-US" dirty="0" sz="1200"/>
          </a:p>
        </p:txBody>
      </p:sp>
      <p:sp>
        <p:nvSpPr>
          <p:cNvPr id="26" name="a3u_sv25"/>
          <p:cNvSpPr txBox="1"/>
          <p:nvPr/>
        </p:nvSpPr>
        <p:spPr>
          <a:xfrm>
            <a:off x="51206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dirty="0" sz="2800"/>
          </a:p>
        </p:txBody>
      </p:sp>
      <p:sp>
        <p:nvSpPr>
          <p:cNvPr id="27" name="a3u_sl26"/>
          <p:cNvSpPr txBox="1"/>
          <p:nvPr/>
        </p:nvSpPr>
        <p:spPr>
          <a:xfrm>
            <a:off x="5120640" y="19933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of all values</a:t>
            </a:r>
            <a:endParaRPr lang="en-US" dirty="0" sz="1000"/>
          </a:p>
        </p:txBody>
      </p:sp>
      <p:sp>
        <p:nvSpPr>
          <p:cNvPr id="28" name="a4u_sc27"/>
          <p:cNvSpPr/>
          <p:nvPr/>
        </p:nvSpPr>
        <p:spPr>
          <a:xfrm>
            <a:off x="6858000" y="1188720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a4u_sf28"/>
          <p:cNvSpPr txBox="1"/>
          <p:nvPr/>
        </p:nvSpPr>
        <p:spPr>
          <a:xfrm>
            <a:off x="6995160" y="1280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AVG(sales)</a:t>
            </a:r>
            <a:endParaRPr lang="en-US" dirty="0" sz="1200"/>
          </a:p>
        </p:txBody>
      </p:sp>
      <p:sp>
        <p:nvSpPr>
          <p:cNvPr id="30" name="a4u_sv29"/>
          <p:cNvSpPr txBox="1"/>
          <p:nvPr/>
        </p:nvSpPr>
        <p:spPr>
          <a:xfrm>
            <a:off x="699516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2800"/>
          </a:p>
        </p:txBody>
      </p:sp>
      <p:sp>
        <p:nvSpPr>
          <p:cNvPr id="31" name="a4u_sl30"/>
          <p:cNvSpPr txBox="1"/>
          <p:nvPr/>
        </p:nvSpPr>
        <p:spPr>
          <a:xfrm>
            <a:off x="6995160" y="19933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value</a:t>
            </a:r>
            <a:endParaRPr lang="en-US" dirty="0" sz="1000"/>
          </a:p>
        </p:txBody>
      </p:sp>
      <p:sp>
        <p:nvSpPr>
          <p:cNvPr id="32" name="a5u_sc31"/>
          <p:cNvSpPr/>
          <p:nvPr/>
        </p:nvSpPr>
        <p:spPr>
          <a:xfrm>
            <a:off x="3108960" y="2468880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a5u_sf32"/>
          <p:cNvSpPr txBox="1"/>
          <p:nvPr/>
        </p:nvSpPr>
        <p:spPr>
          <a:xfrm>
            <a:off x="324612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MAX(sales)</a:t>
            </a:r>
            <a:endParaRPr lang="en-US" dirty="0" sz="1200"/>
          </a:p>
        </p:txBody>
      </p:sp>
      <p:sp>
        <p:nvSpPr>
          <p:cNvPr id="34" name="a5u_sv33"/>
          <p:cNvSpPr txBox="1"/>
          <p:nvPr/>
        </p:nvSpPr>
        <p:spPr>
          <a:xfrm>
            <a:off x="3246120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2800"/>
          </a:p>
        </p:txBody>
      </p:sp>
      <p:sp>
        <p:nvSpPr>
          <p:cNvPr id="35" name="a5u_sl34"/>
          <p:cNvSpPr txBox="1"/>
          <p:nvPr/>
        </p:nvSpPr>
        <p:spPr>
          <a:xfrm>
            <a:off x="3246120" y="32735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value</a:t>
            </a:r>
            <a:endParaRPr lang="en-US" dirty="0" sz="1000"/>
          </a:p>
        </p:txBody>
      </p:sp>
      <p:sp>
        <p:nvSpPr>
          <p:cNvPr id="36" name="a6u_sc35"/>
          <p:cNvSpPr/>
          <p:nvPr/>
        </p:nvSpPr>
        <p:spPr>
          <a:xfrm>
            <a:off x="4983480" y="2468880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a6u_sf36"/>
          <p:cNvSpPr txBox="1"/>
          <p:nvPr/>
        </p:nvSpPr>
        <p:spPr>
          <a:xfrm>
            <a:off x="512064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MIN(sales)</a:t>
            </a:r>
            <a:endParaRPr lang="en-US" dirty="0" sz="1200"/>
          </a:p>
        </p:txBody>
      </p:sp>
      <p:sp>
        <p:nvSpPr>
          <p:cNvPr id="38" name="a6u_sv37"/>
          <p:cNvSpPr txBox="1"/>
          <p:nvPr/>
        </p:nvSpPr>
        <p:spPr>
          <a:xfrm>
            <a:off x="5120640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dirty="0" sz="2800"/>
          </a:p>
        </p:txBody>
      </p:sp>
      <p:sp>
        <p:nvSpPr>
          <p:cNvPr id="39" name="a6u_sl38"/>
          <p:cNvSpPr txBox="1"/>
          <p:nvPr/>
        </p:nvSpPr>
        <p:spPr>
          <a:xfrm>
            <a:off x="5120640" y="32735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value</a:t>
            </a:r>
            <a:endParaRPr lang="en-US" dirty="0" sz="1000"/>
          </a:p>
        </p:txBody>
      </p:sp>
      <p:sp>
        <p:nvSpPr>
          <p:cNvPr id="40" name="a7u_tb39"/>
          <p:cNvSpPr/>
          <p:nvPr/>
        </p:nvSpPr>
        <p:spPr>
          <a:xfrm>
            <a:off x="6858000" y="2468880"/>
            <a:ext cx="1691640" cy="109728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1" name="a7u_tt40"/>
          <p:cNvSpPr txBox="1"/>
          <p:nvPr/>
        </p:nvSpPr>
        <p:spPr>
          <a:xfrm>
            <a:off x="7040880" y="24688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rows in → 1 value out</a:t>
            </a:r>
            <a:endParaRPr lang="en-US" dirty="0" sz="1300"/>
          </a:p>
        </p:txBody>
      </p:sp>
      <p:sp>
        <p:nvSpPr>
          <p:cNvPr id="42" name="a8u_nb41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3" name="a8u_ni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37660"/>
            <a:ext cx="320040" cy="320040"/>
          </a:xfrm>
          <a:prstGeom prst="rect">
            <a:avLst/>
          </a:prstGeom>
        </p:spPr>
      </p:pic>
      <p:sp>
        <p:nvSpPr>
          <p:cNvPr id="44" name="a8u_nt43"/>
          <p:cNvSpPr txBox="1"/>
          <p:nvPr/>
        </p:nvSpPr>
        <p:spPr>
          <a:xfrm>
            <a:off x="1005840" y="39319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Aggregates ignore NULLs.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COUNT(*) counts rows; COUNT(column) counts only the non-NULL values of that column.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4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Functions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total number of customers, the total and average score, and the highest and lowest score.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840480" cy="2066544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(*)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total_customers,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total_score,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avg_score,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max_score,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min_score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2" name="a2f_l11"/>
          <p:cNvSpPr txBox="1"/>
          <p:nvPr/>
        </p:nvSpPr>
        <p:spPr>
          <a:xfrm>
            <a:off x="466344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· customers.score</a:t>
            </a:r>
            <a:endParaRPr lang="en-US" dirty="0" sz="1200"/>
          </a:p>
        </p:txBody>
      </p:sp>
      <p:sp>
        <p:nvSpPr>
          <p:cNvPr id="13" name="a2fd0_chip12"/>
          <p:cNvSpPr txBox="1"/>
          <p:nvPr/>
        </p:nvSpPr>
        <p:spPr>
          <a:xfrm>
            <a:off x="4663440" y="192024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200"/>
          </a:p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900"/>
          </a:p>
        </p:txBody>
      </p:sp>
      <p:sp>
        <p:nvSpPr>
          <p:cNvPr id="14" name="a2fd100_chip13"/>
          <p:cNvSpPr txBox="1"/>
          <p:nvPr/>
        </p:nvSpPr>
        <p:spPr>
          <a:xfrm>
            <a:off x="5449824" y="192024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200"/>
          </a:p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900"/>
          </a:p>
        </p:txBody>
      </p:sp>
      <p:sp>
        <p:nvSpPr>
          <p:cNvPr id="15" name="a2fd200_chip14"/>
          <p:cNvSpPr txBox="1"/>
          <p:nvPr/>
        </p:nvSpPr>
        <p:spPr>
          <a:xfrm>
            <a:off x="6236208" y="192024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200"/>
          </a:p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900"/>
          </a:p>
        </p:txBody>
      </p:sp>
      <p:sp>
        <p:nvSpPr>
          <p:cNvPr id="16" name="a2fd300_chip15"/>
          <p:cNvSpPr txBox="1"/>
          <p:nvPr/>
        </p:nvSpPr>
        <p:spPr>
          <a:xfrm>
            <a:off x="7022592" y="192024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200"/>
          </a:p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900"/>
          </a:p>
        </p:txBody>
      </p:sp>
      <p:sp>
        <p:nvSpPr>
          <p:cNvPr id="17" name="a2fd400_chip16"/>
          <p:cNvSpPr txBox="1"/>
          <p:nvPr/>
        </p:nvSpPr>
        <p:spPr>
          <a:xfrm>
            <a:off x="7808976" y="1920240"/>
            <a:ext cx="713232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200"/>
          </a:p>
          <a:p>
            <a:pPr algn="ctr" marL="0" indent="0">
              <a:buNone/>
            </a:pPr>
            <a:r>
              <a:rPr sz="9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900"/>
          </a:p>
        </p:txBody>
      </p:sp>
      <p:sp>
        <p:nvSpPr>
          <p:cNvPr id="18" name="a3f_l17"/>
          <p:cNvSpPr txBox="1"/>
          <p:nvPr/>
        </p:nvSpPr>
        <p:spPr>
          <a:xfrm>
            <a:off x="4663440" y="2560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9" name="a3f_cell18"/>
          <p:cNvSpPr txBox="1"/>
          <p:nvPr/>
        </p:nvSpPr>
        <p:spPr>
          <a:xfrm>
            <a:off x="4663440" y="283464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total_customers</a:t>
            </a:r>
            <a:endParaRPr lang="en-US" dirty="0" sz="1100"/>
          </a:p>
        </p:txBody>
      </p:sp>
      <p:sp>
        <p:nvSpPr>
          <p:cNvPr id="20" name="a3wd200_cell19"/>
          <p:cNvSpPr txBox="1"/>
          <p:nvPr/>
        </p:nvSpPr>
        <p:spPr>
          <a:xfrm>
            <a:off x="4663440" y="31089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1" name="a3f_cell20"/>
          <p:cNvSpPr txBox="1"/>
          <p:nvPr/>
        </p:nvSpPr>
        <p:spPr>
          <a:xfrm>
            <a:off x="5669280" y="2834640"/>
            <a:ext cx="7772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total_score</a:t>
            </a:r>
            <a:endParaRPr lang="en-US" dirty="0" sz="1100"/>
          </a:p>
        </p:txBody>
      </p:sp>
      <p:sp>
        <p:nvSpPr>
          <p:cNvPr id="22" name="a3wd200_cell21"/>
          <p:cNvSpPr txBox="1"/>
          <p:nvPr/>
        </p:nvSpPr>
        <p:spPr>
          <a:xfrm>
            <a:off x="5669280" y="310896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</a:t>
            </a:r>
            <a:endParaRPr lang="en-US" dirty="0" sz="1100"/>
          </a:p>
        </p:txBody>
      </p:sp>
      <p:sp>
        <p:nvSpPr>
          <p:cNvPr id="23" name="a3f_cell22"/>
          <p:cNvSpPr txBox="1"/>
          <p:nvPr/>
        </p:nvSpPr>
        <p:spPr>
          <a:xfrm>
            <a:off x="6446520" y="2834640"/>
            <a:ext cx="73152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avg_score</a:t>
            </a:r>
            <a:endParaRPr lang="en-US" dirty="0" sz="1100"/>
          </a:p>
        </p:txBody>
      </p:sp>
      <p:sp>
        <p:nvSpPr>
          <p:cNvPr id="24" name="a3wd200_cell23"/>
          <p:cNvSpPr txBox="1"/>
          <p:nvPr/>
        </p:nvSpPr>
        <p:spPr>
          <a:xfrm>
            <a:off x="6446520" y="3108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100"/>
          </a:p>
        </p:txBody>
      </p:sp>
      <p:sp>
        <p:nvSpPr>
          <p:cNvPr id="25" name="a3f_cell24"/>
          <p:cNvSpPr txBox="1"/>
          <p:nvPr/>
        </p:nvSpPr>
        <p:spPr>
          <a:xfrm>
            <a:off x="7178040" y="2834640"/>
            <a:ext cx="73152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max_score</a:t>
            </a:r>
            <a:endParaRPr lang="en-US" dirty="0" sz="1100"/>
          </a:p>
        </p:txBody>
      </p:sp>
      <p:sp>
        <p:nvSpPr>
          <p:cNvPr id="26" name="a3wd200_cell25"/>
          <p:cNvSpPr txBox="1"/>
          <p:nvPr/>
        </p:nvSpPr>
        <p:spPr>
          <a:xfrm>
            <a:off x="7178040" y="3108960"/>
            <a:ext cx="7315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7" name="a3f_cell26"/>
          <p:cNvSpPr txBox="1"/>
          <p:nvPr/>
        </p:nvSpPr>
        <p:spPr>
          <a:xfrm>
            <a:off x="7909560" y="2834640"/>
            <a:ext cx="6858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min_score</a:t>
            </a:r>
            <a:endParaRPr lang="en-US" dirty="0" sz="1100"/>
          </a:p>
        </p:txBody>
      </p:sp>
      <p:sp>
        <p:nvSpPr>
          <p:cNvPr id="28" name="a3wd200_cell27"/>
          <p:cNvSpPr txBox="1"/>
          <p:nvPr/>
        </p:nvSpPr>
        <p:spPr>
          <a:xfrm>
            <a:off x="7909560" y="3108960"/>
            <a:ext cx="6858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9" name="a4u_nb28"/>
          <p:cNvSpPr/>
          <p:nvPr/>
        </p:nvSpPr>
        <p:spPr>
          <a:xfrm>
            <a:off x="4663440" y="3840480"/>
            <a:ext cx="4023360" cy="8686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a4u_ni2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114800"/>
            <a:ext cx="320040" cy="320040"/>
          </a:xfrm>
          <a:prstGeom prst="rect">
            <a:avLst/>
          </a:prstGeom>
        </p:spPr>
      </p:pic>
      <p:sp>
        <p:nvSpPr>
          <p:cNvPr id="31" name="a4u_nt30"/>
          <p:cNvSpPr txBox="1"/>
          <p:nvPr/>
        </p:nvSpPr>
        <p:spPr>
          <a:xfrm>
            <a:off x="5212080" y="384048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rows collapse into 1 result row. Peter's 0 is still counted — 0 is a value, NULL is not.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rows with the same value — then aggregate each group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225527" y="1360304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5225527" y="1779853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5225527" y="2199401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5225527" y="2618949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5225527" y="3038497"/>
            <a:ext cx="1258645" cy="272706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0" name="a0fd300_v9"/>
          <p:cNvSpPr/>
          <p:nvPr/>
        </p:nvSpPr>
        <p:spPr>
          <a:xfrm>
            <a:off x="6714923" y="2136469"/>
            <a:ext cx="629322" cy="419548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1" name="a0fd300_v10"/>
          <p:cNvSpPr/>
          <p:nvPr/>
        </p:nvSpPr>
        <p:spPr>
          <a:xfrm>
            <a:off x="7470110" y="1737898"/>
            <a:ext cx="1216690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2" name="a0fd300_v11"/>
          <p:cNvSpPr/>
          <p:nvPr/>
        </p:nvSpPr>
        <p:spPr>
          <a:xfrm>
            <a:off x="7470110" y="2199401"/>
            <a:ext cx="1216690" cy="31466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3" name="a0fd300_v12"/>
          <p:cNvSpPr/>
          <p:nvPr/>
        </p:nvSpPr>
        <p:spPr>
          <a:xfrm>
            <a:off x="7470110" y="2660904"/>
            <a:ext cx="1216690" cy="314661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that share a value become one group; the aggregate runs once per group</a:t>
            </a:r>
            <a:endParaRPr lang="en-US" dirty="0" sz="1300"/>
          </a:p>
        </p:txBody>
      </p:sp>
      <p:sp>
        <p:nvSpPr>
          <p:cNvPr id="4" name="a1f_l3"/>
          <p:cNvSpPr txBox="1"/>
          <p:nvPr/>
        </p:nvSpPr>
        <p:spPr>
          <a:xfrm>
            <a:off x="45720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5" name="a1f_cell4"/>
          <p:cNvSpPr txBox="1"/>
          <p:nvPr/>
        </p:nvSpPr>
        <p:spPr>
          <a:xfrm>
            <a:off x="457200" y="141732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6" name="a1wd200_cell5"/>
          <p:cNvSpPr txBox="1"/>
          <p:nvPr/>
        </p:nvSpPr>
        <p:spPr>
          <a:xfrm>
            <a:off x="457200" y="1691640"/>
            <a:ext cx="4114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7" name="a1wd400_cell6"/>
          <p:cNvSpPr txBox="1"/>
          <p:nvPr/>
        </p:nvSpPr>
        <p:spPr>
          <a:xfrm>
            <a:off x="457200" y="1965960"/>
            <a:ext cx="4114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8" name="a1wd600_cell7"/>
          <p:cNvSpPr txBox="1"/>
          <p:nvPr/>
        </p:nvSpPr>
        <p:spPr>
          <a:xfrm>
            <a:off x="457200" y="2240280"/>
            <a:ext cx="4114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9" name="a1wd800_cell8"/>
          <p:cNvSpPr txBox="1"/>
          <p:nvPr/>
        </p:nvSpPr>
        <p:spPr>
          <a:xfrm>
            <a:off x="457200" y="2514600"/>
            <a:ext cx="4114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0" name="a1wd1000_cell9"/>
          <p:cNvSpPr txBox="1"/>
          <p:nvPr/>
        </p:nvSpPr>
        <p:spPr>
          <a:xfrm>
            <a:off x="457200" y="2788920"/>
            <a:ext cx="4114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11" name="a1f_cell10"/>
          <p:cNvSpPr txBox="1"/>
          <p:nvPr/>
        </p:nvSpPr>
        <p:spPr>
          <a:xfrm>
            <a:off x="868680" y="141732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2" name="a1wd200_cell11"/>
          <p:cNvSpPr txBox="1"/>
          <p:nvPr/>
        </p:nvSpPr>
        <p:spPr>
          <a:xfrm>
            <a:off x="868680" y="1691640"/>
            <a:ext cx="91440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3" name="a1wd400_cell12"/>
          <p:cNvSpPr txBox="1"/>
          <p:nvPr/>
        </p:nvSpPr>
        <p:spPr>
          <a:xfrm>
            <a:off x="868680" y="1965960"/>
            <a:ext cx="91440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4" name="a1wd600_cell13"/>
          <p:cNvSpPr txBox="1"/>
          <p:nvPr/>
        </p:nvSpPr>
        <p:spPr>
          <a:xfrm>
            <a:off x="868680" y="22402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5" name="a1wd800_cell14"/>
          <p:cNvSpPr txBox="1"/>
          <p:nvPr/>
        </p:nvSpPr>
        <p:spPr>
          <a:xfrm>
            <a:off x="868680" y="2514600"/>
            <a:ext cx="91440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6" name="a1wd1000_cell15"/>
          <p:cNvSpPr txBox="1"/>
          <p:nvPr/>
        </p:nvSpPr>
        <p:spPr>
          <a:xfrm>
            <a:off x="868680" y="2788920"/>
            <a:ext cx="91440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7" name="a1f_cell16"/>
          <p:cNvSpPr txBox="1"/>
          <p:nvPr/>
        </p:nvSpPr>
        <p:spPr>
          <a:xfrm>
            <a:off x="1783080" y="141732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8" name="a1wd200_cell17"/>
          <p:cNvSpPr txBox="1"/>
          <p:nvPr/>
        </p:nvSpPr>
        <p:spPr>
          <a:xfrm>
            <a:off x="1783080" y="1691640"/>
            <a:ext cx="8686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9" name="a1wd400_cell18"/>
          <p:cNvSpPr txBox="1"/>
          <p:nvPr/>
        </p:nvSpPr>
        <p:spPr>
          <a:xfrm>
            <a:off x="1783080" y="1965960"/>
            <a:ext cx="8686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0" name="a1wd600_cell19"/>
          <p:cNvSpPr txBox="1"/>
          <p:nvPr/>
        </p:nvSpPr>
        <p:spPr>
          <a:xfrm>
            <a:off x="1783080" y="224028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21" name="a1wd800_cell20"/>
          <p:cNvSpPr txBox="1"/>
          <p:nvPr/>
        </p:nvSpPr>
        <p:spPr>
          <a:xfrm>
            <a:off x="1783080" y="2514600"/>
            <a:ext cx="8686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2" name="a1wd1000_cell21"/>
          <p:cNvSpPr txBox="1"/>
          <p:nvPr/>
        </p:nvSpPr>
        <p:spPr>
          <a:xfrm>
            <a:off x="1783080" y="2788920"/>
            <a:ext cx="8686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3" name="a1f_cell22"/>
          <p:cNvSpPr txBox="1"/>
          <p:nvPr/>
        </p:nvSpPr>
        <p:spPr>
          <a:xfrm>
            <a:off x="2651760" y="1417320"/>
            <a:ext cx="6400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dirty="0" sz="1100"/>
          </a:p>
        </p:txBody>
      </p:sp>
      <p:sp>
        <p:nvSpPr>
          <p:cNvPr id="24" name="a1wd200_cell23"/>
          <p:cNvSpPr txBox="1"/>
          <p:nvPr/>
        </p:nvSpPr>
        <p:spPr>
          <a:xfrm>
            <a:off x="2651760" y="1691640"/>
            <a:ext cx="6400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100"/>
          </a:p>
        </p:txBody>
      </p:sp>
      <p:sp>
        <p:nvSpPr>
          <p:cNvPr id="25" name="a1wd400_cell24"/>
          <p:cNvSpPr txBox="1"/>
          <p:nvPr/>
        </p:nvSpPr>
        <p:spPr>
          <a:xfrm>
            <a:off x="2651760" y="1965960"/>
            <a:ext cx="6400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6" name="a1wd600_cell25"/>
          <p:cNvSpPr txBox="1"/>
          <p:nvPr/>
        </p:nvSpPr>
        <p:spPr>
          <a:xfrm>
            <a:off x="2651760" y="2240280"/>
            <a:ext cx="6400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27" name="a1wd800_cell26"/>
          <p:cNvSpPr txBox="1"/>
          <p:nvPr/>
        </p:nvSpPr>
        <p:spPr>
          <a:xfrm>
            <a:off x="2651760" y="2514600"/>
            <a:ext cx="64008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100"/>
          </a:p>
        </p:txBody>
      </p:sp>
      <p:sp>
        <p:nvSpPr>
          <p:cNvPr id="28" name="a1wd1000_cell27"/>
          <p:cNvSpPr txBox="1"/>
          <p:nvPr/>
        </p:nvSpPr>
        <p:spPr>
          <a:xfrm>
            <a:off x="2651760" y="2788920"/>
            <a:ext cx="64008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9" name="a2f_ar28"/>
          <p:cNvSpPr/>
          <p:nvPr/>
        </p:nvSpPr>
        <p:spPr>
          <a:xfrm>
            <a:off x="3474720" y="2011680"/>
            <a:ext cx="50292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30" name="a2f_pill29"/>
          <p:cNvSpPr txBox="1"/>
          <p:nvPr/>
        </p:nvSpPr>
        <p:spPr>
          <a:xfrm>
            <a:off x="3337560" y="237744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country</a:t>
            </a:r>
            <a:endParaRPr lang="en-US" dirty="0" sz="1100"/>
          </a:p>
        </p:txBody>
      </p:sp>
      <p:sp>
        <p:nvSpPr>
          <p:cNvPr id="31" name="a3f_l30"/>
          <p:cNvSpPr txBox="1"/>
          <p:nvPr/>
        </p:nvSpPr>
        <p:spPr>
          <a:xfrm>
            <a:off x="525780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2" name="a3f_cell31"/>
          <p:cNvSpPr txBox="1"/>
          <p:nvPr/>
        </p:nvSpPr>
        <p:spPr>
          <a:xfrm>
            <a:off x="5257800" y="1417320"/>
            <a:ext cx="96012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33" name="a3wd200_cell32"/>
          <p:cNvSpPr txBox="1"/>
          <p:nvPr/>
        </p:nvSpPr>
        <p:spPr>
          <a:xfrm>
            <a:off x="5257800" y="1691640"/>
            <a:ext cx="96012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34" name="a3wd400_cell33"/>
          <p:cNvSpPr txBox="1"/>
          <p:nvPr/>
        </p:nvSpPr>
        <p:spPr>
          <a:xfrm>
            <a:off x="5257800" y="1965960"/>
            <a:ext cx="9601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35" name="a3wd600_cell34"/>
          <p:cNvSpPr txBox="1"/>
          <p:nvPr/>
        </p:nvSpPr>
        <p:spPr>
          <a:xfrm>
            <a:off x="5257800" y="2240280"/>
            <a:ext cx="96012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36" name="a3f_cell35"/>
          <p:cNvSpPr txBox="1"/>
          <p:nvPr/>
        </p:nvSpPr>
        <p:spPr>
          <a:xfrm>
            <a:off x="6217920" y="1417320"/>
            <a:ext cx="9601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total_score</a:t>
            </a:r>
            <a:endParaRPr lang="en-US" dirty="0" sz="1100"/>
          </a:p>
        </p:txBody>
      </p:sp>
      <p:sp>
        <p:nvSpPr>
          <p:cNvPr id="37" name="a3wd200_cell36"/>
          <p:cNvSpPr txBox="1"/>
          <p:nvPr/>
        </p:nvSpPr>
        <p:spPr>
          <a:xfrm>
            <a:off x="6217920" y="1691640"/>
            <a:ext cx="960120" cy="274320"/>
          </a:xfrm>
          <a:prstGeom prst="rect">
            <a:avLst/>
          </a:prstGeom>
          <a:solidFill>
            <a:srgbClr val="CCFBF1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dirty="0" sz="1100"/>
          </a:p>
        </p:txBody>
      </p:sp>
      <p:sp>
        <p:nvSpPr>
          <p:cNvPr id="38" name="a3wd400_cell37"/>
          <p:cNvSpPr txBox="1"/>
          <p:nvPr/>
        </p:nvSpPr>
        <p:spPr>
          <a:xfrm>
            <a:off x="6217920" y="1965960"/>
            <a:ext cx="96012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39" name="a3wd600_cell38"/>
          <p:cNvSpPr txBox="1"/>
          <p:nvPr/>
        </p:nvSpPr>
        <p:spPr>
          <a:xfrm>
            <a:off x="6217920" y="2240280"/>
            <a:ext cx="960120" cy="274320"/>
          </a:xfrm>
          <a:prstGeom prst="rect">
            <a:avLst/>
          </a:prstGeom>
          <a:solidFill>
            <a:srgbClr val="FFEDD5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40" name="a4fd0_h39"/>
          <p:cNvSpPr txBox="1"/>
          <p:nvPr/>
        </p:nvSpPr>
        <p:spPr>
          <a:xfrm>
            <a:off x="726948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350 + 500</a:t>
            </a:r>
            <a:endParaRPr lang="en-US" dirty="0" sz="1100"/>
          </a:p>
        </p:txBody>
      </p:sp>
      <p:sp>
        <p:nvSpPr>
          <p:cNvPr id="41" name="a4fd150_h40"/>
          <p:cNvSpPr txBox="1"/>
          <p:nvPr/>
        </p:nvSpPr>
        <p:spPr>
          <a:xfrm>
            <a:off x="726948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750</a:t>
            </a:r>
            <a:endParaRPr lang="en-US" dirty="0" sz="1100"/>
          </a:p>
        </p:txBody>
      </p:sp>
      <p:sp>
        <p:nvSpPr>
          <p:cNvPr id="42" name="a4fd300_h41"/>
          <p:cNvSpPr txBox="1"/>
          <p:nvPr/>
        </p:nvSpPr>
        <p:spPr>
          <a:xfrm>
            <a:off x="726948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900 + 0</a:t>
            </a:r>
            <a:endParaRPr lang="en-US" dirty="0" sz="1100"/>
          </a:p>
        </p:txBody>
      </p:sp>
      <p:sp>
        <p:nvSpPr>
          <p:cNvPr id="43" name="a5f_codebg42"/>
          <p:cNvSpPr/>
          <p:nvPr/>
        </p:nvSpPr>
        <p:spPr>
          <a:xfrm>
            <a:off x="457200" y="3291840"/>
            <a:ext cx="4023360" cy="104241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4" name="a5wd0_code43"/>
          <p:cNvSpPr txBox="1"/>
          <p:nvPr/>
        </p:nvSpPr>
        <p:spPr>
          <a:xfrm>
            <a:off x="640080" y="34290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country,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(score)</a:t>
            </a:r>
            <a:endParaRPr lang="en-US" dirty="0" sz="1200"/>
          </a:p>
        </p:txBody>
      </p:sp>
      <p:sp>
        <p:nvSpPr>
          <p:cNvPr id="45" name="a5wd150_code44"/>
          <p:cNvSpPr txBox="1"/>
          <p:nvPr/>
        </p:nvSpPr>
        <p:spPr>
          <a:xfrm>
            <a:off x="640080" y="368503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46" name="a5wd300_code45"/>
          <p:cNvSpPr txBox="1"/>
          <p:nvPr/>
        </p:nvSpPr>
        <p:spPr>
          <a:xfrm>
            <a:off x="640080" y="39410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200"/>
          </a:p>
        </p:txBody>
      </p:sp>
      <p:sp>
        <p:nvSpPr>
          <p:cNvPr id="47" name="a6u_tb46"/>
          <p:cNvSpPr/>
          <p:nvPr/>
        </p:nvSpPr>
        <p:spPr>
          <a:xfrm>
            <a:off x="5257800" y="3291840"/>
            <a:ext cx="3429000" cy="1042416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8" name="a6u_tt47"/>
          <p:cNvSpPr txBox="1"/>
          <p:nvPr/>
        </p:nvSpPr>
        <p:spPr>
          <a:xfrm>
            <a:off x="5440680" y="3291840"/>
            <a:ext cx="3108960" cy="1042416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rows in → 3 rows out: one row for each unique country.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total score and the total number of customers for each country.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840480" cy="1810512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total_score,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(id)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total_customers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200"/>
          </a:p>
        </p:txBody>
      </p:sp>
      <p:sp>
        <p:nvSpPr>
          <p:cNvPr id="11" name="a2f_l10"/>
          <p:cNvSpPr txBox="1"/>
          <p:nvPr/>
        </p:nvSpPr>
        <p:spPr>
          <a:xfrm>
            <a:off x="466344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2" name="a2f_cell11"/>
          <p:cNvSpPr txBox="1"/>
          <p:nvPr/>
        </p:nvSpPr>
        <p:spPr>
          <a:xfrm>
            <a:off x="4663440" y="1920240"/>
            <a:ext cx="100584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3" name="a2wd200_cell12"/>
          <p:cNvSpPr txBox="1"/>
          <p:nvPr/>
        </p:nvSpPr>
        <p:spPr>
          <a:xfrm>
            <a:off x="4663440" y="219456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4" name="a2wd400_cell13"/>
          <p:cNvSpPr txBox="1"/>
          <p:nvPr/>
        </p:nvSpPr>
        <p:spPr>
          <a:xfrm>
            <a:off x="4663440" y="246888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5" name="a2wd600_cell14"/>
          <p:cNvSpPr txBox="1"/>
          <p:nvPr/>
        </p:nvSpPr>
        <p:spPr>
          <a:xfrm>
            <a:off x="4663440" y="2743200"/>
            <a:ext cx="10058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16" name="a2f_cell15"/>
          <p:cNvSpPr txBox="1"/>
          <p:nvPr/>
        </p:nvSpPr>
        <p:spPr>
          <a:xfrm>
            <a:off x="5669280" y="1920240"/>
            <a:ext cx="9601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total_score</a:t>
            </a:r>
            <a:endParaRPr lang="en-US" dirty="0" sz="1100"/>
          </a:p>
        </p:txBody>
      </p:sp>
      <p:sp>
        <p:nvSpPr>
          <p:cNvPr id="17" name="a2wd200_cell16"/>
          <p:cNvSpPr txBox="1"/>
          <p:nvPr/>
        </p:nvSpPr>
        <p:spPr>
          <a:xfrm>
            <a:off x="5669280" y="219456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dirty="0" sz="1100"/>
          </a:p>
        </p:txBody>
      </p:sp>
      <p:sp>
        <p:nvSpPr>
          <p:cNvPr id="18" name="a2wd400_cell17"/>
          <p:cNvSpPr txBox="1"/>
          <p:nvPr/>
        </p:nvSpPr>
        <p:spPr>
          <a:xfrm>
            <a:off x="5669280" y="246888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19" name="a2wd600_cell18"/>
          <p:cNvSpPr txBox="1"/>
          <p:nvPr/>
        </p:nvSpPr>
        <p:spPr>
          <a:xfrm>
            <a:off x="5669280" y="274320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6629400" y="1920240"/>
            <a:ext cx="11887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total_customers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6629400" y="2194560"/>
            <a:ext cx="11887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6629400" y="2468880"/>
            <a:ext cx="11887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6629400" y="2743200"/>
            <a:ext cx="11887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24" name="a3u_nb23"/>
          <p:cNvSpPr/>
          <p:nvPr/>
        </p:nvSpPr>
        <p:spPr>
          <a:xfrm>
            <a:off x="4663440" y="3246120"/>
            <a:ext cx="4023360" cy="91440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5" name="a3u_ni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3543300"/>
            <a:ext cx="320040" cy="320040"/>
          </a:xfrm>
          <a:prstGeom prst="rect">
            <a:avLst/>
          </a:prstGeom>
        </p:spPr>
      </p:pic>
      <p:sp>
        <p:nvSpPr>
          <p:cNvPr id="26" name="a3u_nt25"/>
          <p:cNvSpPr txBox="1"/>
          <p:nvPr/>
        </p:nvSpPr>
        <p:spPr>
          <a:xfrm>
            <a:off x="5212080" y="32461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country. The columns in GROUP BY set the granularity of the result — add a column and the groups get smaller.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Hood: GROUP BY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sorts rows into groups, then collapses each group</a:t>
            </a:r>
            <a:endParaRPr lang="en-US" dirty="0" sz="1300"/>
          </a:p>
        </p:txBody>
      </p:sp>
      <p:sp>
        <p:nvSpPr>
          <p:cNvPr id="4" name="Text 3"/>
          <p:cNvSpPr txBox="1"/>
          <p:nvPr/>
        </p:nvSpPr>
        <p:spPr>
          <a:xfrm>
            <a:off x="45720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5" name="s_cell4"/>
          <p:cNvSpPr txBox="1"/>
          <p:nvPr/>
        </p:nvSpPr>
        <p:spPr>
          <a:xfrm>
            <a:off x="457200" y="141732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6" name="s_cell5"/>
          <p:cNvSpPr txBox="1"/>
          <p:nvPr/>
        </p:nvSpPr>
        <p:spPr>
          <a:xfrm>
            <a:off x="457200" y="1691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7" name="s_cell6"/>
          <p:cNvSpPr txBox="1"/>
          <p:nvPr/>
        </p:nvSpPr>
        <p:spPr>
          <a:xfrm>
            <a:off x="457200" y="19659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8" name="s_cell7"/>
          <p:cNvSpPr txBox="1"/>
          <p:nvPr/>
        </p:nvSpPr>
        <p:spPr>
          <a:xfrm>
            <a:off x="457200" y="22402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9" name="s_cell8"/>
          <p:cNvSpPr txBox="1"/>
          <p:nvPr/>
        </p:nvSpPr>
        <p:spPr>
          <a:xfrm>
            <a:off x="457200" y="25146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0" name="s_cell9"/>
          <p:cNvSpPr txBox="1"/>
          <p:nvPr/>
        </p:nvSpPr>
        <p:spPr>
          <a:xfrm>
            <a:off x="457200" y="278892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11" name="s_cell10"/>
          <p:cNvSpPr txBox="1"/>
          <p:nvPr/>
        </p:nvSpPr>
        <p:spPr>
          <a:xfrm>
            <a:off x="1325880" y="1417320"/>
            <a:ext cx="82296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2" name="s_cell11"/>
          <p:cNvSpPr txBox="1"/>
          <p:nvPr/>
        </p:nvSpPr>
        <p:spPr>
          <a:xfrm>
            <a:off x="1325880" y="169164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3" name="s_cell12"/>
          <p:cNvSpPr txBox="1"/>
          <p:nvPr/>
        </p:nvSpPr>
        <p:spPr>
          <a:xfrm>
            <a:off x="1325880" y="196596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14" name="s_cell13"/>
          <p:cNvSpPr txBox="1"/>
          <p:nvPr/>
        </p:nvSpPr>
        <p:spPr>
          <a:xfrm>
            <a:off x="1325880" y="224028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5" name="s_cell14"/>
          <p:cNvSpPr txBox="1"/>
          <p:nvPr/>
        </p:nvSpPr>
        <p:spPr>
          <a:xfrm>
            <a:off x="1325880" y="251460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6" name="s_cell15"/>
          <p:cNvSpPr txBox="1"/>
          <p:nvPr/>
        </p:nvSpPr>
        <p:spPr>
          <a:xfrm>
            <a:off x="1325880" y="278892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17" name="s_cell16"/>
          <p:cNvSpPr txBox="1"/>
          <p:nvPr/>
        </p:nvSpPr>
        <p:spPr>
          <a:xfrm>
            <a:off x="2148840" y="1417320"/>
            <a:ext cx="59436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dirty="0" sz="1100"/>
          </a:p>
        </p:txBody>
      </p:sp>
      <p:sp>
        <p:nvSpPr>
          <p:cNvPr id="18" name="s_cell17"/>
          <p:cNvSpPr txBox="1"/>
          <p:nvPr/>
        </p:nvSpPr>
        <p:spPr>
          <a:xfrm>
            <a:off x="2148840" y="169164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100"/>
          </a:p>
        </p:txBody>
      </p:sp>
      <p:sp>
        <p:nvSpPr>
          <p:cNvPr id="19" name="s_cell18"/>
          <p:cNvSpPr txBox="1"/>
          <p:nvPr/>
        </p:nvSpPr>
        <p:spPr>
          <a:xfrm>
            <a:off x="2148840" y="196596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0" name="s_cell19"/>
          <p:cNvSpPr txBox="1"/>
          <p:nvPr/>
        </p:nvSpPr>
        <p:spPr>
          <a:xfrm>
            <a:off x="2148840" y="224028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21" name="s_cell20"/>
          <p:cNvSpPr txBox="1"/>
          <p:nvPr/>
        </p:nvSpPr>
        <p:spPr>
          <a:xfrm>
            <a:off x="2148840" y="251460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100"/>
          </a:p>
        </p:txBody>
      </p:sp>
      <p:sp>
        <p:nvSpPr>
          <p:cNvPr id="22" name="s_cell21"/>
          <p:cNvSpPr txBox="1"/>
          <p:nvPr/>
        </p:nvSpPr>
        <p:spPr>
          <a:xfrm>
            <a:off x="2148840" y="2788920"/>
            <a:ext cx="5943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3" name="Text 22"/>
          <p:cNvSpPr txBox="1"/>
          <p:nvPr/>
        </p:nvSpPr>
        <p:spPr>
          <a:xfrm>
            <a:off x="31546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</a:t>
            </a:r>
            <a:endParaRPr lang="en-US" dirty="0" sz="1200"/>
          </a:p>
        </p:txBody>
      </p:sp>
      <p:sp>
        <p:nvSpPr>
          <p:cNvPr id="24" name="a1f_bk23"/>
          <p:cNvSpPr/>
          <p:nvPr/>
        </p:nvSpPr>
        <p:spPr>
          <a:xfrm>
            <a:off x="3154680" y="141732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a1f_bl24"/>
          <p:cNvSpPr txBox="1"/>
          <p:nvPr/>
        </p:nvSpPr>
        <p:spPr>
          <a:xfrm>
            <a:off x="324612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6" name="a1fd200_ch25"/>
          <p:cNvSpPr txBox="1"/>
          <p:nvPr/>
        </p:nvSpPr>
        <p:spPr>
          <a:xfrm>
            <a:off x="4023360" y="150876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350</a:t>
            </a:r>
            <a:endParaRPr lang="en-US" dirty="0" sz="900"/>
          </a:p>
        </p:txBody>
      </p:sp>
      <p:sp>
        <p:nvSpPr>
          <p:cNvPr id="27" name="a2f_bk26"/>
          <p:cNvSpPr/>
          <p:nvPr/>
        </p:nvSpPr>
        <p:spPr>
          <a:xfrm>
            <a:off x="3154680" y="196596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8" name="a2f_bl27"/>
          <p:cNvSpPr txBox="1"/>
          <p:nvPr/>
        </p:nvSpPr>
        <p:spPr>
          <a:xfrm>
            <a:off x="324612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9" name="a2fd200_ch28"/>
          <p:cNvSpPr txBox="1"/>
          <p:nvPr/>
        </p:nvSpPr>
        <p:spPr>
          <a:xfrm>
            <a:off x="4023360" y="205740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900</a:t>
            </a:r>
            <a:endParaRPr lang="en-US" dirty="0" sz="900"/>
          </a:p>
        </p:txBody>
      </p:sp>
      <p:sp>
        <p:nvSpPr>
          <p:cNvPr id="30" name="a3f_bk29"/>
          <p:cNvSpPr/>
          <p:nvPr/>
        </p:nvSpPr>
        <p:spPr>
          <a:xfrm>
            <a:off x="3154680" y="251460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31" name="a3f_bl30"/>
          <p:cNvSpPr txBox="1"/>
          <p:nvPr/>
        </p:nvSpPr>
        <p:spPr>
          <a:xfrm>
            <a:off x="324612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32" name="a3fd200_ch31"/>
          <p:cNvSpPr txBox="1"/>
          <p:nvPr/>
        </p:nvSpPr>
        <p:spPr>
          <a:xfrm>
            <a:off x="4023360" y="260604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750</a:t>
            </a:r>
            <a:endParaRPr lang="en-US" dirty="0" sz="900"/>
          </a:p>
        </p:txBody>
      </p:sp>
      <p:sp>
        <p:nvSpPr>
          <p:cNvPr id="33" name="a4fd200_ch32"/>
          <p:cNvSpPr txBox="1"/>
          <p:nvPr/>
        </p:nvSpPr>
        <p:spPr>
          <a:xfrm>
            <a:off x="4681728" y="150876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 500</a:t>
            </a:r>
            <a:endParaRPr lang="en-US" dirty="0" sz="900"/>
          </a:p>
        </p:txBody>
      </p:sp>
      <p:sp>
        <p:nvSpPr>
          <p:cNvPr id="34" name="a5fd200_ch33"/>
          <p:cNvSpPr txBox="1"/>
          <p:nvPr/>
        </p:nvSpPr>
        <p:spPr>
          <a:xfrm>
            <a:off x="4681728" y="2057400"/>
            <a:ext cx="5943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9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0</a:t>
            </a:r>
            <a:endParaRPr lang="en-US" dirty="0" sz="900"/>
          </a:p>
        </p:txBody>
      </p:sp>
      <p:sp>
        <p:nvSpPr>
          <p:cNvPr id="35" name="a6f_rl34"/>
          <p:cNvSpPr txBox="1"/>
          <p:nvPr/>
        </p:nvSpPr>
        <p:spPr>
          <a:xfrm>
            <a:off x="5669280" y="1143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6" name="a6f_cell35"/>
          <p:cNvSpPr txBox="1"/>
          <p:nvPr/>
        </p:nvSpPr>
        <p:spPr>
          <a:xfrm>
            <a:off x="5669280" y="141732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37" name="a6wd200_cell36"/>
          <p:cNvSpPr txBox="1"/>
          <p:nvPr/>
        </p:nvSpPr>
        <p:spPr>
          <a:xfrm>
            <a:off x="5669280" y="169164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38" name="a6wd400_cell37"/>
          <p:cNvSpPr txBox="1"/>
          <p:nvPr/>
        </p:nvSpPr>
        <p:spPr>
          <a:xfrm>
            <a:off x="5669280" y="196596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39" name="a6wd600_cell38"/>
          <p:cNvSpPr txBox="1"/>
          <p:nvPr/>
        </p:nvSpPr>
        <p:spPr>
          <a:xfrm>
            <a:off x="5669280" y="224028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40" name="a6f_cell39"/>
          <p:cNvSpPr txBox="1"/>
          <p:nvPr/>
        </p:nvSpPr>
        <p:spPr>
          <a:xfrm>
            <a:off x="6537960" y="1417320"/>
            <a:ext cx="91440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total_score</a:t>
            </a:r>
            <a:endParaRPr lang="en-US" dirty="0" sz="1100"/>
          </a:p>
        </p:txBody>
      </p:sp>
      <p:sp>
        <p:nvSpPr>
          <p:cNvPr id="41" name="a6wd200_cell40"/>
          <p:cNvSpPr txBox="1"/>
          <p:nvPr/>
        </p:nvSpPr>
        <p:spPr>
          <a:xfrm>
            <a:off x="6537960" y="169164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dirty="0" sz="1100"/>
          </a:p>
        </p:txBody>
      </p:sp>
      <p:sp>
        <p:nvSpPr>
          <p:cNvPr id="42" name="a6wd400_cell41"/>
          <p:cNvSpPr txBox="1"/>
          <p:nvPr/>
        </p:nvSpPr>
        <p:spPr>
          <a:xfrm>
            <a:off x="6537960" y="196596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43" name="a6wd600_cell42"/>
          <p:cNvSpPr txBox="1"/>
          <p:nvPr/>
        </p:nvSpPr>
        <p:spPr>
          <a:xfrm>
            <a:off x="6537960" y="2240280"/>
            <a:ext cx="91440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44" name="a6f_cell43"/>
          <p:cNvSpPr txBox="1"/>
          <p:nvPr/>
        </p:nvSpPr>
        <p:spPr>
          <a:xfrm>
            <a:off x="7452360" y="1417320"/>
            <a:ext cx="86868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45" name="a6wd200_cell44"/>
          <p:cNvSpPr txBox="1"/>
          <p:nvPr/>
        </p:nvSpPr>
        <p:spPr>
          <a:xfrm>
            <a:off x="7452360" y="169164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6" name="a6wd400_cell45"/>
          <p:cNvSpPr txBox="1"/>
          <p:nvPr/>
        </p:nvSpPr>
        <p:spPr>
          <a:xfrm>
            <a:off x="7452360" y="196596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7" name="a6wd600_cell46"/>
          <p:cNvSpPr txBox="1"/>
          <p:nvPr/>
        </p:nvSpPr>
        <p:spPr>
          <a:xfrm>
            <a:off x="7452360" y="224028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8" name="Shape 47"/>
          <p:cNvSpPr/>
          <p:nvPr/>
        </p:nvSpPr>
        <p:spPr>
          <a:xfrm>
            <a:off x="457200" y="3291840"/>
            <a:ext cx="5074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8"/>
          <p:cNvSpPr txBox="1"/>
          <p:nvPr/>
        </p:nvSpPr>
        <p:spPr>
          <a:xfrm>
            <a:off x="640080" y="33467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000" b="1" spc="200" kern="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LOG</a:t>
            </a:r>
            <a:endParaRPr lang="en-US" dirty="0" sz="1000"/>
          </a:p>
        </p:txBody>
      </p:sp>
      <p:sp>
        <p:nvSpPr>
          <p:cNvPr id="50" name="a1fd200_log49"/>
          <p:cNvSpPr txBox="1"/>
          <p:nvPr/>
        </p:nvSpPr>
        <p:spPr>
          <a:xfrm>
            <a:off x="640080" y="3584448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Maria · Germany  </a:t>
            </a: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group Germany</a:t>
            </a:r>
            <a:endParaRPr lang="en-US" dirty="0" sz="1100"/>
          </a:p>
        </p:txBody>
      </p:sp>
      <p:sp>
        <p:nvSpPr>
          <p:cNvPr id="51" name="a2fd200_log50"/>
          <p:cNvSpPr txBox="1"/>
          <p:nvPr/>
        </p:nvSpPr>
        <p:spPr>
          <a:xfrm>
            <a:off x="640080" y="38313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John · USA  </a:t>
            </a: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group USA</a:t>
            </a:r>
            <a:endParaRPr lang="en-US" dirty="0" sz="1100"/>
          </a:p>
        </p:txBody>
      </p:sp>
      <p:sp>
        <p:nvSpPr>
          <p:cNvPr id="52" name="a3fd200_log51"/>
          <p:cNvSpPr txBox="1"/>
          <p:nvPr/>
        </p:nvSpPr>
        <p:spPr>
          <a:xfrm>
            <a:off x="640080" y="4078224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Georg · UK  </a:t>
            </a: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group UK</a:t>
            </a:r>
            <a:endParaRPr lang="en-US" dirty="0" sz="1100"/>
          </a:p>
        </p:txBody>
      </p:sp>
      <p:sp>
        <p:nvSpPr>
          <p:cNvPr id="53" name="a4fd200_log52"/>
          <p:cNvSpPr txBox="1"/>
          <p:nvPr/>
        </p:nvSpPr>
        <p:spPr>
          <a:xfrm>
            <a:off x="640080" y="4325112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Martin · Germany  </a:t>
            </a: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added to group Germany</a:t>
            </a:r>
            <a:endParaRPr lang="en-US" dirty="0" sz="1100"/>
          </a:p>
        </p:txBody>
      </p:sp>
      <p:sp>
        <p:nvSpPr>
          <p:cNvPr id="54" name="a5fd200_log53"/>
          <p:cNvSpPr txBox="1"/>
          <p:nvPr/>
        </p:nvSpPr>
        <p:spPr>
          <a:xfrm>
            <a:off x="640080" y="4572000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Peter · USA  </a:t>
            </a:r>
            <a:r>
              <a:rPr sz="11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added to group USA</a:t>
            </a:r>
            <a:endParaRPr lang="en-US" dirty="0" sz="1100"/>
          </a:p>
        </p:txBody>
      </p:sp>
      <p:sp>
        <p:nvSpPr>
          <p:cNvPr id="55" name="a7u_tb54"/>
          <p:cNvSpPr/>
          <p:nvPr/>
        </p:nvSpPr>
        <p:spPr>
          <a:xfrm>
            <a:off x="5760720" y="361188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6" name="a7u_tt55"/>
          <p:cNvSpPr txBox="1"/>
          <p:nvPr/>
        </p:nvSpPr>
        <p:spPr>
          <a:xfrm>
            <a:off x="5943600" y="3611880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collapses to one row — SUM and COUNT run inside every group.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BY Rule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in SELECT must be either aggregated or listed in GROUP BY</a:t>
            </a:r>
            <a:endParaRPr lang="en-US" dirty="0" sz="1300"/>
          </a:p>
        </p:txBody>
      </p:sp>
      <p:sp>
        <p:nvSpPr>
          <p:cNvPr id="4" name="a1u_card3"/>
          <p:cNvSpPr/>
          <p:nvPr/>
        </p:nvSpPr>
        <p:spPr>
          <a:xfrm>
            <a:off x="457200" y="1234440"/>
            <a:ext cx="4023360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1u_hd4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Not allowed</a:t>
            </a:r>
            <a:endParaRPr lang="en-US" dirty="0" sz="1500"/>
          </a:p>
        </p:txBody>
      </p:sp>
      <p:sp>
        <p:nvSpPr>
          <p:cNvPr id="6" name="a1f_codebg5"/>
          <p:cNvSpPr/>
          <p:nvPr/>
        </p:nvSpPr>
        <p:spPr>
          <a:xfrm>
            <a:off x="640080" y="1737360"/>
            <a:ext cx="3657600" cy="1700784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a1wd0_code6"/>
          <p:cNvSpPr txBox="1"/>
          <p:nvPr/>
        </p:nvSpPr>
        <p:spPr>
          <a:xfrm>
            <a:off x="822960" y="187452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100"/>
          </a:p>
        </p:txBody>
      </p:sp>
      <p:sp>
        <p:nvSpPr>
          <p:cNvPr id="8" name="a1wd150_code7"/>
          <p:cNvSpPr txBox="1"/>
          <p:nvPr/>
        </p:nvSpPr>
        <p:spPr>
          <a:xfrm>
            <a:off x="822960" y="21122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100"/>
          </a:p>
        </p:txBody>
      </p:sp>
      <p:sp>
        <p:nvSpPr>
          <p:cNvPr id="9" name="a1wd300_code8"/>
          <p:cNvSpPr txBox="1"/>
          <p:nvPr/>
        </p:nvSpPr>
        <p:spPr>
          <a:xfrm>
            <a:off x="822960" y="235000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first_name,</a:t>
            </a:r>
            <a:endParaRPr lang="en-US" dirty="0" sz="1100"/>
          </a:p>
        </p:txBody>
      </p:sp>
      <p:sp>
        <p:nvSpPr>
          <p:cNvPr id="10" name="a1wd450_code9"/>
          <p:cNvSpPr txBox="1"/>
          <p:nvPr/>
        </p:nvSpPr>
        <p:spPr>
          <a:xfrm>
            <a:off x="822960" y="25877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total_score</a:t>
            </a:r>
            <a:endParaRPr lang="en-US" dirty="0" sz="1100"/>
          </a:p>
        </p:txBody>
      </p:sp>
      <p:sp>
        <p:nvSpPr>
          <p:cNvPr id="11" name="a1wd600_code10"/>
          <p:cNvSpPr txBox="1"/>
          <p:nvPr/>
        </p:nvSpPr>
        <p:spPr>
          <a:xfrm>
            <a:off x="822960" y="28254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12" name="a1wd750_code11"/>
          <p:cNvSpPr txBox="1"/>
          <p:nvPr/>
        </p:nvSpPr>
        <p:spPr>
          <a:xfrm>
            <a:off x="822960" y="306324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100"/>
          </a:p>
        </p:txBody>
      </p:sp>
      <p:sp>
        <p:nvSpPr>
          <p:cNvPr id="13" name="a1u_msg12"/>
          <p:cNvSpPr txBox="1"/>
          <p:nvPr/>
        </p:nvSpPr>
        <p:spPr>
          <a:xfrm>
            <a:off x="640080" y="35204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100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first_name is invalid in the select list — it is not aggregated and not in GROUP BY.</a:t>
            </a:r>
            <a:endParaRPr lang="en-US" dirty="0" sz="1100"/>
          </a:p>
        </p:txBody>
      </p:sp>
      <p:sp>
        <p:nvSpPr>
          <p:cNvPr id="14" name="a2u_card13"/>
          <p:cNvSpPr/>
          <p:nvPr/>
        </p:nvSpPr>
        <p:spPr>
          <a:xfrm>
            <a:off x="4663440" y="1234440"/>
            <a:ext cx="4023360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a2u_hd14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Fix it</a:t>
            </a:r>
            <a:endParaRPr lang="en-US" dirty="0" sz="1500"/>
          </a:p>
        </p:txBody>
      </p:sp>
      <p:sp>
        <p:nvSpPr>
          <p:cNvPr id="16" name="a2f_codebg15"/>
          <p:cNvSpPr/>
          <p:nvPr/>
        </p:nvSpPr>
        <p:spPr>
          <a:xfrm>
            <a:off x="4846320" y="1737360"/>
            <a:ext cx="3657600" cy="1700784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a2wd0_code16"/>
          <p:cNvSpPr txBox="1"/>
          <p:nvPr/>
        </p:nvSpPr>
        <p:spPr>
          <a:xfrm>
            <a:off x="5029200" y="187452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100"/>
          </a:p>
        </p:txBody>
      </p:sp>
      <p:sp>
        <p:nvSpPr>
          <p:cNvPr id="18" name="a2wd150_code17"/>
          <p:cNvSpPr txBox="1"/>
          <p:nvPr/>
        </p:nvSpPr>
        <p:spPr>
          <a:xfrm>
            <a:off x="5029200" y="21122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100"/>
          </a:p>
        </p:txBody>
      </p:sp>
      <p:sp>
        <p:nvSpPr>
          <p:cNvPr id="19" name="a2wd300_code18"/>
          <p:cNvSpPr txBox="1"/>
          <p:nvPr/>
        </p:nvSpPr>
        <p:spPr>
          <a:xfrm>
            <a:off x="5029200" y="235000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(first_name)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dirty="0" sz="1100"/>
          </a:p>
        </p:txBody>
      </p:sp>
      <p:sp>
        <p:nvSpPr>
          <p:cNvPr id="20" name="a2wd450_code19"/>
          <p:cNvSpPr txBox="1"/>
          <p:nvPr/>
        </p:nvSpPr>
        <p:spPr>
          <a:xfrm>
            <a:off x="5029200" y="25877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total_score</a:t>
            </a:r>
            <a:endParaRPr lang="en-US" dirty="0" sz="1100"/>
          </a:p>
        </p:txBody>
      </p:sp>
      <p:sp>
        <p:nvSpPr>
          <p:cNvPr id="21" name="a2wd600_code20"/>
          <p:cNvSpPr txBox="1"/>
          <p:nvPr/>
        </p:nvSpPr>
        <p:spPr>
          <a:xfrm>
            <a:off x="5029200" y="282549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22" name="a2wd750_code21"/>
          <p:cNvSpPr txBox="1"/>
          <p:nvPr/>
        </p:nvSpPr>
        <p:spPr>
          <a:xfrm>
            <a:off x="5029200" y="306324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100"/>
          </a:p>
        </p:txBody>
      </p:sp>
      <p:sp>
        <p:nvSpPr>
          <p:cNvPr id="23" name="a2u_msg22"/>
          <p:cNvSpPr txBox="1"/>
          <p:nvPr/>
        </p:nvSpPr>
        <p:spPr>
          <a:xfrm>
            <a:off x="4846320" y="35204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100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it — or add it to GROUP BY (then every customer becomes a group of their own).</a:t>
            </a:r>
            <a:endParaRPr lang="en-US" dirty="0" sz="1100"/>
          </a:p>
        </p:txBody>
      </p:sp>
      <p:sp>
        <p:nvSpPr>
          <p:cNvPr id="24" name="a3u_rt23"/>
          <p:cNvSpPr txBox="1"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Why: </a:t>
            </a:r>
            <a:r>
              <a:rPr sz="1300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group = one row. SQL cannot show two first names for Germany in a single row.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+ GROUP BY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with their order count and total sales — including customers without orders.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93192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.id,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.order_id)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total_orders,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.sales)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total_sales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 = </a:t>
            </a:r>
            <a:r>
              <a:rPr sz="1200" lang="en-US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.customer_id</a:t>
            </a:r>
            <a:endParaRPr lang="en-US" dirty="0" sz="12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5753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.id,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.first_name;</a:t>
            </a:r>
            <a:endParaRPr lang="en-US" dirty="0" sz="1200"/>
          </a:p>
        </p:txBody>
      </p:sp>
      <p:sp>
        <p:nvSpPr>
          <p:cNvPr id="13" name="a2f_l12"/>
          <p:cNvSpPr txBox="1"/>
          <p:nvPr/>
        </p:nvSpPr>
        <p:spPr>
          <a:xfrm>
            <a:off x="470916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14" name="a2f_cell13"/>
          <p:cNvSpPr txBox="1"/>
          <p:nvPr/>
        </p:nvSpPr>
        <p:spPr>
          <a:xfrm>
            <a:off x="4709160" y="1920240"/>
            <a:ext cx="4114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dirty="0" sz="1100"/>
          </a:p>
        </p:txBody>
      </p:sp>
      <p:sp>
        <p:nvSpPr>
          <p:cNvPr id="15" name="a2wd200_cell14"/>
          <p:cNvSpPr txBox="1"/>
          <p:nvPr/>
        </p:nvSpPr>
        <p:spPr>
          <a:xfrm>
            <a:off x="4709160" y="219456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16" name="a2wd400_cell15"/>
          <p:cNvSpPr txBox="1"/>
          <p:nvPr/>
        </p:nvSpPr>
        <p:spPr>
          <a:xfrm>
            <a:off x="4709160" y="246888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17" name="a2wd600_cell16"/>
          <p:cNvSpPr txBox="1"/>
          <p:nvPr/>
        </p:nvSpPr>
        <p:spPr>
          <a:xfrm>
            <a:off x="4709160" y="274320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100"/>
          </a:p>
        </p:txBody>
      </p:sp>
      <p:sp>
        <p:nvSpPr>
          <p:cNvPr id="18" name="a2wd800_cell17"/>
          <p:cNvSpPr txBox="1"/>
          <p:nvPr/>
        </p:nvSpPr>
        <p:spPr>
          <a:xfrm>
            <a:off x="4709160" y="301752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100"/>
          </a:p>
        </p:txBody>
      </p:sp>
      <p:sp>
        <p:nvSpPr>
          <p:cNvPr id="19" name="a2wd1000_cell18"/>
          <p:cNvSpPr txBox="1"/>
          <p:nvPr/>
        </p:nvSpPr>
        <p:spPr>
          <a:xfrm>
            <a:off x="4709160" y="3291840"/>
            <a:ext cx="4114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5120640" y="192024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512064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512064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512064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24" name="a2wd800_cell23"/>
          <p:cNvSpPr txBox="1"/>
          <p:nvPr/>
        </p:nvSpPr>
        <p:spPr>
          <a:xfrm>
            <a:off x="5120640" y="301752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25" name="a2wd1000_cell24"/>
          <p:cNvSpPr txBox="1"/>
          <p:nvPr/>
        </p:nvSpPr>
        <p:spPr>
          <a:xfrm>
            <a:off x="5120640" y="329184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6" name="a2f_cell25"/>
          <p:cNvSpPr txBox="1"/>
          <p:nvPr/>
        </p:nvSpPr>
        <p:spPr>
          <a:xfrm>
            <a:off x="6035040" y="1920240"/>
            <a:ext cx="96012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total_orders</a:t>
            </a:r>
            <a:endParaRPr lang="en-US" dirty="0" sz="1100"/>
          </a:p>
        </p:txBody>
      </p:sp>
      <p:sp>
        <p:nvSpPr>
          <p:cNvPr id="27" name="a2wd200_cell26"/>
          <p:cNvSpPr txBox="1"/>
          <p:nvPr/>
        </p:nvSpPr>
        <p:spPr>
          <a:xfrm>
            <a:off x="6035040" y="219456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8" name="a2wd400_cell27"/>
          <p:cNvSpPr txBox="1"/>
          <p:nvPr/>
        </p:nvSpPr>
        <p:spPr>
          <a:xfrm>
            <a:off x="6035040" y="246888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9" name="a2wd600_cell28"/>
          <p:cNvSpPr txBox="1"/>
          <p:nvPr/>
        </p:nvSpPr>
        <p:spPr>
          <a:xfrm>
            <a:off x="6035040" y="274320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0" name="a2wd800_cell29"/>
          <p:cNvSpPr txBox="1"/>
          <p:nvPr/>
        </p:nvSpPr>
        <p:spPr>
          <a:xfrm>
            <a:off x="6035040" y="301752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1" name="a2wd1000_cell30"/>
          <p:cNvSpPr txBox="1"/>
          <p:nvPr/>
        </p:nvSpPr>
        <p:spPr>
          <a:xfrm>
            <a:off x="6035040" y="3291840"/>
            <a:ext cx="9601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2" name="a2f_cell31"/>
          <p:cNvSpPr txBox="1"/>
          <p:nvPr/>
        </p:nvSpPr>
        <p:spPr>
          <a:xfrm>
            <a:off x="6995160" y="1920240"/>
            <a:ext cx="86868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total_sales</a:t>
            </a:r>
            <a:endParaRPr lang="en-US" dirty="0" sz="1100"/>
          </a:p>
        </p:txBody>
      </p:sp>
      <p:sp>
        <p:nvSpPr>
          <p:cNvPr id="33" name="a2wd200_cell32"/>
          <p:cNvSpPr txBox="1"/>
          <p:nvPr/>
        </p:nvSpPr>
        <p:spPr>
          <a:xfrm>
            <a:off x="6995160" y="21945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dirty="0" sz="1100"/>
          </a:p>
        </p:txBody>
      </p:sp>
      <p:sp>
        <p:nvSpPr>
          <p:cNvPr id="34" name="a2wd400_cell33"/>
          <p:cNvSpPr txBox="1"/>
          <p:nvPr/>
        </p:nvSpPr>
        <p:spPr>
          <a:xfrm>
            <a:off x="6995160" y="24688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1100"/>
          </a:p>
        </p:txBody>
      </p:sp>
      <p:sp>
        <p:nvSpPr>
          <p:cNvPr id="35" name="a2wd600_cell34"/>
          <p:cNvSpPr txBox="1"/>
          <p:nvPr/>
        </p:nvSpPr>
        <p:spPr>
          <a:xfrm>
            <a:off x="6995160" y="27432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dirty="0" sz="1100"/>
          </a:p>
        </p:txBody>
      </p:sp>
      <p:sp>
        <p:nvSpPr>
          <p:cNvPr id="36" name="a2wd800_cell35"/>
          <p:cNvSpPr txBox="1"/>
          <p:nvPr/>
        </p:nvSpPr>
        <p:spPr>
          <a:xfrm>
            <a:off x="6995160" y="301752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7" name="a2wd1000_cell36"/>
          <p:cNvSpPr txBox="1"/>
          <p:nvPr/>
        </p:nvSpPr>
        <p:spPr>
          <a:xfrm>
            <a:off x="6995160" y="32918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i="1"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dirty="0" sz="1100"/>
          </a:p>
        </p:txBody>
      </p:sp>
      <p:sp>
        <p:nvSpPr>
          <p:cNvPr id="38" name="a3u_nb37"/>
          <p:cNvSpPr/>
          <p:nvPr/>
        </p:nvSpPr>
        <p:spPr>
          <a:xfrm>
            <a:off x="4709160" y="3794760"/>
            <a:ext cx="3977640" cy="96012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9" name="a3u_ni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4114800"/>
            <a:ext cx="320040" cy="320040"/>
          </a:xfrm>
          <a:prstGeom prst="rect">
            <a:avLst/>
          </a:prstGeom>
        </p:spPr>
      </p:pic>
      <p:sp>
        <p:nvSpPr>
          <p:cNvPr id="40" name="a3u_nt39"/>
          <p:cNvSpPr txBox="1"/>
          <p:nvPr/>
        </p:nvSpPr>
        <p:spPr>
          <a:xfrm>
            <a:off x="5257800" y="37947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Count a column from the right table.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COUNT(*) would count Martin's and Peter's NULL rows as 1 order each.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groups — after the aggregation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162595" y="1737898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5162595" y="2199401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5162595" y="2660904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6505149" y="1800830"/>
            <a:ext cx="839096" cy="1048871"/>
          </a:xfrm>
          <a:prstGeom prst="flowChartMerge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7533042" y="1968649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0" name="a0fd300_v9"/>
          <p:cNvSpPr/>
          <p:nvPr/>
        </p:nvSpPr>
        <p:spPr>
          <a:xfrm>
            <a:off x="7533042" y="2430152"/>
            <a:ext cx="1153758" cy="314661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vs. HAVING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filter data — but at different moments of the query</a:t>
            </a:r>
            <a:endParaRPr lang="en-US" dirty="0" sz="1300"/>
          </a:p>
        </p:txBody>
      </p:sp>
      <p:sp>
        <p:nvSpPr>
          <p:cNvPr id="4" name="a1f_box3"/>
          <p:cNvSpPr txBox="1"/>
          <p:nvPr/>
        </p:nvSpPr>
        <p:spPr>
          <a:xfrm>
            <a:off x="2103120" y="123444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dirty="0" sz="1500"/>
          </a:p>
        </p:txBody>
      </p:sp>
      <p:sp>
        <p:nvSpPr>
          <p:cNvPr id="5" name="a1f_box4"/>
          <p:cNvSpPr txBox="1"/>
          <p:nvPr/>
        </p:nvSpPr>
        <p:spPr>
          <a:xfrm>
            <a:off x="5440680" y="1234440"/>
            <a:ext cx="3246120" cy="457200"/>
          </a:xfrm>
          <a:prstGeom prst="roundRect">
            <a:avLst>
              <a:gd name="adj" fmla="val 1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5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endParaRPr lang="en-US" dirty="0" sz="1500"/>
          </a:p>
        </p:txBody>
      </p:sp>
      <p:sp>
        <p:nvSpPr>
          <p:cNvPr id="6" name="a2f_box5"/>
          <p:cNvSpPr txBox="1"/>
          <p:nvPr/>
        </p:nvSpPr>
        <p:spPr>
          <a:xfrm>
            <a:off x="457200" y="1828800"/>
            <a:ext cx="1508760" cy="54864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dirty="0" sz="1300"/>
          </a:p>
        </p:txBody>
      </p:sp>
      <p:sp>
        <p:nvSpPr>
          <p:cNvPr id="7" name="a2wd100_box6"/>
          <p:cNvSpPr txBox="1"/>
          <p:nvPr/>
        </p:nvSpPr>
        <p:spPr>
          <a:xfrm>
            <a:off x="2103120" y="18288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rows</a:t>
            </a:r>
            <a:endParaRPr lang="en-US" dirty="0" sz="1300"/>
          </a:p>
        </p:txBody>
      </p:sp>
      <p:sp>
        <p:nvSpPr>
          <p:cNvPr id="8" name="a2wd300_box7"/>
          <p:cNvSpPr txBox="1"/>
          <p:nvPr/>
        </p:nvSpPr>
        <p:spPr>
          <a:xfrm>
            <a:off x="5440680" y="1828800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groups</a:t>
            </a:r>
            <a:endParaRPr lang="en-US" dirty="0" sz="1300"/>
          </a:p>
        </p:txBody>
      </p:sp>
      <p:sp>
        <p:nvSpPr>
          <p:cNvPr id="9" name="a3f_box8"/>
          <p:cNvSpPr txBox="1"/>
          <p:nvPr/>
        </p:nvSpPr>
        <p:spPr>
          <a:xfrm>
            <a:off x="457200" y="2487168"/>
            <a:ext cx="1508760" cy="54864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dirty="0" sz="1300"/>
          </a:p>
        </p:txBody>
      </p:sp>
      <p:sp>
        <p:nvSpPr>
          <p:cNvPr id="10" name="a3wd100_box9"/>
          <p:cNvSpPr txBox="1"/>
          <p:nvPr/>
        </p:nvSpPr>
        <p:spPr>
          <a:xfrm>
            <a:off x="2103120" y="2487168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GROUP BY</a:t>
            </a:r>
            <a:endParaRPr lang="en-US" dirty="0" sz="1300"/>
          </a:p>
        </p:txBody>
      </p:sp>
      <p:sp>
        <p:nvSpPr>
          <p:cNvPr id="11" name="a3wd300_box10"/>
          <p:cNvSpPr txBox="1"/>
          <p:nvPr/>
        </p:nvSpPr>
        <p:spPr>
          <a:xfrm>
            <a:off x="5440680" y="2487168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GROUP BY</a:t>
            </a:r>
            <a:endParaRPr lang="en-US" dirty="0" sz="1300"/>
          </a:p>
        </p:txBody>
      </p:sp>
      <p:sp>
        <p:nvSpPr>
          <p:cNvPr id="12" name="a4f_box11"/>
          <p:cNvSpPr txBox="1"/>
          <p:nvPr/>
        </p:nvSpPr>
        <p:spPr>
          <a:xfrm>
            <a:off x="457200" y="3145536"/>
            <a:ext cx="1508760" cy="54864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Aggregates?</a:t>
            </a:r>
            <a:endParaRPr lang="en-US" dirty="0" sz="1300"/>
          </a:p>
        </p:txBody>
      </p:sp>
      <p:sp>
        <p:nvSpPr>
          <p:cNvPr id="13" name="a4wd100_box12"/>
          <p:cNvSpPr txBox="1"/>
          <p:nvPr/>
        </p:nvSpPr>
        <p:spPr>
          <a:xfrm>
            <a:off x="2103120" y="3145536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 </a:t>
            </a:r>
            <a:r>
              <a:rPr sz="11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SUM(score) &gt; 800</a:t>
            </a:r>
            <a:endParaRPr lang="en-US" dirty="0" sz="1300"/>
          </a:p>
        </p:txBody>
      </p:sp>
      <p:sp>
        <p:nvSpPr>
          <p:cNvPr id="14" name="a4wd300_box13"/>
          <p:cNvSpPr txBox="1"/>
          <p:nvPr/>
        </p:nvSpPr>
        <p:spPr>
          <a:xfrm>
            <a:off x="5440680" y="3145536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Yes  </a:t>
            </a:r>
            <a:r>
              <a:rPr sz="1100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SUM(score) &gt; 800</a:t>
            </a:r>
            <a:endParaRPr lang="en-US" dirty="0" sz="1300"/>
          </a:p>
        </p:txBody>
      </p:sp>
      <p:sp>
        <p:nvSpPr>
          <p:cNvPr id="15" name="a5f_box14"/>
          <p:cNvSpPr txBox="1"/>
          <p:nvPr/>
        </p:nvSpPr>
        <p:spPr>
          <a:xfrm>
            <a:off x="457200" y="3803904"/>
            <a:ext cx="1508760" cy="54864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300" b="1"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dirty="0" sz="1300"/>
          </a:p>
        </p:txBody>
      </p:sp>
      <p:sp>
        <p:nvSpPr>
          <p:cNvPr id="16" name="a5wd100_box15"/>
          <p:cNvSpPr txBox="1"/>
          <p:nvPr/>
        </p:nvSpPr>
        <p:spPr>
          <a:xfrm>
            <a:off x="2103120" y="3803904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score != 0</a:t>
            </a:r>
            <a:endParaRPr lang="en-US" dirty="0" sz="1200"/>
          </a:p>
        </p:txBody>
      </p:sp>
      <p:sp>
        <p:nvSpPr>
          <p:cNvPr id="17" name="a5wd300_box16"/>
          <p:cNvSpPr txBox="1"/>
          <p:nvPr/>
        </p:nvSpPr>
        <p:spPr>
          <a:xfrm>
            <a:off x="5440680" y="3803904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200" lang="en-US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AVG(score) &gt; 430</a:t>
            </a:r>
            <a:endParaRPr lang="en-US" dirty="0" sz="1200"/>
          </a:p>
        </p:txBody>
      </p:sp>
      <p:sp>
        <p:nvSpPr>
          <p:cNvPr id="18" name="a6u_rt17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filter rows with WHERE, filter aggregated results with HAVING.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score per country — ignore scores of 0 and keep only countries averaging above 430.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840480" cy="2066544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avg_score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!=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&gt;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430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2" name="a2f_l11"/>
          <p:cNvSpPr txBox="1"/>
          <p:nvPr/>
        </p:nvSpPr>
        <p:spPr>
          <a:xfrm>
            <a:off x="466344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 + GROUP BY</a:t>
            </a:r>
            <a:endParaRPr lang="en-US" dirty="0" sz="1200"/>
          </a:p>
        </p:txBody>
      </p:sp>
      <p:sp>
        <p:nvSpPr>
          <p:cNvPr id="13" name="a2f_cell12"/>
          <p:cNvSpPr txBox="1"/>
          <p:nvPr/>
        </p:nvSpPr>
        <p:spPr>
          <a:xfrm>
            <a:off x="4663440" y="192024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4" name="a2wd200_cell13"/>
          <p:cNvSpPr txBox="1"/>
          <p:nvPr/>
        </p:nvSpPr>
        <p:spPr>
          <a:xfrm>
            <a:off x="4663440" y="2194560"/>
            <a:ext cx="868680" cy="27432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5" name="a2wd400_cell14"/>
          <p:cNvSpPr txBox="1"/>
          <p:nvPr/>
        </p:nvSpPr>
        <p:spPr>
          <a:xfrm>
            <a:off x="4663440" y="24688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16" name="a2wd600_cell15"/>
          <p:cNvSpPr txBox="1"/>
          <p:nvPr/>
        </p:nvSpPr>
        <p:spPr>
          <a:xfrm>
            <a:off x="4663440" y="27432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7" name="a2f_cell16"/>
          <p:cNvSpPr txBox="1"/>
          <p:nvPr/>
        </p:nvSpPr>
        <p:spPr>
          <a:xfrm>
            <a:off x="5532120" y="1920240"/>
            <a:ext cx="77724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avg_score</a:t>
            </a:r>
            <a:endParaRPr lang="en-US" dirty="0" sz="1100"/>
          </a:p>
        </p:txBody>
      </p:sp>
      <p:sp>
        <p:nvSpPr>
          <p:cNvPr id="18" name="a2wd200_cell17"/>
          <p:cNvSpPr txBox="1"/>
          <p:nvPr/>
        </p:nvSpPr>
        <p:spPr>
          <a:xfrm>
            <a:off x="5532120" y="2194560"/>
            <a:ext cx="777240" cy="27432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425</a:t>
            </a:r>
            <a:endParaRPr lang="en-US" dirty="0" sz="1100"/>
          </a:p>
        </p:txBody>
      </p:sp>
      <p:sp>
        <p:nvSpPr>
          <p:cNvPr id="19" name="a2wd400_cell18"/>
          <p:cNvSpPr txBox="1"/>
          <p:nvPr/>
        </p:nvSpPr>
        <p:spPr>
          <a:xfrm>
            <a:off x="5532120" y="246888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0" name="a2wd600_cell19"/>
          <p:cNvSpPr txBox="1"/>
          <p:nvPr/>
        </p:nvSpPr>
        <p:spPr>
          <a:xfrm>
            <a:off x="5532120" y="274320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21" name="a2f_cell20"/>
          <p:cNvSpPr txBox="1"/>
          <p:nvPr/>
        </p:nvSpPr>
        <p:spPr>
          <a:xfrm>
            <a:off x="6309360" y="1920240"/>
            <a:ext cx="118872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</a:t>
            </a:r>
            <a:endParaRPr lang="en-US" dirty="0" sz="1100"/>
          </a:p>
        </p:txBody>
      </p:sp>
      <p:sp>
        <p:nvSpPr>
          <p:cNvPr id="22" name="a2wd200_cell21"/>
          <p:cNvSpPr txBox="1"/>
          <p:nvPr/>
        </p:nvSpPr>
        <p:spPr>
          <a:xfrm>
            <a:off x="6309360" y="2194560"/>
            <a:ext cx="1188720" cy="27432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(350 + 500) / 2</a:t>
            </a:r>
            <a:endParaRPr lang="en-US" dirty="0" sz="1000"/>
          </a:p>
        </p:txBody>
      </p:sp>
      <p:sp>
        <p:nvSpPr>
          <p:cNvPr id="23" name="a2wd400_cell22"/>
          <p:cNvSpPr txBox="1"/>
          <p:nvPr/>
        </p:nvSpPr>
        <p:spPr>
          <a:xfrm>
            <a:off x="6309360" y="2468880"/>
            <a:ext cx="11887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/ 1</a:t>
            </a:r>
            <a:endParaRPr lang="en-US" dirty="0" sz="1000"/>
          </a:p>
        </p:txBody>
      </p:sp>
      <p:sp>
        <p:nvSpPr>
          <p:cNvPr id="24" name="a2wd600_cell23"/>
          <p:cNvSpPr txBox="1"/>
          <p:nvPr/>
        </p:nvSpPr>
        <p:spPr>
          <a:xfrm>
            <a:off x="6309360" y="2743200"/>
            <a:ext cx="11887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/ 1</a:t>
            </a:r>
            <a:endParaRPr lang="en-US" dirty="0" sz="1000"/>
          </a:p>
        </p:txBody>
      </p:sp>
      <p:sp>
        <p:nvSpPr>
          <p:cNvPr id="25" name="a2f_cell24"/>
          <p:cNvSpPr txBox="1"/>
          <p:nvPr/>
        </p:nvSpPr>
        <p:spPr>
          <a:xfrm>
            <a:off x="7498080" y="1920240"/>
            <a:ext cx="64008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430?</a:t>
            </a:r>
            <a:endParaRPr lang="en-US" dirty="0" sz="1100"/>
          </a:p>
        </p:txBody>
      </p:sp>
      <p:sp>
        <p:nvSpPr>
          <p:cNvPr id="26" name="a2wd200_cell25"/>
          <p:cNvSpPr txBox="1"/>
          <p:nvPr/>
        </p:nvSpPr>
        <p:spPr>
          <a:xfrm>
            <a:off x="7498080" y="2194560"/>
            <a:ext cx="640080" cy="274320"/>
          </a:xfrm>
          <a:prstGeom prst="rect">
            <a:avLst/>
          </a:prstGeom>
          <a:solidFill>
            <a:srgbClr val="FEE2E2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</a:t>
            </a:r>
            <a:endParaRPr lang="en-US" dirty="0" sz="1100"/>
          </a:p>
        </p:txBody>
      </p:sp>
      <p:sp>
        <p:nvSpPr>
          <p:cNvPr id="27" name="a2wd400_cell26"/>
          <p:cNvSpPr txBox="1"/>
          <p:nvPr/>
        </p:nvSpPr>
        <p:spPr>
          <a:xfrm>
            <a:off x="7498080" y="2468880"/>
            <a:ext cx="6400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1100"/>
          </a:p>
        </p:txBody>
      </p:sp>
      <p:sp>
        <p:nvSpPr>
          <p:cNvPr id="28" name="a2wd600_cell27"/>
          <p:cNvSpPr txBox="1"/>
          <p:nvPr/>
        </p:nvSpPr>
        <p:spPr>
          <a:xfrm>
            <a:off x="7498080" y="2743200"/>
            <a:ext cx="6400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dirty="0" sz="1100"/>
          </a:p>
        </p:txBody>
      </p:sp>
      <p:sp>
        <p:nvSpPr>
          <p:cNvPr id="29" name="a3f_l28"/>
          <p:cNvSpPr txBox="1"/>
          <p:nvPr/>
        </p:nvSpPr>
        <p:spPr>
          <a:xfrm>
            <a:off x="4663440" y="3154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dirty="0" sz="1200"/>
          </a:p>
        </p:txBody>
      </p:sp>
      <p:sp>
        <p:nvSpPr>
          <p:cNvPr id="30" name="a3f_cell29"/>
          <p:cNvSpPr txBox="1"/>
          <p:nvPr/>
        </p:nvSpPr>
        <p:spPr>
          <a:xfrm>
            <a:off x="4663440" y="3429000"/>
            <a:ext cx="8686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31" name="a3wd200_cell30"/>
          <p:cNvSpPr txBox="1"/>
          <p:nvPr/>
        </p:nvSpPr>
        <p:spPr>
          <a:xfrm>
            <a:off x="4663440" y="370332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32" name="a3wd400_cell31"/>
          <p:cNvSpPr txBox="1"/>
          <p:nvPr/>
        </p:nvSpPr>
        <p:spPr>
          <a:xfrm>
            <a:off x="4663440" y="397764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33" name="a3f_cell32"/>
          <p:cNvSpPr txBox="1"/>
          <p:nvPr/>
        </p:nvSpPr>
        <p:spPr>
          <a:xfrm>
            <a:off x="5532120" y="3429000"/>
            <a:ext cx="77724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avg_score</a:t>
            </a:r>
            <a:endParaRPr lang="en-US" dirty="0" sz="1100"/>
          </a:p>
        </p:txBody>
      </p:sp>
      <p:sp>
        <p:nvSpPr>
          <p:cNvPr id="34" name="a3wd200_cell33"/>
          <p:cNvSpPr txBox="1"/>
          <p:nvPr/>
        </p:nvSpPr>
        <p:spPr>
          <a:xfrm>
            <a:off x="5532120" y="370332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35" name="a3wd400_cell34"/>
          <p:cNvSpPr txBox="1"/>
          <p:nvPr/>
        </p:nvSpPr>
        <p:spPr>
          <a:xfrm>
            <a:off x="5532120" y="3977640"/>
            <a:ext cx="77724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36" name="a4u_nb35"/>
          <p:cNvSpPr/>
          <p:nvPr/>
        </p:nvSpPr>
        <p:spPr>
          <a:xfrm>
            <a:off x="457200" y="3977640"/>
            <a:ext cx="3840480" cy="82296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7" name="a4u_ni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229100"/>
            <a:ext cx="320040" cy="320040"/>
          </a:xfrm>
          <a:prstGeom prst="rect">
            <a:avLst/>
          </a:prstGeom>
        </p:spPr>
      </p:pic>
      <p:sp>
        <p:nvSpPr>
          <p:cNvPr id="38" name="a4u_nt37"/>
          <p:cNvSpPr txBox="1"/>
          <p:nvPr/>
        </p:nvSpPr>
        <p:spPr>
          <a:xfrm>
            <a:off x="1005840" y="39776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removes Peter (score 0) first — otherwise USA's average would drop to 450.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8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Execution Order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does not run your query from top to bottom</a:t>
            </a:r>
            <a:endParaRPr lang="en-US" dirty="0" sz="1300"/>
          </a:p>
        </p:txBody>
      </p:sp>
      <p:sp>
        <p:nvSpPr>
          <p:cNvPr id="4" name="a1f_codebg3"/>
          <p:cNvSpPr/>
          <p:nvPr/>
        </p:nvSpPr>
        <p:spPr>
          <a:xfrm>
            <a:off x="457200" y="1188720"/>
            <a:ext cx="3931920" cy="1810512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3258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country,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(score)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15819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18379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!=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0939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3500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&gt;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430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26060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200"/>
          </a:p>
        </p:txBody>
      </p:sp>
      <p:sp>
        <p:nvSpPr>
          <p:cNvPr id="11" name="a1fd0_nd10"/>
          <p:cNvSpPr txBox="1"/>
          <p:nvPr/>
        </p:nvSpPr>
        <p:spPr>
          <a:xfrm>
            <a:off x="4023360" y="1344168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000"/>
          </a:p>
        </p:txBody>
      </p:sp>
      <p:sp>
        <p:nvSpPr>
          <p:cNvPr id="12" name="a1fd150_nd11"/>
          <p:cNvSpPr txBox="1"/>
          <p:nvPr/>
        </p:nvSpPr>
        <p:spPr>
          <a:xfrm>
            <a:off x="4023360" y="1600200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000"/>
          </a:p>
        </p:txBody>
      </p:sp>
      <p:sp>
        <p:nvSpPr>
          <p:cNvPr id="13" name="a1fd300_nd12"/>
          <p:cNvSpPr txBox="1"/>
          <p:nvPr/>
        </p:nvSpPr>
        <p:spPr>
          <a:xfrm>
            <a:off x="4023360" y="1856232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000"/>
          </a:p>
        </p:txBody>
      </p:sp>
      <p:sp>
        <p:nvSpPr>
          <p:cNvPr id="14" name="a1fd450_nd13"/>
          <p:cNvSpPr txBox="1"/>
          <p:nvPr/>
        </p:nvSpPr>
        <p:spPr>
          <a:xfrm>
            <a:off x="4023360" y="2112264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000"/>
          </a:p>
        </p:txBody>
      </p:sp>
      <p:sp>
        <p:nvSpPr>
          <p:cNvPr id="15" name="a1fd600_nd14"/>
          <p:cNvSpPr txBox="1"/>
          <p:nvPr/>
        </p:nvSpPr>
        <p:spPr>
          <a:xfrm>
            <a:off x="4023360" y="2368296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000"/>
          </a:p>
        </p:txBody>
      </p:sp>
      <p:sp>
        <p:nvSpPr>
          <p:cNvPr id="16" name="a1fd750_nd15"/>
          <p:cNvSpPr txBox="1"/>
          <p:nvPr/>
        </p:nvSpPr>
        <p:spPr>
          <a:xfrm>
            <a:off x="4023360" y="2624328"/>
            <a:ext cx="219456" cy="21945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000"/>
          </a:p>
        </p:txBody>
      </p:sp>
      <p:sp>
        <p:nvSpPr>
          <p:cNvPr id="17" name="a2u_card16"/>
          <p:cNvSpPr txBox="1"/>
          <p:nvPr/>
        </p:nvSpPr>
        <p:spPr>
          <a:xfrm>
            <a:off x="4663440" y="1188720"/>
            <a:ext cx="4023360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 wrap="square" lIns="182880" tIns="91440" rIns="182880" bIns="91440" anchor="ctr" rtlCol="0"/>
          <a:lstStyle/>
          <a:p>
            <a:pPr marL="0" indent="0">
              <a:spcAft>
                <a:spcPts val="600"/>
              </a:spcAft>
              <a:buNone/>
            </a:pPr>
            <a:r>
              <a:rPr sz="13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why…</a:t>
            </a:r>
            <a:endParaRPr lang="en-US" dirty="0" sz="1300"/>
          </a:p>
          <a:p>
            <a:pPr marL="0" indent="0">
              <a:spcAft>
                <a:spcPts val="600"/>
              </a:spcAft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WHERE can't use aggregates —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don't exist yet.</a:t>
            </a:r>
            <a:endParaRPr lang="en-US" dirty="0" sz="1200"/>
          </a:p>
          <a:p>
            <a:pPr marL="0" indent="0">
              <a:spcAft>
                <a:spcPts val="600"/>
              </a:spcAft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HAVING can —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right after GROUP BY.</a:t>
            </a:r>
            <a:endParaRPr lang="en-US" dirty="0" sz="1200"/>
          </a:p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ORDER BY can use SELECT aliases —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last.</a:t>
            </a:r>
            <a:endParaRPr lang="en-US" dirty="0" sz="1200"/>
          </a:p>
        </p:txBody>
      </p:sp>
      <p:sp>
        <p:nvSpPr>
          <p:cNvPr id="18" name="a3u_fb17"/>
          <p:cNvSpPr txBox="1"/>
          <p:nvPr/>
        </p:nvSpPr>
        <p:spPr>
          <a:xfrm>
            <a:off x="457200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dirty="0" sz="1300"/>
          </a:p>
        </p:txBody>
      </p:sp>
      <p:sp>
        <p:nvSpPr>
          <p:cNvPr id="19" name="a3u_fd18"/>
          <p:cNvSpPr txBox="1"/>
          <p:nvPr/>
        </p:nvSpPr>
        <p:spPr>
          <a:xfrm>
            <a:off x="457200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tables &amp; joins</a:t>
            </a:r>
            <a:endParaRPr lang="en-US" dirty="0" sz="1100"/>
          </a:p>
        </p:txBody>
      </p:sp>
      <p:sp>
        <p:nvSpPr>
          <p:cNvPr id="20" name="a4f_fa19"/>
          <p:cNvSpPr/>
          <p:nvPr/>
        </p:nvSpPr>
        <p:spPr>
          <a:xfrm>
            <a:off x="1673352" y="3502152"/>
            <a:ext cx="155448" cy="14630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21" name="a4u_fb20"/>
          <p:cNvSpPr txBox="1"/>
          <p:nvPr/>
        </p:nvSpPr>
        <p:spPr>
          <a:xfrm>
            <a:off x="1856232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dirty="0" sz="1300"/>
          </a:p>
        </p:txBody>
      </p:sp>
      <p:sp>
        <p:nvSpPr>
          <p:cNvPr id="22" name="a4u_fd21"/>
          <p:cNvSpPr txBox="1"/>
          <p:nvPr/>
        </p:nvSpPr>
        <p:spPr>
          <a:xfrm>
            <a:off x="1856232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</a:t>
            </a:r>
            <a:endParaRPr lang="en-US" dirty="0" sz="1100"/>
          </a:p>
        </p:txBody>
      </p:sp>
      <p:sp>
        <p:nvSpPr>
          <p:cNvPr id="23" name="a5f_fa22"/>
          <p:cNvSpPr/>
          <p:nvPr/>
        </p:nvSpPr>
        <p:spPr>
          <a:xfrm>
            <a:off x="3072384" y="3502152"/>
            <a:ext cx="155448" cy="14630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24" name="a5u_fb23"/>
          <p:cNvSpPr txBox="1"/>
          <p:nvPr/>
        </p:nvSpPr>
        <p:spPr>
          <a:xfrm>
            <a:off x="3255264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dirty="0" sz="1300"/>
          </a:p>
        </p:txBody>
      </p:sp>
      <p:sp>
        <p:nvSpPr>
          <p:cNvPr id="25" name="a5u_fd24"/>
          <p:cNvSpPr txBox="1"/>
          <p:nvPr/>
        </p:nvSpPr>
        <p:spPr>
          <a:xfrm>
            <a:off x="3255264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groups</a:t>
            </a:r>
            <a:endParaRPr lang="en-US" dirty="0" sz="1100"/>
          </a:p>
        </p:txBody>
      </p:sp>
      <p:sp>
        <p:nvSpPr>
          <p:cNvPr id="26" name="a6f_fa25"/>
          <p:cNvSpPr/>
          <p:nvPr/>
        </p:nvSpPr>
        <p:spPr>
          <a:xfrm>
            <a:off x="4471416" y="3502152"/>
            <a:ext cx="155448" cy="14630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27" name="a6u_fb26"/>
          <p:cNvSpPr txBox="1"/>
          <p:nvPr/>
        </p:nvSpPr>
        <p:spPr>
          <a:xfrm>
            <a:off x="4654296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dirty="0" sz="1300"/>
          </a:p>
        </p:txBody>
      </p:sp>
      <p:sp>
        <p:nvSpPr>
          <p:cNvPr id="28" name="a6u_fd27"/>
          <p:cNvSpPr txBox="1"/>
          <p:nvPr/>
        </p:nvSpPr>
        <p:spPr>
          <a:xfrm>
            <a:off x="4654296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groups</a:t>
            </a:r>
            <a:endParaRPr lang="en-US" dirty="0" sz="1100"/>
          </a:p>
        </p:txBody>
      </p:sp>
      <p:sp>
        <p:nvSpPr>
          <p:cNvPr id="29" name="a7f_fa28"/>
          <p:cNvSpPr/>
          <p:nvPr/>
        </p:nvSpPr>
        <p:spPr>
          <a:xfrm>
            <a:off x="5870448" y="3502152"/>
            <a:ext cx="155448" cy="14630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30" name="a7u_fb29"/>
          <p:cNvSpPr txBox="1"/>
          <p:nvPr/>
        </p:nvSpPr>
        <p:spPr>
          <a:xfrm>
            <a:off x="6053328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300"/>
          </a:p>
        </p:txBody>
      </p:sp>
      <p:sp>
        <p:nvSpPr>
          <p:cNvPr id="31" name="a7u_fd30"/>
          <p:cNvSpPr txBox="1"/>
          <p:nvPr/>
        </p:nvSpPr>
        <p:spPr>
          <a:xfrm>
            <a:off x="6053328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&amp; calculate columns</a:t>
            </a:r>
            <a:endParaRPr lang="en-US" dirty="0" sz="1100"/>
          </a:p>
        </p:txBody>
      </p:sp>
      <p:sp>
        <p:nvSpPr>
          <p:cNvPr id="32" name="a8f_fa31"/>
          <p:cNvSpPr/>
          <p:nvPr/>
        </p:nvSpPr>
        <p:spPr>
          <a:xfrm>
            <a:off x="7269480" y="3502152"/>
            <a:ext cx="155448" cy="14630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33" name="a8u_fb32"/>
          <p:cNvSpPr txBox="1"/>
          <p:nvPr/>
        </p:nvSpPr>
        <p:spPr>
          <a:xfrm>
            <a:off x="7452360" y="3291840"/>
            <a:ext cx="1188720" cy="566928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0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dirty="0" sz="1000"/>
          </a:p>
          <a:p>
            <a:pPr algn="ctr" marL="0" indent="0">
              <a:buNone/>
            </a:pPr>
            <a:r>
              <a:rPr sz="1300" b="1"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dirty="0" sz="1300"/>
          </a:p>
        </p:txBody>
      </p:sp>
      <p:sp>
        <p:nvSpPr>
          <p:cNvPr id="34" name="a8u_fd33"/>
          <p:cNvSpPr txBox="1"/>
          <p:nvPr/>
        </p:nvSpPr>
        <p:spPr>
          <a:xfrm>
            <a:off x="7452360" y="3913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result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88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60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dirty="0" sz="6000"/>
          </a:p>
        </p:txBody>
      </p:sp>
      <p:sp>
        <p:nvSpPr>
          <p:cNvPr id="3" name="a0ud200_h2"/>
          <p:cNvSpPr txBox="1"/>
          <p:nvPr/>
        </p:nvSpPr>
        <p:spPr>
          <a:xfrm>
            <a:off x="5486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44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PIVOTING</a:t>
            </a:r>
            <a:endParaRPr lang="en-US" dirty="0" sz="4400"/>
          </a:p>
        </p:txBody>
      </p:sp>
      <p:sp>
        <p:nvSpPr>
          <p:cNvPr id="4" name="a0fd450_t3"/>
          <p:cNvSpPr txBox="1"/>
          <p:nvPr/>
        </p:nvSpPr>
        <p:spPr>
          <a:xfrm>
            <a:off x="548640" y="2834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700" lang="en-US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aggregation with CASE WHEN — turn rows into columns</a:t>
            </a:r>
            <a:endParaRPr lang="en-US" dirty="0" sz="1700"/>
          </a:p>
        </p:txBody>
      </p:sp>
      <p:sp>
        <p:nvSpPr>
          <p:cNvPr id="5" name="a0fd300_v4"/>
          <p:cNvSpPr/>
          <p:nvPr/>
        </p:nvSpPr>
        <p:spPr>
          <a:xfrm>
            <a:off x="5288459" y="1653988"/>
            <a:ext cx="943984" cy="377593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6" name="a0fd300_v5"/>
          <p:cNvSpPr/>
          <p:nvPr/>
        </p:nvSpPr>
        <p:spPr>
          <a:xfrm>
            <a:off x="5288459" y="2157446"/>
            <a:ext cx="943984" cy="377593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7" name="a0fd300_v6"/>
          <p:cNvSpPr/>
          <p:nvPr/>
        </p:nvSpPr>
        <p:spPr>
          <a:xfrm>
            <a:off x="5288459" y="2660904"/>
            <a:ext cx="943984" cy="377593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8" name="a0fd300_v7"/>
          <p:cNvSpPr/>
          <p:nvPr/>
        </p:nvSpPr>
        <p:spPr>
          <a:xfrm>
            <a:off x="6505149" y="2157446"/>
            <a:ext cx="629322" cy="419548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9" name="a0fd300_v8"/>
          <p:cNvSpPr/>
          <p:nvPr/>
        </p:nvSpPr>
        <p:spPr>
          <a:xfrm>
            <a:off x="7344246" y="1842785"/>
            <a:ext cx="377593" cy="104887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0" name="a0fd300_v9"/>
          <p:cNvSpPr/>
          <p:nvPr/>
        </p:nvSpPr>
        <p:spPr>
          <a:xfrm>
            <a:off x="7805749" y="1842785"/>
            <a:ext cx="377593" cy="104887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1" name="a0fd300_v10"/>
          <p:cNvSpPr/>
          <p:nvPr/>
        </p:nvSpPr>
        <p:spPr>
          <a:xfrm>
            <a:off x="8267252" y="1842785"/>
            <a:ext cx="377593" cy="1048871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Aggregation — The Concept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CASE WHEN inside the aggregate — only rows that meet the condition contribute</a:t>
            </a:r>
            <a:endParaRPr lang="en-US" dirty="0" sz="1300"/>
          </a:p>
        </p:txBody>
      </p:sp>
      <p:sp>
        <p:nvSpPr>
          <p:cNvPr id="4" name="a1u_c3"/>
          <p:cNvSpPr/>
          <p:nvPr/>
        </p:nvSpPr>
        <p:spPr>
          <a:xfrm>
            <a:off x="457200" y="1234440"/>
            <a:ext cx="26060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a1u_n4"/>
          <p:cNvSpPr txBox="1"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6" name="a1u_h5"/>
          <p:cNvSpPr txBox="1"/>
          <p:nvPr/>
        </p:nvSpPr>
        <p:spPr>
          <a:xfrm>
            <a:off x="685800" y="19019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count</a:t>
            </a:r>
            <a:endParaRPr lang="en-US" dirty="0" sz="1600"/>
          </a:p>
        </p:txBody>
      </p:sp>
      <p:sp>
        <p:nvSpPr>
          <p:cNvPr id="7" name="a1u_d6"/>
          <p:cNvSpPr txBox="1"/>
          <p:nvPr/>
        </p:nvSpPr>
        <p:spPr>
          <a:xfrm>
            <a:off x="685800" y="224942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meet the condition?</a:t>
            </a:r>
            <a:endParaRPr lang="en-US" dirty="0" sz="1200"/>
          </a:p>
        </p:txBody>
      </p:sp>
      <p:sp>
        <p:nvSpPr>
          <p:cNvPr id="8" name="a1u_cb7"/>
          <p:cNvSpPr/>
          <p:nvPr/>
        </p:nvSpPr>
        <p:spPr>
          <a:xfrm>
            <a:off x="640080" y="26974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a1u_cl8"/>
          <p:cNvSpPr txBox="1"/>
          <p:nvPr/>
        </p:nvSpPr>
        <p:spPr>
          <a:xfrm>
            <a:off x="777240" y="277063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dirty="0" sz="1100"/>
          </a:p>
        </p:txBody>
      </p:sp>
      <p:sp>
        <p:nvSpPr>
          <p:cNvPr id="10" name="a1u_cl9"/>
          <p:cNvSpPr txBox="1"/>
          <p:nvPr/>
        </p:nvSpPr>
        <p:spPr>
          <a:xfrm>
            <a:off x="777240" y="30083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&gt;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dirty="0" sz="1100"/>
          </a:p>
        </p:txBody>
      </p:sp>
      <p:sp>
        <p:nvSpPr>
          <p:cNvPr id="11" name="a1u_cl10"/>
          <p:cNvSpPr txBox="1"/>
          <p:nvPr/>
        </p:nvSpPr>
        <p:spPr>
          <a:xfrm>
            <a:off x="777240" y="324612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dirty="0" sz="1100"/>
          </a:p>
        </p:txBody>
      </p:sp>
      <p:sp>
        <p:nvSpPr>
          <p:cNvPr id="12" name="a1u_cl11"/>
          <p:cNvSpPr txBox="1"/>
          <p:nvPr/>
        </p:nvSpPr>
        <p:spPr>
          <a:xfrm>
            <a:off x="777240" y="348386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dirty="0" sz="1100"/>
          </a:p>
        </p:txBody>
      </p:sp>
      <p:sp>
        <p:nvSpPr>
          <p:cNvPr id="13" name="a2u_c12"/>
          <p:cNvSpPr/>
          <p:nvPr/>
        </p:nvSpPr>
        <p:spPr>
          <a:xfrm>
            <a:off x="3268980" y="1234440"/>
            <a:ext cx="26060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a2u_n13"/>
          <p:cNvSpPr txBox="1"/>
          <p:nvPr/>
        </p:nvSpPr>
        <p:spPr>
          <a:xfrm>
            <a:off x="3497580" y="137160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15" name="a2u_h14"/>
          <p:cNvSpPr txBox="1"/>
          <p:nvPr/>
        </p:nvSpPr>
        <p:spPr>
          <a:xfrm>
            <a:off x="3497580" y="19019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sum</a:t>
            </a:r>
            <a:endParaRPr lang="en-US" dirty="0" sz="1600"/>
          </a:p>
        </p:txBody>
      </p:sp>
      <p:sp>
        <p:nvSpPr>
          <p:cNvPr id="16" name="a2u_d15"/>
          <p:cNvSpPr txBox="1"/>
          <p:nvPr/>
        </p:nvSpPr>
        <p:spPr>
          <a:xfrm>
            <a:off x="3497580" y="224942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of only the matching rows</a:t>
            </a:r>
            <a:endParaRPr lang="en-US" dirty="0" sz="1200"/>
          </a:p>
        </p:txBody>
      </p:sp>
      <p:sp>
        <p:nvSpPr>
          <p:cNvPr id="17" name="a2u_cb16"/>
          <p:cNvSpPr/>
          <p:nvPr/>
        </p:nvSpPr>
        <p:spPr>
          <a:xfrm>
            <a:off x="3451860" y="26974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a2u_cl17"/>
          <p:cNvSpPr txBox="1"/>
          <p:nvPr/>
        </p:nvSpPr>
        <p:spPr>
          <a:xfrm>
            <a:off x="3589020" y="277063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dirty="0" sz="1100"/>
          </a:p>
        </p:txBody>
      </p:sp>
      <p:sp>
        <p:nvSpPr>
          <p:cNvPr id="19" name="a2u_cl18"/>
          <p:cNvSpPr txBox="1"/>
          <p:nvPr/>
        </p:nvSpPr>
        <p:spPr>
          <a:xfrm>
            <a:off x="3589020" y="30083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 =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'USA'</a:t>
            </a:r>
            <a:endParaRPr lang="en-US" dirty="0" sz="1100"/>
          </a:p>
        </p:txBody>
      </p:sp>
      <p:sp>
        <p:nvSpPr>
          <p:cNvPr id="20" name="a2u_cl19"/>
          <p:cNvSpPr txBox="1"/>
          <p:nvPr/>
        </p:nvSpPr>
        <p:spPr>
          <a:xfrm>
            <a:off x="3589020" y="324612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dirty="0" sz="1100"/>
          </a:p>
        </p:txBody>
      </p:sp>
      <p:sp>
        <p:nvSpPr>
          <p:cNvPr id="21" name="a2u_cl20"/>
          <p:cNvSpPr txBox="1"/>
          <p:nvPr/>
        </p:nvSpPr>
        <p:spPr>
          <a:xfrm>
            <a:off x="3589020" y="348386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dirty="0" sz="1100"/>
          </a:p>
        </p:txBody>
      </p:sp>
      <p:sp>
        <p:nvSpPr>
          <p:cNvPr id="22" name="a3u_c21"/>
          <p:cNvSpPr/>
          <p:nvPr/>
        </p:nvSpPr>
        <p:spPr>
          <a:xfrm>
            <a:off x="6080760" y="1234440"/>
            <a:ext cx="26060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a3u_n22"/>
          <p:cNvSpPr txBox="1"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24" name="a3u_h23"/>
          <p:cNvSpPr txBox="1"/>
          <p:nvPr/>
        </p:nvSpPr>
        <p:spPr>
          <a:xfrm>
            <a:off x="6309360" y="19019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6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share</a:t>
            </a:r>
            <a:endParaRPr lang="en-US" dirty="0" sz="1600"/>
          </a:p>
        </p:txBody>
      </p:sp>
      <p:sp>
        <p:nvSpPr>
          <p:cNvPr id="25" name="a3u_d24"/>
          <p:cNvSpPr txBox="1"/>
          <p:nvPr/>
        </p:nvSpPr>
        <p:spPr>
          <a:xfrm>
            <a:off x="6309360" y="224942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rows that match (0–1)</a:t>
            </a:r>
            <a:endParaRPr lang="en-US" dirty="0" sz="1200"/>
          </a:p>
        </p:txBody>
      </p:sp>
      <p:sp>
        <p:nvSpPr>
          <p:cNvPr id="26" name="a3u_cb25"/>
          <p:cNvSpPr/>
          <p:nvPr/>
        </p:nvSpPr>
        <p:spPr>
          <a:xfrm>
            <a:off x="6263640" y="2697480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a3u_cl26"/>
          <p:cNvSpPr txBox="1"/>
          <p:nvPr/>
        </p:nvSpPr>
        <p:spPr>
          <a:xfrm>
            <a:off x="6400800" y="277063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dirty="0" sz="1100"/>
          </a:p>
        </p:txBody>
      </p:sp>
      <p:sp>
        <p:nvSpPr>
          <p:cNvPr id="28" name="a3u_cl27"/>
          <p:cNvSpPr txBox="1"/>
          <p:nvPr/>
        </p:nvSpPr>
        <p:spPr>
          <a:xfrm>
            <a:off x="6400800" y="30083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&gt;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dirty="0" sz="1100"/>
          </a:p>
        </p:txBody>
      </p:sp>
      <p:sp>
        <p:nvSpPr>
          <p:cNvPr id="29" name="a3u_cl28"/>
          <p:cNvSpPr txBox="1"/>
          <p:nvPr/>
        </p:nvSpPr>
        <p:spPr>
          <a:xfrm>
            <a:off x="6400800" y="324612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dirty="0" sz="1100"/>
          </a:p>
        </p:txBody>
      </p:sp>
      <p:sp>
        <p:nvSpPr>
          <p:cNvPr id="30" name="a3u_cl29"/>
          <p:cNvSpPr txBox="1"/>
          <p:nvPr/>
        </p:nvSpPr>
        <p:spPr>
          <a:xfrm>
            <a:off x="6400800" y="348386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dirty="0" sz="1100"/>
          </a:p>
        </p:txBody>
      </p:sp>
      <p:sp>
        <p:nvSpPr>
          <p:cNvPr id="31" name="a4u_nb30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a4u_ni3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297680"/>
            <a:ext cx="320040" cy="320040"/>
          </a:xfrm>
          <a:prstGeom prst="rect">
            <a:avLst/>
          </a:prstGeom>
        </p:spPr>
      </p:pic>
      <p:sp>
        <p:nvSpPr>
          <p:cNvPr id="33" name="a4u_nt32"/>
          <p:cNvSpPr txBox="1"/>
          <p:nvPr/>
        </p:nvSpPr>
        <p:spPr>
          <a:xfrm>
            <a:off x="1005840" y="4114800"/>
            <a:ext cx="7543800" cy="6858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CASE runs first, on every row;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then runs on the CASE results. ELSE 0 makes sure non-matching rows add nothing.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Aggregation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country, count all customers and how many of them have a high score (above 500).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3931920" cy="2322576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391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9514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(*)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total_customers,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55117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&gt;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8072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30632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high_score_customers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3192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2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5753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200"/>
          </a:p>
        </p:txBody>
      </p:sp>
      <p:sp>
        <p:nvSpPr>
          <p:cNvPr id="13" name="a2f_l12"/>
          <p:cNvSpPr txBox="1"/>
          <p:nvPr/>
        </p:nvSpPr>
        <p:spPr>
          <a:xfrm>
            <a:off x="4709160" y="1554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CASE flags every row</a:t>
            </a:r>
            <a:endParaRPr lang="en-US" dirty="0" sz="1200"/>
          </a:p>
        </p:txBody>
      </p:sp>
      <p:sp>
        <p:nvSpPr>
          <p:cNvPr id="14" name="a2f_cell13"/>
          <p:cNvSpPr txBox="1"/>
          <p:nvPr/>
        </p:nvSpPr>
        <p:spPr>
          <a:xfrm>
            <a:off x="4709160" y="1810512"/>
            <a:ext cx="86868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first_name</a:t>
            </a:r>
            <a:endParaRPr lang="en-US" dirty="0" sz="1100"/>
          </a:p>
        </p:txBody>
      </p:sp>
      <p:sp>
        <p:nvSpPr>
          <p:cNvPr id="15" name="a2wd200_cell14"/>
          <p:cNvSpPr txBox="1"/>
          <p:nvPr/>
        </p:nvSpPr>
        <p:spPr>
          <a:xfrm>
            <a:off x="4709160" y="2057400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dirty="0" sz="1100"/>
          </a:p>
        </p:txBody>
      </p:sp>
      <p:sp>
        <p:nvSpPr>
          <p:cNvPr id="16" name="a2wd400_cell15"/>
          <p:cNvSpPr txBox="1"/>
          <p:nvPr/>
        </p:nvSpPr>
        <p:spPr>
          <a:xfrm>
            <a:off x="4709160" y="2304288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</a:t>
            </a:r>
            <a:endParaRPr lang="en-US" dirty="0" sz="1100"/>
          </a:p>
        </p:txBody>
      </p:sp>
      <p:sp>
        <p:nvSpPr>
          <p:cNvPr id="17" name="a2wd600_cell16"/>
          <p:cNvSpPr txBox="1"/>
          <p:nvPr/>
        </p:nvSpPr>
        <p:spPr>
          <a:xfrm>
            <a:off x="4709160" y="2551176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</a:t>
            </a:r>
            <a:endParaRPr lang="en-US" dirty="0" sz="1100"/>
          </a:p>
        </p:txBody>
      </p:sp>
      <p:sp>
        <p:nvSpPr>
          <p:cNvPr id="18" name="a2wd800_cell17"/>
          <p:cNvSpPr txBox="1"/>
          <p:nvPr/>
        </p:nvSpPr>
        <p:spPr>
          <a:xfrm>
            <a:off x="4709160" y="2798064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</a:t>
            </a:r>
            <a:endParaRPr lang="en-US" dirty="0" sz="1100"/>
          </a:p>
        </p:txBody>
      </p:sp>
      <p:sp>
        <p:nvSpPr>
          <p:cNvPr id="19" name="a2wd1000_cell18"/>
          <p:cNvSpPr txBox="1"/>
          <p:nvPr/>
        </p:nvSpPr>
        <p:spPr>
          <a:xfrm>
            <a:off x="4709160" y="3044952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5577840" y="1810512"/>
            <a:ext cx="82296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5577840" y="2057400"/>
            <a:ext cx="8229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5577840" y="2304288"/>
            <a:ext cx="8229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5577840" y="2551176"/>
            <a:ext cx="8229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24" name="a2wd800_cell23"/>
          <p:cNvSpPr txBox="1"/>
          <p:nvPr/>
        </p:nvSpPr>
        <p:spPr>
          <a:xfrm>
            <a:off x="5577840" y="2798064"/>
            <a:ext cx="8229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5" name="a2wd1000_cell24"/>
          <p:cNvSpPr txBox="1"/>
          <p:nvPr/>
        </p:nvSpPr>
        <p:spPr>
          <a:xfrm>
            <a:off x="5577840" y="3044952"/>
            <a:ext cx="8229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6" name="a2f_cell25"/>
          <p:cNvSpPr txBox="1"/>
          <p:nvPr/>
        </p:nvSpPr>
        <p:spPr>
          <a:xfrm>
            <a:off x="6400800" y="1810512"/>
            <a:ext cx="59436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dirty="0" sz="1100"/>
          </a:p>
        </p:txBody>
      </p:sp>
      <p:sp>
        <p:nvSpPr>
          <p:cNvPr id="27" name="a2wd200_cell26"/>
          <p:cNvSpPr txBox="1"/>
          <p:nvPr/>
        </p:nvSpPr>
        <p:spPr>
          <a:xfrm>
            <a:off x="6400800" y="2057400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dirty="0" sz="1100"/>
          </a:p>
        </p:txBody>
      </p:sp>
      <p:sp>
        <p:nvSpPr>
          <p:cNvPr id="28" name="a2wd400_cell27"/>
          <p:cNvSpPr txBox="1"/>
          <p:nvPr/>
        </p:nvSpPr>
        <p:spPr>
          <a:xfrm>
            <a:off x="6400800" y="2304288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9" name="a2wd600_cell28"/>
          <p:cNvSpPr txBox="1"/>
          <p:nvPr/>
        </p:nvSpPr>
        <p:spPr>
          <a:xfrm>
            <a:off x="6400800" y="2551176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30" name="a2wd800_cell29"/>
          <p:cNvSpPr txBox="1"/>
          <p:nvPr/>
        </p:nvSpPr>
        <p:spPr>
          <a:xfrm>
            <a:off x="6400800" y="2798064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dirty="0" sz="1100"/>
          </a:p>
        </p:txBody>
      </p:sp>
      <p:sp>
        <p:nvSpPr>
          <p:cNvPr id="31" name="a2wd1000_cell30"/>
          <p:cNvSpPr txBox="1"/>
          <p:nvPr/>
        </p:nvSpPr>
        <p:spPr>
          <a:xfrm>
            <a:off x="6400800" y="3044952"/>
            <a:ext cx="5943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2" name="a2f_cell31"/>
          <p:cNvSpPr txBox="1"/>
          <p:nvPr/>
        </p:nvSpPr>
        <p:spPr>
          <a:xfrm>
            <a:off x="6995160" y="1810512"/>
            <a:ext cx="59436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dirty="0" sz="1100"/>
          </a:p>
        </p:txBody>
      </p:sp>
      <p:sp>
        <p:nvSpPr>
          <p:cNvPr id="33" name="a2wd200_cell32"/>
          <p:cNvSpPr txBox="1"/>
          <p:nvPr/>
        </p:nvSpPr>
        <p:spPr>
          <a:xfrm>
            <a:off x="6995160" y="2057400"/>
            <a:ext cx="594360" cy="24688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4" name="a2wd400_cell33"/>
          <p:cNvSpPr txBox="1"/>
          <p:nvPr/>
        </p:nvSpPr>
        <p:spPr>
          <a:xfrm>
            <a:off x="6995160" y="2304288"/>
            <a:ext cx="594360" cy="246888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5" name="a2wd600_cell34"/>
          <p:cNvSpPr txBox="1"/>
          <p:nvPr/>
        </p:nvSpPr>
        <p:spPr>
          <a:xfrm>
            <a:off x="6995160" y="2551176"/>
            <a:ext cx="594360" cy="246888"/>
          </a:xfrm>
          <a:prstGeom prst="rect">
            <a:avLst/>
          </a:prstGeom>
          <a:solidFill>
            <a:srgbClr val="DCFCE7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6" name="a2wd800_cell35"/>
          <p:cNvSpPr txBox="1"/>
          <p:nvPr/>
        </p:nvSpPr>
        <p:spPr>
          <a:xfrm>
            <a:off x="6995160" y="2798064"/>
            <a:ext cx="594360" cy="24688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7" name="a2wd1000_cell36"/>
          <p:cNvSpPr txBox="1"/>
          <p:nvPr/>
        </p:nvSpPr>
        <p:spPr>
          <a:xfrm>
            <a:off x="6995160" y="3044952"/>
            <a:ext cx="594360" cy="24688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8" name="a3f_l37"/>
          <p:cNvSpPr txBox="1"/>
          <p:nvPr/>
        </p:nvSpPr>
        <p:spPr>
          <a:xfrm>
            <a:off x="4709160" y="3401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GROUP BY adds up the flags</a:t>
            </a:r>
            <a:endParaRPr lang="en-US" dirty="0" sz="1200"/>
          </a:p>
        </p:txBody>
      </p:sp>
      <p:sp>
        <p:nvSpPr>
          <p:cNvPr id="39" name="a3f_cell38"/>
          <p:cNvSpPr txBox="1"/>
          <p:nvPr/>
        </p:nvSpPr>
        <p:spPr>
          <a:xfrm>
            <a:off x="4709160" y="3657600"/>
            <a:ext cx="868680" cy="246888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40" name="a3wd200_cell39"/>
          <p:cNvSpPr txBox="1"/>
          <p:nvPr/>
        </p:nvSpPr>
        <p:spPr>
          <a:xfrm>
            <a:off x="4709160" y="3904488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41" name="a3wd400_cell40"/>
          <p:cNvSpPr txBox="1"/>
          <p:nvPr/>
        </p:nvSpPr>
        <p:spPr>
          <a:xfrm>
            <a:off x="4709160" y="4151376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42" name="a3wd600_cell41"/>
          <p:cNvSpPr txBox="1"/>
          <p:nvPr/>
        </p:nvSpPr>
        <p:spPr>
          <a:xfrm>
            <a:off x="4709160" y="4398264"/>
            <a:ext cx="86868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43" name="a3f_cell42"/>
          <p:cNvSpPr txBox="1"/>
          <p:nvPr/>
        </p:nvSpPr>
        <p:spPr>
          <a:xfrm>
            <a:off x="5577840" y="3657600"/>
            <a:ext cx="105156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total_customers</a:t>
            </a:r>
            <a:endParaRPr lang="en-US" dirty="0" sz="1100"/>
          </a:p>
        </p:txBody>
      </p:sp>
      <p:sp>
        <p:nvSpPr>
          <p:cNvPr id="44" name="a3wd200_cell43"/>
          <p:cNvSpPr txBox="1"/>
          <p:nvPr/>
        </p:nvSpPr>
        <p:spPr>
          <a:xfrm>
            <a:off x="5577840" y="3904488"/>
            <a:ext cx="10515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5" name="a3wd400_cell44"/>
          <p:cNvSpPr txBox="1"/>
          <p:nvPr/>
        </p:nvSpPr>
        <p:spPr>
          <a:xfrm>
            <a:off x="5577840" y="4151376"/>
            <a:ext cx="10515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46" name="a3wd600_cell45"/>
          <p:cNvSpPr txBox="1"/>
          <p:nvPr/>
        </p:nvSpPr>
        <p:spPr>
          <a:xfrm>
            <a:off x="5577840" y="4398264"/>
            <a:ext cx="105156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100"/>
          </a:p>
        </p:txBody>
      </p:sp>
      <p:sp>
        <p:nvSpPr>
          <p:cNvPr id="47" name="a3f_cell46"/>
          <p:cNvSpPr txBox="1"/>
          <p:nvPr/>
        </p:nvSpPr>
        <p:spPr>
          <a:xfrm>
            <a:off x="6629400" y="3657600"/>
            <a:ext cx="1417320" cy="246888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high_score_customers</a:t>
            </a:r>
            <a:endParaRPr lang="en-US" dirty="0" sz="1100"/>
          </a:p>
        </p:txBody>
      </p:sp>
      <p:sp>
        <p:nvSpPr>
          <p:cNvPr id="48" name="a3wd200_cell47"/>
          <p:cNvSpPr txBox="1"/>
          <p:nvPr/>
        </p:nvSpPr>
        <p:spPr>
          <a:xfrm>
            <a:off x="6629400" y="3904488"/>
            <a:ext cx="14173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49" name="a3wd400_cell48"/>
          <p:cNvSpPr txBox="1"/>
          <p:nvPr/>
        </p:nvSpPr>
        <p:spPr>
          <a:xfrm>
            <a:off x="6629400" y="4151376"/>
            <a:ext cx="14173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50" name="a3wd600_cell49"/>
          <p:cNvSpPr txBox="1"/>
          <p:nvPr/>
        </p:nvSpPr>
        <p:spPr>
          <a:xfrm>
            <a:off x="6629400" y="4398264"/>
            <a:ext cx="1417320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Pivoting With Conditional Aggregation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300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CASE WHEN per value turns rows into columns</a:t>
            </a:r>
            <a:endParaRPr lang="en-US" dirty="0" sz="1300"/>
          </a:p>
        </p:txBody>
      </p:sp>
      <p:sp>
        <p:nvSpPr>
          <p:cNvPr id="4" name="a1f_codebg3"/>
          <p:cNvSpPr/>
          <p:nvPr/>
        </p:nvSpPr>
        <p:spPr>
          <a:xfrm>
            <a:off x="457200" y="1188720"/>
            <a:ext cx="4572000" cy="2578608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3258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2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158191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 =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'Germany'</a:t>
            </a:r>
            <a:endParaRPr lang="en-US" dirty="0" sz="12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183794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germany,</a:t>
            </a:r>
            <a:endParaRPr lang="en-US" dirty="0" sz="12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09397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 =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'UK'</a:t>
            </a:r>
            <a:endParaRPr lang="en-US" dirty="0" sz="12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35000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uk,</a:t>
            </a:r>
            <a:endParaRPr lang="en-US" dirty="0" sz="12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260604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 =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'USA'</a:t>
            </a:r>
            <a:endParaRPr lang="en-US" dirty="0" sz="12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286207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usa,</a:t>
            </a:r>
            <a:endParaRPr lang="en-US" dirty="0" sz="12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11810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2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(score) </a:t>
            </a: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total</a:t>
            </a:r>
            <a:endParaRPr lang="en-US" dirty="0" sz="1200"/>
          </a:p>
        </p:txBody>
      </p:sp>
      <p:sp>
        <p:nvSpPr>
          <p:cNvPr id="13" name="a1wd1200_code12"/>
          <p:cNvSpPr txBox="1"/>
          <p:nvPr/>
        </p:nvSpPr>
        <p:spPr>
          <a:xfrm>
            <a:off x="640080" y="337413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2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r>
              <a:rPr sz="12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dirty="0" sz="1200"/>
          </a:p>
        </p:txBody>
      </p:sp>
      <p:sp>
        <p:nvSpPr>
          <p:cNvPr id="14" name="a2f_l13"/>
          <p:cNvSpPr txBox="1"/>
          <p:nvPr/>
        </p:nvSpPr>
        <p:spPr>
          <a:xfrm>
            <a:off x="5349240" y="1188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· GROUP BY country</a:t>
            </a:r>
            <a:endParaRPr lang="en-US" dirty="0" sz="1200"/>
          </a:p>
        </p:txBody>
      </p:sp>
      <p:sp>
        <p:nvSpPr>
          <p:cNvPr id="15" name="a2f_cell14"/>
          <p:cNvSpPr txBox="1"/>
          <p:nvPr/>
        </p:nvSpPr>
        <p:spPr>
          <a:xfrm>
            <a:off x="5349240" y="14630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6" name="a2wd200_cell15"/>
          <p:cNvSpPr txBox="1"/>
          <p:nvPr/>
        </p:nvSpPr>
        <p:spPr>
          <a:xfrm>
            <a:off x="5349240" y="17373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7" name="a2wd400_cell16"/>
          <p:cNvSpPr txBox="1"/>
          <p:nvPr/>
        </p:nvSpPr>
        <p:spPr>
          <a:xfrm>
            <a:off x="5349240" y="20116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8" name="a2wd600_cell17"/>
          <p:cNvSpPr txBox="1"/>
          <p:nvPr/>
        </p:nvSpPr>
        <p:spPr>
          <a:xfrm>
            <a:off x="5349240" y="22860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19" name="a2f_cell18"/>
          <p:cNvSpPr txBox="1"/>
          <p:nvPr/>
        </p:nvSpPr>
        <p:spPr>
          <a:xfrm>
            <a:off x="6446520" y="1463040"/>
            <a:ext cx="109728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total_score</a:t>
            </a:r>
            <a:endParaRPr lang="en-US" dirty="0" sz="1100"/>
          </a:p>
        </p:txBody>
      </p:sp>
      <p:sp>
        <p:nvSpPr>
          <p:cNvPr id="20" name="a2wd200_cell19"/>
          <p:cNvSpPr txBox="1"/>
          <p:nvPr/>
        </p:nvSpPr>
        <p:spPr>
          <a:xfrm>
            <a:off x="6446520" y="173736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dirty="0" sz="1100"/>
          </a:p>
        </p:txBody>
      </p:sp>
      <p:sp>
        <p:nvSpPr>
          <p:cNvPr id="21" name="a2wd400_cell20"/>
          <p:cNvSpPr txBox="1"/>
          <p:nvPr/>
        </p:nvSpPr>
        <p:spPr>
          <a:xfrm>
            <a:off x="6446520" y="201168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22" name="a2wd600_cell21"/>
          <p:cNvSpPr txBox="1"/>
          <p:nvPr/>
        </p:nvSpPr>
        <p:spPr>
          <a:xfrm>
            <a:off x="6446520" y="2286000"/>
            <a:ext cx="10972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23" name="a3f_ar22"/>
          <p:cNvSpPr/>
          <p:nvPr/>
        </p:nvSpPr>
        <p:spPr>
          <a:xfrm>
            <a:off x="5989320" y="2651760"/>
            <a:ext cx="274320" cy="320040"/>
          </a:xfrm>
          <a:prstGeom prst="downArrow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24" name="a3f_at23"/>
          <p:cNvSpPr txBox="1"/>
          <p:nvPr/>
        </p:nvSpPr>
        <p:spPr>
          <a:xfrm>
            <a:off x="635508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i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dirty="0" sz="1200"/>
          </a:p>
        </p:txBody>
      </p:sp>
      <p:sp>
        <p:nvSpPr>
          <p:cNvPr id="25" name="a3f_l24"/>
          <p:cNvSpPr txBox="1"/>
          <p:nvPr/>
        </p:nvSpPr>
        <p:spPr>
          <a:xfrm>
            <a:off x="5349240" y="2971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· one CASE per value</a:t>
            </a:r>
            <a:endParaRPr lang="en-US" dirty="0" sz="1200"/>
          </a:p>
        </p:txBody>
      </p:sp>
      <p:sp>
        <p:nvSpPr>
          <p:cNvPr id="26" name="a3f_cell25"/>
          <p:cNvSpPr txBox="1"/>
          <p:nvPr/>
        </p:nvSpPr>
        <p:spPr>
          <a:xfrm>
            <a:off x="5349240" y="324612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27" name="a3wd200_cell26"/>
          <p:cNvSpPr txBox="1"/>
          <p:nvPr/>
        </p:nvSpPr>
        <p:spPr>
          <a:xfrm>
            <a:off x="5349240" y="352044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850</a:t>
            </a:r>
            <a:endParaRPr lang="en-US" dirty="0" sz="1100"/>
          </a:p>
        </p:txBody>
      </p:sp>
      <p:sp>
        <p:nvSpPr>
          <p:cNvPr id="28" name="a3f_cell27"/>
          <p:cNvSpPr txBox="1"/>
          <p:nvPr/>
        </p:nvSpPr>
        <p:spPr>
          <a:xfrm>
            <a:off x="6172200" y="324612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29" name="a3wd200_cell28"/>
          <p:cNvSpPr txBox="1"/>
          <p:nvPr/>
        </p:nvSpPr>
        <p:spPr>
          <a:xfrm>
            <a:off x="6172200" y="352044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</a:t>
            </a:r>
            <a:endParaRPr lang="en-US" dirty="0" sz="1100"/>
          </a:p>
        </p:txBody>
      </p:sp>
      <p:sp>
        <p:nvSpPr>
          <p:cNvPr id="30" name="a3f_cell29"/>
          <p:cNvSpPr txBox="1"/>
          <p:nvPr/>
        </p:nvSpPr>
        <p:spPr>
          <a:xfrm>
            <a:off x="6995160" y="3246120"/>
            <a:ext cx="82296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31" name="a3wd200_cell30"/>
          <p:cNvSpPr txBox="1"/>
          <p:nvPr/>
        </p:nvSpPr>
        <p:spPr>
          <a:xfrm>
            <a:off x="6995160" y="352044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dirty="0" sz="1100"/>
          </a:p>
        </p:txBody>
      </p:sp>
      <p:sp>
        <p:nvSpPr>
          <p:cNvPr id="32" name="a3f_cell31"/>
          <p:cNvSpPr txBox="1"/>
          <p:nvPr/>
        </p:nvSpPr>
        <p:spPr>
          <a:xfrm>
            <a:off x="7818120" y="3246120"/>
            <a:ext cx="822960" cy="27432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dirty="0" sz="1100"/>
          </a:p>
        </p:txBody>
      </p:sp>
      <p:sp>
        <p:nvSpPr>
          <p:cNvPr id="33" name="a3wd200_cell32"/>
          <p:cNvSpPr txBox="1"/>
          <p:nvPr/>
        </p:nvSpPr>
        <p:spPr>
          <a:xfrm>
            <a:off x="7818120" y="3520440"/>
            <a:ext cx="8229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</a:t>
            </a:r>
            <a:endParaRPr lang="en-US" dirty="0" sz="1100"/>
          </a:p>
        </p:txBody>
      </p:sp>
      <p:sp>
        <p:nvSpPr>
          <p:cNvPr id="34" name="a4u_nb33"/>
          <p:cNvSpPr/>
          <p:nvPr/>
        </p:nvSpPr>
        <p:spPr>
          <a:xfrm>
            <a:off x="457200" y="4069080"/>
            <a:ext cx="8229600" cy="73152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5" name="a4u_ni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274820"/>
            <a:ext cx="320040" cy="320040"/>
          </a:xfrm>
          <a:prstGeom prst="rect">
            <a:avLst/>
          </a:prstGeom>
        </p:spPr>
      </p:pic>
      <p:sp>
        <p:nvSpPr>
          <p:cNvPr id="36" name="a4u_nt35"/>
          <p:cNvSpPr txBox="1"/>
          <p:nvPr/>
        </p:nvSpPr>
        <p:spPr>
          <a:xfrm>
            <a:off x="1005840" y="406908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values are hard-coded.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country needs a new CASE column — pivot only on a known, small list of values.</a:t>
            </a:r>
            <a:endParaRPr lang="en-US" dirty="0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2800" b="1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Pivoting — In Practice</a:t>
            </a:r>
            <a:endParaRPr lang="en-US" dirty="0" sz="2800"/>
          </a:p>
        </p:txBody>
      </p:sp>
      <p:sp>
        <p:nvSpPr>
          <p:cNvPr id="3" name="Text 2"/>
          <p:cNvSpPr txBox="1"/>
          <p:nvPr/>
        </p:nvSpPr>
        <p:spPr>
          <a:xfrm>
            <a:off x="457200" y="9144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 wrap="square" lIns="164592" tIns="0" rIns="164592" bIns="0" anchor="ctr" rtlCol="0"/>
          <a:lstStyle/>
          <a:p>
            <a:pPr marL="0" indent="0">
              <a:buNone/>
            </a:pPr>
            <a:r>
              <a:rPr sz="14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TASK   </a:t>
            </a:r>
            <a:r>
              <a:rPr sz="1400"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country, count customers per score band: low (&lt; 400), mid (400–799), high (800+).</a:t>
            </a:r>
            <a:endParaRPr lang="en-US" dirty="0" sz="1400"/>
          </a:p>
        </p:txBody>
      </p:sp>
      <p:sp>
        <p:nvSpPr>
          <p:cNvPr id="4" name="a1f_codebg3"/>
          <p:cNvSpPr/>
          <p:nvPr/>
        </p:nvSpPr>
        <p:spPr>
          <a:xfrm>
            <a:off x="457200" y="1645920"/>
            <a:ext cx="4160520" cy="2560320"/>
          </a:xfrm>
          <a:prstGeom prst="roundRect">
            <a:avLst>
              <a:gd name="adj" fmla="val 315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a1wd0_code4"/>
          <p:cNvSpPr txBox="1"/>
          <p:nvPr/>
        </p:nvSpPr>
        <p:spPr>
          <a:xfrm>
            <a:off x="640080" y="1783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 sz="1100"/>
          </a:p>
        </p:txBody>
      </p:sp>
      <p:sp>
        <p:nvSpPr>
          <p:cNvPr id="6" name="a1wd150_code5"/>
          <p:cNvSpPr txBox="1"/>
          <p:nvPr/>
        </p:nvSpPr>
        <p:spPr>
          <a:xfrm>
            <a:off x="640080" y="20116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country,</a:t>
            </a:r>
            <a:endParaRPr lang="en-US" dirty="0" sz="1100"/>
          </a:p>
        </p:txBody>
      </p:sp>
      <p:sp>
        <p:nvSpPr>
          <p:cNvPr id="7" name="a1wd300_code6"/>
          <p:cNvSpPr txBox="1"/>
          <p:nvPr/>
        </p:nvSpPr>
        <p:spPr>
          <a:xfrm>
            <a:off x="640080" y="2240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&lt;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dirty="0" sz="1100"/>
          </a:p>
        </p:txBody>
      </p:sp>
      <p:sp>
        <p:nvSpPr>
          <p:cNvPr id="8" name="a1wd450_code7"/>
          <p:cNvSpPr txBox="1"/>
          <p:nvPr/>
        </p:nvSpPr>
        <p:spPr>
          <a:xfrm>
            <a:off x="640080" y="24688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low,</a:t>
            </a:r>
            <a:endParaRPr lang="en-US" dirty="0" sz="1100"/>
          </a:p>
        </p:txBody>
      </p:sp>
      <p:sp>
        <p:nvSpPr>
          <p:cNvPr id="9" name="a1wd600_code8"/>
          <p:cNvSpPr txBox="1"/>
          <p:nvPr/>
        </p:nvSpPr>
        <p:spPr>
          <a:xfrm>
            <a:off x="640080" y="2697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799</a:t>
            </a:r>
            <a:endParaRPr lang="en-US" dirty="0" sz="1100"/>
          </a:p>
        </p:txBody>
      </p:sp>
      <p:sp>
        <p:nvSpPr>
          <p:cNvPr id="10" name="a1wd750_code9"/>
          <p:cNvSpPr txBox="1"/>
          <p:nvPr/>
        </p:nvSpPr>
        <p:spPr>
          <a:xfrm>
            <a:off x="640080" y="2926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mid,</a:t>
            </a:r>
            <a:endParaRPr lang="en-US" dirty="0" sz="1100"/>
          </a:p>
        </p:txBody>
      </p:sp>
      <p:sp>
        <p:nvSpPr>
          <p:cNvPr id="11" name="a1wd900_code10"/>
          <p:cNvSpPr txBox="1"/>
          <p:nvPr/>
        </p:nvSpPr>
        <p:spPr>
          <a:xfrm>
            <a:off x="640080" y="31546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sz="1100" lang="en-US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score &gt;=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800</a:t>
            </a:r>
            <a:endParaRPr lang="en-US" dirty="0" sz="1100"/>
          </a:p>
        </p:txBody>
      </p:sp>
      <p:sp>
        <p:nvSpPr>
          <p:cNvPr id="12" name="a1wd1050_code11"/>
          <p:cNvSpPr txBox="1"/>
          <p:nvPr/>
        </p:nvSpPr>
        <p:spPr>
          <a:xfrm>
            <a:off x="640080" y="3383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)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high</a:t>
            </a:r>
            <a:endParaRPr lang="en-US" dirty="0" sz="1100"/>
          </a:p>
        </p:txBody>
      </p:sp>
      <p:sp>
        <p:nvSpPr>
          <p:cNvPr id="13" name="a1wd1200_code12"/>
          <p:cNvSpPr txBox="1"/>
          <p:nvPr/>
        </p:nvSpPr>
        <p:spPr>
          <a:xfrm>
            <a:off x="640080" y="36118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lang="en-US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</a:t>
            </a:r>
            <a:endParaRPr lang="en-US" dirty="0" sz="1100"/>
          </a:p>
        </p:txBody>
      </p:sp>
      <p:sp>
        <p:nvSpPr>
          <p:cNvPr id="14" name="a1wd1350_code13"/>
          <p:cNvSpPr txBox="1"/>
          <p:nvPr/>
        </p:nvSpPr>
        <p:spPr>
          <a:xfrm>
            <a:off x="640080" y="3840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sz="1100" b="1" lang="en-US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sz="1100" lang="en-US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country;</a:t>
            </a:r>
            <a:endParaRPr lang="en-US" dirty="0" sz="1100"/>
          </a:p>
        </p:txBody>
      </p:sp>
      <p:sp>
        <p:nvSpPr>
          <p:cNvPr id="15" name="a2f_l14"/>
          <p:cNvSpPr txBox="1"/>
          <p:nvPr/>
        </p:nvSpPr>
        <p:spPr>
          <a:xfrm>
            <a:off x="4892040" y="16459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countries × score bands</a:t>
            </a:r>
            <a:endParaRPr lang="en-US" dirty="0" sz="1200"/>
          </a:p>
        </p:txBody>
      </p:sp>
      <p:sp>
        <p:nvSpPr>
          <p:cNvPr id="16" name="a2f_cell15"/>
          <p:cNvSpPr txBox="1"/>
          <p:nvPr/>
        </p:nvSpPr>
        <p:spPr>
          <a:xfrm>
            <a:off x="4892040" y="1920240"/>
            <a:ext cx="914400" cy="27432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dirty="0" sz="1100"/>
          </a:p>
        </p:txBody>
      </p:sp>
      <p:sp>
        <p:nvSpPr>
          <p:cNvPr id="17" name="a2wd200_cell16"/>
          <p:cNvSpPr txBox="1"/>
          <p:nvPr/>
        </p:nvSpPr>
        <p:spPr>
          <a:xfrm>
            <a:off x="4892040" y="219456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dirty="0" sz="1100"/>
          </a:p>
        </p:txBody>
      </p:sp>
      <p:sp>
        <p:nvSpPr>
          <p:cNvPr id="18" name="a2wd400_cell17"/>
          <p:cNvSpPr txBox="1"/>
          <p:nvPr/>
        </p:nvSpPr>
        <p:spPr>
          <a:xfrm>
            <a:off x="4892040" y="246888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dirty="0" sz="1100"/>
          </a:p>
        </p:txBody>
      </p:sp>
      <p:sp>
        <p:nvSpPr>
          <p:cNvPr id="19" name="a2wd600_cell18"/>
          <p:cNvSpPr txBox="1"/>
          <p:nvPr/>
        </p:nvSpPr>
        <p:spPr>
          <a:xfrm>
            <a:off x="4892040" y="2743200"/>
            <a:ext cx="9144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dirty="0" sz="1100"/>
          </a:p>
        </p:txBody>
      </p:sp>
      <p:sp>
        <p:nvSpPr>
          <p:cNvPr id="20" name="a2f_cell19"/>
          <p:cNvSpPr txBox="1"/>
          <p:nvPr/>
        </p:nvSpPr>
        <p:spPr>
          <a:xfrm>
            <a:off x="5806440" y="1920240"/>
            <a:ext cx="86868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dirty="0" sz="1100"/>
          </a:p>
        </p:txBody>
      </p:sp>
      <p:sp>
        <p:nvSpPr>
          <p:cNvPr id="21" name="a2wd200_cell20"/>
          <p:cNvSpPr txBox="1"/>
          <p:nvPr/>
        </p:nvSpPr>
        <p:spPr>
          <a:xfrm>
            <a:off x="5806440" y="219456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2" name="a2wd400_cell21"/>
          <p:cNvSpPr txBox="1"/>
          <p:nvPr/>
        </p:nvSpPr>
        <p:spPr>
          <a:xfrm>
            <a:off x="5806440" y="24688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3" name="a2wd600_cell22"/>
          <p:cNvSpPr txBox="1"/>
          <p:nvPr/>
        </p:nvSpPr>
        <p:spPr>
          <a:xfrm>
            <a:off x="5806440" y="274320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4" name="a2f_cell23"/>
          <p:cNvSpPr txBox="1"/>
          <p:nvPr/>
        </p:nvSpPr>
        <p:spPr>
          <a:xfrm>
            <a:off x="6675120" y="1920240"/>
            <a:ext cx="86868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dirty="0" sz="1100"/>
          </a:p>
        </p:txBody>
      </p:sp>
      <p:sp>
        <p:nvSpPr>
          <p:cNvPr id="25" name="a2wd200_cell24"/>
          <p:cNvSpPr txBox="1"/>
          <p:nvPr/>
        </p:nvSpPr>
        <p:spPr>
          <a:xfrm>
            <a:off x="6675120" y="219456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6" name="a2wd400_cell25"/>
          <p:cNvSpPr txBox="1"/>
          <p:nvPr/>
        </p:nvSpPr>
        <p:spPr>
          <a:xfrm>
            <a:off x="6675120" y="246888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27" name="a2wd600_cell26"/>
          <p:cNvSpPr txBox="1"/>
          <p:nvPr/>
        </p:nvSpPr>
        <p:spPr>
          <a:xfrm>
            <a:off x="6675120" y="274320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28" name="a2f_cell27"/>
          <p:cNvSpPr txBox="1"/>
          <p:nvPr/>
        </p:nvSpPr>
        <p:spPr>
          <a:xfrm>
            <a:off x="7543800" y="1920240"/>
            <a:ext cx="868680" cy="274320"/>
          </a:xfrm>
          <a:prstGeom prst="rect">
            <a:avLst/>
          </a:prstGeom>
          <a:solidFill>
            <a:srgbClr val="6D28D9"/>
          </a:solidFill>
          <a:ln w="9525">
            <a:solidFill>
              <a:srgbClr val="6D28D9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dirty="0" sz="1100"/>
          </a:p>
        </p:txBody>
      </p:sp>
      <p:sp>
        <p:nvSpPr>
          <p:cNvPr id="29" name="a2wd200_cell28"/>
          <p:cNvSpPr txBox="1"/>
          <p:nvPr/>
        </p:nvSpPr>
        <p:spPr>
          <a:xfrm>
            <a:off x="7543800" y="219456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0" name="a2wd400_cell29"/>
          <p:cNvSpPr txBox="1"/>
          <p:nvPr/>
        </p:nvSpPr>
        <p:spPr>
          <a:xfrm>
            <a:off x="7543800" y="2468880"/>
            <a:ext cx="86868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dirty="0" sz="1100"/>
          </a:p>
        </p:txBody>
      </p:sp>
      <p:sp>
        <p:nvSpPr>
          <p:cNvPr id="31" name="a2wd600_cell30"/>
          <p:cNvSpPr txBox="1"/>
          <p:nvPr/>
        </p:nvSpPr>
        <p:spPr>
          <a:xfrm>
            <a:off x="7543800" y="2743200"/>
            <a:ext cx="868680" cy="274320"/>
          </a:xfrm>
          <a:prstGeom prst="rect">
            <a:avLst/>
          </a:prstGeom>
          <a:solidFill>
            <a:srgbClr val="EDE9FE"/>
          </a:solidFill>
          <a:ln w="9525">
            <a:solidFill>
              <a:srgbClr val="CBD5E1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100" b="1" lang="en-US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100"/>
          </a:p>
        </p:txBody>
      </p:sp>
      <p:sp>
        <p:nvSpPr>
          <p:cNvPr id="32" name="a3u_nb31"/>
          <p:cNvSpPr/>
          <p:nvPr/>
        </p:nvSpPr>
        <p:spPr>
          <a:xfrm>
            <a:off x="4892040" y="3200400"/>
            <a:ext cx="3794760" cy="96012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a3u_ni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520440"/>
            <a:ext cx="320040" cy="320040"/>
          </a:xfrm>
          <a:prstGeom prst="rect">
            <a:avLst/>
          </a:prstGeom>
        </p:spPr>
      </p:pic>
      <p:sp>
        <p:nvSpPr>
          <p:cNvPr id="34" name="a3u_nt33"/>
          <p:cNvSpPr txBox="1"/>
          <p:nvPr/>
        </p:nvSpPr>
        <p:spPr>
          <a:xfrm>
            <a:off x="5440680" y="32004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200" b="1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ELSE needed with COUNT: </a:t>
            </a:r>
            <a:r>
              <a:rPr sz="1200"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non-matching rows return NULL and COUNT skips NULLs. Same result as SUM(… ELSE 0).</a:t>
            </a:r>
            <a:endParaRPr lang="en-US" dirty="0" sz="1200"/>
          </a:p>
        </p:txBody>
      </p:sp>
      <p:sp>
        <p:nvSpPr>
          <p:cNvPr id="35" name="a4f_tip34"/>
          <p:cNvSpPr txBox="1"/>
          <p:nvPr/>
        </p:nvSpPr>
        <p:spPr>
          <a:xfrm>
            <a:off x="4892040" y="42976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anchor="t" rtlCol="0"/>
          <a:lstStyle/>
          <a:p>
            <a:pPr marL="0" indent="0">
              <a:buNone/>
            </a:pPr>
            <a:r>
              <a:rPr sz="1100" i="1"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and Oracle also offer a PIVOT operator — the CASE approach works in every database.</a:t>
            </a:r>
            <a:endParaRPr lang="en-US" dirty="0" sz="11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h1"/>
          <p:cNvSpPr txBox="1"/>
          <p:nvPr/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32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· Aggregation</a:t>
            </a:r>
            <a:endParaRPr lang="en-US" dirty="0" sz="3200"/>
          </a:p>
        </p:txBody>
      </p:sp>
      <p:sp>
        <p:nvSpPr>
          <p:cNvPr id="3" name="a1u_n2"/>
          <p:cNvSpPr txBox="1"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 sz="1600"/>
          </a:p>
        </p:txBody>
      </p:sp>
      <p:sp>
        <p:nvSpPr>
          <p:cNvPr id="4" name="a1u_t3"/>
          <p:cNvSpPr txBox="1"/>
          <p:nvPr/>
        </p:nvSpPr>
        <p:spPr>
          <a:xfrm>
            <a:off x="118872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(COUNT, SUM, AVG, MAX, MIN) turn many rows into one value and ignore NULLs.</a:t>
            </a:r>
            <a:endParaRPr lang="en-US" dirty="0" sz="1500"/>
          </a:p>
        </p:txBody>
      </p:sp>
      <p:sp>
        <p:nvSpPr>
          <p:cNvPr id="5" name="a2u_n4"/>
          <p:cNvSpPr txBox="1"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 sz="1600"/>
          </a:p>
        </p:txBody>
      </p:sp>
      <p:sp>
        <p:nvSpPr>
          <p:cNvPr id="6" name="a2u_t5"/>
          <p:cNvSpPr txBox="1"/>
          <p:nvPr/>
        </p:nvSpPr>
        <p:spPr>
          <a:xfrm>
            <a:off x="118872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returns one row per group — every SELECT column is grouped or aggregated.</a:t>
            </a:r>
            <a:endParaRPr lang="en-US" dirty="0" sz="1500"/>
          </a:p>
        </p:txBody>
      </p:sp>
      <p:sp>
        <p:nvSpPr>
          <p:cNvPr id="7" name="a3u_n6"/>
          <p:cNvSpPr txBox="1"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 sz="1600"/>
          </a:p>
        </p:txBody>
      </p:sp>
      <p:sp>
        <p:nvSpPr>
          <p:cNvPr id="8" name="a3u_t7"/>
          <p:cNvSpPr txBox="1"/>
          <p:nvPr/>
        </p:nvSpPr>
        <p:spPr>
          <a:xfrm>
            <a:off x="1188720" y="3063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filters rows before grouping; HAVING filters groups after aggregation.</a:t>
            </a:r>
            <a:endParaRPr lang="en-US" dirty="0" sz="1500"/>
          </a:p>
        </p:txBody>
      </p:sp>
      <p:sp>
        <p:nvSpPr>
          <p:cNvPr id="9" name="a4u_n8"/>
          <p:cNvSpPr txBox="1"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anchor="ctr" rtlCol="0"/>
          <a:lstStyle/>
          <a:p>
            <a:pPr algn="ctr" marL="0" indent="0">
              <a:buNone/>
            </a:pPr>
            <a:r>
              <a:rPr sz="1600" b="1"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dirty="0" sz="1600"/>
          </a:p>
        </p:txBody>
      </p:sp>
      <p:sp>
        <p:nvSpPr>
          <p:cNvPr id="10" name="a4u_t9"/>
          <p:cNvSpPr txBox="1"/>
          <p:nvPr/>
        </p:nvSpPr>
        <p:spPr>
          <a:xfrm>
            <a:off x="1188720" y="3886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anchor="ctr" rtlCol="0"/>
          <a:lstStyle/>
          <a:p>
            <a:pPr marL="0" indent="0">
              <a:buNone/>
            </a:pPr>
            <a:r>
              <a:rPr sz="15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WHEN inside an aggregate = conditional aggregation. One CASE per value pivots rows into columns.</a:t>
            </a:r>
            <a:endParaRPr lang="en-US" dirty="0" sz="1500"/>
          </a:p>
        </p:txBody>
      </p:sp>
      <p:sp>
        <p:nvSpPr>
          <p:cNvPr id="11" name="a0fd300_v10"/>
          <p:cNvSpPr/>
          <p:nvPr/>
        </p:nvSpPr>
        <p:spPr>
          <a:xfrm>
            <a:off x="6290534" y="1458737"/>
            <a:ext cx="871369" cy="188797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2" name="a0fd300_v11"/>
          <p:cNvSpPr/>
          <p:nvPr/>
        </p:nvSpPr>
        <p:spPr>
          <a:xfrm>
            <a:off x="6290534" y="1749193"/>
            <a:ext cx="871369" cy="188797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3" name="a0fd300_v12"/>
          <p:cNvSpPr/>
          <p:nvPr/>
        </p:nvSpPr>
        <p:spPr>
          <a:xfrm>
            <a:off x="6290534" y="2039650"/>
            <a:ext cx="871369" cy="188797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14" name="a0fd300_v13"/>
          <p:cNvSpPr/>
          <p:nvPr/>
        </p:nvSpPr>
        <p:spPr>
          <a:xfrm>
            <a:off x="6290534" y="2330106"/>
            <a:ext cx="871369" cy="188797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5" name="a0fd300_v14"/>
          <p:cNvSpPr/>
          <p:nvPr/>
        </p:nvSpPr>
        <p:spPr>
          <a:xfrm>
            <a:off x="6290534" y="2620563"/>
            <a:ext cx="871369" cy="188797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6" name="a0fd300_v15"/>
          <p:cNvSpPr/>
          <p:nvPr/>
        </p:nvSpPr>
        <p:spPr>
          <a:xfrm>
            <a:off x="7321655" y="1996081"/>
            <a:ext cx="435685" cy="290456"/>
          </a:xfrm>
          <a:prstGeom prst="rightArrow">
            <a:avLst/>
          </a:prstGeom>
          <a:solidFill>
            <a:srgbClr val="A78BFA"/>
          </a:solidFill>
          <a:ln>
            <a:noFill/>
          </a:ln>
        </p:spPr>
      </p:sp>
      <p:sp>
        <p:nvSpPr>
          <p:cNvPr id="17" name="a0fd300_v16"/>
          <p:cNvSpPr/>
          <p:nvPr/>
        </p:nvSpPr>
        <p:spPr>
          <a:xfrm>
            <a:off x="7844476" y="1720148"/>
            <a:ext cx="842324" cy="217842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8" name="a0fd300_v17"/>
          <p:cNvSpPr/>
          <p:nvPr/>
        </p:nvSpPr>
        <p:spPr>
          <a:xfrm>
            <a:off x="7844476" y="2039650"/>
            <a:ext cx="842324" cy="217842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9" name="a0fd300_v18"/>
          <p:cNvSpPr/>
          <p:nvPr/>
        </p:nvSpPr>
        <p:spPr>
          <a:xfrm>
            <a:off x="7844476" y="2359152"/>
            <a:ext cx="842324" cy="217842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>
            <a:noFill/>
          </a:ln>
        </p:spPr>
      </p:sp>
      <p:sp>
        <p:nvSpPr>
          <p:cNvPr id="20" name="a5u_next19"/>
          <p:cNvSpPr txBox="1"/>
          <p:nvPr/>
        </p:nvSpPr>
        <p:spPr>
          <a:xfrm>
            <a:off x="6217920" y="31089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 wrap="square" lIns="182880" tIns="91440" rIns="182880" bIns="91440" anchor="ctr" rtlCol="0"/>
          <a:lstStyle/>
          <a:p>
            <a:pPr marL="0" indent="0">
              <a:buNone/>
            </a:pPr>
            <a:r>
              <a:rPr sz="1300" b="1" lang="en-US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Up next  </a:t>
            </a:r>
            <a:r>
              <a:rPr sz="1300" lang="en-US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operators — combining the rows of multiple queries</a:t>
            </a:r>
            <a:endParaRPr lang="en-US" dirty="0" sz="13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Joins Basics</dc:title>
  <dc:subject>PptxGenJS Presentation</dc:subject>
  <dc:creator>PptxGenJS</dc:creator>
  <cp:lastModifiedBy>PptxGenJS</cp:lastModifiedBy>
  <cp:revision>1</cp:revision>
  <dcterms:created xsi:type="dcterms:W3CDTF">2026-09-17T16:10:42Z</dcterms:created>
  <dcterms:modified xsi:type="dcterms:W3CDTF">2026-09-17T16:10:42Z</dcterms:modified>
</cp:coreProperties>
</file>