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40" autoAdjust="0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5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37C97-C374-414B-A36B-D38DDD62A191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CB7E6-E343-4582-873E-3DC0BA7F3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30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tone: this is not a syntax course, it is a bank modernisation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this out loud. Every topic today answers some part of this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class which of these would make the evening news for a real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actual first rows of the dataset they will load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drill these. Teach 2, 3, 10 properly and name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 8 holds for correctness, not for speed. That gap is Module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exactly why Module 11 on migration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would you put the general ledger on MyISAM? Never.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incident framing works well here: a Monday-morning report that took down UPI.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down the arrows with your finger. Do not read the boxes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the same SQL can produce different plans as data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 Protocol Requirement</a:t>
            </a:r>
          </a:p>
          <a:p>
            <a:pPr lvl="0"/>
            <a:r>
              <a:rPr lang="en-IN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 First:</a:t>
            </a:r>
            <a:r>
              <a:rPr lang="en-IN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system updates the log buffer in memory.</a:t>
            </a:r>
          </a:p>
          <a:p>
            <a:pPr lvl="0"/>
            <a:r>
              <a:rPr lang="en-IN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Flush Log:</a:t>
            </a:r>
            <a:r>
              <a:rPr lang="en-IN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log buffer is flushed to disk.</a:t>
            </a:r>
          </a:p>
          <a:p>
            <a:pPr lvl="0"/>
            <a:r>
              <a:rPr lang="en-IN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Data:</a:t>
            </a:r>
            <a:r>
              <a:rPr lang="en-IN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Only 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en-IN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log is securely on the disk can the dirty data pages in memory be safely written back to the main disk storage.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B7E6-E343-4582-873E-3DC0BA7F3ABF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472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one to leave on screen during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463040" cy="8229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Introduction to Databases &amp; RDBMS Fundamentals</a:t>
            </a:r>
          </a:p>
          <a:p>
            <a:pPr>
              <a:spcBef>
                <a:spcPts val="1600"/>
              </a:spcBef>
            </a:pPr>
            <a:r>
              <a:rPr sz="2000">
                <a:solidFill>
                  <a:srgbClr val="A9C6DA"/>
                </a:solidFill>
                <a:latin typeface="Segoe UI"/>
              </a:rPr>
              <a:t>Module 1  |  6 Hours  |  Enterprise Data Engineering with SQL, Redis &amp;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8FAAC0"/>
                </a:solidFill>
                <a:latin typeface="Segoe UI"/>
              </a:rPr>
              <a:t>ICICI Bank Learning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Welcome to the ICICI Bank data engineering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084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have just joined </a:t>
            </a:r>
            <a:r>
              <a:rPr sz="1800" b="1">
                <a:solidFill>
                  <a:srgbClr val="1B2633"/>
                </a:solidFill>
                <a:latin typeface="Segoe UI"/>
              </a:rPr>
              <a:t>ICICI Bank</a:t>
            </a:r>
            <a:r>
              <a:rPr sz="1800" b="0">
                <a:solidFill>
                  <a:srgbClr val="1B2633"/>
                </a:solidFill>
                <a:latin typeface="Segoe UI"/>
              </a:rPr>
              <a:t> as a trainee data engineer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ICICI Bank is a retail bank: 8 branches, 30,000 customers, 2 million transactions a month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Every rupee that moves through the bank leaves a row in a database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For the next 120 hours you will build, query, tune, cache, stream, secure and migrate that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47472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47472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One bank, one schema, one dataset - from Module 1 all the way to the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Your first ticket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TICKET  ICICI-4417                                   Priority: HIGH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-----------------------------------------------------------------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Raised by : Head of Branch Operations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Subject   : Daily reconciliation takes 3 days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The Fort Mumbai branch keeps its account balances in an Excel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workbook. Andheri East keeps its own copy. When a customer moves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money between the two branches, the numbers stop matching and a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clerk fixes them by hand.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Asked for: explain what a proper database gives us, and prove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you will be able to do by 5 pm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Explain the difference between a </a:t>
            </a:r>
            <a:r>
              <a:rPr sz="1800" b="1">
                <a:solidFill>
                  <a:srgbClr val="1B2633"/>
                </a:solidFill>
                <a:latin typeface="Segoe UI"/>
              </a:rPr>
              <a:t>file system</a:t>
            </a:r>
            <a:r>
              <a:rPr sz="1800" b="0">
                <a:solidFill>
                  <a:srgbClr val="1B2633"/>
                </a:solidFill>
                <a:latin typeface="Segoe UI"/>
              </a:rPr>
              <a:t>, a </a:t>
            </a:r>
            <a:r>
              <a:rPr sz="1800" b="1">
                <a:solidFill>
                  <a:srgbClr val="1B2633"/>
                </a:solidFill>
                <a:latin typeface="Segoe UI"/>
              </a:rPr>
              <a:t>DBMS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an </a:t>
            </a:r>
            <a:r>
              <a:rPr sz="1800" b="1">
                <a:solidFill>
                  <a:srgbClr val="1B2633"/>
                </a:solidFill>
                <a:latin typeface="Segoe UI"/>
              </a:rPr>
              <a:t>RDBMS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Describe how Oracle, PostgreSQL and MySQL differ, and where ICICI Bank uses each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Tell an </a:t>
            </a:r>
            <a:r>
              <a:rPr sz="1800" b="1">
                <a:solidFill>
                  <a:srgbClr val="1B2633"/>
                </a:solidFill>
                <a:latin typeface="Segoe UI"/>
              </a:rPr>
              <a:t>OLTP</a:t>
            </a:r>
            <a:r>
              <a:rPr sz="1800" b="0">
                <a:solidFill>
                  <a:srgbClr val="1B2633"/>
                </a:solidFill>
                <a:latin typeface="Segoe UI"/>
              </a:rPr>
              <a:t> workload from an </a:t>
            </a:r>
            <a:r>
              <a:rPr sz="1800" b="1">
                <a:solidFill>
                  <a:srgbClr val="1B2633"/>
                </a:solidFill>
                <a:latin typeface="Segoe UI"/>
              </a:rPr>
              <a:t>OLAP</a:t>
            </a:r>
            <a:r>
              <a:rPr sz="1800" b="0">
                <a:solidFill>
                  <a:srgbClr val="1B2633"/>
                </a:solidFill>
                <a:latin typeface="Segoe UI"/>
              </a:rPr>
              <a:t> workload, and say why they are kept apart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Draw the architecture of a database server: client, engine, memory, storage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Explain </a:t>
            </a:r>
            <a:r>
              <a:rPr sz="1800" b="1">
                <a:solidFill>
                  <a:srgbClr val="1B2633"/>
                </a:solidFill>
                <a:latin typeface="Segoe UI"/>
              </a:rPr>
              <a:t>ACID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demonstrate all four properties with real banking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1 - From spreadsheets to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How ICICI Bank stored data before 1995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Each branch kept its own ledger book, then its own spreadsheet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customer's savings balance lived in </a:t>
            </a:r>
            <a:r>
              <a:rPr sz="1800" b="0">
                <a:solidFill>
                  <a:srgbClr val="008C8C"/>
                </a:solidFill>
                <a:latin typeface="Consolas"/>
              </a:rPr>
              <a:t>FORT_BALANCES.xls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transfer to Andheri meant an e-mail and a manual edit at the other end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Month-end reconciliation was a room full of clerks with calculators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2608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01752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This is called the file-based approach, and every bank started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Six things that go wrong with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What it looked like at ICICI Bank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redundancy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same customer's address stored in 4 branch files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inconsistency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Fort says balance 52,000, Andheri says 47,500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concurrent access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Two clerks open the file, the second save wins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integrity rules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Nothing stops a clerk typing a balance of -9,00,000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security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Whoever can open the folder can read every salary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recovery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Power cut mid-save, the workbook is corrupt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a DBMS adds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</a:t>
            </a:r>
            <a:r>
              <a:rPr sz="1800" b="1">
                <a:solidFill>
                  <a:srgbClr val="1B2633"/>
                </a:solidFill>
                <a:latin typeface="Segoe UI"/>
              </a:rPr>
              <a:t>DBMS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software that stores data and controls every access to it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Nobody touches the data files directly - all access goes through the engine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engine takes responsibility for six things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Storage and retrieval, so the application does not manage files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Concurrency, so a thousand ATMs can work at once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Integrity, so a balance can never go negative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Security, so a teller sees less than an auditor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Backup and recovery, so a crash loses nothing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A query language, so questions are asked in SQL, not in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DBMS versus RDBMS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DBMS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RDBMS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stored as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Files, hierarchies, network of records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Tables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of rows and columns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Relationships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Coded by the programmer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Declared with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primary and foreign keys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Rules enforced by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application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The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database engine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Normalization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Not supported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Core to the design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ACID transactions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Rarely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Always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Examples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File managers, XML stores, dBase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Oracle, PostgreSQL, MySQL, SQL Server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846195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846195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937635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Every RDBMS is a DBMS. The reverse is not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relational model in banking 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</a:t>
            </a:r>
            <a:r>
              <a:rPr sz="1800" b="1">
                <a:solidFill>
                  <a:srgbClr val="1B2633"/>
                </a:solidFill>
                <a:latin typeface="Segoe UI"/>
              </a:rPr>
              <a:t>relation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a table. ICICI Bank has one called </a:t>
            </a:r>
            <a:r>
              <a:rPr sz="1800" b="0">
                <a:solidFill>
                  <a:srgbClr val="008C8C"/>
                </a:solidFill>
                <a:latin typeface="Consolas"/>
              </a:rPr>
              <a:t>account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</a:t>
            </a:r>
            <a:r>
              <a:rPr sz="1800" b="1">
                <a:solidFill>
                  <a:srgbClr val="1B2633"/>
                </a:solidFill>
                <a:latin typeface="Segoe UI"/>
              </a:rPr>
              <a:t>tuple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a row. One row is one real account belonging to one real person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An </a:t>
            </a:r>
            <a:r>
              <a:rPr sz="1800" b="1">
                <a:solidFill>
                  <a:srgbClr val="1B2633"/>
                </a:solidFill>
                <a:latin typeface="Segoe UI"/>
              </a:rPr>
              <a:t>attribute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a column, such as </a:t>
            </a:r>
            <a:r>
              <a:rPr sz="1800" b="0">
                <a:solidFill>
                  <a:srgbClr val="008C8C"/>
                </a:solidFill>
                <a:latin typeface="Consolas"/>
              </a:rPr>
              <a:t>balance</a:t>
            </a:r>
            <a:r>
              <a:rPr sz="1800" b="0">
                <a:solidFill>
                  <a:srgbClr val="1B2633"/>
                </a:solidFill>
                <a:latin typeface="Segoe UI"/>
              </a:rPr>
              <a:t> or </a:t>
            </a:r>
            <a:r>
              <a:rPr sz="1800" b="0">
                <a:solidFill>
                  <a:srgbClr val="008C8C"/>
                </a:solidFill>
                <a:latin typeface="Consolas"/>
              </a:rPr>
              <a:t>account_type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</a:t>
            </a:r>
            <a:r>
              <a:rPr sz="1800" b="1">
                <a:solidFill>
                  <a:srgbClr val="1B2633"/>
                </a:solidFill>
                <a:latin typeface="Segoe UI"/>
              </a:rPr>
              <a:t>degree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the number of columns, the </a:t>
            </a:r>
            <a:r>
              <a:rPr sz="1800" b="1">
                <a:solidFill>
                  <a:srgbClr val="1B2633"/>
                </a:solidFill>
                <a:latin typeface="Segoe UI"/>
              </a:rPr>
              <a:t>cardinality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the number of rows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</a:t>
            </a:r>
            <a:r>
              <a:rPr sz="1800" b="1">
                <a:solidFill>
                  <a:srgbClr val="1B2633"/>
                </a:solidFill>
                <a:latin typeface="Segoe UI"/>
              </a:rPr>
              <a:t>domain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the set of values a column may hold, for example </a:t>
            </a:r>
            <a:r>
              <a:rPr sz="1800" b="0">
                <a:solidFill>
                  <a:srgbClr val="008C8C"/>
                </a:solidFill>
                <a:latin typeface="Consolas"/>
              </a:rPr>
              <a:t>SAVINGS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CURRENT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SALARY</a:t>
            </a:r>
            <a:r>
              <a:rPr sz="1800" b="0">
                <a:solidFill>
                  <a:srgbClr val="1B2633"/>
                </a:solidFill>
                <a:latin typeface="Segoe UI"/>
              </a:rPr>
              <a:t>, </a:t>
            </a:r>
            <a:r>
              <a:rPr sz="1800" b="0">
                <a:solidFill>
                  <a:srgbClr val="008C8C"/>
                </a:solidFill>
                <a:latin typeface="Consolas"/>
              </a:rPr>
              <a:t>NRI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One row from ICICI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40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3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account_id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account_number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customer_id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account_type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balance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9001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ICIC0000009001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1001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CURRENT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35859.46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DORMANT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9002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ICIC0000009002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1002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SALARY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43522.54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9003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ICIC0000009003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1003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SAVINGS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341244.80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793492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account_id</a:t>
            </a:r>
            <a:r>
              <a:rPr sz="1800" b="0">
                <a:solidFill>
                  <a:srgbClr val="1B2633"/>
                </a:solidFill>
                <a:latin typeface="Segoe UI"/>
              </a:rPr>
              <a:t> identifies the row and never repeats - it is the </a:t>
            </a:r>
            <a:r>
              <a:rPr sz="1800" b="1">
                <a:solidFill>
                  <a:srgbClr val="1B2633"/>
                </a:solidFill>
                <a:latin typeface="Segoe UI"/>
              </a:rPr>
              <a:t>primary key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008C8C"/>
                </a:solidFill>
                <a:latin typeface="Consolas"/>
              </a:rPr>
              <a:t>customer_id</a:t>
            </a:r>
            <a:r>
              <a:rPr sz="1800" b="0">
                <a:solidFill>
                  <a:srgbClr val="1B2633"/>
                </a:solidFill>
                <a:latin typeface="Segoe UI"/>
              </a:rPr>
              <a:t> points at a row in </a:t>
            </a:r>
            <a:r>
              <a:rPr sz="1800" b="0">
                <a:solidFill>
                  <a:srgbClr val="008C8C"/>
                </a:solidFill>
                <a:latin typeface="Consolas"/>
              </a:rPr>
              <a:t>customer</a:t>
            </a:r>
            <a:r>
              <a:rPr sz="1800" b="0">
                <a:solidFill>
                  <a:srgbClr val="1B2633"/>
                </a:solidFill>
                <a:latin typeface="Segoe UI"/>
              </a:rPr>
              <a:t> - it is a </a:t>
            </a:r>
            <a:r>
              <a:rPr sz="1800" b="1">
                <a:solidFill>
                  <a:srgbClr val="1B2633"/>
                </a:solidFill>
                <a:latin typeface="Segoe UI"/>
              </a:rPr>
              <a:t>foreign 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Codd's rules - why they exist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E. F. Codd defined the relational model at IBM in </a:t>
            </a:r>
            <a:r>
              <a:rPr sz="1800" b="1">
                <a:solidFill>
                  <a:srgbClr val="1B2633"/>
                </a:solidFill>
                <a:latin typeface="Segoe UI"/>
              </a:rPr>
              <a:t>1970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In </a:t>
            </a:r>
            <a:r>
              <a:rPr sz="1800" b="1">
                <a:solidFill>
                  <a:srgbClr val="1B2633"/>
                </a:solidFill>
                <a:latin typeface="Segoe UI"/>
              </a:rPr>
              <a:t>1985</a:t>
            </a:r>
            <a:r>
              <a:rPr sz="1800" b="0">
                <a:solidFill>
                  <a:srgbClr val="1B2633"/>
                </a:solidFill>
                <a:latin typeface="Segoe UI"/>
              </a:rPr>
              <a:t> he published 13 rules, numbered 0 to 12, to settle an argument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Vendors were relabelling old products "relational" without changing them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Rule 0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 relational system must manage data </a:t>
            </a:r>
            <a:r>
              <a:rPr sz="1800" b="1">
                <a:solidFill>
                  <a:srgbClr val="1B2633"/>
                </a:solidFill>
                <a:latin typeface="Segoe UI"/>
              </a:rPr>
              <a:t>entirely</a:t>
            </a:r>
            <a:r>
              <a:rPr sz="1800" b="0">
                <a:solidFill>
                  <a:srgbClr val="1B2633"/>
                </a:solidFill>
                <a:latin typeface="Segoe UI"/>
              </a:rPr>
              <a:t> through relational means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291840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No commercial database satisfies all 13. Knowing which ones break tells you where to be careful.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Rules 1 to 4 -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3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At ICICI Bank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Information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all data is values in tables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balance is a value in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account.balance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nowhere else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Guaranteed access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table + key + column reaches any value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account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9001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balance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. No pointers, no positions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Systematic NULL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one NULL for every type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 nominee recorded is not an empty name, and not zero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Active catalog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metadata is tables, queried with SQL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information_schema.columns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tells you what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loan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holds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235833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Rule 2 is why a table with no primary key is a defect, not a style choice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Rules 5 to 8 - the language and the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4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4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At ICICI Bank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Comprehensive sublanguage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one language for everything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SQL does DDL, DML, constraints,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GRANT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and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COMMIT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View updating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updatable views must be updatable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Broken in practice.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Add a join and the engine refuses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Set level operations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work on sets, not rows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Mature every eligible deposit in one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UPDATE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not a loop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Physical independence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storage changes break nothing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Move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account_txn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to SSD. No SQL changes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Rules 9 to 12 - design, rules and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9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At ICICI Bank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Logical independence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design changes break nothing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risk_rating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. Survives, </a:t>
                      </a:r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unless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you wrote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SELECT *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Integrity independence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rules live in the database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balance &gt;= 0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as a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CHECK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, met by every application alike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Distribution independence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moving data breaks nothing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Least honoured.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Replicas leak staleness into the app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Non-subversion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- no back door past the rules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bulk load must not insert an orphan transaction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144393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144393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235833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Rule 9 is the one you control. </a:t>
            </a:r>
            <a:r>
              <a:rPr sz="1450" b="0">
                <a:solidFill>
                  <a:srgbClr val="008C8C"/>
                </a:solidFill>
                <a:latin typeface="Consolas"/>
              </a:rPr>
              <a:t>SELECT *</a:t>
            </a:r>
            <a:r>
              <a:rPr sz="1450" b="1">
                <a:solidFill>
                  <a:srgbClr val="6B4A00"/>
                </a:solidFill>
                <a:latin typeface="Segoe UI"/>
              </a:rPr>
              <a:t> in application code throws it away.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real databases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20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3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Where we meet it again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3 NULL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Honoured, and the biggest source of quiet bugs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Modules 2 and 3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6 View updating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Frequently broken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 5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9 Logical independence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Yours to keep or lose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Every module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10 Integrity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Honoured, often ignored by teams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Modules 4 and 12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11 Distribution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Largely aspirational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 9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12 Non-subversion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Suspended on purpose during bulk loads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 11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846195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Remember two under pressure:</a:t>
            </a:r>
            <a:r>
              <a:rPr sz="1800" b="0">
                <a:solidFill>
                  <a:srgbClr val="1B2633"/>
                </a:solidFill>
                <a:latin typeface="Segoe UI"/>
              </a:rPr>
              <a:t> rule 2 to reach any value, rule 10 to protect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keys you will meet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Primary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 - one column, or a set of columns, that uniquely identifies a row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008C8C"/>
                </a:solidFill>
                <a:latin typeface="Consolas"/>
              </a:rPr>
              <a:t>account.account_id</a:t>
            </a:r>
            <a:r>
              <a:rPr sz="1550" b="0">
                <a:solidFill>
                  <a:srgbClr val="5A6673"/>
                </a:solidFill>
                <a:latin typeface="Segoe UI"/>
              </a:rPr>
              <a:t>, </a:t>
            </a:r>
            <a:r>
              <a:rPr sz="1550" b="0">
                <a:solidFill>
                  <a:srgbClr val="008C8C"/>
                </a:solidFill>
                <a:latin typeface="Consolas"/>
              </a:rPr>
              <a:t>customer.customer_id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Candidate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any column that *could* have been the primary key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008C8C"/>
                </a:solidFill>
                <a:latin typeface="Consolas"/>
              </a:rPr>
              <a:t>account.account_number</a:t>
            </a:r>
            <a:r>
              <a:rPr sz="1550" b="0">
                <a:solidFill>
                  <a:srgbClr val="5A6673"/>
                </a:solidFill>
                <a:latin typeface="Segoe UI"/>
              </a:rPr>
              <a:t> is unique too, so it is a candidate key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Foreign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 column that must match a primary key in another table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008C8C"/>
                </a:solidFill>
                <a:latin typeface="Consolas"/>
              </a:rPr>
              <a:t>account.customer_id</a:t>
            </a:r>
            <a:r>
              <a:rPr sz="1550" b="0">
                <a:solidFill>
                  <a:srgbClr val="5A6673"/>
                </a:solidFill>
                <a:latin typeface="Segoe UI"/>
              </a:rPr>
              <a:t> must exist in </a:t>
            </a:r>
            <a:r>
              <a:rPr sz="1550" b="0">
                <a:solidFill>
                  <a:srgbClr val="008C8C"/>
                </a:solidFill>
                <a:latin typeface="Consolas"/>
              </a:rPr>
              <a:t>customer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Composite key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 primary key made of more than one 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78224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078224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169664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Module 4 spends a full day on keys. Today you only need to recognise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2 - The database landscape at ICICI Bank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one bank runs three different databases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185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7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System at ICICI Bank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Reason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Core banking - accounts and transactions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Oldest system, 24x7, bought with the core banking product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New digital lending platform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Built in-house, no licence cost, rich SQL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Internet banking session store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MySQL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Bundled with the web stack, simple read-heavy load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Regulatory reporting warehouse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Runs the bank's BI and SSIS pipelines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144393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will not get to choose the database. You will be asked to work with all of them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Oracle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346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most common core-banking database in Indian and global banking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Strengths that matter to a bank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1">
                <a:solidFill>
                  <a:srgbClr val="5A6673"/>
                </a:solidFill>
                <a:latin typeface="Segoe UI"/>
              </a:rPr>
              <a:t>Real Application Clusters (RAC)</a:t>
            </a:r>
            <a:r>
              <a:rPr sz="1550" b="0">
                <a:solidFill>
                  <a:srgbClr val="5A6673"/>
                </a:solidFill>
                <a:latin typeface="Segoe UI"/>
              </a:rPr>
              <a:t> for continuous availability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Mature partitioning for tables with billions of transaction rows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1">
                <a:solidFill>
                  <a:srgbClr val="5A6673"/>
                </a:solidFill>
                <a:latin typeface="Segoe UI"/>
              </a:rPr>
              <a:t>PL/SQL</a:t>
            </a:r>
            <a:r>
              <a:rPr sz="1550" b="0">
                <a:solidFill>
                  <a:srgbClr val="5A6673"/>
                </a:solidFill>
                <a:latin typeface="Segoe UI"/>
              </a:rPr>
              <a:t>, a full programming language inside the database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Flashback, Data Guard, and very strong recovery tooling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Licensed per processor core, which is why banks limit what runs on it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Editions: Enterprise, Standard Edition 2, and </a:t>
            </a:r>
            <a:r>
              <a:rPr sz="1800" b="1">
                <a:solidFill>
                  <a:srgbClr val="1B2633"/>
                </a:solidFill>
                <a:latin typeface="Segoe UI"/>
              </a:rPr>
              <a:t>Express Edition (XE)</a:t>
            </a:r>
            <a:r>
              <a:rPr sz="1800" b="0">
                <a:solidFill>
                  <a:srgbClr val="1B2633"/>
                </a:solidFill>
                <a:latin typeface="Segoe UI"/>
              </a:rPr>
              <a:t>, which is free and what you will install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Open source, no licence cost, and now common in new banking systems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Strengths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Standards-compliant SQL with excellent window function and CTE support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1">
                <a:solidFill>
                  <a:srgbClr val="5A6673"/>
                </a:solidFill>
                <a:latin typeface="Segoe UI"/>
              </a:rPr>
              <a:t>MVCC</a:t>
            </a:r>
            <a:r>
              <a:rPr sz="1550" b="0">
                <a:solidFill>
                  <a:srgbClr val="5A6673"/>
                </a:solidFill>
                <a:latin typeface="Segoe UI"/>
              </a:rPr>
              <a:t> concurrency, so readers never block writers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JSON and JSONB columns, useful for KYC documents and API payloads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Extensions such as PostGIS and </a:t>
            </a:r>
            <a:r>
              <a:rPr sz="1550" b="0">
                <a:solidFill>
                  <a:srgbClr val="008C8C"/>
                </a:solidFill>
                <a:latin typeface="Consolas"/>
              </a:rPr>
              <a:t>pg_stat_statements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This is the </a:t>
            </a:r>
            <a:r>
              <a:rPr sz="1800" b="1">
                <a:solidFill>
                  <a:srgbClr val="1B2633"/>
                </a:solidFill>
                <a:latin typeface="Segoe UI"/>
              </a:rPr>
              <a:t>primary teaching database</a:t>
            </a:r>
            <a:r>
              <a:rPr sz="1800" b="0">
                <a:solidFill>
                  <a:srgbClr val="1B2633"/>
                </a:solidFill>
                <a:latin typeface="Segoe UI"/>
              </a:rPr>
              <a:t> for this programme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78224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078224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169664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Almost everything you learn in PostgreSQL transfers to Oracle and SQL Server with small syntax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962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most deployed open-source database in web applications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Strengths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Very fast for read-heavy workloads such as session and profile lookups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Simple to install, replicate and operate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1">
                <a:solidFill>
                  <a:srgbClr val="5A6673"/>
                </a:solidFill>
                <a:latin typeface="Segoe UI"/>
              </a:rPr>
              <a:t>InnoDB</a:t>
            </a:r>
            <a:r>
              <a:rPr sz="1550" b="0">
                <a:solidFill>
                  <a:srgbClr val="5A6673"/>
                </a:solidFill>
                <a:latin typeface="Segoe UI"/>
              </a:rPr>
              <a:t> storage engine gives full ACID transactions and foreign keys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Watch out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The older </a:t>
            </a:r>
            <a:r>
              <a:rPr sz="1550" b="1">
                <a:solidFill>
                  <a:srgbClr val="5A6673"/>
                </a:solidFill>
                <a:latin typeface="Segoe UI"/>
              </a:rPr>
              <a:t>MyISAM</a:t>
            </a:r>
            <a:r>
              <a:rPr sz="1550" b="0">
                <a:solidFill>
                  <a:srgbClr val="5A6673"/>
                </a:solidFill>
                <a:latin typeface="Segoe UI"/>
              </a:rPr>
              <a:t> engine has no transactions and no foreign keys - never use it for money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Choosing for an ICICI Bank workload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45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2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Workload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Choose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Posting 2,000 transactions a second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Oracle or PostgreSQL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Proven OLTP, strong durability guarantees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Storing a customer's KYC JSON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Native JSONB indexing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Serving 50,000 internet-banking sessions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MySQL, or Redis in Module 7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Simple key lookups at high read volume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Quarterly NPA and regulatory reports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SQL Server warehouse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Columnstore indexes and SSIS pipelines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Sub-millisecond balance cache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Redis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 7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Transaction events for fraud and alerts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Kafka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Module 8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3 - OLTP versus OLAP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OLTP - a customer at an ATM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1913928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1913928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639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19:42:07  Card inserted at ATM, Andheri East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19:42:19  Withdraw 5,000 requested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19:42:19  BEGIN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SELECT balance FROM account WHERE account_id = 9002;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UPDATE account SET balance = balance - 5000 WHERE account_id = 9002;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INSERT INTO account_txn VALUES (..., 'DEBIT', 5000, 'ATM', ...);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COMMIT;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19:42:20  Cash dispensed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03816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Small, short, frequent, and it must finish in under a second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Online Transaction Processing</a:t>
            </a:r>
            <a:r>
              <a:rPr sz="1800" b="0">
                <a:solidFill>
                  <a:srgbClr val="1B2633"/>
                </a:solidFill>
                <a:latin typeface="Segoe UI"/>
              </a:rPr>
              <a:t> - the day-to-day running of the bank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OLAP - the quarterly board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"Which branches grew deposits fastest last quarter?"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 b.branch_name,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SUM(CASE WHEN t.txn_type = 'CREDIT' THEN t.amount ELSE 0 END) AS inflow,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SUM(CASE WHEN t.txn_type = 'DEBIT'  THEN t.amount ELSE 0 END) AS outflow,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COUNT(*) AS txn_count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FROM    account_txn 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JOIN account a ON a.account_id = t.account_id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JOIN branch  b ON b.branch_id  = a.branch_id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WHERE   t.txn_date &gt;= DATE '2026-01-01'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GROUP BY b.branch_name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ORDER BY inflow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18669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One query, millions of rows, runs for minutes, read only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Online Analytical Processing</a:t>
            </a:r>
            <a:r>
              <a:rPr sz="1800" b="0">
                <a:solidFill>
                  <a:srgbClr val="1B2633"/>
                </a:solidFill>
                <a:latin typeface="Segoe UI"/>
              </a:rPr>
              <a:t> - understanding the bank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OLTP versus OLAP side by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8" cy="3158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1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endParaRPr/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OLTP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OLAP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Run the business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Analyse the business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Typical user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Customer, teller, ATM, UPI app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Analyst, risk officer, regulator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Rows touched per query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1 to 10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Millions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Query length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Milliseconds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Seconds to minutes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Operations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INSERT, UPDATE, DELETE, small SELECT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Large SELECT with GROUP BY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design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Normalized, Module 4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Star schema, denormalized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Data age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Current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Historical, often loaded overnight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Downtime tolerance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Almost none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 few hours is survivable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Why the report never runs on the ATM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084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report that scans 40 million transaction rows holds locks and floods memory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While it runs, ATM withdrawals queue behind it - customers see "service unavailable"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ICICI Bank's rule: </a:t>
            </a:r>
            <a:r>
              <a:rPr sz="1800" b="1">
                <a:solidFill>
                  <a:srgbClr val="1B2633"/>
                </a:solidFill>
                <a:latin typeface="Segoe UI"/>
              </a:rPr>
              <a:t>the core banking database serves customers, nothing else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Reports run on a copy: a replica, or the SQL Server warehouse loaded overnight by SSIS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47472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47472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56616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This single rule is why Modules 9, 10 and 11 exist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4 - Database architecture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Client-server, the way ICICI Bank runs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52878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52878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2544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Mobile app     Internet banking     ATM switch     Branch teller UI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|                 |                |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+--------+--------+----------------+--------+--------+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|           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Application servers  (connection pool, business logic)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+-------v--------+        SQL over TCP port 5432 / 1521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| DATABASE SERVER |  &lt;--- parses, optimises, executes, returns rows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+-------+--------+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Data files, redo/WAL logs, backups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18669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database is a </a:t>
            </a:r>
            <a:r>
              <a:rPr sz="1800" b="1">
                <a:solidFill>
                  <a:srgbClr val="1B2633"/>
                </a:solidFill>
                <a:latin typeface="Segoe UI"/>
              </a:rPr>
              <a:t>shared service</a:t>
            </a:r>
            <a:r>
              <a:rPr sz="1800" b="0">
                <a:solidFill>
                  <a:srgbClr val="1B2633"/>
                </a:solidFill>
                <a:latin typeface="Segoe UI"/>
              </a:rPr>
              <a:t>. It never trusts a single application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three-schema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852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External level</a:t>
            </a:r>
            <a:r>
              <a:rPr sz="1800" b="0">
                <a:solidFill>
                  <a:srgbClr val="1B2633"/>
                </a:solidFill>
                <a:latin typeface="Segoe UI"/>
              </a:rPr>
              <a:t> - what each user is allowed to see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A teller sees name and balance. An auditor sees every transaction. Same table, different views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Conceptual level</a:t>
            </a:r>
            <a:r>
              <a:rPr sz="1800" b="0">
                <a:solidFill>
                  <a:srgbClr val="1B2633"/>
                </a:solidFill>
                <a:latin typeface="Segoe UI"/>
              </a:rPr>
              <a:t> - the logical design: tables, columns, keys, constraints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This is what you design in Module 4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Internal level</a:t>
            </a:r>
            <a:r>
              <a:rPr sz="1800" b="0">
                <a:solidFill>
                  <a:srgbClr val="1B2633"/>
                </a:solidFill>
                <a:latin typeface="Segoe UI"/>
              </a:rPr>
              <a:t> - how bytes actually sit on disk: files, blocks, indexes, compression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This is what you tune in Module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242816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242816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334256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Change the disk layout and no application code changes. That is the whole point.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Data independence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498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6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6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ICICI Bank example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Physical data independence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Change storage without changing the logical design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Move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account_txn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to faster SSD storage. No query changes.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633"/>
                          </a:solidFill>
                          <a:latin typeface="Segoe UI"/>
                        </a:rPr>
                        <a:t>Logical data independence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Change the logical design without changing applications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Add a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risk_rating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 column to </a:t>
                      </a:r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customer</a:t>
                      </a:r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. Existing screens keep working.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2888361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Achieved through </a:t>
            </a:r>
            <a:r>
              <a:rPr sz="1800" b="1">
                <a:solidFill>
                  <a:srgbClr val="1B2633"/>
                </a:solidFill>
                <a:latin typeface="Segoe UI"/>
              </a:rPr>
              <a:t>views</a:t>
            </a:r>
            <a:r>
              <a:rPr sz="1800" b="0">
                <a:solidFill>
                  <a:srgbClr val="1B2633"/>
                </a:solidFill>
                <a:latin typeface="Segoe UI"/>
              </a:rPr>
              <a:t>, which you build in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Inside the database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Processes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 listener accepts connections, a background writer flushes pages, a checkpointer marks safe points, a log writer hardens the transaction log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Memory</a:t>
            </a:r>
            <a:r>
              <a:rPr sz="1800" b="0">
                <a:solidFill>
                  <a:srgbClr val="1B2633"/>
                </a:solidFill>
                <a:latin typeface="Segoe UI"/>
              </a:rPr>
              <a:t> - a shared buffer cache holds recently used data pages so repeat reads never touch disk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Oracle calls it the </a:t>
            </a:r>
            <a:r>
              <a:rPr sz="1550" b="1">
                <a:solidFill>
                  <a:srgbClr val="5A6673"/>
                </a:solidFill>
                <a:latin typeface="Segoe UI"/>
              </a:rPr>
              <a:t>SGA</a:t>
            </a:r>
            <a:r>
              <a:rPr sz="1550" b="0">
                <a:solidFill>
                  <a:srgbClr val="5A6673"/>
                </a:solidFill>
                <a:latin typeface="Segoe UI"/>
              </a:rPr>
              <a:t>, PostgreSQL calls it </a:t>
            </a:r>
            <a:r>
              <a:rPr sz="1550" b="1">
                <a:solidFill>
                  <a:srgbClr val="5A6673"/>
                </a:solidFill>
                <a:latin typeface="Segoe UI"/>
              </a:rPr>
              <a:t>shared_buffers</a:t>
            </a:r>
            <a:r>
              <a:rPr sz="1550" b="0">
                <a:solidFill>
                  <a:srgbClr val="5A6673"/>
                </a:solidFill>
                <a:latin typeface="Segoe UI"/>
              </a:rPr>
              <a:t>, SQL Server calls it the </a:t>
            </a:r>
            <a:r>
              <a:rPr sz="1550" b="1">
                <a:solidFill>
                  <a:srgbClr val="5A6673"/>
                </a:solidFill>
                <a:latin typeface="Segoe UI"/>
              </a:rPr>
              <a:t>buffer pool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Storage</a:t>
            </a:r>
            <a:r>
              <a:rPr sz="1800" b="0">
                <a:solidFill>
                  <a:srgbClr val="1B2633"/>
                </a:solidFill>
                <a:latin typeface="Segoe UI"/>
              </a:rPr>
              <a:t> - data files hold the tables, and a separate write-ahead log records every change before it is applied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023360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023360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114800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The log is written before the data page. That single ordering rule is what makes recovery possible.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Inside the engine - where your SQL goes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4578291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4578291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43039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C L I E N T S                        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psql | pgAdmin | mobile app | ATM | teller UI        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  (1) SQL over TCP port 5432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v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                         LISTENER   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Authenticates, then starts a session for this client.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Oracle: listener.  SQL Server: the SQL Server service.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  (2) the session gets the SQL text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v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                     QUERY PROCESSOR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PARSER -&gt; REWRITER -&gt; OPTIMISER -&gt; EXECUTOR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| The optimiser picks the plan. Module 5 lives here.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|  (3) fetch the page for account 9003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                      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Inside the engine - how it reaches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413970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413970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38653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                      SHARED MEMORY    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BUFFER CACHE   8 KB pages. A hit never touches disk.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               shared_buffers | SGA | buffer pool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WAL BUFFER  |  PLAN CACHE  |  LOCK TABLE  |  WORK MEM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|  (4) dirty pages and WAL go to disk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v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                   BACKGROUND PROCESSES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BACKGROUND WRITER | WAL WRITER | CHECKPOINTER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AUTOVACUUM | ARCHIVER | STATS COLLECTOR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|  (5) the only durable place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                              v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                           DISK        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DATA FILES   The tables and indexes themselves.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WAL / REDO   Written BEFORE the data page. Always.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| ARCHIVE  |  TEMP FILES  |  CONTROL FILE                    |</a:t>
            </a:r>
          </a:p>
          <a:p>
            <a:pPr>
              <a:spcAft>
                <a:spcPts val="0"/>
              </a:spcAft>
            </a:pPr>
            <a:r>
              <a:rPr sz="1066">
                <a:solidFill>
                  <a:srgbClr val="DCE6F0"/>
                </a:solidFill>
                <a:latin typeface="Consolas"/>
              </a:rPr>
              <a:t>  +------------------------------------------------------------+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529588"/>
            <a:ext cx="11018520" cy="497799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5529588"/>
            <a:ext cx="54864" cy="497799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621028"/>
            <a:ext cx="10607040" cy="314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47" b="1">
                <a:solidFill>
                  <a:srgbClr val="E88B00"/>
                </a:solidFill>
                <a:latin typeface="Segoe UI"/>
              </a:rPr>
              <a:t>⚑  </a:t>
            </a:r>
            <a:r>
              <a:rPr sz="1188" b="0">
                <a:solidFill>
                  <a:srgbClr val="008C8C"/>
                </a:solidFill>
                <a:latin typeface="Consolas"/>
              </a:rPr>
              <a:t>COMMIT</a:t>
            </a:r>
            <a:r>
              <a:rPr sz="1188" b="1">
                <a:solidFill>
                  <a:srgbClr val="6B4A00"/>
                </a:solidFill>
                <a:latin typeface="Segoe UI"/>
              </a:rPr>
              <a:t> hardens the log, not your data page. That is the whole trick.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same components, three vendors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210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3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Buffer cache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C8C"/>
                          </a:solidFill>
                          <a:latin typeface="Consolas"/>
                        </a:rPr>
                        <a:t>shared_buffers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SGA buffer cache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Buffer pool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Transaction log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WAL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Redo logs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Transaction log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Log writer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WAL writer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LGWR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Log writer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Page flusher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Background writer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DBWn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Lazy writer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Space reclaim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Autovacuum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Undo and SMON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Ghost cleanup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95294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Learn it once. Module 10 is SQL Server and Module 11 reads Oracle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How your query travels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1. </a:t>
            </a:r>
            <a:r>
              <a:rPr sz="1800" b="1">
                <a:solidFill>
                  <a:srgbClr val="1B2633"/>
                </a:solidFill>
                <a:latin typeface="Segoe UI"/>
              </a:rPr>
              <a:t>Parse</a:t>
            </a:r>
            <a:r>
              <a:rPr sz="1800" b="0">
                <a:solidFill>
                  <a:srgbClr val="1B2633"/>
                </a:solidFill>
                <a:latin typeface="Segoe UI"/>
              </a:rPr>
              <a:t> - is the SQL valid, do these tables and columns exist, may this user see them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2. </a:t>
            </a:r>
            <a:r>
              <a:rPr sz="1800" b="1">
                <a:solidFill>
                  <a:srgbClr val="1B2633"/>
                </a:solidFill>
                <a:latin typeface="Segoe UI"/>
              </a:rPr>
              <a:t>Rewrite</a:t>
            </a:r>
            <a:r>
              <a:rPr sz="1800" b="0">
                <a:solidFill>
                  <a:srgbClr val="1B2633"/>
                </a:solidFill>
                <a:latin typeface="Segoe UI"/>
              </a:rPr>
              <a:t> - expand views, apply row-level security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3. </a:t>
            </a:r>
            <a:r>
              <a:rPr sz="1800" b="1">
                <a:solidFill>
                  <a:srgbClr val="1B2633"/>
                </a:solidFill>
                <a:latin typeface="Segoe UI"/>
              </a:rPr>
              <a:t>Optimise</a:t>
            </a:r>
            <a:r>
              <a:rPr sz="1800" b="0">
                <a:solidFill>
                  <a:srgbClr val="1B2633"/>
                </a:solidFill>
                <a:latin typeface="Segoe UI"/>
              </a:rPr>
              <a:t> - the planner picks a plan: index scan or full scan, which join order, which join method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4. </a:t>
            </a:r>
            <a:r>
              <a:rPr sz="1800" b="1">
                <a:solidFill>
                  <a:srgbClr val="1B2633"/>
                </a:solidFill>
                <a:latin typeface="Segoe UI"/>
              </a:rPr>
              <a:t>Execute</a:t>
            </a:r>
            <a:r>
              <a:rPr sz="1800" b="0">
                <a:solidFill>
                  <a:srgbClr val="1B2633"/>
                </a:solidFill>
                <a:latin typeface="Segoe UI"/>
              </a:rPr>
              <a:t> - the engine reads pages from the buffer cache, or from disk if not cached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5. </a:t>
            </a:r>
            <a:r>
              <a:rPr sz="1800" b="1">
                <a:solidFill>
                  <a:srgbClr val="1B2633"/>
                </a:solidFill>
                <a:latin typeface="Segoe UI"/>
              </a:rPr>
              <a:t>Fetch</a:t>
            </a:r>
            <a:r>
              <a:rPr sz="1800" b="0">
                <a:solidFill>
                  <a:srgbClr val="1B2633"/>
                </a:solidFill>
                <a:latin typeface="Segoe UI"/>
              </a:rPr>
              <a:t> - rows travel back to the client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Steps 3 and 4 are where Module 5 lives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Where the data actually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Rows are packed into fixed-size </a:t>
            </a:r>
            <a:r>
              <a:rPr sz="1800" b="1">
                <a:solidFill>
                  <a:srgbClr val="1B2633"/>
                </a:solidFill>
                <a:latin typeface="Segoe UI"/>
              </a:rPr>
              <a:t>pages</a:t>
            </a:r>
            <a:r>
              <a:rPr sz="1800" b="0">
                <a:solidFill>
                  <a:srgbClr val="1B2633"/>
                </a:solidFill>
                <a:latin typeface="Segoe UI"/>
              </a:rPr>
              <a:t> - 8 KB in PostgreSQL and SQL Server, a configurable block in Oracle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table is a heap of pages. An index is a B-tree of pages pointing into that heap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Changes are written first to the </a:t>
            </a:r>
            <a:r>
              <a:rPr sz="1800" b="1">
                <a:solidFill>
                  <a:srgbClr val="1B2633"/>
                </a:solidFill>
                <a:latin typeface="Segoe UI"/>
              </a:rPr>
              <a:t>write-ahead log</a:t>
            </a:r>
            <a:r>
              <a:rPr sz="1800" b="0">
                <a:solidFill>
                  <a:srgbClr val="1B2633"/>
                </a:solidFill>
                <a:latin typeface="Segoe UI"/>
              </a:rPr>
              <a:t>, then to data pages later</a:t>
            </a:r>
          </a:p>
          <a:p>
            <a:pPr marL="530352" indent="-219456">
              <a:spcAft>
                <a:spcPts val="600"/>
              </a:spcAft>
            </a:pPr>
            <a:r>
              <a:rPr sz="1550" b="1">
                <a:solidFill>
                  <a:srgbClr val="E88B00"/>
                </a:solidFill>
                <a:latin typeface="Segoe UI"/>
              </a:rPr>
              <a:t>–  </a:t>
            </a:r>
            <a:r>
              <a:rPr sz="1550" b="0">
                <a:solidFill>
                  <a:srgbClr val="5A6673"/>
                </a:solidFill>
                <a:latin typeface="Segoe UI"/>
              </a:rPr>
              <a:t>PostgreSQL: WAL. Oracle: redo logs. SQL Server: the transaction log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On restart after a crash, the engine replays the log and the bank loses nothing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5 - ACID, the promise a bank depends 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The incident that explains ACID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323830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323830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20495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INCIDENT  ICICI-9902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------------------------------------------------------------------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14:22:31  Customer 1001 transfers 25,000 to customer 1007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14:22:31  Account 9001 debited  25,000       -&gt; balance 153,450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14:22:32  Database server loses power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14:22:58  Server restarts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15:05:00  Customer 1007 calls: "the money never arrived"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15:40:00  Customer 1001 checks: "but it left my account"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        25,000 rupees now exist nowhere.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13718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713718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05158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ACID is the set of guarantees that makes this outcome impossible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A - Atomicity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transaction is </a:t>
            </a:r>
            <a:r>
              <a:rPr sz="1800" b="1">
                <a:solidFill>
                  <a:srgbClr val="1B2633"/>
                </a:solidFill>
                <a:latin typeface="Segoe UI"/>
              </a:rPr>
              <a:t>all or nothing</a:t>
            </a:r>
            <a:r>
              <a:rPr sz="1800" b="0">
                <a:solidFill>
                  <a:srgbClr val="1B2633"/>
                </a:solidFill>
                <a:latin typeface="Segoe UI"/>
              </a:rPr>
              <a:t>. There is no half-done transfer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The debit and the credit are one unit of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57984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157984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295144"/>
            <a:ext cx="10698480" cy="1024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BEGIN;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UPDATE account SET balance = balance - 25000 WHERE account_id = 9001;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UPDATE account SET balance = balance + 25000 WHERE account_id = 9007;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COMMIT;   -- both survive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ROLLBACK; -- neither survives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48499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If the server dies between the two updates, recovery undoes the first one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C - Consistency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transaction moves the database from one </a:t>
            </a:r>
            <a:r>
              <a:rPr sz="1800" b="1">
                <a:solidFill>
                  <a:srgbClr val="1B2633"/>
                </a:solidFill>
                <a:latin typeface="Segoe UI"/>
              </a:rPr>
              <a:t>valid state</a:t>
            </a:r>
            <a:r>
              <a:rPr sz="1800" b="0">
                <a:solidFill>
                  <a:srgbClr val="1B2633"/>
                </a:solidFill>
                <a:latin typeface="Segoe UI"/>
              </a:rPr>
              <a:t> to another valid state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Validity is defined by the rules you declare: primary keys, foreign keys, checks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32304"/>
            <a:ext cx="11018520" cy="1299075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50292" cy="1299075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10698480" cy="1024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ALTER TABLE account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ADD CONSTRAINT ck_balance_non_negative CHECK (balance &gt;= 0);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UPDATE account SET balance = balance - 500000 WHERE account_id = 9001;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ERROR: new row violates check constraint "ck_balance_non_negative"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22819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822819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914259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Consistency is not automatic. You get it by declaring rules the engine will enforce.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I - Isolation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Concurrent transactions must not see each other's unfinished work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Two ATMs withdraw from the same joint account at the same instant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57984"/>
            <a:ext cx="11018520" cy="1708977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157984"/>
            <a:ext cx="50292" cy="1708977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295144"/>
            <a:ext cx="10698480" cy="14346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Without isolation                     With isolation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-----------------                     --------------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T1 reads balance 10,000               T1 reads 10,000, locks the row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T2 reads balance 10,000               T2 waits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T1 writes 10,000 - 8,000 = 2,000      T1 writes 2,000, commits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T2 writes 10,000 - 8,000 = 2,000      T2 reads 2,000, needs 8,000 -&gt; declined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Bank paid out 16,000 from 10,000      Bank paid out 8,000. Correct.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58401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Module 6 covers isolation levels, locks and deadlocks in depth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D - Durability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3388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Once </a:t>
            </a:r>
            <a:r>
              <a:rPr sz="1800" b="0" dirty="0">
                <a:solidFill>
                  <a:srgbClr val="008C8C"/>
                </a:solidFill>
                <a:latin typeface="Consolas"/>
              </a:rPr>
              <a:t>COMMIT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 returns, the change survives a power cut, a crash, a kernel panic</a:t>
            </a:r>
          </a:p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The engine does not confirm the commit until the </a:t>
            </a:r>
            <a:r>
              <a:rPr sz="1800" b="1" dirty="0">
                <a:solidFill>
                  <a:srgbClr val="1B2633"/>
                </a:solidFill>
                <a:latin typeface="Segoe UI"/>
              </a:rPr>
              <a:t>write-ahead log record is on </a:t>
            </a:r>
            <a:r>
              <a:rPr sz="1800" b="1">
                <a:solidFill>
                  <a:srgbClr val="1B2633"/>
                </a:solidFill>
                <a:latin typeface="Segoe UI"/>
              </a:rPr>
              <a:t>disk</a:t>
            </a:r>
            <a:r>
              <a:rPr lang="en-US" sz="1800" b="1">
                <a:solidFill>
                  <a:srgbClr val="1B2633"/>
                </a:solidFill>
                <a:latin typeface="Segoe UI"/>
              </a:rPr>
              <a:t> (WAL)</a:t>
            </a:r>
            <a:endParaRPr sz="1800" b="1" dirty="0">
              <a:solidFill>
                <a:srgbClr val="1B2633"/>
              </a:solidFill>
              <a:latin typeface="Segoe UI"/>
            </a:endParaRPr>
          </a:p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Data pages can be written later, lazily - the log is the source of truth</a:t>
            </a:r>
          </a:p>
          <a:p>
            <a:pPr marL="219456" indent="-219456">
              <a:spcAft>
                <a:spcPts val="600"/>
              </a:spcAft>
            </a:pPr>
            <a:r>
              <a:rPr sz="1800" b="1" dirty="0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On restart the engine </a:t>
            </a:r>
            <a:r>
              <a:rPr sz="1800" b="1" dirty="0">
                <a:solidFill>
                  <a:srgbClr val="1B2633"/>
                </a:solidFill>
                <a:latin typeface="Segoe UI"/>
              </a:rPr>
              <a:t>redoes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 committed work and </a:t>
            </a:r>
            <a:r>
              <a:rPr sz="1800" b="1" dirty="0">
                <a:solidFill>
                  <a:srgbClr val="1B2633"/>
                </a:solidFill>
                <a:latin typeface="Segoe UI"/>
              </a:rPr>
              <a:t>undoes</a:t>
            </a:r>
            <a:r>
              <a:rPr sz="1800" b="0" dirty="0">
                <a:solidFill>
                  <a:srgbClr val="1B2633"/>
                </a:solidFill>
                <a:latin typeface="Segoe UI"/>
              </a:rPr>
              <a:t> uncommitted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29184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"The application said success" is worthless. "COMMIT returned" is a promise.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Seeing ACID for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18520" cy="2118879"/>
          </a:xfrm>
          <a:prstGeom prst="rect">
            <a:avLst/>
          </a:prstGeom>
          <a:solidFill>
            <a:srgbClr val="10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" cy="2118879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35608"/>
            <a:ext cx="10698480" cy="18445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7F9BB0"/>
                </a:solidFill>
                <a:latin typeface="Consolas"/>
              </a:rPr>
              <a:t>-- Atomicity: roll back and prove nothing changed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balance FROM account WHERE account_id = 9001;   -- note this number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BEGIN;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UPDATE account SET balance = balance - 1000 WHERE account_id = 9001;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 SELECT balance FROM account WHERE account_id = 9001; -- changed, inside the txn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ROLLBACK;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DCE6F0"/>
                </a:solidFill>
                <a:latin typeface="Consolas"/>
              </a:rPr>
              <a:t>SELECT balance FROM account WHERE account_id = 9001;   -- back to the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08767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will run exactly this in Lab 1.5, in two sessions side by side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each property protects at ICICI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98448"/>
          <a:ext cx="11018519" cy="175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5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Property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Broken means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Regulatory consequence</a:t>
                      </a:r>
                    </a:p>
                  </a:txBody>
                  <a:tcPr marR="54864" marT="18288" marB="18288" anchor="ctr"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Atomicity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Money debited but never credited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Customer complaint, RBI reportable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Consistency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Negative balance, orphan transaction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Audit qualification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Isolation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Double withdrawal from one balance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Direct financial loss</a:t>
                      </a: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Durability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Committed transfer disappears after a crash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633"/>
                          </a:solidFill>
                          <a:latin typeface="Segoe UI"/>
                        </a:rPr>
                        <a:t>Loss of banking licence in the worst case</a:t>
                      </a:r>
                    </a:p>
                  </a:txBody>
                  <a:tcPr marR="54864" marT="18288" marB="18288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88920"/>
            <a:ext cx="1188720" cy="73152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Part 6 - Today's lab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What you will do in the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1. Install and start </a:t>
            </a:r>
            <a:r>
              <a:rPr sz="1800" b="1">
                <a:solidFill>
                  <a:srgbClr val="1B2633"/>
                </a:solidFill>
                <a:latin typeface="Segoe UI"/>
              </a:rPr>
              <a:t>PostgreSQL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connect with </a:t>
            </a:r>
            <a:r>
              <a:rPr sz="1800" b="0">
                <a:solidFill>
                  <a:srgbClr val="008C8C"/>
                </a:solidFill>
                <a:latin typeface="Consolas"/>
              </a:rPr>
              <a:t>psql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pgAdmin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2. Install </a:t>
            </a:r>
            <a:r>
              <a:rPr sz="1800" b="1">
                <a:solidFill>
                  <a:srgbClr val="1B2633"/>
                </a:solidFill>
                <a:latin typeface="Segoe UI"/>
              </a:rPr>
              <a:t>Oracle XE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1">
                <a:solidFill>
                  <a:srgbClr val="1B2633"/>
                </a:solidFill>
                <a:latin typeface="Segoe UI"/>
              </a:rPr>
              <a:t>MySQL</a:t>
            </a:r>
            <a:r>
              <a:rPr sz="1800" b="0">
                <a:solidFill>
                  <a:srgbClr val="1B2633"/>
                </a:solidFill>
                <a:latin typeface="Segoe UI"/>
              </a:rPr>
              <a:t>, and note how the same task differs on each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3. Create the </a:t>
            </a:r>
            <a:r>
              <a:rPr sz="1800" b="0">
                <a:solidFill>
                  <a:srgbClr val="008C8C"/>
                </a:solidFill>
                <a:latin typeface="Consolas"/>
              </a:rPr>
              <a:t>icicibank</a:t>
            </a:r>
            <a:r>
              <a:rPr sz="1800" b="0">
                <a:solidFill>
                  <a:srgbClr val="1B2633"/>
                </a:solidFill>
                <a:latin typeface="Segoe UI"/>
              </a:rPr>
              <a:t> database and load the ICICI Bank schema and seed data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4. Explore the architecture: list databases, schemas, tables, sizes and connections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5. Run your first CRUD statements against </a:t>
            </a:r>
            <a:r>
              <a:rPr sz="1800" b="0">
                <a:solidFill>
                  <a:srgbClr val="008C8C"/>
                </a:solidFill>
                <a:latin typeface="Consolas"/>
              </a:rPr>
              <a:t>customer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account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6. Prove all four ACID properties, using two sessions at the same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68496"/>
            <a:ext cx="11018520" cy="950976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968496"/>
            <a:ext cx="54864" cy="950976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059936"/>
            <a:ext cx="1060704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Everything you load today is the dataset for the next eleven modules. Load it carefully.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Files gave ICICI Bank redundancy, inconsistency and no recovery. A DBMS took that responsibility away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An </a:t>
            </a:r>
            <a:r>
              <a:rPr sz="1800" b="1">
                <a:solidFill>
                  <a:srgbClr val="1B2633"/>
                </a:solidFill>
                <a:latin typeface="Segoe UI"/>
              </a:rPr>
              <a:t>RDBMS</a:t>
            </a:r>
            <a:r>
              <a:rPr sz="1800" b="0">
                <a:solidFill>
                  <a:srgbClr val="1B2633"/>
                </a:solidFill>
                <a:latin typeface="Segoe UI"/>
              </a:rPr>
              <a:t> stores data as tables and enforces relationships with keys, inside the engine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Oracle, PostgreSQL and MySQL all speak SQL, and all appear somewhere in this bank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OLTP</a:t>
            </a:r>
            <a:r>
              <a:rPr sz="1800" b="0">
                <a:solidFill>
                  <a:srgbClr val="1B2633"/>
                </a:solidFill>
                <a:latin typeface="Segoe UI"/>
              </a:rPr>
              <a:t> runs the bank, </a:t>
            </a:r>
            <a:r>
              <a:rPr sz="1800" b="1">
                <a:solidFill>
                  <a:srgbClr val="1B2633"/>
                </a:solidFill>
                <a:latin typeface="Segoe UI"/>
              </a:rPr>
              <a:t>OLAP</a:t>
            </a:r>
            <a:r>
              <a:rPr sz="1800" b="0">
                <a:solidFill>
                  <a:srgbClr val="1B2633"/>
                </a:solidFill>
                <a:latin typeface="Segoe UI"/>
              </a:rPr>
              <a:t> explains the bank, and they live on separate servers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A database server is a client-server system with a buffer cache, data files and a write-ahead log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1">
                <a:solidFill>
                  <a:srgbClr val="1B2633"/>
                </a:solidFill>
                <a:latin typeface="Segoe UI"/>
              </a:rPr>
              <a:t>ACID</a:t>
            </a:r>
            <a:r>
              <a:rPr sz="1800" b="0">
                <a:solidFill>
                  <a:srgbClr val="1B2633"/>
                </a:solidFill>
                <a:latin typeface="Segoe UI"/>
              </a:rPr>
              <a:t> is why a bank can trust a computer with money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5A6673"/>
                </a:solidFill>
                <a:latin typeface="Segoe UI"/>
              </a:rPr>
              <a:t>Module 1 - RDBMS Fundamentals | ICICI Bank Learning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537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0B2A4A"/>
                </a:solidFill>
                <a:latin typeface="Segoe U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2A4A"/>
                </a:solidFill>
                <a:latin typeface="Segoe UI"/>
              </a:rPr>
              <a:t>Next - Module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11155680" cy="9525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1064240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now know what a table is. Next you will </a:t>
            </a:r>
            <a:r>
              <a:rPr sz="1800" b="1">
                <a:solidFill>
                  <a:srgbClr val="1B2633"/>
                </a:solidFill>
                <a:latin typeface="Segoe UI"/>
              </a:rPr>
              <a:t>create</a:t>
            </a:r>
            <a:r>
              <a:rPr sz="1800" b="0">
                <a:solidFill>
                  <a:srgbClr val="1B2633"/>
                </a:solidFill>
                <a:latin typeface="Segoe UI"/>
              </a:rPr>
              <a:t> them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Module 2 covers data types, constraints, and the DDL and DML statements</a:t>
            </a:r>
          </a:p>
          <a:p>
            <a:pPr marL="219456" indent="-219456">
              <a:spcAft>
                <a:spcPts val="600"/>
              </a:spcAft>
            </a:pPr>
            <a:r>
              <a:rPr sz="1800" b="1">
                <a:solidFill>
                  <a:srgbClr val="008C8C"/>
                </a:solidFill>
                <a:latin typeface="Segoe UI"/>
              </a:rPr>
              <a:t>▪  </a:t>
            </a:r>
            <a:r>
              <a:rPr sz="1800" b="0">
                <a:solidFill>
                  <a:srgbClr val="1B2633"/>
                </a:solidFill>
                <a:latin typeface="Segoe UI"/>
              </a:rPr>
              <a:t>You will build the </a:t>
            </a:r>
            <a:r>
              <a:rPr sz="1800" b="0">
                <a:solidFill>
                  <a:srgbClr val="008C8C"/>
                </a:solidFill>
                <a:latin typeface="Consolas"/>
              </a:rPr>
              <a:t>customer</a:t>
            </a:r>
            <a:r>
              <a:rPr sz="1800" b="0">
                <a:solidFill>
                  <a:srgbClr val="1B2633"/>
                </a:solidFill>
                <a:latin typeface="Segoe UI"/>
              </a:rPr>
              <a:t> and </a:t>
            </a:r>
            <a:r>
              <a:rPr sz="1800" b="0">
                <a:solidFill>
                  <a:srgbClr val="008C8C"/>
                </a:solidFill>
                <a:latin typeface="Consolas"/>
              </a:rPr>
              <a:t>account</a:t>
            </a:r>
            <a:r>
              <a:rPr sz="1800" b="0">
                <a:solidFill>
                  <a:srgbClr val="1B2633"/>
                </a:solidFill>
                <a:latin typeface="Segoe UI"/>
              </a:rPr>
              <a:t> tables from scratch, define the rules that keep the data honest, and load the Fort Mumbai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16352"/>
            <a:ext cx="11018520" cy="566928"/>
          </a:xfrm>
          <a:prstGeom prst="rect">
            <a:avLst/>
          </a:prstGeom>
          <a:solidFill>
            <a:srgbClr val="FFF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54864" cy="56692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907792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88B00"/>
                </a:solidFill>
                <a:latin typeface="Segoe UI"/>
              </a:rPr>
              <a:t>⚑  </a:t>
            </a:r>
            <a:r>
              <a:rPr sz="1450" b="1">
                <a:solidFill>
                  <a:srgbClr val="6B4A00"/>
                </a:solidFill>
                <a:latin typeface="Segoe UI"/>
              </a:rPr>
              <a:t>Bring the loaded database from today's lab. Module 2 starts where this lab stops.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4852</Words>
  <Application>Microsoft Office PowerPoint</Application>
  <PresentationFormat>Widescreen</PresentationFormat>
  <Paragraphs>651</Paragraphs>
  <Slides>50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Subramanian Murugan</cp:lastModifiedBy>
  <cp:revision>2</cp:revision>
  <dcterms:created xsi:type="dcterms:W3CDTF">2013-01-27T09:14:16Z</dcterms:created>
  <dcterms:modified xsi:type="dcterms:W3CDTF">2026-09-17T00:32:04Z</dcterms:modified>
  <cp:category/>
</cp:coreProperties>
</file>